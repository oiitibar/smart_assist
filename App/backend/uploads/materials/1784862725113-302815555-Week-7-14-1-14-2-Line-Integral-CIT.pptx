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17" r:id="rId2"/>
    <p:sldId id="389" r:id="rId3"/>
    <p:sldId id="409" r:id="rId4"/>
    <p:sldId id="410" r:id="rId5"/>
    <p:sldId id="392" r:id="rId6"/>
    <p:sldId id="411" r:id="rId7"/>
    <p:sldId id="412" r:id="rId8"/>
    <p:sldId id="398" r:id="rId9"/>
    <p:sldId id="400" r:id="rId10"/>
    <p:sldId id="413" r:id="rId11"/>
    <p:sldId id="414" r:id="rId12"/>
    <p:sldId id="415" r:id="rId13"/>
    <p:sldId id="416" r:id="rId14"/>
    <p:sldId id="408" r:id="rId15"/>
    <p:sldId id="4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DE399-E715-465A-AD9C-432FC7D08DD6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10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8.png"/><Relationship Id="rId19" Type="http://schemas.openxmlformats.org/officeDocument/2006/relationships/image" Target="../media/image22.pn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12533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3B43B32-9F1F-44C0-9FF7-FB801E25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C39D9-948B-F0BB-F32D-0797F00E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3930" y="358218"/>
            <a:ext cx="1144414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Contents; </a:t>
            </a:r>
          </a:p>
          <a:p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Integral in the Complex Plane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Cauchy’s Integral Theorem</a:t>
            </a:r>
          </a:p>
          <a:p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D4EE8A-714D-48FA-8904-40A65397FC19}"/>
              </a:ext>
            </a:extLst>
          </p:cNvPr>
          <p:cNvSpPr>
            <a:spLocks noGrp="1"/>
          </p:cNvSpPr>
          <p:nvPr/>
        </p:nvSpPr>
        <p:spPr>
          <a:xfrm>
            <a:off x="734060" y="3428999"/>
            <a:ext cx="10515600" cy="26965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Integral in the Complex Plane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Cauchy’s Integral Theorem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838A491-E448-4EE4-80CA-EE542FD4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97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512" y="311085"/>
                <a:ext cx="11547834" cy="6091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 Integral in the Complex Plane</a:t>
                </a:r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 definite integrals are called(complex)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 integrals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are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written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integrated over a given curve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a portion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it (an arc, but shall say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"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𝑐𝑢𝑟𝑣𝑒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“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curve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complex plane is called the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 of integration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may represent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a parametric representation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𝑖𝑦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………(1)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The sense of increasing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called the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positive sense on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of the Complex Line integral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smooth curve in the complex plane by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continuous function given (at least) at each point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.We now subdivide (we “ partition “ ) the interval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points </a:t>
                </a:r>
              </a:p>
              <a:p>
                <a:r>
                  <a:rPr lang="en-US" sz="24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…,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…&lt;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this subdivision there corresponds a subdivision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 …,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(See Figure )</a:t>
                </a:r>
              </a:p>
              <a:p>
                <a:endParaRPr lang="en-US" sz="24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12" y="311085"/>
                <a:ext cx="11547834" cy="6091796"/>
              </a:xfrm>
              <a:prstGeom prst="rect">
                <a:avLst/>
              </a:prstGeom>
              <a:blipFill rotWithShape="0">
                <a:blip r:embed="rId2"/>
                <a:stretch>
                  <a:fillRect l="-845" t="-5606" r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38B6845-1A21-4504-9BDC-89781A03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767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7793" y="382797"/>
                <a:ext cx="11516413" cy="5924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dirty="0"/>
              </a:p>
              <a:p>
                <a:pPr>
                  <a:spcAft>
                    <a:spcPts val="600"/>
                  </a:spcAft>
                </a:pPr>
                <a:endParaRPr lang="en-US" dirty="0"/>
              </a:p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Properties Directly Implied by the Definition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Linearity: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Integration is a linear operation. If the integral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over a path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exist , so does the integral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over the same path and 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</m:t>
                        </m:r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constants.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Sense reversal 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 integration over the same path ,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(left) and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(right), introduces a minus sign as shown,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=−</m:t>
                        </m:r>
                        <m:nary>
                          <m:naryPr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𝑑𝑧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spcAft>
                    <a:spcPts val="600"/>
                  </a:spcAft>
                </a:pP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Partitioning of Path 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</m:t>
                        </m:r>
                        <m:nary>
                          <m:naryPr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𝑑𝑧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(See Figure 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93" y="382797"/>
                <a:ext cx="11516413" cy="5924507"/>
              </a:xfrm>
              <a:prstGeom prst="rect">
                <a:avLst/>
              </a:prstGeom>
              <a:blipFill rotWithShape="0">
                <a:blip r:embed="rId2"/>
                <a:stretch>
                  <a:fillRect l="-4921" b="-16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25" y="382799"/>
            <a:ext cx="6532775" cy="179479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0825A3E-4139-4971-8CD2-E5AA1B3F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150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1DEB70-A4A8-8DCB-AE2C-8CE929A9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9770" y="282804"/>
                <a:ext cx="11552460" cy="6238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First Evaluation  Method: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Indefinite Integration and Substitution of Limits</a:t>
                </a:r>
                <a:br>
                  <a:rPr lang="en-US" sz="24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This method is the analog of the evaluation of definite integrals in calculus by the well-known formula		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𝑑𝑥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𝐹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Theorem 1: Indefinite Integration of Analytic Functions 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be analytic in a simply connected domain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. Then there exists an indefinite integral of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in the domain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, that is, an analytic function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𝐹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such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(z)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and for all paths in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joining two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we have	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	  		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𝐹</m:t>
                        </m:r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)              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[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(z) =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].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Notes: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Example 1: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1+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den>
                        </m:f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1+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1+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+2</m:t>
                            </m:r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Example 2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p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func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𝑧</m:t>
                                    </m:r>
                                  </m:e>
                                </m:func>
                              </m:e>
                            </m:d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−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2 </m:t>
                        </m:r>
                        <m:func>
                          <m:func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  <m: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e>
                        </m:func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sinh</m:t>
                            </m:r>
                          </m:fName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  <m: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23.097 </m:t>
                        </m:r>
                        <m:r>
                          <a:rPr lang="en-US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Example 3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8−3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=2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8+3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8−3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=2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4−3</m:t>
                                </m:r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𝜋</m:t>
                                </m:r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nor/>
                          </m:rPr>
                          <a:rPr lang="en-US" sz="2400" dirty="0">
                            <a:latin typeface="Times New Roman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4+</m:t>
                                </m:r>
                                <m:r>
                                  <a:rPr lang="en-US" sz="2400" dirty="0">
                                    <a:latin typeface="Cambria Math"/>
                                    <a:cs typeface="Times New Roman" pitchFamily="18" charset="0"/>
                                  </a:rPr>
                                  <m:t>3</m:t>
                                </m:r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𝜋</m:t>
                                </m:r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sz="2400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periodic with period 2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𝜋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70" y="282804"/>
                <a:ext cx="11552460" cy="6238374"/>
              </a:xfrm>
              <a:prstGeom prst="rect">
                <a:avLst/>
              </a:prstGeom>
              <a:blipFill rotWithShape="0">
                <a:blip r:embed="rId2"/>
                <a:stretch>
                  <a:fillRect l="-791" t="-781" r="-1108" b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E0F3664-9DBB-434A-AF54-9E545C78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7895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DF48E-A6D9-FA9C-E8B8-B73AFD46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7120" y="367646"/>
                <a:ext cx="11557759" cy="577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Example 4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𝑧</m:t>
                                    </m:r>
                                  </m:e>
                                </m:func>
                              </m:e>
                            </m:d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−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e>
                        </m:func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𝜋</m:t>
                                </m:r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/>
                                <a:cs typeface="Times New Roman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𝜋</m:t>
                                </m:r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i</m:t>
                            </m:r>
                          </m:e>
                        </m:func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Second Evaluation Method: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Use of a Representation of a Path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Theorem 2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Integration by the Use of the Path, 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be a piecewise smooth path, represented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), 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𝑏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    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be a continuous function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.Then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	 	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𝑑𝑡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                                   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sz="2400" dirty="0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) 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Example 5: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A Basic Result: Integral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around the Unit Circle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show that by integrating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z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counterclockwise around the unit circle(the  circle of radius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center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0)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𝑑𝑧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den>
                        </m:f>
                      </m:e>
                    </m:nary>
                    <m:r>
                      <a:rPr lang="en-US" sz="240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Solution: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Let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 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𝑡h𝑒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𝑢𝑛𝑖𝑡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𝑐𝑖𝑟𝑐𝑙𝑒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.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.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𝑊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𝑖𝑡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(0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≤2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𝜋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),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.</m:t>
                        </m:r>
                      </m:sup>
                    </m:sSup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 (</m:t>
                    </m:r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=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𝑖𝑡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𝑖𝑡</m:t>
                        </m:r>
                      </m:sup>
                    </m:sSup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Therefore ,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nary>
                          <m:naryPr>
                            <m:chr m:val="∮"/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/>
                                    <a:cs typeface="Times New Roman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/>
                                <a:cs typeface="Times New Roman" pitchFamily="18" charset="0"/>
                              </a:rPr>
                              <m:t> </m:t>
                            </m:r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15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</m:e>
                        </m:nary>
                        <m:nary>
                          <m:naryPr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𝑖𝑡</m:t>
                                </m:r>
                              </m:sup>
                            </m:sSup>
                          </m:e>
                        </m:nary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</m:sup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20" y="367646"/>
                <a:ext cx="11557759" cy="5778057"/>
              </a:xfrm>
              <a:prstGeom prst="rect">
                <a:avLst/>
              </a:prstGeom>
              <a:blipFill rotWithShape="0">
                <a:blip r:embed="rId2"/>
                <a:stretch>
                  <a:fillRect l="-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D14104C-7DCF-4E7F-BCEB-33BCD969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0138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E21D4-5B61-737F-DE28-54933D83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7E4E8A-61E5-7F4D-BF5A-D8CB9AE2F710}"/>
              </a:ext>
            </a:extLst>
          </p:cNvPr>
          <p:cNvGrpSpPr/>
          <p:nvPr/>
        </p:nvGrpSpPr>
        <p:grpSpPr>
          <a:xfrm>
            <a:off x="9294829" y="3880226"/>
            <a:ext cx="2636593" cy="2475771"/>
            <a:chOff x="3540089" y="3461547"/>
            <a:chExt cx="2943613" cy="2475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ECCA024-E5A1-12A2-C666-7874F875F9B4}"/>
                    </a:ext>
                  </a:extLst>
                </p:cNvPr>
                <p:cNvSpPr txBox="1"/>
                <p:nvPr/>
              </p:nvSpPr>
              <p:spPr>
                <a:xfrm>
                  <a:off x="5853314" y="5567986"/>
                  <a:ext cx="6008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03A0475-D145-4B74-8FE4-FAD602596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3314" y="5567986"/>
                  <a:ext cx="60081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9968C08-1BA7-96CA-E0EE-A83C79748407}"/>
                </a:ext>
              </a:extLst>
            </p:cNvPr>
            <p:cNvGrpSpPr/>
            <p:nvPr/>
          </p:nvGrpSpPr>
          <p:grpSpPr>
            <a:xfrm>
              <a:off x="3540089" y="3461547"/>
              <a:ext cx="2943613" cy="2369127"/>
              <a:chOff x="5382969" y="3089564"/>
              <a:chExt cx="2943613" cy="2369127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64D3747-BF87-4401-0BCE-545AEAEA724A}"/>
                  </a:ext>
                </a:extLst>
              </p:cNvPr>
              <p:cNvCxnSpPr/>
              <p:nvPr/>
            </p:nvCxnSpPr>
            <p:spPr>
              <a:xfrm flipV="1">
                <a:off x="5832764" y="3089564"/>
                <a:ext cx="0" cy="236912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273095C-380E-196E-E44F-F5F91FA029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97236" y="5223167"/>
                <a:ext cx="2729346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0814BCB-B5B3-6BD5-5135-D7CC95B6430D}"/>
                  </a:ext>
                </a:extLst>
              </p:cNvPr>
              <p:cNvSpPr/>
              <p:nvPr/>
            </p:nvSpPr>
            <p:spPr>
              <a:xfrm>
                <a:off x="6199913" y="3429000"/>
                <a:ext cx="1523991" cy="1514984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E4C0F6D-EE4F-7702-A9DB-F442046843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00799" y="3685308"/>
                <a:ext cx="568037" cy="501184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C8D4154-66A6-276F-05D6-E1FAF3F94F14}"/>
                      </a:ext>
                    </a:extLst>
                  </p:cNvPr>
                  <p:cNvSpPr txBox="1"/>
                  <p:nvPr/>
                </p:nvSpPr>
                <p:spPr>
                  <a:xfrm>
                    <a:off x="6506568" y="3602368"/>
                    <a:ext cx="60081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F9FF0C3-7D65-4206-943D-8D04EED66D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06568" y="3602368"/>
                    <a:ext cx="60081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E8F54DF-76B9-BFDF-FE25-280813AE8FFC}"/>
                      </a:ext>
                    </a:extLst>
                  </p:cNvPr>
                  <p:cNvSpPr txBox="1"/>
                  <p:nvPr/>
                </p:nvSpPr>
                <p:spPr>
                  <a:xfrm>
                    <a:off x="6690830" y="4151876"/>
                    <a:ext cx="60081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9465A51D-5ED6-4957-9A5E-9308E75F14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0830" y="4151876"/>
                    <a:ext cx="60081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F7C63B2-199A-DC01-8FDD-56E0010B2576}"/>
                      </a:ext>
                    </a:extLst>
                  </p:cNvPr>
                  <p:cNvSpPr txBox="1"/>
                  <p:nvPr/>
                </p:nvSpPr>
                <p:spPr>
                  <a:xfrm>
                    <a:off x="7639628" y="3882853"/>
                    <a:ext cx="60081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80393A9-53D3-4F2C-AD55-F3D27BD3F7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9628" y="3882853"/>
                    <a:ext cx="60081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7BEDB34-2E2A-1982-176F-CD09505F841B}"/>
                      </a:ext>
                    </a:extLst>
                  </p:cNvPr>
                  <p:cNvSpPr txBox="1"/>
                  <p:nvPr/>
                </p:nvSpPr>
                <p:spPr>
                  <a:xfrm>
                    <a:off x="5382969" y="3089564"/>
                    <a:ext cx="60081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F3279CDB-1EA0-4DC6-9AF6-DA24FBFE1E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2969" y="3089564"/>
                    <a:ext cx="60081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014" y="311084"/>
                <a:ext cx="11418637" cy="5900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Example 6: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Integral of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with integer power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is an integer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a constant. Integrate  counterclockwise around the circle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Times New Roman" pitchFamily="18" charset="0"/>
                        <a:sym typeface="Symbol"/>
                      </a:rPr>
                      <m:t>𝜌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with center at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.(See Figure).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Solution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latin typeface="Times New Roman" pitchFamily="18" charset="0"/>
                        <a:cs typeface="Times New Roman" pitchFamily="18" charset="0"/>
                      </a:rPr>
                      <m:t>any</m:t>
                    </m:r>
                    <m:r>
                      <m:rPr>
                        <m:nor/>
                      </m:rPr>
                      <a:rPr lang="en-US" sz="2400" dirty="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Times New Roman" pitchFamily="18" charset="0"/>
                        <a:cs typeface="Times New Roman" pitchFamily="18" charset="0"/>
                      </a:rPr>
                      <m:t>center</m:t>
                    </m:r>
                    <m:r>
                      <m:rPr>
                        <m:nor/>
                      </m:rPr>
                      <a:rPr lang="en-US" sz="2400" dirty="0">
                        <a:latin typeface="Times New Roman" pitchFamily="18" charset="0"/>
                        <a:cs typeface="Times New Roman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400" dirty="0">
                        <a:latin typeface="Times New Roman" pitchFamily="18" charset="0"/>
                        <a:cs typeface="Times New Roman" pitchFamily="18" charset="0"/>
                      </a:rPr>
                      <m:t>radius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⇒</m:t>
                    </m:r>
                    <m:r>
                      <a:rPr lang="en-US" sz="2400" i="1">
                        <a:latin typeface="Cambria Math"/>
                        <a:ea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i="1">
                        <a:latin typeface="Cambria Math"/>
                        <a:ea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𝑐𝑜𝑠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𝑠𝑖𝑛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𝜌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𝑖𝑡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,             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      </m:t>
                        </m:r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</m:e>
                    </m:acc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(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𝑖𝑚𝑡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(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z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nary>
                          <m:naryPr>
                            <m:chr m:val="∮"/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𝑖𝑚𝑡</m:t>
                                </m:r>
                              </m:sup>
                            </m:sSup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16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nary>
                      </m:e>
                    </m:nary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𝑖𝑚𝑡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itchFamily="18" charset="0"/>
                            <a:cs typeface="Times New Roman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			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</m:t>
                        </m:r>
                      </m:sup>
                    </m:sSup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(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+1)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itchFamily="18" charset="0"/>
                            <a:cs typeface="Times New Roman" pitchFamily="18" charset="0"/>
                          </a:rPr>
                          <m:t>   </m:t>
                        </m:r>
                      </m:e>
                    </m:nary>
                  </m:oMath>
                </a14:m>
                <a:endParaRPr lang="en-US" sz="24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	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nary>
                          <m:naryPr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𝜋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  <m:func>
                                      <m:func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𝑠𝑖𝑛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𝑡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𝑑𝑡</m:t>
                            </m:r>
                          </m:e>
                        </m:nary>
                      </m:e>
                    </m:d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14" y="311084"/>
                <a:ext cx="11418637" cy="5900911"/>
              </a:xfrm>
              <a:prstGeom prst="rect">
                <a:avLst/>
              </a:prstGeom>
              <a:blipFill rotWithShape="0">
                <a:blip r:embed="rId10"/>
                <a:stretch>
                  <a:fillRect l="-854" t="-826" r="-1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8D3B391D-4092-4574-A9D8-89C984E7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592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F332C-53C0-2ACB-BFC4-62B2ED0A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8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7C3AB7-0021-4AFD-9C81-98455775A52A}"/>
              </a:ext>
            </a:extLst>
          </p:cNvPr>
          <p:cNvGrpSpPr/>
          <p:nvPr/>
        </p:nvGrpSpPr>
        <p:grpSpPr>
          <a:xfrm>
            <a:off x="4038600" y="3743570"/>
            <a:ext cx="3444249" cy="2740317"/>
            <a:chOff x="3075821" y="3000506"/>
            <a:chExt cx="3636473" cy="287063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FD1262B-C4CF-49E4-B8C1-BC358A7A049B}"/>
                </a:ext>
              </a:extLst>
            </p:cNvPr>
            <p:cNvGrpSpPr/>
            <p:nvPr/>
          </p:nvGrpSpPr>
          <p:grpSpPr>
            <a:xfrm>
              <a:off x="3498040" y="3285084"/>
              <a:ext cx="2757054" cy="2427556"/>
              <a:chOff x="3477491" y="2812473"/>
              <a:chExt cx="2757054" cy="242755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FE511B0-B51A-49AA-9781-7AFAF4DC0B54}"/>
                  </a:ext>
                </a:extLst>
              </p:cNvPr>
              <p:cNvCxnSpPr/>
              <p:nvPr/>
            </p:nvCxnSpPr>
            <p:spPr>
              <a:xfrm flipV="1">
                <a:off x="3657600" y="2812473"/>
                <a:ext cx="0" cy="239683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CCAB3C7-EE25-4FB3-8920-6AFC618B3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7491" y="5015345"/>
                <a:ext cx="275705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01FB29F-0AE0-4A75-8E7B-66B853A504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600" y="5015345"/>
                <a:ext cx="62414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409DEE7-CDD3-4CD6-A245-48B17F7659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38255" y="4194749"/>
                <a:ext cx="13854" cy="806742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4B12865-517C-4B61-AEE2-F5400F48BF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57600" y="4127479"/>
                <a:ext cx="624144" cy="887867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  <a:prstDash val="sys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52DB7C2-F133-467B-BE26-35536E5EA41F}"/>
                  </a:ext>
                </a:extLst>
              </p:cNvPr>
              <p:cNvCxnSpPr/>
              <p:nvPr/>
            </p:nvCxnSpPr>
            <p:spPr>
              <a:xfrm>
                <a:off x="4717474" y="3510022"/>
                <a:ext cx="13853" cy="698582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7D8ACA6-C080-418D-A76B-CA10349060F1}"/>
                  </a:ext>
                </a:extLst>
              </p:cNvPr>
              <p:cNvCxnSpPr/>
              <p:nvPr/>
            </p:nvCxnSpPr>
            <p:spPr>
              <a:xfrm flipV="1">
                <a:off x="4291478" y="3548665"/>
                <a:ext cx="439852" cy="578814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  <a:prstDash val="sys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A614B5E9-5663-4DA4-9194-FF09F75EBE5C}"/>
                      </a:ext>
                    </a:extLst>
                  </p:cNvPr>
                  <p:cNvSpPr txBox="1"/>
                  <p:nvPr/>
                </p:nvSpPr>
                <p:spPr>
                  <a:xfrm>
                    <a:off x="4455616" y="4963030"/>
                    <a:ext cx="595745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58CFD72-E2B9-495E-A532-4E51D336CC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5616" y="4963030"/>
                    <a:ext cx="595745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D3A64A-73FB-4028-974E-CE8CADC5863D}"/>
                </a:ext>
              </a:extLst>
            </p:cNvPr>
            <p:cNvGrpSpPr/>
            <p:nvPr/>
          </p:nvGrpSpPr>
          <p:grpSpPr>
            <a:xfrm>
              <a:off x="3581400" y="3665023"/>
              <a:ext cx="2569779" cy="1796776"/>
              <a:chOff x="3581400" y="3665023"/>
              <a:chExt cx="2569779" cy="17967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9A190AC-C5FD-4869-B268-5FFE2131881A}"/>
                      </a:ext>
                    </a:extLst>
                  </p:cNvPr>
                  <p:cNvSpPr txBox="1"/>
                  <p:nvPr/>
                </p:nvSpPr>
                <p:spPr>
                  <a:xfrm>
                    <a:off x="3889065" y="5092467"/>
                    <a:ext cx="9144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9A190AC-C5FD-4869-B268-5FFE213188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9065" y="5092467"/>
                    <a:ext cx="91440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3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7C60A14-89B6-41A8-B344-097495052AAA}"/>
                      </a:ext>
                    </a:extLst>
                  </p:cNvPr>
                  <p:cNvSpPr txBox="1"/>
                  <p:nvPr/>
                </p:nvSpPr>
                <p:spPr>
                  <a:xfrm>
                    <a:off x="4531953" y="4573932"/>
                    <a:ext cx="9144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7C60A14-89B6-41A8-B344-097495052A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1953" y="4573932"/>
                    <a:ext cx="91440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3EBD229-274F-4B34-BBE3-64E483695456}"/>
                      </a:ext>
                    </a:extLst>
                  </p:cNvPr>
                  <p:cNvSpPr txBox="1"/>
                  <p:nvPr/>
                </p:nvSpPr>
                <p:spPr>
                  <a:xfrm>
                    <a:off x="3581400" y="4279202"/>
                    <a:ext cx="9144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3EBD229-274F-4B34-BBE3-64E4836954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1400" y="4279202"/>
                    <a:ext cx="91440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94466959-A388-433A-9237-5A4CB86FCF05}"/>
                      </a:ext>
                    </a:extLst>
                  </p:cNvPr>
                  <p:cNvSpPr txBox="1"/>
                  <p:nvPr/>
                </p:nvSpPr>
                <p:spPr>
                  <a:xfrm>
                    <a:off x="4620332" y="3665023"/>
                    <a:ext cx="15308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94466959-A388-433A-9237-5A4CB86FCF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0332" y="3665023"/>
                    <a:ext cx="1530847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B603B4-4D09-4344-963D-2E5B286C0FE3}"/>
                    </a:ext>
                  </a:extLst>
                </p:cNvPr>
                <p:cNvSpPr txBox="1"/>
                <p:nvPr/>
              </p:nvSpPr>
              <p:spPr>
                <a:xfrm>
                  <a:off x="3075821" y="3000506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B603B4-4D09-4344-963D-2E5B286C0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821" y="3000506"/>
                  <a:ext cx="914400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20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689E38-FD12-48ED-BE1F-6B92100E1D31}"/>
                    </a:ext>
                  </a:extLst>
                </p:cNvPr>
                <p:cNvSpPr txBox="1"/>
                <p:nvPr/>
              </p:nvSpPr>
              <p:spPr>
                <a:xfrm>
                  <a:off x="5797894" y="5501811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689E38-FD12-48ED-BE1F-6B92100E1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7894" y="5501811"/>
                  <a:ext cx="91440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AE48493-4917-4260-A04B-7D5EBD53A672}"/>
                </a:ext>
              </a:extLst>
            </p:cNvPr>
            <p:cNvSpPr txBox="1"/>
            <p:nvPr/>
          </p:nvSpPr>
          <p:spPr>
            <a:xfrm>
              <a:off x="3397627" y="379659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7191" y="348791"/>
                <a:ext cx="11490582" cy="5071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If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1, 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 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0=1,   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0=0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then we get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en-US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𝜋</m:t>
                    </m:r>
                    <m:r>
                      <a:rPr lang="en-US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≠−1,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each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two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integrals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zero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because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we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integrate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over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an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interval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length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,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equal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to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period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sine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Times New Roman" pitchFamily="18" charset="0"/>
                        <a:cs typeface="Times New Roman" pitchFamily="18" charset="0"/>
                      </a:rPr>
                      <m:t>cosine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	</a:t>
                </a: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	Hence 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</m:e>
                    </m:nary>
                    <m:d>
                      <m:dPr>
                        <m:begChr m:val="{"/>
                        <m:endChr m:val="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𝜋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i</m:t>
                              </m:r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  ,                         </m:t>
                              </m:r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=−1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  0,     </m:t>
                              </m:r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≠−1 </m:t>
                              </m:r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𝑎𝑛𝑑</m:t>
                              </m:r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 </m:t>
                              </m:r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𝑖𝑛𝑡𝑒𝑔𝑒𝑟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,        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itchFamily="18" charset="0"/>
                </a:endParaRPr>
              </a:p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Example 7.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Integral of a Nonanalytic Function. Dependence on Path .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Integrate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𝑅𝑒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1+2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(a)along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∗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(b) along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consisting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.(See Figure )</a:t>
                </a:r>
              </a:p>
              <a:p>
                <a:pPr algn="just"/>
                <a:r>
                  <a:rPr lang="en-US" sz="2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Solution:</a:t>
                </a:r>
              </a:p>
              <a:p>
                <a:pPr algn="just"/>
                <a:endPara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1" y="348791"/>
                <a:ext cx="11490582" cy="5071132"/>
              </a:xfrm>
              <a:prstGeom prst="rect">
                <a:avLst/>
              </a:prstGeom>
              <a:blipFill rotWithShape="0">
                <a:blip r:embed="rId20"/>
                <a:stretch>
                  <a:fillRect l="-849" t="-962" r="-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26639231-8594-4634-9766-7E53D191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1661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DC5F3-0E64-FA28-08B1-9F1AF5CF7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9938" y="263951"/>
                <a:ext cx="11350029" cy="6299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cs typeface="Times New Roman" pitchFamily="18" charset="0"/>
                  </a:rPr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𝑖𝑦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𝑖𝑡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0≤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𝑅𝑒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=1+2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∗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∗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	  </a:t>
                </a:r>
                <a14:m>
                  <m:oMath xmlns:m="http://schemas.openxmlformats.org/officeDocument/2006/math">
                    <m:r>
                      <m:rPr>
                        <m:brk m:alnAt="24"/>
                      </m:rP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1+2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𝑑𝑡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1+2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e>
                    </m:d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1+2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From (0,0) to (1,0),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cs typeface="Times New Roman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𝑖𝑦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0≤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then </a:t>
                </a: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𝑅𝑒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nary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𝑡𝑑𝑡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From (1,0) to (1,2),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𝑖𝑦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=1+2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𝑖𝑡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0≤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≤1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then </a:t>
                </a: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𝑅𝑒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𝑡</m:t>
                    </m:r>
                    <m:r>
                      <a:rPr lang="en-US" sz="2400" i="1">
                        <a:latin typeface="Cambria Math"/>
                        <a:cs typeface="Times New Roman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  </m:t>
                    </m:r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 algn="just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𝑧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nary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acc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𝑖𝑑𝑡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𝟐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38" y="263951"/>
                <a:ext cx="11350029" cy="6299417"/>
              </a:xfrm>
              <a:prstGeom prst="rect">
                <a:avLst/>
              </a:prstGeom>
              <a:blipFill rotWithShape="0">
                <a:blip r:embed="rId2"/>
                <a:stretch>
                  <a:fillRect l="-806" t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FC78281-8EA3-4BFD-B2AF-92C86BEF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192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02902-6AC2-2631-0D9F-BF518286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8D422-240E-6BEF-B3BF-136957D06B6C}"/>
              </a:ext>
            </a:extLst>
          </p:cNvPr>
          <p:cNvSpPr txBox="1"/>
          <p:nvPr/>
        </p:nvSpPr>
        <p:spPr>
          <a:xfrm>
            <a:off x="9403333" y="46325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31E70-9540-84E4-00B2-72C2F4A3DE3E}"/>
              </a:ext>
            </a:extLst>
          </p:cNvPr>
          <p:cNvSpPr txBox="1"/>
          <p:nvPr/>
        </p:nvSpPr>
        <p:spPr>
          <a:xfrm>
            <a:off x="10664915" y="58364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259495" y="4704968"/>
            <a:ext cx="2379324" cy="1756039"/>
            <a:chOff x="9236467" y="3587478"/>
            <a:chExt cx="2379324" cy="175603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395A0D-AE69-0805-A33C-3921AC04C298}"/>
                </a:ext>
              </a:extLst>
            </p:cNvPr>
            <p:cNvCxnSpPr/>
            <p:nvPr/>
          </p:nvCxnSpPr>
          <p:spPr>
            <a:xfrm>
              <a:off x="9554966" y="4900773"/>
              <a:ext cx="147947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2753993-57B2-D053-6306-216D6705CD98}"/>
                </a:ext>
              </a:extLst>
            </p:cNvPr>
            <p:cNvCxnSpPr>
              <a:cxnSpLocks/>
            </p:cNvCxnSpPr>
            <p:nvPr/>
          </p:nvCxnSpPr>
          <p:spPr>
            <a:xfrm>
              <a:off x="9554966" y="3594243"/>
              <a:ext cx="0" cy="130653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8B4C87-D3F8-7219-5CE3-01B34E8E1ACF}"/>
                </a:ext>
              </a:extLst>
            </p:cNvPr>
            <p:cNvSpPr txBox="1"/>
            <p:nvPr/>
          </p:nvSpPr>
          <p:spPr>
            <a:xfrm>
              <a:off x="9236467" y="358747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37BD73-D762-3FCE-1DE3-8F3FDEC1FFC4}"/>
                </a:ext>
              </a:extLst>
            </p:cNvPr>
            <p:cNvSpPr txBox="1"/>
            <p:nvPr/>
          </p:nvSpPr>
          <p:spPr>
            <a:xfrm>
              <a:off x="10701391" y="497418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59B5DF6-D2B6-2B02-317B-5D026C680EDA}"/>
                </a:ext>
              </a:extLst>
            </p:cNvPr>
            <p:cNvCxnSpPr/>
            <p:nvPr/>
          </p:nvCxnSpPr>
          <p:spPr>
            <a:xfrm flipV="1">
              <a:off x="9570781" y="3898193"/>
              <a:ext cx="1027416" cy="10017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8A5B44-DF18-F816-3B80-BE3FA48F0F62}"/>
                </a:ext>
              </a:extLst>
            </p:cNvPr>
            <p:cNvSpPr txBox="1"/>
            <p:nvPr/>
          </p:nvSpPr>
          <p:spPr>
            <a:xfrm>
              <a:off x="10184687" y="425047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80E1FB-CDBE-54CC-C28F-982BBDD0010D}"/>
                    </a:ext>
                  </a:extLst>
                </p:cNvPr>
                <p:cNvSpPr txBox="1"/>
                <p:nvPr/>
              </p:nvSpPr>
              <p:spPr>
                <a:xfrm>
                  <a:off x="10184687" y="3631024"/>
                  <a:ext cx="9144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80E1FB-CDBE-54CC-C28F-982BBDD001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687" y="3631024"/>
                  <a:ext cx="914400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4503" y="328074"/>
                <a:ext cx="11444140" cy="6007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∴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𝟐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𝒊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Bounds for Integrals. ML-Inequality</a:t>
                </a:r>
                <a:b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 will be a frequent need for estimating the absolute value of complex line integrals . The basic formula is</a:t>
                </a: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nary>
                      <m:naryPr>
                        <m:supHide m:val="on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| ≦  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𝑀𝐿</m:t>
                        </m:r>
                      </m:e>
                    </m:nary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𝑴𝑳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-inequality)</a:t>
                </a:r>
              </a:p>
              <a:p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8: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Estimation of an Integral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an upper bound for the absolute value of the integral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straight-line segment from 0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(See Figure)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≤2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𝑀𝐿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𝑑𝑧</m:t>
                            </m:r>
                          </m:e>
                        </m:nary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≤2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=2.8284.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absolute value of the integral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=0.9428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03" y="328074"/>
                <a:ext cx="11444140" cy="6007670"/>
              </a:xfrm>
              <a:prstGeom prst="rect">
                <a:avLst/>
              </a:prstGeom>
              <a:blipFill rotWithShape="0">
                <a:blip r:embed="rId5"/>
                <a:stretch>
                  <a:fillRect l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A0093EEA-70C2-4E1E-B146-B4224887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7149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4799" y="353208"/>
                <a:ext cx="11544693" cy="5924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Cauchy’s Integral Theorem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closed path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closed path that does not intersect or touch itself as shown in Fig.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a circle is simple, but a curve shaped like an 8 is not simple.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simply connected domain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complex plane is a domain such that every simple closed path in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encloses only points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interior of a circle (“open disk”), ellipse, or any simple closed curve. A domain that is not simply connected is called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multiply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connected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annulus, a disk without the center, for example,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.See also Fig. </a:t>
                </a:r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53208"/>
                <a:ext cx="11544693" cy="5924699"/>
              </a:xfrm>
              <a:prstGeom prst="rect">
                <a:avLst/>
              </a:prstGeom>
              <a:blipFill rotWithShape="0">
                <a:blip r:embed="rId2"/>
                <a:stretch>
                  <a:fillRect l="-792" t="-926" r="-158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FDEFB1E-8D49-0E90-D1A8-D5B195DBA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994" y="1724002"/>
            <a:ext cx="7418895" cy="185009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80618" y="3780079"/>
            <a:ext cx="15872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paths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8C3E35A-47DB-4016-A798-0A93B7FF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698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6D8B4-18AA-C78A-31A1-F7B22261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1C280-4CA8-42D4-80A3-6C6C7A872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6" y="2846895"/>
            <a:ext cx="8427562" cy="1716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65F2CF-B987-4768-A2F8-E19F1577F4E8}"/>
              </a:ext>
            </a:extLst>
          </p:cNvPr>
          <p:cNvSpPr txBox="1"/>
          <p:nvPr/>
        </p:nvSpPr>
        <p:spPr>
          <a:xfrm>
            <a:off x="3665848" y="4591575"/>
            <a:ext cx="5708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Simply and multiply connected domains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0303" y="310685"/>
                <a:ext cx="11571393" cy="606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 domain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(that is, a domain that lies entirely in some circle about the origin) is called </a:t>
                </a:r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-fold connected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its boundary consists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 </a:t>
                </a: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connected sets without common points. These sets can be curves, segments, or single points (such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0&lt;</m:t>
                    </m:r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Thus, </a:t>
                </a:r>
                <a:r>
                  <a:rPr lang="en-US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holes ,</a:t>
                </a: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where “hole” may also mean a segment or even a single point. Hence an annulus is doubly connected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=2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Theorem 1: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Cauchy’s Integral Theorem 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analytic in a simply connected domain D, then for every simple  closed path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D,   				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	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(See fig).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3" y="310685"/>
                <a:ext cx="11571393" cy="6061018"/>
              </a:xfrm>
              <a:prstGeom prst="rect">
                <a:avLst/>
              </a:prstGeom>
              <a:blipFill rotWithShape="0">
                <a:blip r:embed="rId3"/>
                <a:stretch>
                  <a:fillRect l="-843" t="-805" r="-474" b="-16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4211989-DD92-4298-BA5E-987BC96B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475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DA0BE-9D61-3314-A0F9-51CC2365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6222" y="320512"/>
                <a:ext cx="11519555" cy="6200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srgbClr val="FF0000"/>
                  </a:solidFill>
                  <a:latin typeface="Times-Roman"/>
                </a:endParaRPr>
              </a:p>
              <a:p>
                <a:endParaRPr lang="en-US" dirty="0">
                  <a:solidFill>
                    <a:srgbClr val="FF0000"/>
                  </a:solidFill>
                  <a:latin typeface="Times-Roman"/>
                </a:endParaRPr>
              </a:p>
              <a:p>
                <a:endParaRPr lang="en-US" dirty="0">
                  <a:solidFill>
                    <a:srgbClr val="FF0000"/>
                  </a:solidFill>
                  <a:latin typeface="Times-Roman"/>
                </a:endParaRPr>
              </a:p>
              <a:p>
                <a:endParaRPr lang="en-US" dirty="0">
                  <a:solidFill>
                    <a:srgbClr val="FF0000"/>
                  </a:solidFill>
                  <a:latin typeface="Times-Roman"/>
                </a:endParaRPr>
              </a:p>
              <a:p>
                <a:endParaRPr lang="en-US" dirty="0">
                  <a:solidFill>
                    <a:srgbClr val="FF0000"/>
                  </a:solidFill>
                  <a:latin typeface="Times-Roman"/>
                </a:endParaRPr>
              </a:p>
              <a:p>
                <a:endParaRPr lang="en-US" dirty="0">
                  <a:solidFill>
                    <a:srgbClr val="FF0000"/>
                  </a:solidFill>
                  <a:latin typeface="Times-Roman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Entire Functions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	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=0.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func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=0.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=0,1,2,….)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closed path, since these functions are entire	(analytic for all z).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Points Outside the Contour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Analytic ,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sec</m:t>
                            </m:r>
                          </m:fName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func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𝑑𝑧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=0,    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+4</m:t>
                            </m:r>
                          </m:den>
                        </m:f>
                        <m:r>
                          <a:rPr lang="en-US" sz="24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unit circle,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z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not analytic 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2 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/>
                      </a:rPr>
                      <m:t>   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skw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 but all these points lie outside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none lies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inside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Similarly for the second integral, whose integrand is not analytic at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=±2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outside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3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Nonanalytic Function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unit circle. This does contradict Cauchy’s theorem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analytic.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2" y="320512"/>
                <a:ext cx="11519555" cy="6200672"/>
              </a:xfrm>
              <a:prstGeom prst="rect">
                <a:avLst/>
              </a:prstGeom>
              <a:blipFill rotWithShape="0">
                <a:blip r:embed="rId2"/>
                <a:stretch>
                  <a:fillRect l="-794" r="-1164" b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599" y="461914"/>
            <a:ext cx="3465137" cy="1508288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D799858-D4DE-4680-B520-18529985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2604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B7353-C447-3817-A8B9-54929F56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0AC6B41-37BD-4770-9695-B578C5513981}"/>
              </a:ext>
            </a:extLst>
          </p:cNvPr>
          <p:cNvSpPr txBox="1">
            <a:spLocks/>
          </p:cNvSpPr>
          <p:nvPr/>
        </p:nvSpPr>
        <p:spPr>
          <a:xfrm>
            <a:off x="304801" y="2748407"/>
            <a:ext cx="11332395" cy="325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801" y="263307"/>
                <a:ext cx="11675096" cy="5966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4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Analyticity Sufficient, Not Necessary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dz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C is the unit circle. This result does not follow from Cauchy’s theorem,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analytic 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Hence the condition that f be analytic in D is sufficient rather than necessary for (1) to be true .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2: Independence of Path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analytic in a simply connected domain D, then the integral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independent of path in D.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6: A Basic Result: Integral of Integer Powers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Example 6 in Sec. 14.1 and the principle of deformation of path it follows that 	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𝑧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40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𝑑𝑧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{"/>
                          <m:endChr m:val=""/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  <m:r>
                                  <a:rPr lang="en-US" sz="240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𝜋</m:t>
                                </m:r>
                                <m:r>
                                  <a:rPr lang="en-US" sz="240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  <m:r>
                                  <a:rPr lang="en-US" sz="240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,                           </m:t>
                                </m:r>
                                <m:r>
                                  <a:rPr lang="en-US" sz="240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  <m:r>
                                  <a:rPr lang="en-US" sz="2400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=−1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  0,     </m:t>
                                </m:r>
                                <m:r>
                                  <a:rPr lang="en-US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  <m:r>
                                  <a:rPr lang="en-US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itchFamily="18" charset="0"/>
                                  </a:rPr>
                                  <m:t>≠−1 </m:t>
                                </m:r>
                                <m:r>
                                  <a:rPr lang="en-US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itchFamily="18" charset="0"/>
                                  </a:rPr>
                                  <m:t>𝑎𝑛𝑑</m:t>
                                </m:r>
                                <m:r>
                                  <a:rPr lang="en-US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itchFamily="18" charset="0"/>
                                  </a:rPr>
                                  <m:t> </m:t>
                                </m:r>
                                <m:r>
                                  <a:rPr lang="en-US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itchFamily="18" charset="0"/>
                                  </a:rPr>
                                  <m:t>𝑖𝑛𝑡𝑒𝑔𝑒𝑟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counterclockwise integration around any simple closed path containing in its interior.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263307"/>
                <a:ext cx="11675096" cy="5966442"/>
              </a:xfrm>
              <a:prstGeom prst="rect">
                <a:avLst/>
              </a:prstGeom>
              <a:blipFill rotWithShape="0">
                <a:blip r:embed="rId2"/>
                <a:stretch>
                  <a:fillRect l="-783" t="-817" r="-52" b="-1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40FA69F-ADFB-4AB2-9790-3BF82842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191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15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692941" y="1133343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902C218-A5DD-4D27-AF59-1B874935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485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1993</Words>
  <Application>Microsoft Office PowerPoint</Application>
  <PresentationFormat>Widescreen</PresentationFormat>
  <Paragraphs>198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Times-Roman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78</cp:revision>
  <dcterms:created xsi:type="dcterms:W3CDTF">2023-06-26T03:06:53Z</dcterms:created>
  <dcterms:modified xsi:type="dcterms:W3CDTF">2026-05-25T02:38:25Z</dcterms:modified>
</cp:coreProperties>
</file>