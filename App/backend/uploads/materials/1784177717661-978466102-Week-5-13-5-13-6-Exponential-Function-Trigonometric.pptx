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09" r:id="rId2"/>
    <p:sldId id="389" r:id="rId3"/>
    <p:sldId id="400" r:id="rId4"/>
    <p:sldId id="362" r:id="rId5"/>
    <p:sldId id="363" r:id="rId6"/>
    <p:sldId id="369" r:id="rId7"/>
    <p:sldId id="373" r:id="rId8"/>
    <p:sldId id="408" r:id="rId9"/>
    <p:sldId id="40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37E43-B0BB-4DE2-8CED-17C1F65A2C65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FEF8D-D13B-4084-8AEC-00802CC66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5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F8F5-4621-F0AD-122D-90BEBFA2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846BB-B68D-B524-E8B6-D033619B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80C5-3249-1C2C-6D8F-01B99901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0" y="6516687"/>
            <a:ext cx="5112434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5245-BF9B-4EF7-AD6D-BE19FC01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03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002D-9FE5-A769-8558-4F6E5477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B782-F73E-961B-DF36-D04E3EFF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4580B-0614-37F6-FDB9-2A0A965B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4609-F7EE-854B-8736-61A72A47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3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C718-D449-65F4-D5DC-1025B83A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30DE2-1F7F-854E-DE26-6E145E0E3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1A0F6-2617-28B4-6C6C-340B8032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229A-F631-95D5-C56B-F2DE1C34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6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7CF2-9EDE-75F5-0FDE-11BA89CD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5BB62-F41F-337E-277E-CE5F8DFBF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0A410-BA52-D7DD-D3F9-427B2F82A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482B9-8EB8-63CD-ABBF-5FBF1B03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A9D7-B5B9-527A-3723-FB3DEBDE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8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1763-4BF6-A29D-34BB-1A9C5F62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FDCF2-1ED3-B308-2F63-22D30531F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87794-9C3A-0FBE-367A-794D14FD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F0A52-5028-B5E1-8A9B-EEDF49DC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BA8B4-4FAE-EC95-7A26-3C560D909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5EF49-2F9A-CE46-2F38-1E07AF30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405E8-F536-E8C7-F0DB-2E938A1A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8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33E9-647D-905B-71F9-36DB2541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2B40B-F1A1-00F8-F337-612DB8A2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B340B-88B6-9162-0D04-62424525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7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41A32-B060-F417-9693-A26B07FF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30158-4DC7-E097-CD45-9178094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7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8AE1-B571-57F9-3F73-25BB71A6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E2BA-86BD-CB46-30DA-0A06FE5A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7F2A4-2C8A-9362-D2CD-8C79A634B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A81F9-9CB6-4BA0-920B-82D2F2C2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610C7-3D03-7E0E-1123-6953E693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6430-2E6C-FD9E-1082-09C4F539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CB355-ACBC-34E6-30E5-E7AF74AE2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2CCFF-00D6-83D4-6514-421831A7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9C529-60A8-4689-C9E6-62CDE71E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F054B-8B01-FBE9-E987-FE835417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C306-E58A-5F4A-E21D-B9D92452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9132-56DE-43ED-D391-93B373C89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D35D-348C-A669-8F44-D78F5D8C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58E4-1943-4249-AA27-5FFF64DF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6EEF-6B0C-F3A5-DE09-83BE035D8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BE8D5-C0EE-FB85-1000-00F373615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9275-18CF-790D-D381-2CF5B192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BF2E-43A2-92BE-6F07-C7206740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6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CD726-978C-2999-932E-DDFFD61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A0EB4-880F-D68B-2534-9E21B72C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9C0B1-EA60-DB6A-C2E1-283877053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21834" y="65389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CEB1-0130-DBF9-4A32-9F15C9842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2" y="6490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9560457-9E56-4EE8-84E0-8F9CFD0ABA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23D30-B1E0-D419-E585-4A6354467E81}"/>
              </a:ext>
            </a:extLst>
          </p:cNvPr>
          <p:cNvSpPr/>
          <p:nvPr userDrawn="1"/>
        </p:nvSpPr>
        <p:spPr>
          <a:xfrm>
            <a:off x="297766" y="291588"/>
            <a:ext cx="11596468" cy="6246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DE399-E715-465A-AD9C-432FC7D08DD6}"/>
              </a:ext>
            </a:extLst>
          </p:cNvPr>
          <p:cNvSpPr/>
          <p:nvPr userDrawn="1"/>
        </p:nvSpPr>
        <p:spPr>
          <a:xfrm>
            <a:off x="3507922" y="2080752"/>
            <a:ext cx="5102680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5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NSPU</a:t>
            </a:r>
          </a:p>
        </p:txBody>
      </p:sp>
    </p:spTree>
    <p:extLst>
      <p:ext uri="{BB962C8B-B14F-4D97-AF65-F5344CB8AC3E}">
        <p14:creationId xmlns:p14="http://schemas.microsoft.com/office/powerpoint/2010/main" val="393625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46726"/>
            <a:ext cx="12192000" cy="6904725"/>
          </a:xfrm>
          <a:prstGeom prst="rect">
            <a:avLst/>
          </a:prstGeom>
          <a:noFill/>
          <a:ln w="3175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/>
          <p:cNvSpPr txBox="1"/>
          <p:nvPr/>
        </p:nvSpPr>
        <p:spPr>
          <a:xfrm>
            <a:off x="723578" y="960951"/>
            <a:ext cx="10144690" cy="25653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NAYPYITAW STATE POLYTECHNIC UNIVERSITY(NSPU)</a:t>
            </a:r>
          </a:p>
          <a:p>
            <a:pPr>
              <a:lnSpc>
                <a:spcPct val="150000"/>
              </a:lnSpc>
            </a:pPr>
            <a:endParaRPr lang="en-US" sz="1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Computational Mathematics</a:t>
            </a:r>
            <a:br>
              <a:rPr lang="en-US" sz="9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2025-2026</a:t>
            </a:r>
          </a:p>
          <a:p>
            <a:pPr>
              <a:lnSpc>
                <a:spcPct val="150000"/>
              </a:lnSpc>
            </a:pPr>
            <a:endParaRPr lang="en-US" sz="9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28316" y="6621488"/>
            <a:ext cx="2743200" cy="365125"/>
          </a:xfrm>
        </p:spPr>
        <p:txBody>
          <a:bodyPr/>
          <a:lstStyle/>
          <a:p>
            <a:fld id="{39560457-9E56-4EE8-84E0-8F9CFD0ABA54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12533" y="3074385"/>
            <a:ext cx="90205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Mathematics IV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(Fourier Analysis and Complex Analysis)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(EM-4012)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4820" y="49508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Email:soesandaraye1986@gmail.com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505" y="323849"/>
            <a:ext cx="1251375" cy="1196725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F66E05A-EB86-4729-B54D-16002DEF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C39D9-948B-F0BB-F32D-0797F00E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54525" y="375914"/>
            <a:ext cx="11519554" cy="2092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Contents;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Exponential Function 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Trigonometric and Hyperbolic Functions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8C7EA-F372-4F48-B7D5-2C05DD299F8E}"/>
              </a:ext>
            </a:extLst>
          </p:cNvPr>
          <p:cNvSpPr>
            <a:spLocks noGrp="1"/>
          </p:cNvSpPr>
          <p:nvPr/>
        </p:nvSpPr>
        <p:spPr>
          <a:xfrm>
            <a:off x="734060" y="3067685"/>
            <a:ext cx="10515600" cy="3057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Objectives,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Exponential Function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Trigonometric and Hyperbolic Functions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problems by Theory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problems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Theory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9968137-0EB9-4E4C-BB42-241A88F8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197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7646" y="311085"/>
                <a:ext cx="11538408" cy="6134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Exponential Function 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of the most important analytic functions, the complex exponential function is written   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𝑧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also written exp 𝑧,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Properties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𝑖𝑦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.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𝑖𝑦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𝑖𝑠𝑖𝑛𝑦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real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𝑧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analytic for all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)′ 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𝑒𝑧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function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f(z)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is analytic for all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an entire function.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(4)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.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𝑖𝑦</m:t>
                        </m:r>
                      </m:sup>
                    </m:sSup>
                  </m:oMath>
                </a14:m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Furthermore,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from(1) the so-called Euler formula,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(5)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𝑖𝑦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cos 𝑦 + 𝑖 𝑠𝑖𝑛𝑦 𝑎𝑛𝑑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−𝑖𝑦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cos 𝑦 − 𝑖 𝑠𝑖𝑛𝑦 is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 form of complex number 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sin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(6)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(7)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400" baseline="30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πi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(8)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1+0=1,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−1+0=−1,</m:t>
                    </m:r>
                  </m:oMath>
                </a14:m>
                <a:endParaRPr lang="en-US" dirty="0"/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=0−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−1+0=−1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46" y="311085"/>
                <a:ext cx="11538408" cy="6134564"/>
              </a:xfrm>
              <a:prstGeom prst="rect">
                <a:avLst/>
              </a:prstGeom>
              <a:blipFill rotWithShape="0">
                <a:blip r:embed="rId2"/>
                <a:stretch>
                  <a:fillRect l="-792" r="-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6887E50-7C03-4A56-98BA-765E3134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9058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C8481E-9D3F-491B-BD8A-0F676E128B1F}"/>
              </a:ext>
            </a:extLst>
          </p:cNvPr>
          <p:cNvSpPr txBox="1">
            <a:spLocks/>
          </p:cNvSpPr>
          <p:nvPr/>
        </p:nvSpPr>
        <p:spPr>
          <a:xfrm>
            <a:off x="-533175" y="1311766"/>
            <a:ext cx="12862163" cy="2512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07140" y="248674"/>
                <a:ext cx="11614859" cy="6360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(9)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𝑖𝑦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𝑠𝑖𝑛𝑦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𝑐𝑜𝑠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(10) 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𝑖𝑦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𝑖𝑦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𝑖𝑦</m:t>
                            </m:r>
                          </m:sup>
                        </m:sSup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arg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± 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0,1,2, … 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e>
                    </m:d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 0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𝑓𝑜𝑟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𝑎𝑙𝑙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e>
                    </m:d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z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𝑓𝑜𝑟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𝑎𝑙𝑙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,. (13) 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infinite strip is called a fundamental region of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Values. Solution of Functions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𝑒</a:t>
                </a:r>
                <a:r>
                  <a:rPr lang="en-US" sz="24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1.4−0.6𝑖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1.4−0.6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𝑎𝑛𝑑 𝐴𝑟𝑔 𝑒</a:t>
                </a:r>
                <a:r>
                  <a:rPr lang="en-US" sz="24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1.4−0.6𝑖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1.4−0.6𝑖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1.4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−0.6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0" algn="just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US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1.4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0.6 −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𝑖𝑠𝑖𝑛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0.6) , =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US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1.4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0.6 − </m:t>
                      </m:r>
                      <m:r>
                        <m:rPr>
                          <m:sty m:val="p"/>
                        </m:rPr>
                        <a:rPr lang="en-US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US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1.4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sin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0.6 ,= 3.35−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2.29</m:t>
                      </m:r>
                    </m:oMath>
                  </m:oMathPara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0" algn="just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1.4−0.6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1.4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−0.6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1.4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1.4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=4.055 ,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1.4−0.6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−0.6 </m:t>
                    </m:r>
                  </m:oMath>
                </a14:m>
                <a:endParaRPr lang="en-US" sz="2400" dirty="0"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𝑒</a:t>
                </a:r>
                <a:r>
                  <a:rPr lang="en-US" sz="24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2+𝑖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𝑒</a:t>
                </a:r>
                <a:r>
                  <a:rPr lang="en-US" sz="24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4-𝑖</a:t>
                </a:r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𝑖𝑠𝑖𝑛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1),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(cos1 –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sin 1), =𝑒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(cos1+𝑖𝑠𝑖𝑛1)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(cos1 –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sin 1) </a:t>
                </a:r>
                <a:r>
                  <a:rPr lang="en-US" sz="24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(cos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1+ sin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1)= 𝑒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	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0" algn="just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40" y="248674"/>
                <a:ext cx="11614859" cy="6360652"/>
              </a:xfrm>
              <a:prstGeom prst="rect">
                <a:avLst/>
              </a:prstGeom>
              <a:blipFill>
                <a:blip r:embed="rId3"/>
                <a:stretch>
                  <a:fillRect l="-840" r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27B0E2C-3B95-4D84-8686-DF0D4038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502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037"/>
    </mc:Choice>
    <mc:Fallback xmlns="">
      <p:transition spd="slow" advTm="15103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F893C5-2B07-4F61-AA7A-A08B81EC4BBA}"/>
              </a:ext>
            </a:extLst>
          </p:cNvPr>
          <p:cNvSpPr txBox="1">
            <a:spLocks/>
          </p:cNvSpPr>
          <p:nvPr/>
        </p:nvSpPr>
        <p:spPr>
          <a:xfrm>
            <a:off x="371063" y="546317"/>
            <a:ext cx="10982739" cy="205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70491" y="311085"/>
                <a:ext cx="11429999" cy="6226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p>
                    </m:sSup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=3+4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=1.609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𝑠𝑖𝑛𝑦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=3,     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=4</m:t>
                        </m:r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=0.6,   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=0.8,   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=0.927</m:t>
                            </m:r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=1.609+0.927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=0,1,2,…)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Trigonometric and Hyperbolic Functions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Euler Formulas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𝑒</a:t>
                </a:r>
                <a:r>
                  <a:rPr lang="en-US" sz="24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𝑖𝑥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cos 𝑥 + 𝑖𝑠𝑖𝑛 𝑥,    𝑒</a:t>
                </a:r>
                <a:r>
                  <a:rPr lang="en-US" sz="24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−𝑖𝑥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cos 𝑥 − 𝑖𝑠𝑖𝑛 𝑥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addition and subtraction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𝑖𝑠𝑖𝑛𝑥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𝑖𝑠𝑖𝑛𝑥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𝑐𝑜𝑠𝑥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𝑐𝑜𝑠𝑧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sup>
                    </m:sSup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sup>
                    </m:sSup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𝑖𝑠𝑖𝑛𝑥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𝑖𝑠𝑖𝑛𝑥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𝑖𝑠𝑖𝑛𝑥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𝑠𝑖𝑛𝑥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𝑠𝑖𝑛𝑧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sup>
                    </m:sSup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sup>
                    </m:sSup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algn="just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Formulas</a:t>
                </a: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±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∓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±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𝑐𝑜𝑠𝑧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91" y="311085"/>
                <a:ext cx="11429999" cy="6226256"/>
              </a:xfrm>
              <a:prstGeom prst="rect">
                <a:avLst/>
              </a:prstGeom>
              <a:blipFill rotWithShape="0">
                <a:blip r:embed="rId3"/>
                <a:stretch>
                  <a:fillRect l="-853" t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39FF406-B9FB-40AD-90CD-4E96D445A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742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037"/>
    </mc:Choice>
    <mc:Fallback xmlns="">
      <p:transition spd="slow" advTm="15103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2" y="6490652"/>
            <a:ext cx="2743200" cy="365125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44905" y="356214"/>
                <a:ext cx="11366133" cy="5919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Hyperbolic Functions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complex hyperbolic cosine and sine,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</m:den>
                    </m:f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       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</m:den>
                    </m:f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accent1"/>
                  </a:buClr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 between Complex Trigonometric and Hyperbolic functions</a:t>
                </a:r>
              </a:p>
              <a:p>
                <a:pPr algn="just"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𝑠𝑖𝑛h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𝑖𝑧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sinh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accent1"/>
                  </a:buClr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1. Real and Imaginary Parts. Absolute Value. Periodicity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cosh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sinh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cosh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sinh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  <a:tabLst>
                    <a:tab pos="5826125" algn="l"/>
                  </a:tabLst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(a)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(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𝑖𝑧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𝑖𝑧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𝑖𝑦</m:t>
                                </m:r>
                              </m:e>
                            </m:d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𝑖𝑦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  <a:tabLst>
                    <a:tab pos="1946275" algn="l"/>
                    <a:tab pos="5826125" algn="l"/>
                  </a:tabLs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cosh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𝑐𝑜𝑠h𝑦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𝑖𝑠𝑖𝑛𝑥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𝑠𝑖𝑛h𝑦</m:t>
                        </m:r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05" y="356214"/>
                <a:ext cx="11366133" cy="5919056"/>
              </a:xfrm>
              <a:prstGeom prst="rect">
                <a:avLst/>
              </a:prstGeom>
              <a:blipFill rotWithShape="0">
                <a:blip r:embed="rId3"/>
                <a:stretch>
                  <a:fillRect l="-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64E7C2C-B94A-4903-BC6B-E4806B0D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59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736"/>
    </mc:Choice>
    <mc:Fallback xmlns="">
      <p:transition spd="slow" advTm="8873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4799" y="271234"/>
            <a:ext cx="11654320" cy="5678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600"/>
              </a:spcBef>
              <a:buClr>
                <a:schemeClr val="accent1"/>
              </a:buClr>
              <a:buNone/>
              <a:tabLst>
                <a:tab pos="582612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41258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55076" y="348792"/>
                <a:ext cx="11553766" cy="592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  <a:buClr>
                    <a:schemeClr val="accent1"/>
                  </a:buClr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(b):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𝑖𝑧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𝑖𝑧</m:t>
                                </m:r>
                              </m:sup>
                            </m:sSup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𝑖𝑥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𝑖𝑥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cosh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cosh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func>
                          </m:e>
                        </m:func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sinh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cosh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cosh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sinh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2. Solution of Equations. Zeros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𝒄𝒐𝒔𝒛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𝒔𝒊𝒏𝒛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=5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(which has no real solution!) ,(b)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sin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 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−10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+1=0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(1) by multiplication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algn="just">
                  <a:lnSpc>
                    <a:spcPct val="13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a quadratic equation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with solutions (rounded off to 3 decimals)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76" y="348792"/>
                <a:ext cx="11553766" cy="5927200"/>
              </a:xfrm>
              <a:prstGeom prst="rect">
                <a:avLst/>
              </a:prstGeom>
              <a:blipFill rotWithShape="0">
                <a:blip r:embed="rId3"/>
                <a:stretch>
                  <a:fillRect l="-791" b="-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F3A29FD-6E95-4996-A557-1C1734A2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329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370"/>
    </mc:Choice>
    <mc:Fallback xmlns="">
      <p:transition spd="slow" advTm="13637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2" y="6533514"/>
            <a:ext cx="2743200" cy="365125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1258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2200" y="345947"/>
                <a:ext cx="11592612" cy="4538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𝑖𝑧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25−1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=9.899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0.101.</a:t>
                </a: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𝑖𝑦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=9.899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𝑜𝑟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0.101,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=±2.202,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𝐴𝑛𝑠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=±2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±2.292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=0,1,2…)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sinh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 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𝐴𝑛𝑠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</m:t>
                    </m:r>
                    <m:f>
                      <m:f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=0,1,2…)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𝐴𝑛𝑠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=±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=0,1,2…)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>
                    <a:schemeClr val="accent1"/>
                  </a:buClr>
                </a:pP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00" y="345947"/>
                <a:ext cx="11592612" cy="4538487"/>
              </a:xfrm>
              <a:prstGeom prst="rect">
                <a:avLst/>
              </a:prstGeom>
              <a:blipFill>
                <a:blip r:embed="rId3"/>
                <a:stretch>
                  <a:fillRect l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D02B699-F839-47B8-B58D-713F2C15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493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370"/>
    </mc:Choice>
    <mc:Fallback xmlns="">
      <p:transition spd="slow" advTm="13637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5E8B0-71DD-192B-BAB2-B089316D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9</a:t>
            </a:fld>
            <a:endParaRPr lang="en-US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1D5FA7BB-28D3-000F-9486-1F7C41005CE5}"/>
              </a:ext>
            </a:extLst>
          </p:cNvPr>
          <p:cNvSpPr txBox="1">
            <a:spLocks/>
          </p:cNvSpPr>
          <p:nvPr/>
        </p:nvSpPr>
        <p:spPr>
          <a:xfrm>
            <a:off x="3524128" y="1448654"/>
            <a:ext cx="5393391" cy="630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0D6E0-59BA-9F80-29B5-806062C9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6" y="1763965"/>
            <a:ext cx="2000528" cy="2524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139153-5E14-E658-7947-669471D23F83}"/>
                  </a:ext>
                </a:extLst>
              </p:cNvPr>
              <p:cNvSpPr txBox="1"/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Advanced Engineering Mathematics, Erwin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Kreyszig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Edition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139153-5E14-E658-7947-669471D2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blipFill rotWithShape="0">
                <a:blip r:embed="rId3"/>
                <a:stretch>
                  <a:fillRect l="-778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DA02EEF-0630-0C89-647C-51C8C0C5E10F}"/>
              </a:ext>
            </a:extLst>
          </p:cNvPr>
          <p:cNvSpPr/>
          <p:nvPr/>
        </p:nvSpPr>
        <p:spPr>
          <a:xfrm>
            <a:off x="9571264" y="4974507"/>
            <a:ext cx="2321858" cy="1559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2A1E938-77BC-4F7B-A45F-9AB8B5FF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48541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12.1|14.2|68.9|7.2|9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12.1|14.2|68.9|7.2|9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2.2|11.9|1.8|5.3|23.9|7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23.7|15|55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23.7|15|55.2"/>
</p:tagLst>
</file>

<file path=ppt/theme/theme1.xml><?xml version="1.0" encoding="utf-8"?>
<a:theme xmlns:a="http://schemas.openxmlformats.org/drawingml/2006/main" name="Office Theme">
  <a:themeElements>
    <a:clrScheme name="Custom 44">
      <a:dk1>
        <a:sysClr val="windowText" lastClr="000000"/>
      </a:dk1>
      <a:lt1>
        <a:sysClr val="window" lastClr="FFFFFF"/>
      </a:lt1>
      <a:dk2>
        <a:srgbClr val="212745"/>
      </a:dk2>
      <a:lt2>
        <a:srgbClr val="7030A0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1167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MATHS_DPRT</dc:creator>
  <cp:lastModifiedBy>Dell</cp:lastModifiedBy>
  <cp:revision>80</cp:revision>
  <dcterms:created xsi:type="dcterms:W3CDTF">2023-06-26T03:06:53Z</dcterms:created>
  <dcterms:modified xsi:type="dcterms:W3CDTF">2026-05-08T06:23:14Z</dcterms:modified>
</cp:coreProperties>
</file>