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4"/>
  </p:notesMasterIdLst>
  <p:sldIdLst>
    <p:sldId id="256" r:id="rId2"/>
    <p:sldId id="319" r:id="rId3"/>
    <p:sldId id="320" r:id="rId4"/>
    <p:sldId id="321" r:id="rId5"/>
    <p:sldId id="322" r:id="rId6"/>
    <p:sldId id="327" r:id="rId7"/>
    <p:sldId id="323" r:id="rId8"/>
    <p:sldId id="324" r:id="rId9"/>
    <p:sldId id="325" r:id="rId10"/>
    <p:sldId id="326" r:id="rId11"/>
    <p:sldId id="329" r:id="rId12"/>
    <p:sldId id="259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3399FF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504" autoAdjust="0"/>
  </p:normalViewPr>
  <p:slideViewPr>
    <p:cSldViewPr>
      <p:cViewPr varScale="1">
        <p:scale>
          <a:sx n="82" d="100"/>
          <a:sy n="82" d="100"/>
        </p:scale>
        <p:origin x="1474" y="53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D3FDCA-91AA-4804-9A07-6F0DDB6CA84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9CE79-09F1-4C6E-A96F-5EE19B972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92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C9CE79-09F1-4C6E-A96F-5EE19B972FC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8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485"/>
            <a:ext cx="7772400" cy="14689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59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3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313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185"/>
            <a:ext cx="7772400" cy="150071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31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02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4584"/>
            <a:ext cx="4040188" cy="6413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5934"/>
            <a:ext cx="4040188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4584"/>
            <a:ext cx="4041775" cy="6413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5934"/>
            <a:ext cx="4041775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94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10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35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2"/>
            <a:ext cx="3008313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25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6905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24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726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3833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867"/>
            <a:ext cx="5486400" cy="8043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40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71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167"/>
            <a:ext cx="2057400" cy="58504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167"/>
            <a:ext cx="6019800" cy="58504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91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018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1179288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 Click to edit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79712" y="1316766"/>
            <a:ext cx="6912768" cy="6141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1990056" y="2218994"/>
            <a:ext cx="6912768" cy="3994316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1058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179288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 Click to edit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95536" y="1508787"/>
            <a:ext cx="8496944" cy="6141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405880" y="2411015"/>
            <a:ext cx="8496944" cy="3994316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6943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51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3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8" r:id="rId12"/>
    <p:sldLayoutId id="2147483699" r:id="rId13"/>
    <p:sldLayoutId id="2147483650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1475656" y="1484784"/>
            <a:ext cx="633670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altLang="ko-KR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Programming Language III</a:t>
            </a:r>
          </a:p>
        </p:txBody>
      </p:sp>
    </p:spTree>
    <p:extLst>
      <p:ext uri="{BB962C8B-B14F-4D97-AF65-F5344CB8AC3E}">
        <p14:creationId xmlns:p14="http://schemas.microsoft.com/office/powerpoint/2010/main" val="30344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32" y="116632"/>
            <a:ext cx="7620000" cy="1143000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836712"/>
            <a:ext cx="8640960" cy="4800600"/>
          </a:xfrm>
        </p:spPr>
        <p:txBody>
          <a:bodyPr/>
          <a:lstStyle/>
          <a:p>
            <a:pPr algn="just" latinLnBrk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2200" dirty="0">
                <a:latin typeface="Bookman Old Style" pitchFamily="18" charset="0"/>
              </a:rPr>
              <a:t>A group of like-typed variables that are referred to by a common name. </a:t>
            </a:r>
          </a:p>
          <a:p>
            <a:pPr algn="just" latinLnBrk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2200" dirty="0">
                <a:latin typeface="Bookman Old Style" pitchFamily="18" charset="0"/>
              </a:rPr>
              <a:t>May have one or more dimensions.</a:t>
            </a:r>
          </a:p>
          <a:p>
            <a:pPr algn="just" latinLnBrk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2200" dirty="0">
                <a:latin typeface="Bookman Old Style" pitchFamily="18" charset="0"/>
              </a:rPr>
              <a:t>A specific element in an array is accessed by its index. </a:t>
            </a:r>
          </a:p>
          <a:p>
            <a:pPr algn="just" latinLnBrk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2200" dirty="0">
                <a:latin typeface="Bookman Old Style" pitchFamily="18" charset="0"/>
              </a:rPr>
              <a:t>Offer a convenient means of grouping related information.</a:t>
            </a:r>
          </a:p>
          <a:p>
            <a:pPr marL="457200" lvl="1" indent="0" algn="just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</a:endParaRPr>
          </a:p>
          <a:p>
            <a:pPr latinLnBrk="0"/>
            <a:endParaRPr lang="en-US" sz="2200" dirty="0">
              <a:latin typeface="Bookman Old Style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70047" y="6604857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2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-27384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69336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746" name="Picture 2" descr="Array - Java array - edurek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688208"/>
            <a:ext cx="8390250" cy="2981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315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Declaring and Creating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932" y="1052736"/>
            <a:ext cx="8707593" cy="532859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000" dirty="0">
                <a:latin typeface="Bookman Old Style" pitchFamily="18" charset="0"/>
              </a:rPr>
              <a:t>Declare an array variable</a:t>
            </a:r>
          </a:p>
          <a:p>
            <a:pPr marL="457200" lvl="2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dirty="0">
                <a:latin typeface="Bookman Old Style" pitchFamily="18" charset="0"/>
              </a:rPr>
              <a:t>	</a:t>
            </a:r>
            <a:r>
              <a:rPr lang="en-US" sz="2000" dirty="0" err="1">
                <a:latin typeface="Bookman Old Style" pitchFamily="18" charset="0"/>
              </a:rPr>
              <a:t>dataType</a:t>
            </a:r>
            <a:r>
              <a:rPr lang="en-US" sz="2000" dirty="0">
                <a:latin typeface="Bookman Old Style" pitchFamily="18" charset="0"/>
              </a:rPr>
              <a:t>[] </a:t>
            </a:r>
            <a:r>
              <a:rPr lang="en-US" sz="2000" dirty="0" err="1">
                <a:latin typeface="Bookman Old Style" pitchFamily="18" charset="0"/>
              </a:rPr>
              <a:t>arrayName</a:t>
            </a:r>
            <a:r>
              <a:rPr lang="en-US" sz="2000" dirty="0">
                <a:latin typeface="Bookman Old Style" pitchFamily="18" charset="0"/>
              </a:rPr>
              <a:t>; //preferred) (or)</a:t>
            </a:r>
          </a:p>
          <a:p>
            <a:pPr marL="228600" lvl="1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dirty="0">
                <a:latin typeface="Bookman Old Style" pitchFamily="18" charset="0"/>
              </a:rPr>
              <a:t>    	</a:t>
            </a:r>
            <a:r>
              <a:rPr lang="en-US" sz="2000" dirty="0" err="1">
                <a:latin typeface="Bookman Old Style" pitchFamily="18" charset="0"/>
              </a:rPr>
              <a:t>dataType</a:t>
            </a:r>
            <a:r>
              <a:rPr lang="en-US" sz="2000" dirty="0">
                <a:latin typeface="Bookman Old Style" pitchFamily="18" charset="0"/>
              </a:rPr>
              <a:t> </a:t>
            </a:r>
            <a:r>
              <a:rPr lang="en-US" sz="2000" dirty="0" err="1">
                <a:latin typeface="Bookman Old Style" pitchFamily="18" charset="0"/>
              </a:rPr>
              <a:t>arrayName</a:t>
            </a:r>
            <a:r>
              <a:rPr lang="en-US" sz="2000" dirty="0">
                <a:latin typeface="Bookman Old Style" pitchFamily="18" charset="0"/>
              </a:rPr>
              <a:t>[ ];</a:t>
            </a:r>
          </a:p>
          <a:p>
            <a:pPr marL="228600" lvl="1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dirty="0">
                <a:latin typeface="Bookman Old Style" pitchFamily="18" charset="0"/>
              </a:rPr>
              <a:t>	</a:t>
            </a:r>
            <a:r>
              <a:rPr lang="en-US" sz="2000" b="1" dirty="0" err="1">
                <a:solidFill>
                  <a:srgbClr val="FF0000"/>
                </a:solidFill>
                <a:latin typeface="Bookman Old Style" pitchFamily="18" charset="0"/>
              </a:rPr>
              <a:t>int</a:t>
            </a:r>
            <a:r>
              <a:rPr lang="en-US" sz="2000" b="1" dirty="0">
                <a:solidFill>
                  <a:srgbClr val="FF0000"/>
                </a:solidFill>
                <a:latin typeface="Bookman Old Style" pitchFamily="18" charset="0"/>
              </a:rPr>
              <a:t>[ ] days</a:t>
            </a:r>
            <a:r>
              <a:rPr lang="en-US" sz="2000" dirty="0">
                <a:latin typeface="Bookman Old Style" pitchFamily="18" charset="0"/>
              </a:rPr>
              <a:t>; or </a:t>
            </a:r>
            <a:r>
              <a:rPr lang="en-US" sz="2000" dirty="0" err="1">
                <a:latin typeface="Bookman Old Style" pitchFamily="18" charset="0"/>
              </a:rPr>
              <a:t>int</a:t>
            </a:r>
            <a:r>
              <a:rPr lang="en-US" sz="2000" dirty="0">
                <a:latin typeface="Bookman Old Style" pitchFamily="18" charset="0"/>
              </a:rPr>
              <a:t> days[ ];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000" dirty="0">
                <a:latin typeface="Bookman Old Style" pitchFamily="18" charset="0"/>
              </a:rPr>
              <a:t>Creating an array via the new keyword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Bookman Old Style" pitchFamily="18" charset="0"/>
              </a:rPr>
              <a:t>                </a:t>
            </a:r>
            <a:r>
              <a:rPr lang="en-US" sz="2000" dirty="0" err="1">
                <a:latin typeface="Bookman Old Style" pitchFamily="18" charset="0"/>
              </a:rPr>
              <a:t>arrayName</a:t>
            </a:r>
            <a:r>
              <a:rPr lang="en-US" sz="2000" dirty="0">
                <a:latin typeface="Bookman Old Style" pitchFamily="18" charset="0"/>
              </a:rPr>
              <a:t> = new </a:t>
            </a:r>
            <a:r>
              <a:rPr lang="en-US" sz="2000" dirty="0" err="1">
                <a:latin typeface="Bookman Old Style" pitchFamily="18" charset="0"/>
              </a:rPr>
              <a:t>dataType</a:t>
            </a:r>
            <a:r>
              <a:rPr lang="en-US" sz="2000" dirty="0">
                <a:latin typeface="Bookman Old Style" pitchFamily="18" charset="0"/>
              </a:rPr>
              <a:t>[size];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Bookman Old Style" pitchFamily="18" charset="0"/>
              </a:rPr>
              <a:t>	    days=new </a:t>
            </a:r>
            <a:r>
              <a:rPr lang="en-US" sz="2000" dirty="0" err="1">
                <a:latin typeface="Bookman Old Style" pitchFamily="18" charset="0"/>
              </a:rPr>
              <a:t>int</a:t>
            </a:r>
            <a:r>
              <a:rPr lang="en-US" sz="2000" dirty="0">
                <a:latin typeface="Bookman Old Style" pitchFamily="18" charset="0"/>
              </a:rPr>
              <a:t>[5];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Bookman Old Style" pitchFamily="18" charset="0"/>
              </a:rPr>
              <a:t>      Steps 1+2 </a:t>
            </a:r>
            <a:r>
              <a:rPr lang="en-US" sz="2000" dirty="0">
                <a:latin typeface="Bookman Old Style" pitchFamily="18" charset="0"/>
                <a:sym typeface="Wingdings"/>
              </a:rPr>
              <a:t>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Bookman Old Style" pitchFamily="18" charset="0"/>
                <a:sym typeface="Wingdings"/>
              </a:rPr>
              <a:t>                </a:t>
            </a:r>
            <a:r>
              <a:rPr lang="en-US" sz="2000" dirty="0" err="1">
                <a:latin typeface="Bookman Old Style" pitchFamily="18" charset="0"/>
                <a:sym typeface="Wingdings"/>
              </a:rPr>
              <a:t>dataType</a:t>
            </a:r>
            <a:r>
              <a:rPr lang="en-US" sz="2000" dirty="0">
                <a:latin typeface="Bookman Old Style" pitchFamily="18" charset="0"/>
                <a:sym typeface="Wingdings"/>
              </a:rPr>
              <a:t> </a:t>
            </a:r>
            <a:r>
              <a:rPr lang="en-US" sz="2000" dirty="0" err="1">
                <a:latin typeface="Bookman Old Style" pitchFamily="18" charset="0"/>
                <a:sym typeface="Wingdings"/>
              </a:rPr>
              <a:t>arrayNam</a:t>
            </a:r>
            <a:r>
              <a:rPr lang="en-US" sz="2000" dirty="0">
                <a:latin typeface="Bookman Old Style" pitchFamily="18" charset="0"/>
                <a:sym typeface="Wingdings"/>
              </a:rPr>
              <a:t>[ ]=</a:t>
            </a:r>
            <a:r>
              <a:rPr lang="en-US" sz="2000" dirty="0">
                <a:latin typeface="Bookman Old Style" pitchFamily="18" charset="0"/>
              </a:rPr>
              <a:t>new </a:t>
            </a:r>
            <a:r>
              <a:rPr lang="en-US" sz="2000" dirty="0" err="1">
                <a:latin typeface="Bookman Old Style" pitchFamily="18" charset="0"/>
              </a:rPr>
              <a:t>dataType</a:t>
            </a:r>
            <a:r>
              <a:rPr lang="en-US" sz="2000" dirty="0">
                <a:latin typeface="Bookman Old Style" pitchFamily="18" charset="0"/>
              </a:rPr>
              <a:t>[size];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Bookman Old Style" pitchFamily="18" charset="0"/>
              </a:rPr>
              <a:t>	     </a:t>
            </a:r>
            <a:r>
              <a:rPr lang="en-US" sz="2000" b="1" dirty="0" err="1">
                <a:solidFill>
                  <a:srgbClr val="FF0000"/>
                </a:solidFill>
                <a:latin typeface="Bookman Old Style" pitchFamily="18" charset="0"/>
              </a:rPr>
              <a:t>int</a:t>
            </a:r>
            <a:r>
              <a:rPr lang="en-US" sz="2000" b="1" dirty="0">
                <a:solidFill>
                  <a:srgbClr val="FF0000"/>
                </a:solidFill>
                <a:latin typeface="Bookman Old Style" pitchFamily="18" charset="0"/>
              </a:rPr>
              <a:t> days[ ]=new </a:t>
            </a:r>
            <a:r>
              <a:rPr lang="en-US" sz="2000" b="1" dirty="0" err="1">
                <a:solidFill>
                  <a:srgbClr val="FF0000"/>
                </a:solidFill>
                <a:latin typeface="Bookman Old Style" pitchFamily="18" charset="0"/>
              </a:rPr>
              <a:t>int</a:t>
            </a:r>
            <a:r>
              <a:rPr lang="en-US" sz="2000" b="1" dirty="0">
                <a:solidFill>
                  <a:srgbClr val="FF0000"/>
                </a:solidFill>
                <a:latin typeface="Bookman Old Style" pitchFamily="18" charset="0"/>
              </a:rPr>
              <a:t>[5];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>
          <a:xfrm>
            <a:off x="8772120" y="6604857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3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-27384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669336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44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424" y="130280"/>
            <a:ext cx="7620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Initializing Arrays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836712"/>
            <a:ext cx="8856984" cy="4800600"/>
          </a:xfrm>
        </p:spPr>
        <p:txBody>
          <a:bodyPr>
            <a:noAutofit/>
          </a:bodyPr>
          <a:lstStyle/>
          <a:p>
            <a:pPr algn="just" latinLnBrk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When an array is created, the elements are assigned default values for its primitive types: 0 for </a:t>
            </a:r>
            <a:r>
              <a:rPr lang="en-US" sz="2000" dirty="0" err="1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int</a:t>
            </a:r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, 0.0 for double, ‘\u0000’ for char, and false for Boolean type.</a:t>
            </a:r>
          </a:p>
          <a:p>
            <a:pPr algn="just" latinLnBrk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Assigning new values to the elements:</a:t>
            </a:r>
          </a:p>
          <a:p>
            <a:pPr marL="0" indent="0" algn="just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			   </a:t>
            </a:r>
          </a:p>
          <a:p>
            <a:pPr marL="0" indent="0" algn="just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2000" dirty="0">
              <a:latin typeface="Bookman Old Style" pitchFamily="18" charset="0"/>
              <a:cs typeface="Arial" pitchFamily="34" charset="0"/>
            </a:endParaRPr>
          </a:p>
          <a:p>
            <a:pPr marL="0" indent="0" algn="just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                                               or</a:t>
            </a:r>
          </a:p>
          <a:p>
            <a:pPr marL="0" indent="0" algn="just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2000" dirty="0">
              <a:latin typeface="Bookman Old Style" pitchFamily="18" charset="0"/>
              <a:cs typeface="Arial" pitchFamily="34" charset="0"/>
            </a:endParaRPr>
          </a:p>
          <a:p>
            <a:pPr marL="0" indent="0" algn="just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2000" dirty="0">
              <a:latin typeface="Bookman Old Style" pitchFamily="18" charset="0"/>
              <a:cs typeface="Arial" pitchFamily="34" charset="0"/>
            </a:endParaRPr>
          </a:p>
          <a:p>
            <a:pPr marL="0" indent="0" algn="just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2000" dirty="0">
              <a:solidFill>
                <a:schemeClr val="tx1"/>
              </a:solidFill>
              <a:latin typeface="Bookman Old Style" pitchFamily="18" charset="0"/>
              <a:cs typeface="Arial" pitchFamily="34" charset="0"/>
            </a:endParaRPr>
          </a:p>
          <a:p>
            <a:pPr algn="just" latinLnBrk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Getting size/length of array</a:t>
            </a:r>
          </a:p>
          <a:p>
            <a:pPr marL="0" indent="0" algn="just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2000" dirty="0">
                <a:latin typeface="Bookman Old Style" pitchFamily="18" charset="0"/>
                <a:cs typeface="Arial" pitchFamily="34" charset="0"/>
              </a:rPr>
              <a:t> 	</a:t>
            </a:r>
            <a:r>
              <a:rPr lang="en-US" sz="2000" dirty="0" err="1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arrayName.</a:t>
            </a:r>
            <a:r>
              <a:rPr lang="en-US" sz="2000" dirty="0" err="1">
                <a:solidFill>
                  <a:srgbClr val="FF0000"/>
                </a:solidFill>
                <a:latin typeface="Bookman Old Style" pitchFamily="18" charset="0"/>
                <a:cs typeface="Arial" pitchFamily="34" charset="0"/>
              </a:rPr>
              <a:t>length</a:t>
            </a:r>
            <a:r>
              <a:rPr lang="en-US" sz="2000" dirty="0">
                <a:solidFill>
                  <a:srgbClr val="FF0000"/>
                </a:solidFill>
                <a:latin typeface="Bookman Old Style" pitchFamily="18" charset="0"/>
                <a:cs typeface="Arial" pitchFamily="34" charset="0"/>
              </a:rPr>
              <a:t>( )            </a:t>
            </a:r>
            <a:r>
              <a:rPr lang="en-US" sz="2000" dirty="0" err="1">
                <a:latin typeface="Bookman Old Style" pitchFamily="18" charset="0"/>
                <a:cs typeface="Arial" pitchFamily="34" charset="0"/>
              </a:rPr>
              <a:t>eg</a:t>
            </a:r>
            <a:r>
              <a:rPr lang="en-US" sz="2000" dirty="0">
                <a:latin typeface="Bookman Old Style" pitchFamily="18" charset="0"/>
                <a:cs typeface="Arial" pitchFamily="34" charset="0"/>
              </a:rPr>
              <a:t>. </a:t>
            </a:r>
            <a:r>
              <a:rPr lang="en-US" sz="2000" dirty="0" err="1">
                <a:latin typeface="Bookman Old Style" pitchFamily="18" charset="0"/>
                <a:cs typeface="Arial" pitchFamily="34" charset="0"/>
              </a:rPr>
              <a:t>days.length</a:t>
            </a:r>
            <a:r>
              <a:rPr lang="en-US" sz="2000" dirty="0">
                <a:latin typeface="Bookman Old Style" pitchFamily="18" charset="0"/>
                <a:cs typeface="Arial" pitchFamily="34" charset="0"/>
              </a:rPr>
              <a:t>( )</a:t>
            </a:r>
          </a:p>
          <a:p>
            <a:pPr latinLnBrk="0">
              <a:buFont typeface="Wingdings" pitchFamily="2" charset="2"/>
              <a:buChar char="§"/>
            </a:pPr>
            <a:endParaRPr lang="en-US" sz="2000" dirty="0">
              <a:latin typeface="Bookman Old Style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4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-27384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69336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59632" y="2900551"/>
            <a:ext cx="2232248" cy="240065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sz="2000" dirty="0">
                <a:latin typeface="Bookman Old Style" pitchFamily="18" charset="0"/>
                <a:cs typeface="Arial" pitchFamily="34" charset="0"/>
              </a:rPr>
              <a:t>days[0] = 11;</a:t>
            </a:r>
          </a:p>
          <a:p>
            <a:pPr algn="ctr" latinLnBrk="0">
              <a:lnSpc>
                <a:spcPct val="150000"/>
              </a:lnSpc>
              <a:defRPr/>
            </a:pPr>
            <a:r>
              <a:rPr lang="en-US" sz="2000" dirty="0">
                <a:latin typeface="Bookman Old Style" pitchFamily="18" charset="0"/>
                <a:cs typeface="Arial" pitchFamily="34" charset="0"/>
              </a:rPr>
              <a:t>days [1] = 12;</a:t>
            </a:r>
          </a:p>
          <a:p>
            <a:pPr algn="ctr" latinLnBrk="0">
              <a:lnSpc>
                <a:spcPct val="150000"/>
              </a:lnSpc>
              <a:defRPr/>
            </a:pPr>
            <a:r>
              <a:rPr lang="en-US" sz="2000" dirty="0">
                <a:latin typeface="Bookman Old Style" pitchFamily="18" charset="0"/>
                <a:cs typeface="Arial" pitchFamily="34" charset="0"/>
              </a:rPr>
              <a:t>days [2] = 13;</a:t>
            </a:r>
          </a:p>
          <a:p>
            <a:pPr algn="ctr" latinLnBrk="0">
              <a:lnSpc>
                <a:spcPct val="150000"/>
              </a:lnSpc>
              <a:defRPr/>
            </a:pPr>
            <a:r>
              <a:rPr lang="en-US" sz="2000" dirty="0">
                <a:latin typeface="Bookman Old Style" pitchFamily="18" charset="0"/>
                <a:cs typeface="Arial" pitchFamily="34" charset="0"/>
              </a:rPr>
              <a:t>days [3] = 14;</a:t>
            </a:r>
          </a:p>
          <a:p>
            <a:pPr algn="ctr" latinLnBrk="0">
              <a:lnSpc>
                <a:spcPct val="150000"/>
              </a:lnSpc>
              <a:defRPr/>
            </a:pPr>
            <a:r>
              <a:rPr lang="en-US" sz="2000" dirty="0">
                <a:latin typeface="Bookman Old Style" pitchFamily="18" charset="0"/>
                <a:cs typeface="Arial" pitchFamily="34" charset="0"/>
              </a:rPr>
              <a:t>days [4] = 15;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9992" y="3707740"/>
            <a:ext cx="3658374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>
                <a:latin typeface="Bookman Old Style" pitchFamily="18" charset="0"/>
                <a:cs typeface="Arial" pitchFamily="34" charset="0"/>
              </a:rPr>
              <a:t> </a:t>
            </a:r>
            <a:r>
              <a:rPr lang="en-US" dirty="0" err="1">
                <a:latin typeface="Bookman Old Style" pitchFamily="18" charset="0"/>
                <a:cs typeface="Arial" pitchFamily="34" charset="0"/>
              </a:rPr>
              <a:t>int</a:t>
            </a:r>
            <a:r>
              <a:rPr lang="en-US" dirty="0">
                <a:latin typeface="Bookman Old Style" pitchFamily="18" charset="0"/>
                <a:cs typeface="Arial" pitchFamily="34" charset="0"/>
              </a:rPr>
              <a:t>[ ] days = {11,12,13,14,15};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564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424" y="197768"/>
            <a:ext cx="7620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Processing Arrays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13951"/>
            <a:ext cx="7620000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Bookman Old Style" pitchFamily="18" charset="0"/>
              </a:rPr>
              <a:t>1. Initializing arrays with input values:</a:t>
            </a:r>
          </a:p>
          <a:p>
            <a:pPr marL="0" indent="0">
              <a:buNone/>
            </a:pPr>
            <a:endParaRPr lang="en-US" sz="2000" dirty="0">
              <a:latin typeface="Bookman Old Style" pitchFamily="18" charset="0"/>
            </a:endParaRPr>
          </a:p>
          <a:p>
            <a:pPr marL="0" indent="0">
              <a:buNone/>
            </a:pPr>
            <a:endParaRPr lang="en-US" sz="2000" dirty="0">
              <a:latin typeface="Bookman Old Style" pitchFamily="18" charset="0"/>
            </a:endParaRPr>
          </a:p>
          <a:p>
            <a:pPr marL="0" indent="0">
              <a:buNone/>
            </a:pPr>
            <a:endParaRPr lang="en-US" sz="2000" dirty="0">
              <a:latin typeface="Bookman Old Style" pitchFamily="18" charset="0"/>
            </a:endParaRPr>
          </a:p>
          <a:p>
            <a:pPr marL="0" indent="0">
              <a:buNone/>
            </a:pPr>
            <a:endParaRPr lang="en-US" sz="2000" dirty="0">
              <a:latin typeface="Bookman Old Style" pitchFamily="18" charset="0"/>
            </a:endParaRPr>
          </a:p>
          <a:p>
            <a:pPr marL="0" indent="0">
              <a:buNone/>
            </a:pPr>
            <a:endParaRPr lang="en-US" sz="2000" dirty="0">
              <a:latin typeface="Bookman Old Style" pitchFamily="18" charset="0"/>
            </a:endParaRPr>
          </a:p>
          <a:p>
            <a:pPr marL="0" indent="0">
              <a:buNone/>
            </a:pPr>
            <a:endParaRPr lang="en-US" sz="2000" dirty="0">
              <a:latin typeface="Bookman Old Style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Bookman Old Style" pitchFamily="18" charset="0"/>
              </a:rPr>
              <a:t>2. Displaying arrays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8806952" y="6633160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5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41522" y="208571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2469745" y="3244334"/>
            <a:ext cx="184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>
              <a:latin typeface="Bookman Old Style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49022" y="1592213"/>
            <a:ext cx="6117380" cy="169277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latin typeface="Bookman Old Style" pitchFamily="18" charset="0"/>
              </a:rPr>
              <a:t>double[ ] </a:t>
            </a:r>
            <a:r>
              <a:rPr lang="en-US" sz="1600" dirty="0" err="1">
                <a:latin typeface="Bookman Old Style" pitchFamily="18" charset="0"/>
              </a:rPr>
              <a:t>myList</a:t>
            </a:r>
            <a:r>
              <a:rPr lang="en-US" sz="1600" dirty="0">
                <a:latin typeface="Bookman Old Style" pitchFamily="18" charset="0"/>
              </a:rPr>
              <a:t> = new double[10];</a:t>
            </a:r>
          </a:p>
          <a:p>
            <a:pPr>
              <a:lnSpc>
                <a:spcPct val="130000"/>
              </a:lnSpc>
            </a:pPr>
            <a:r>
              <a:rPr lang="pl-PL" sz="1600" dirty="0" err="1">
                <a:latin typeface="Bookman Old Style" pitchFamily="18" charset="0"/>
              </a:rPr>
              <a:t>java.util.Scanner</a:t>
            </a:r>
            <a:r>
              <a:rPr lang="pl-PL" sz="1600" dirty="0">
                <a:latin typeface="Bookman Old Style" pitchFamily="18" charset="0"/>
              </a:rPr>
              <a:t> </a:t>
            </a:r>
            <a:r>
              <a:rPr lang="pl-PL" sz="1600" dirty="0" err="1">
                <a:latin typeface="Bookman Old Style" pitchFamily="18" charset="0"/>
              </a:rPr>
              <a:t>input</a:t>
            </a:r>
            <a:r>
              <a:rPr lang="pl-PL" sz="1600" dirty="0">
                <a:latin typeface="Bookman Old Style" pitchFamily="18" charset="0"/>
              </a:rPr>
              <a:t> = </a:t>
            </a:r>
            <a:r>
              <a:rPr lang="pl-PL" sz="1600" dirty="0" err="1">
                <a:latin typeface="Bookman Old Style" pitchFamily="18" charset="0"/>
              </a:rPr>
              <a:t>new</a:t>
            </a:r>
            <a:r>
              <a:rPr lang="pl-PL" sz="1600" dirty="0">
                <a:latin typeface="Bookman Old Style" pitchFamily="18" charset="0"/>
              </a:rPr>
              <a:t> </a:t>
            </a:r>
            <a:r>
              <a:rPr lang="pl-PL" sz="1600" dirty="0" err="1">
                <a:latin typeface="Bookman Old Style" pitchFamily="18" charset="0"/>
              </a:rPr>
              <a:t>java.util.Scanner</a:t>
            </a:r>
            <a:r>
              <a:rPr lang="pl-PL" sz="1600" dirty="0">
                <a:latin typeface="Bookman Old Style" pitchFamily="18" charset="0"/>
              </a:rPr>
              <a:t>(</a:t>
            </a:r>
            <a:r>
              <a:rPr lang="pl-PL" sz="1600" dirty="0" err="1">
                <a:latin typeface="Bookman Old Style" pitchFamily="18" charset="0"/>
              </a:rPr>
              <a:t>System.in</a:t>
            </a:r>
            <a:r>
              <a:rPr lang="pl-PL" sz="1600" dirty="0">
                <a:latin typeface="Bookman Old Style" pitchFamily="18" charset="0"/>
              </a:rPr>
              <a:t>);</a:t>
            </a:r>
          </a:p>
          <a:p>
            <a:pPr>
              <a:lnSpc>
                <a:spcPct val="130000"/>
              </a:lnSpc>
            </a:pPr>
            <a:r>
              <a:rPr lang="en-US" sz="1600" dirty="0" err="1">
                <a:latin typeface="Bookman Old Style" pitchFamily="18" charset="0"/>
              </a:rPr>
              <a:t>System.out.print</a:t>
            </a:r>
            <a:r>
              <a:rPr lang="en-US" sz="1600" dirty="0">
                <a:latin typeface="Bookman Old Style" pitchFamily="18" charset="0"/>
              </a:rPr>
              <a:t>("Enter " + </a:t>
            </a:r>
            <a:r>
              <a:rPr lang="en-US" sz="1600" dirty="0" err="1">
                <a:latin typeface="Bookman Old Style" pitchFamily="18" charset="0"/>
              </a:rPr>
              <a:t>myList.length</a:t>
            </a:r>
            <a:r>
              <a:rPr lang="en-US" sz="1600" dirty="0">
                <a:latin typeface="Bookman Old Style" pitchFamily="18" charset="0"/>
              </a:rPr>
              <a:t> + " values: ");</a:t>
            </a:r>
          </a:p>
          <a:p>
            <a:pPr>
              <a:lnSpc>
                <a:spcPct val="130000"/>
              </a:lnSpc>
            </a:pPr>
            <a:r>
              <a:rPr lang="en-US" sz="1600" dirty="0">
                <a:latin typeface="Bookman Old Style" pitchFamily="18" charset="0"/>
              </a:rPr>
              <a:t>for (</a:t>
            </a:r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</a:t>
            </a:r>
            <a:r>
              <a:rPr lang="en-US" sz="1600" dirty="0" err="1">
                <a:latin typeface="Bookman Old Style" pitchFamily="18" charset="0"/>
              </a:rPr>
              <a:t>i</a:t>
            </a:r>
            <a:r>
              <a:rPr lang="en-US" sz="1600" dirty="0">
                <a:latin typeface="Bookman Old Style" pitchFamily="18" charset="0"/>
              </a:rPr>
              <a:t> = 0; </a:t>
            </a:r>
            <a:r>
              <a:rPr lang="en-US" sz="1600" dirty="0" err="1">
                <a:latin typeface="Bookman Old Style" pitchFamily="18" charset="0"/>
              </a:rPr>
              <a:t>i</a:t>
            </a:r>
            <a:r>
              <a:rPr lang="en-US" sz="1600" dirty="0">
                <a:latin typeface="Bookman Old Style" pitchFamily="18" charset="0"/>
              </a:rPr>
              <a:t> &lt; </a:t>
            </a:r>
            <a:r>
              <a:rPr lang="en-US" sz="1600" dirty="0" err="1">
                <a:latin typeface="Bookman Old Style" pitchFamily="18" charset="0"/>
              </a:rPr>
              <a:t>myList.length</a:t>
            </a:r>
            <a:r>
              <a:rPr lang="en-US" sz="1600" dirty="0">
                <a:latin typeface="Bookman Old Style" pitchFamily="18" charset="0"/>
              </a:rPr>
              <a:t>; </a:t>
            </a:r>
            <a:r>
              <a:rPr lang="en-US" sz="1600" dirty="0" err="1">
                <a:latin typeface="Bookman Old Style" pitchFamily="18" charset="0"/>
              </a:rPr>
              <a:t>i</a:t>
            </a:r>
            <a:r>
              <a:rPr lang="en-US" sz="1600" dirty="0">
                <a:latin typeface="Bookman Old Style" pitchFamily="18" charset="0"/>
              </a:rPr>
              <a:t>++)</a:t>
            </a:r>
          </a:p>
          <a:p>
            <a:pPr>
              <a:lnSpc>
                <a:spcPct val="130000"/>
              </a:lnSpc>
            </a:pPr>
            <a:r>
              <a:rPr lang="en-US" sz="1600" dirty="0">
                <a:latin typeface="Bookman Old Style" pitchFamily="18" charset="0"/>
              </a:rPr>
              <a:t>	</a:t>
            </a:r>
            <a:r>
              <a:rPr lang="en-US" sz="1600" dirty="0" err="1">
                <a:latin typeface="Bookman Old Style" pitchFamily="18" charset="0"/>
              </a:rPr>
              <a:t>myList</a:t>
            </a:r>
            <a:r>
              <a:rPr lang="en-US" sz="1600" dirty="0">
                <a:latin typeface="Bookman Old Style" pitchFamily="18" charset="0"/>
              </a:rPr>
              <a:t>[i] = </a:t>
            </a:r>
            <a:r>
              <a:rPr lang="en-US" sz="1600" dirty="0" err="1">
                <a:latin typeface="Bookman Old Style" pitchFamily="18" charset="0"/>
              </a:rPr>
              <a:t>input.nextDouble</a:t>
            </a:r>
            <a:r>
              <a:rPr lang="en-US" sz="1600" dirty="0">
                <a:latin typeface="Bookman Old Style" pitchFamily="18" charset="0"/>
              </a:rPr>
              <a:t>();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9022" y="4221088"/>
            <a:ext cx="4318811" cy="107721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>
                <a:latin typeface="Bookman Old Style" pitchFamily="18" charset="0"/>
              </a:rPr>
              <a:t>for (</a:t>
            </a:r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i = 0; i &lt; </a:t>
            </a:r>
            <a:r>
              <a:rPr lang="en-US" sz="1600" dirty="0" err="1">
                <a:latin typeface="Bookman Old Style" pitchFamily="18" charset="0"/>
              </a:rPr>
              <a:t>myList.length</a:t>
            </a:r>
            <a:r>
              <a:rPr lang="en-US" sz="1600" dirty="0">
                <a:latin typeface="Bookman Old Style" pitchFamily="18" charset="0"/>
              </a:rPr>
              <a:t>; i++) </a:t>
            </a:r>
          </a:p>
          <a:p>
            <a:r>
              <a:rPr lang="en-US" sz="1600" dirty="0">
                <a:latin typeface="Bookman Old Style" pitchFamily="18" charset="0"/>
              </a:rPr>
              <a:t>{</a:t>
            </a:r>
          </a:p>
          <a:p>
            <a:r>
              <a:rPr lang="en-US" sz="1600" dirty="0">
                <a:latin typeface="Bookman Old Style" pitchFamily="18" charset="0"/>
              </a:rPr>
              <a:t>	</a:t>
            </a:r>
            <a:r>
              <a:rPr lang="en-US" sz="1600" dirty="0" err="1">
                <a:latin typeface="Bookman Old Style" pitchFamily="18" charset="0"/>
              </a:rPr>
              <a:t>System.out.print</a:t>
            </a:r>
            <a:r>
              <a:rPr lang="en-US" sz="1600" dirty="0">
                <a:latin typeface="Bookman Old Style" pitchFamily="18" charset="0"/>
              </a:rPr>
              <a:t>(</a:t>
            </a:r>
            <a:r>
              <a:rPr lang="en-US" sz="1600" dirty="0" err="1">
                <a:latin typeface="Bookman Old Style" pitchFamily="18" charset="0"/>
              </a:rPr>
              <a:t>myList</a:t>
            </a:r>
            <a:r>
              <a:rPr lang="en-US" sz="1600" dirty="0">
                <a:latin typeface="Bookman Old Style" pitchFamily="18" charset="0"/>
              </a:rPr>
              <a:t>[</a:t>
            </a:r>
            <a:r>
              <a:rPr lang="en-US" sz="1600" dirty="0" err="1">
                <a:latin typeface="Bookman Old Style" pitchFamily="18" charset="0"/>
              </a:rPr>
              <a:t>i</a:t>
            </a:r>
            <a:r>
              <a:rPr lang="en-US" sz="1600" dirty="0">
                <a:latin typeface="Bookman Old Style" pitchFamily="18" charset="0"/>
              </a:rPr>
              <a:t>] + " ");</a:t>
            </a:r>
          </a:p>
          <a:p>
            <a:r>
              <a:rPr lang="en-US" sz="1600" dirty="0">
                <a:latin typeface="Bookman Old Style" pitchFamily="18" charset="0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565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4"/>
            <a:ext cx="7620000" cy="48006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Bookman Old Style" pitchFamily="18" charset="0"/>
              </a:rPr>
              <a:t>3. Summing all elements</a:t>
            </a:r>
          </a:p>
          <a:p>
            <a:pPr marL="0" indent="0">
              <a:buNone/>
            </a:pPr>
            <a:endParaRPr lang="en-US" sz="2400" dirty="0">
              <a:latin typeface="Bookman Old Style" pitchFamily="18" charset="0"/>
            </a:endParaRPr>
          </a:p>
          <a:p>
            <a:pPr marL="0" indent="0">
              <a:buNone/>
            </a:pPr>
            <a:endParaRPr lang="en-US" sz="2400" dirty="0">
              <a:latin typeface="Bookman Old Style" pitchFamily="18" charset="0"/>
            </a:endParaRPr>
          </a:p>
          <a:p>
            <a:pPr marL="0" indent="0">
              <a:buNone/>
            </a:pPr>
            <a:endParaRPr lang="en-US" sz="2400" dirty="0">
              <a:latin typeface="Bookman Old Style" pitchFamily="18" charset="0"/>
            </a:endParaRPr>
          </a:p>
          <a:p>
            <a:pPr marL="0" indent="0">
              <a:buNone/>
            </a:pPr>
            <a:endParaRPr lang="en-US" sz="2400" dirty="0">
              <a:latin typeface="Bookman Old Style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Bookman Old Style" pitchFamily="18" charset="0"/>
              </a:rPr>
              <a:t>4. Finding the largest element</a:t>
            </a:r>
          </a:p>
          <a:p>
            <a:pPr marL="0" indent="0">
              <a:buNone/>
            </a:pPr>
            <a:endParaRPr lang="en-US" sz="2400" b="1" dirty="0">
              <a:latin typeface="Bookman Old Style" pitchFamily="18" charset="0"/>
            </a:endParaRPr>
          </a:p>
          <a:p>
            <a:endParaRPr lang="en-US" sz="24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89408" y="6632241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6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7704" y="1844824"/>
            <a:ext cx="3682418" cy="132343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>
                <a:latin typeface="Bookman Old Style" pitchFamily="18" charset="0"/>
              </a:rPr>
              <a:t>double total = 0;</a:t>
            </a:r>
          </a:p>
          <a:p>
            <a:r>
              <a:rPr lang="en-US" sz="1600" dirty="0">
                <a:latin typeface="Bookman Old Style" pitchFamily="18" charset="0"/>
              </a:rPr>
              <a:t>for (</a:t>
            </a:r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i = 0; i &lt; </a:t>
            </a:r>
            <a:r>
              <a:rPr lang="en-US" sz="1600" dirty="0" err="1">
                <a:latin typeface="Bookman Old Style" pitchFamily="18" charset="0"/>
              </a:rPr>
              <a:t>myList.length</a:t>
            </a:r>
            <a:r>
              <a:rPr lang="en-US" sz="1600" dirty="0">
                <a:latin typeface="Bookman Old Style" pitchFamily="18" charset="0"/>
              </a:rPr>
              <a:t>; i++)</a:t>
            </a:r>
          </a:p>
          <a:p>
            <a:r>
              <a:rPr lang="en-US" sz="1600" dirty="0">
                <a:latin typeface="Bookman Old Style" pitchFamily="18" charset="0"/>
              </a:rPr>
              <a:t> {</a:t>
            </a:r>
          </a:p>
          <a:p>
            <a:r>
              <a:rPr lang="cs-CZ" sz="1600" dirty="0">
                <a:latin typeface="Bookman Old Style" pitchFamily="18" charset="0"/>
              </a:rPr>
              <a:t>	</a:t>
            </a:r>
            <a:r>
              <a:rPr lang="cs-CZ" sz="1600" dirty="0" err="1">
                <a:latin typeface="Bookman Old Style" pitchFamily="18" charset="0"/>
              </a:rPr>
              <a:t>total</a:t>
            </a:r>
            <a:r>
              <a:rPr lang="cs-CZ" sz="1600" dirty="0">
                <a:latin typeface="Bookman Old Style" pitchFamily="18" charset="0"/>
              </a:rPr>
              <a:t> += </a:t>
            </a:r>
            <a:r>
              <a:rPr lang="cs-CZ" sz="1600" dirty="0" err="1">
                <a:latin typeface="Bookman Old Style" pitchFamily="18" charset="0"/>
              </a:rPr>
              <a:t>myList</a:t>
            </a:r>
            <a:r>
              <a:rPr lang="cs-CZ" sz="1600" dirty="0">
                <a:latin typeface="Bookman Old Style" pitchFamily="18" charset="0"/>
              </a:rPr>
              <a:t>[i];</a:t>
            </a:r>
          </a:p>
          <a:p>
            <a:r>
              <a:rPr lang="en-US" sz="1600" dirty="0">
                <a:latin typeface="Bookman Old Style" pitchFamily="18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7704" y="4005064"/>
            <a:ext cx="3682418" cy="156966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sz="1600" dirty="0">
                <a:latin typeface="Bookman Old Style" pitchFamily="18" charset="0"/>
              </a:rPr>
              <a:t>double max = </a:t>
            </a:r>
            <a:r>
              <a:rPr lang="fr-FR" sz="1600" dirty="0" err="1">
                <a:latin typeface="Bookman Old Style" pitchFamily="18" charset="0"/>
              </a:rPr>
              <a:t>myList</a:t>
            </a:r>
            <a:r>
              <a:rPr lang="fr-FR" sz="1600" dirty="0">
                <a:latin typeface="Bookman Old Style" pitchFamily="18" charset="0"/>
              </a:rPr>
              <a:t>[0];</a:t>
            </a:r>
          </a:p>
          <a:p>
            <a:r>
              <a:rPr lang="en-US" sz="1600" dirty="0">
                <a:latin typeface="Bookman Old Style" pitchFamily="18" charset="0"/>
              </a:rPr>
              <a:t>for (</a:t>
            </a:r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i = 1; i &lt; </a:t>
            </a:r>
            <a:r>
              <a:rPr lang="en-US" sz="1600" dirty="0" err="1">
                <a:latin typeface="Bookman Old Style" pitchFamily="18" charset="0"/>
              </a:rPr>
              <a:t>myList.length</a:t>
            </a:r>
            <a:r>
              <a:rPr lang="en-US" sz="1600" dirty="0">
                <a:latin typeface="Bookman Old Style" pitchFamily="18" charset="0"/>
              </a:rPr>
              <a:t>; i++)</a:t>
            </a:r>
          </a:p>
          <a:p>
            <a:r>
              <a:rPr lang="en-US" sz="1600" dirty="0">
                <a:latin typeface="Bookman Old Style" pitchFamily="18" charset="0"/>
              </a:rPr>
              <a:t> {</a:t>
            </a:r>
          </a:p>
          <a:p>
            <a:r>
              <a:rPr lang="fr-FR" sz="1600" dirty="0">
                <a:latin typeface="Bookman Old Style" pitchFamily="18" charset="0"/>
              </a:rPr>
              <a:t>      if (</a:t>
            </a:r>
            <a:r>
              <a:rPr lang="fr-FR" sz="1600" dirty="0" err="1">
                <a:latin typeface="Bookman Old Style" pitchFamily="18" charset="0"/>
              </a:rPr>
              <a:t>myList</a:t>
            </a:r>
            <a:r>
              <a:rPr lang="fr-FR" sz="1600" dirty="0">
                <a:latin typeface="Bookman Old Style" pitchFamily="18" charset="0"/>
              </a:rPr>
              <a:t>[i] &gt; max) </a:t>
            </a:r>
          </a:p>
          <a:p>
            <a:r>
              <a:rPr lang="fr-FR" sz="1600" dirty="0">
                <a:latin typeface="Bookman Old Style" pitchFamily="18" charset="0"/>
              </a:rPr>
              <a:t>            max = </a:t>
            </a:r>
            <a:r>
              <a:rPr lang="fr-FR" sz="1600" dirty="0" err="1">
                <a:latin typeface="Bookman Old Style" pitchFamily="18" charset="0"/>
              </a:rPr>
              <a:t>myList</a:t>
            </a:r>
            <a:r>
              <a:rPr lang="fr-FR" sz="1600" dirty="0">
                <a:latin typeface="Bookman Old Style" pitchFamily="18" charset="0"/>
              </a:rPr>
              <a:t>[i];</a:t>
            </a:r>
          </a:p>
          <a:p>
            <a:r>
              <a:rPr lang="en-US" sz="1600" dirty="0">
                <a:latin typeface="Bookman Old Style" pitchFamily="18" charset="0"/>
              </a:rPr>
              <a:t>}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768424" y="197768"/>
            <a:ext cx="76200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Processing Arrays (</a:t>
            </a:r>
            <a:r>
              <a:rPr lang="en-US" dirty="0" err="1"/>
              <a:t>cont</a:t>
            </a:r>
            <a:r>
              <a:rPr lang="en-US" dirty="0"/>
              <a:t>’)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91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8793304" y="6633160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7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404664"/>
            <a:ext cx="8229600" cy="55092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atinLnBrk="0"/>
            <a:r>
              <a:rPr lang="en-US" sz="1600" dirty="0">
                <a:solidFill>
                  <a:srgbClr val="0000CC"/>
                </a:solidFill>
                <a:latin typeface="Bookman Old Style" pitchFamily="18" charset="0"/>
              </a:rPr>
              <a:t>// Demonstrate a one-dimensional array. A program that creates an array of number of days in each month</a:t>
            </a:r>
          </a:p>
          <a:p>
            <a:r>
              <a:rPr lang="en-US" sz="1600" dirty="0">
                <a:latin typeface="Bookman Old Style" pitchFamily="18" charset="0"/>
              </a:rPr>
              <a:t>class </a:t>
            </a:r>
            <a:r>
              <a:rPr lang="en-US" sz="1600" dirty="0" err="1">
                <a:latin typeface="Bookman Old Style" pitchFamily="18" charset="0"/>
              </a:rPr>
              <a:t>OneDArray</a:t>
            </a:r>
            <a:endParaRPr lang="en-US" sz="1600" dirty="0">
              <a:latin typeface="Bookman Old Style" pitchFamily="18" charset="0"/>
            </a:endParaRPr>
          </a:p>
          <a:p>
            <a:r>
              <a:rPr lang="en-US" sz="1600" dirty="0">
                <a:latin typeface="Bookman Old Style" pitchFamily="18" charset="0"/>
              </a:rPr>
              <a:t>{</a:t>
            </a:r>
          </a:p>
          <a:p>
            <a:r>
              <a:rPr lang="en-US" sz="1600" dirty="0">
                <a:latin typeface="Bookman Old Style" pitchFamily="18" charset="0"/>
              </a:rPr>
              <a:t>	public static void main(String </a:t>
            </a:r>
            <a:r>
              <a:rPr lang="en-US" sz="1600" dirty="0" err="1">
                <a:latin typeface="Bookman Old Style" pitchFamily="18" charset="0"/>
              </a:rPr>
              <a:t>args</a:t>
            </a:r>
            <a:r>
              <a:rPr lang="en-US" sz="1600" dirty="0">
                <a:latin typeface="Bookman Old Style" pitchFamily="18" charset="0"/>
              </a:rPr>
              <a:t>[]) </a:t>
            </a:r>
          </a:p>
          <a:p>
            <a:r>
              <a:rPr lang="en-US" sz="1600" dirty="0">
                <a:latin typeface="Bookman Old Style" pitchFamily="18" charset="0"/>
              </a:rPr>
              <a:t>	{</a:t>
            </a:r>
          </a:p>
          <a:p>
            <a:pPr lvl="3"/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</a:t>
            </a:r>
            <a:r>
              <a:rPr lang="en-US" sz="1600" dirty="0" err="1">
                <a:latin typeface="Bookman Old Style" pitchFamily="18" charset="0"/>
              </a:rPr>
              <a:t>month_days</a:t>
            </a:r>
            <a:r>
              <a:rPr lang="en-US" sz="1600" dirty="0">
                <a:latin typeface="Bookman Old Style" pitchFamily="18" charset="0"/>
              </a:rPr>
              <a:t>[]= new </a:t>
            </a:r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[ </a:t>
            </a:r>
            <a:r>
              <a:rPr lang="en-US" sz="1600" b="1" dirty="0">
                <a:solidFill>
                  <a:srgbClr val="FF0000"/>
                </a:solidFill>
                <a:latin typeface="Bookman Old Style" pitchFamily="18" charset="0"/>
              </a:rPr>
              <a:t>12</a:t>
            </a:r>
            <a:r>
              <a:rPr lang="en-US" sz="1600" dirty="0">
                <a:latin typeface="Bookman Old Style" pitchFamily="18" charset="0"/>
              </a:rPr>
              <a:t>];</a:t>
            </a:r>
          </a:p>
          <a:p>
            <a:pPr lvl="3"/>
            <a:r>
              <a:rPr lang="en-US" sz="1600" dirty="0" err="1">
                <a:latin typeface="Bookman Old Style" pitchFamily="18" charset="0"/>
              </a:rPr>
              <a:t>month_days</a:t>
            </a:r>
            <a:r>
              <a:rPr lang="en-US" sz="1600" dirty="0">
                <a:latin typeface="Bookman Old Style" pitchFamily="18" charset="0"/>
              </a:rPr>
              <a:t>[0] = 31;</a:t>
            </a:r>
          </a:p>
          <a:p>
            <a:pPr lvl="3"/>
            <a:r>
              <a:rPr lang="en-US" sz="1600" dirty="0" err="1">
                <a:latin typeface="Bookman Old Style" pitchFamily="18" charset="0"/>
              </a:rPr>
              <a:t>month_days</a:t>
            </a:r>
            <a:r>
              <a:rPr lang="en-US" sz="1600" dirty="0">
                <a:latin typeface="Bookman Old Style" pitchFamily="18" charset="0"/>
              </a:rPr>
              <a:t>[1] = 28;</a:t>
            </a:r>
          </a:p>
          <a:p>
            <a:pPr lvl="3"/>
            <a:r>
              <a:rPr lang="en-US" sz="1600" dirty="0" err="1">
                <a:latin typeface="Bookman Old Style" pitchFamily="18" charset="0"/>
              </a:rPr>
              <a:t>month_days</a:t>
            </a:r>
            <a:r>
              <a:rPr lang="en-US" sz="1600" dirty="0">
                <a:latin typeface="Bookman Old Style" pitchFamily="18" charset="0"/>
              </a:rPr>
              <a:t>[2] = 31;</a:t>
            </a:r>
          </a:p>
          <a:p>
            <a:pPr lvl="3"/>
            <a:r>
              <a:rPr lang="en-US" sz="1600" dirty="0" err="1">
                <a:latin typeface="Bookman Old Style" pitchFamily="18" charset="0"/>
              </a:rPr>
              <a:t>month_days</a:t>
            </a:r>
            <a:r>
              <a:rPr lang="en-US" sz="1600" dirty="0">
                <a:latin typeface="Bookman Old Style" pitchFamily="18" charset="0"/>
              </a:rPr>
              <a:t>[3] = 30;</a:t>
            </a:r>
          </a:p>
          <a:p>
            <a:pPr lvl="3"/>
            <a:r>
              <a:rPr lang="en-US" sz="1600" dirty="0" err="1">
                <a:latin typeface="Bookman Old Style" pitchFamily="18" charset="0"/>
              </a:rPr>
              <a:t>month_days</a:t>
            </a:r>
            <a:r>
              <a:rPr lang="en-US" sz="1600" dirty="0">
                <a:latin typeface="Bookman Old Style" pitchFamily="18" charset="0"/>
              </a:rPr>
              <a:t>[4] = 31;</a:t>
            </a:r>
          </a:p>
          <a:p>
            <a:pPr lvl="3"/>
            <a:r>
              <a:rPr lang="en-US" sz="1600" dirty="0" err="1">
                <a:latin typeface="Bookman Old Style" pitchFamily="18" charset="0"/>
              </a:rPr>
              <a:t>month_days</a:t>
            </a:r>
            <a:r>
              <a:rPr lang="en-US" sz="1600" dirty="0">
                <a:latin typeface="Bookman Old Style" pitchFamily="18" charset="0"/>
              </a:rPr>
              <a:t>[5] = 30;</a:t>
            </a:r>
          </a:p>
          <a:p>
            <a:pPr lvl="3"/>
            <a:r>
              <a:rPr lang="en-US" sz="1600" dirty="0" err="1">
                <a:latin typeface="Bookman Old Style" pitchFamily="18" charset="0"/>
              </a:rPr>
              <a:t>month_days</a:t>
            </a:r>
            <a:r>
              <a:rPr lang="en-US" sz="1600" dirty="0">
                <a:latin typeface="Bookman Old Style" pitchFamily="18" charset="0"/>
              </a:rPr>
              <a:t>[6] = 31;</a:t>
            </a:r>
          </a:p>
          <a:p>
            <a:pPr lvl="3"/>
            <a:r>
              <a:rPr lang="en-US" sz="1600" dirty="0" err="1">
                <a:latin typeface="Bookman Old Style" pitchFamily="18" charset="0"/>
              </a:rPr>
              <a:t>month_days</a:t>
            </a:r>
            <a:r>
              <a:rPr lang="en-US" sz="1600" dirty="0">
                <a:latin typeface="Bookman Old Style" pitchFamily="18" charset="0"/>
              </a:rPr>
              <a:t>[7] = 31;</a:t>
            </a:r>
          </a:p>
          <a:p>
            <a:pPr lvl="3"/>
            <a:r>
              <a:rPr lang="en-US" sz="1600" dirty="0" err="1">
                <a:latin typeface="Bookman Old Style" pitchFamily="18" charset="0"/>
              </a:rPr>
              <a:t>month_days</a:t>
            </a:r>
            <a:r>
              <a:rPr lang="en-US" sz="1600" dirty="0">
                <a:latin typeface="Bookman Old Style" pitchFamily="18" charset="0"/>
              </a:rPr>
              <a:t>[8] = 30;</a:t>
            </a:r>
          </a:p>
          <a:p>
            <a:pPr lvl="3"/>
            <a:r>
              <a:rPr lang="en-US" sz="1600" dirty="0" err="1">
                <a:latin typeface="Bookman Old Style" pitchFamily="18" charset="0"/>
              </a:rPr>
              <a:t>month_days</a:t>
            </a:r>
            <a:r>
              <a:rPr lang="en-US" sz="1600" dirty="0">
                <a:latin typeface="Bookman Old Style" pitchFamily="18" charset="0"/>
              </a:rPr>
              <a:t>[9] = 31;</a:t>
            </a:r>
          </a:p>
          <a:p>
            <a:pPr lvl="3"/>
            <a:r>
              <a:rPr lang="en-US" sz="1600" dirty="0" err="1">
                <a:latin typeface="Bookman Old Style" pitchFamily="18" charset="0"/>
              </a:rPr>
              <a:t>month_days</a:t>
            </a:r>
            <a:r>
              <a:rPr lang="en-US" sz="1600" dirty="0">
                <a:latin typeface="Bookman Old Style" pitchFamily="18" charset="0"/>
              </a:rPr>
              <a:t>[10] = 30;</a:t>
            </a:r>
          </a:p>
          <a:p>
            <a:pPr lvl="3"/>
            <a:r>
              <a:rPr lang="en-US" sz="1600" dirty="0" err="1">
                <a:latin typeface="Bookman Old Style" pitchFamily="18" charset="0"/>
              </a:rPr>
              <a:t>month_days</a:t>
            </a:r>
            <a:r>
              <a:rPr lang="en-US" sz="1600" dirty="0">
                <a:latin typeface="Bookman Old Style" pitchFamily="18" charset="0"/>
              </a:rPr>
              <a:t>[11] = 31;</a:t>
            </a:r>
          </a:p>
          <a:p>
            <a:pPr lvl="3"/>
            <a:r>
              <a:rPr lang="en-US" sz="1600" dirty="0" err="1">
                <a:latin typeface="Bookman Old Style" pitchFamily="18" charset="0"/>
              </a:rPr>
              <a:t>System.</a:t>
            </a:r>
            <a:r>
              <a:rPr lang="en-US" sz="1600" i="1" dirty="0" err="1">
                <a:latin typeface="Bookman Old Style" pitchFamily="18" charset="0"/>
              </a:rPr>
              <a:t>out.println</a:t>
            </a:r>
            <a:r>
              <a:rPr lang="en-US" sz="1600" i="1" dirty="0">
                <a:latin typeface="Bookman Old Style" pitchFamily="18" charset="0"/>
              </a:rPr>
              <a:t>("April has " +   </a:t>
            </a:r>
            <a:r>
              <a:rPr lang="en-US" sz="1600" dirty="0" err="1">
                <a:solidFill>
                  <a:srgbClr val="FF0000"/>
                </a:solidFill>
                <a:latin typeface="Bookman Old Style" pitchFamily="18" charset="0"/>
              </a:rPr>
              <a:t>month_days</a:t>
            </a:r>
            <a:r>
              <a:rPr lang="en-US" sz="1600" dirty="0">
                <a:solidFill>
                  <a:srgbClr val="FF0000"/>
                </a:solidFill>
                <a:latin typeface="Bookman Old Style" pitchFamily="18" charset="0"/>
              </a:rPr>
              <a:t>[3]</a:t>
            </a:r>
            <a:r>
              <a:rPr lang="en-US" sz="1600" i="1" dirty="0">
                <a:solidFill>
                  <a:srgbClr val="FF0000"/>
                </a:solidFill>
              </a:rPr>
              <a:t> </a:t>
            </a:r>
            <a:r>
              <a:rPr lang="en-US" sz="1600" i="1" dirty="0">
                <a:latin typeface="Bookman Old Style" pitchFamily="18" charset="0"/>
              </a:rPr>
              <a:t>+ " days.");</a:t>
            </a:r>
          </a:p>
          <a:p>
            <a:r>
              <a:rPr lang="en-US" sz="1600" dirty="0">
                <a:latin typeface="Bookman Old Style" pitchFamily="18" charset="0"/>
              </a:rPr>
              <a:t>	}	</a:t>
            </a:r>
          </a:p>
          <a:p>
            <a:r>
              <a:rPr lang="en-US" sz="1600" dirty="0">
                <a:latin typeface="Bookman Old Style" pitchFamily="18" charset="0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8965" y="3154507"/>
            <a:ext cx="4083448" cy="5847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</a:t>
            </a:r>
            <a:r>
              <a:rPr lang="en-US" sz="1600" dirty="0" err="1">
                <a:latin typeface="Bookman Old Style" pitchFamily="18" charset="0"/>
              </a:rPr>
              <a:t>month_days</a:t>
            </a:r>
            <a:r>
              <a:rPr lang="en-US" sz="1600" dirty="0">
                <a:latin typeface="Bookman Old Style" pitchFamily="18" charset="0"/>
              </a:rPr>
              <a:t>[] = { 31, 28, 31, 30, 31, 30, 31, 31, 30, 31, 30, 31 };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10800000">
            <a:off x="4067944" y="3284984"/>
            <a:ext cx="360040" cy="292388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4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416" y="188640"/>
            <a:ext cx="7620000" cy="1143000"/>
          </a:xfrm>
        </p:spPr>
        <p:txBody>
          <a:bodyPr/>
          <a:lstStyle/>
          <a:p>
            <a:r>
              <a:rPr lang="en-US" dirty="0"/>
              <a:t>Multidimensional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435280" cy="4800600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400" dirty="0">
                <a:latin typeface="Bookman Old Style" pitchFamily="18" charset="0"/>
              </a:rPr>
              <a:t>Array of arrays</a:t>
            </a:r>
          </a:p>
          <a:p>
            <a:pPr marL="0" indent="0">
              <a:buNone/>
            </a:pPr>
            <a:r>
              <a:rPr lang="en-US" sz="2400" dirty="0">
                <a:latin typeface="Bookman Old Style" pitchFamily="18" charset="0"/>
              </a:rPr>
              <a:t>	</a:t>
            </a:r>
            <a:r>
              <a:rPr lang="en-US" sz="2000" dirty="0" err="1">
                <a:solidFill>
                  <a:srgbClr val="0000CC"/>
                </a:solidFill>
                <a:latin typeface="Bookman Old Style" pitchFamily="18" charset="0"/>
              </a:rPr>
              <a:t>dataType</a:t>
            </a:r>
            <a:r>
              <a:rPr lang="en-US" sz="2000" dirty="0">
                <a:latin typeface="Bookman Old Style" pitchFamily="18" charset="0"/>
              </a:rPr>
              <a:t> </a:t>
            </a:r>
            <a:r>
              <a:rPr lang="en-US" sz="2000" dirty="0" err="1">
                <a:latin typeface="Bookman Old Style" pitchFamily="18" charset="0"/>
              </a:rPr>
              <a:t>arrayName</a:t>
            </a:r>
            <a:r>
              <a:rPr lang="en-US" sz="2000" dirty="0">
                <a:latin typeface="Bookman Old Style" pitchFamily="18" charset="0"/>
              </a:rPr>
              <a:t>[ ][ ]=new </a:t>
            </a:r>
            <a:r>
              <a:rPr lang="en-US" sz="2000" dirty="0" err="1">
                <a:solidFill>
                  <a:srgbClr val="0000CC"/>
                </a:solidFill>
                <a:latin typeface="Bookman Old Style" pitchFamily="18" charset="0"/>
              </a:rPr>
              <a:t>dataType</a:t>
            </a:r>
            <a:r>
              <a:rPr lang="en-US" sz="2000" dirty="0">
                <a:latin typeface="Bookman Old Style" pitchFamily="18" charset="0"/>
              </a:rPr>
              <a:t>[row][column]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800080" y="6632241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8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5" y="2492896"/>
            <a:ext cx="4270761" cy="30173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106" y="3068960"/>
            <a:ext cx="2637623" cy="21007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5227" y="5990223"/>
            <a:ext cx="360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en-US" sz="1600" dirty="0">
                <a:latin typeface="Bookman Old Style" pitchFamily="18" charset="0"/>
              </a:rPr>
              <a:t>Two dimensional arrays with equal sized second 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6148" y="5990224"/>
            <a:ext cx="3772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en-US" sz="1600" dirty="0">
                <a:latin typeface="Bookman Old Style" pitchFamily="18" charset="0"/>
              </a:rPr>
              <a:t>Two dimensional arrays with unequal sized second 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48875" y="5282044"/>
            <a:ext cx="2473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Bookman Old Style" pitchFamily="18" charset="0"/>
              </a:rPr>
              <a:t>int</a:t>
            </a:r>
            <a:r>
              <a:rPr lang="en-US" sz="1400" dirty="0">
                <a:latin typeface="Bookman Old Style" pitchFamily="18" charset="0"/>
              </a:rPr>
              <a:t> </a:t>
            </a:r>
            <a:r>
              <a:rPr lang="en-US" sz="1400" dirty="0" err="1">
                <a:latin typeface="Bookman Old Style" pitchFamily="18" charset="0"/>
              </a:rPr>
              <a:t>twoD</a:t>
            </a:r>
            <a:r>
              <a:rPr lang="en-US" sz="1400" dirty="0">
                <a:latin typeface="Bookman Old Style" pitchFamily="18" charset="0"/>
              </a:rPr>
              <a:t>[ ][ ]=new </a:t>
            </a:r>
            <a:r>
              <a:rPr lang="en-US" sz="1400" dirty="0" err="1">
                <a:latin typeface="Bookman Old Style" pitchFamily="18" charset="0"/>
              </a:rPr>
              <a:t>int</a:t>
            </a:r>
            <a:r>
              <a:rPr lang="en-US" sz="1400" dirty="0">
                <a:latin typeface="Bookman Old Style" pitchFamily="18" charset="0"/>
              </a:rPr>
              <a:t>[4][ ];</a:t>
            </a:r>
          </a:p>
          <a:p>
            <a:endParaRPr lang="en-US" sz="1400" dirty="0">
              <a:latin typeface="Bookman Old Style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907704" y="2483147"/>
            <a:ext cx="332815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ookman Old Style" pitchFamily="18" charset="0"/>
              </a:rPr>
              <a:t>Right index determines column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38334" y="3770456"/>
            <a:ext cx="1297966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 latinLnBrk="0"/>
            <a:r>
              <a:rPr lang="en-US" sz="1400" dirty="0">
                <a:latin typeface="Bookman Old Style" pitchFamily="18" charset="0"/>
              </a:rPr>
              <a:t>Left index determines 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560" y="5283922"/>
            <a:ext cx="460851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 latinLnBrk="0"/>
            <a:r>
              <a:rPr lang="en-US" sz="1400" dirty="0">
                <a:latin typeface="Bookman Old Style" pitchFamily="18" charset="0"/>
              </a:rPr>
              <a:t>Given: </a:t>
            </a:r>
            <a:r>
              <a:rPr lang="en-US" sz="1400" dirty="0" err="1">
                <a:latin typeface="Bookman Old Style" pitchFamily="18" charset="0"/>
              </a:rPr>
              <a:t>int</a:t>
            </a:r>
            <a:r>
              <a:rPr lang="en-US" sz="1400" dirty="0">
                <a:latin typeface="Bookman Old Style" pitchFamily="18" charset="0"/>
              </a:rPr>
              <a:t> </a:t>
            </a:r>
            <a:r>
              <a:rPr lang="en-US" sz="1400" dirty="0" err="1">
                <a:latin typeface="Bookman Old Style" pitchFamily="18" charset="0"/>
              </a:rPr>
              <a:t>twoD</a:t>
            </a:r>
            <a:r>
              <a:rPr lang="en-US" sz="1400" dirty="0">
                <a:latin typeface="Bookman Old Style" pitchFamily="18" charset="0"/>
              </a:rPr>
              <a:t> [ ] [ ] = new </a:t>
            </a:r>
            <a:r>
              <a:rPr lang="en-US" sz="1400" dirty="0" err="1">
                <a:latin typeface="Bookman Old Style" pitchFamily="18" charset="0"/>
              </a:rPr>
              <a:t>int</a:t>
            </a:r>
            <a:r>
              <a:rPr lang="en-US" sz="1400" dirty="0">
                <a:latin typeface="Bookman Old Style" pitchFamily="18" charset="0"/>
              </a:rPr>
              <a:t> [4][5];</a:t>
            </a:r>
          </a:p>
        </p:txBody>
      </p:sp>
    </p:spTree>
    <p:extLst>
      <p:ext uri="{BB962C8B-B14F-4D97-AF65-F5344CB8AC3E}">
        <p14:creationId xmlns:p14="http://schemas.microsoft.com/office/powerpoint/2010/main" val="1311876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785640" y="6604857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9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5140" y="460985"/>
            <a:ext cx="8059308" cy="56323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0000CC"/>
                </a:solidFill>
                <a:latin typeface="Bookman Old Style" pitchFamily="18" charset="0"/>
              </a:rPr>
              <a:t>//Demonstrate a two-dimensional array.</a:t>
            </a:r>
          </a:p>
          <a:p>
            <a:r>
              <a:rPr lang="en-US" dirty="0">
                <a:latin typeface="Bookman Old Style" pitchFamily="18" charset="0"/>
              </a:rPr>
              <a:t>class </a:t>
            </a:r>
            <a:r>
              <a:rPr lang="en-US" dirty="0" err="1">
                <a:latin typeface="Bookman Old Style" pitchFamily="18" charset="0"/>
              </a:rPr>
              <a:t>TwoDArray</a:t>
            </a:r>
            <a:r>
              <a:rPr lang="en-US" dirty="0">
                <a:latin typeface="Bookman Old Style" pitchFamily="18" charset="0"/>
              </a:rPr>
              <a:t> </a:t>
            </a:r>
          </a:p>
          <a:p>
            <a:r>
              <a:rPr lang="en-US" dirty="0">
                <a:latin typeface="Bookman Old Style" pitchFamily="18" charset="0"/>
              </a:rPr>
              <a:t>{	public static void main(String </a:t>
            </a:r>
            <a:r>
              <a:rPr lang="en-US" dirty="0" err="1">
                <a:latin typeface="Bookman Old Style" pitchFamily="18" charset="0"/>
              </a:rPr>
              <a:t>args</a:t>
            </a:r>
            <a:r>
              <a:rPr lang="en-US" dirty="0">
                <a:latin typeface="Bookman Old Style" pitchFamily="18" charset="0"/>
              </a:rPr>
              <a:t>[]) </a:t>
            </a:r>
          </a:p>
          <a:p>
            <a:r>
              <a:rPr lang="en-US" dirty="0">
                <a:latin typeface="Bookman Old Style" pitchFamily="18" charset="0"/>
              </a:rPr>
              <a:t>	{</a:t>
            </a:r>
          </a:p>
          <a:p>
            <a:r>
              <a:rPr lang="en-US" dirty="0">
                <a:latin typeface="Bookman Old Style" pitchFamily="18" charset="0"/>
              </a:rPr>
              <a:t>		</a:t>
            </a:r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 </a:t>
            </a:r>
            <a:r>
              <a:rPr lang="en-US" dirty="0" err="1">
                <a:latin typeface="Bookman Old Style" pitchFamily="18" charset="0"/>
              </a:rPr>
              <a:t>twoD</a:t>
            </a:r>
            <a:r>
              <a:rPr lang="en-US" dirty="0">
                <a:latin typeface="Bookman Old Style" pitchFamily="18" charset="0"/>
              </a:rPr>
              <a:t>[][]= new </a:t>
            </a:r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[4][5];</a:t>
            </a:r>
          </a:p>
          <a:p>
            <a:r>
              <a:rPr lang="en-US" dirty="0">
                <a:latin typeface="Bookman Old Style" pitchFamily="18" charset="0"/>
              </a:rPr>
              <a:t>		</a:t>
            </a:r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 </a:t>
            </a:r>
            <a:r>
              <a:rPr lang="en-US" dirty="0" err="1">
                <a:latin typeface="Bookman Old Style" pitchFamily="18" charset="0"/>
              </a:rPr>
              <a:t>i</a:t>
            </a:r>
            <a:r>
              <a:rPr lang="en-US" dirty="0">
                <a:latin typeface="Bookman Old Style" pitchFamily="18" charset="0"/>
              </a:rPr>
              <a:t>, j, k = 0;</a:t>
            </a:r>
          </a:p>
          <a:p>
            <a:r>
              <a:rPr lang="en-US" dirty="0">
                <a:latin typeface="Bookman Old Style" pitchFamily="18" charset="0"/>
              </a:rPr>
              <a:t>		for(</a:t>
            </a:r>
            <a:r>
              <a:rPr lang="en-US" dirty="0" err="1">
                <a:latin typeface="Bookman Old Style" pitchFamily="18" charset="0"/>
              </a:rPr>
              <a:t>i</a:t>
            </a:r>
            <a:r>
              <a:rPr lang="en-US" dirty="0">
                <a:latin typeface="Bookman Old Style" pitchFamily="18" charset="0"/>
              </a:rPr>
              <a:t>=0; </a:t>
            </a:r>
            <a:r>
              <a:rPr lang="en-US" dirty="0" err="1">
                <a:latin typeface="Bookman Old Style" pitchFamily="18" charset="0"/>
              </a:rPr>
              <a:t>i</a:t>
            </a:r>
            <a:r>
              <a:rPr lang="en-US" dirty="0">
                <a:latin typeface="Bookman Old Style" pitchFamily="18" charset="0"/>
              </a:rPr>
              <a:t>&lt;4; </a:t>
            </a:r>
            <a:r>
              <a:rPr lang="en-US" dirty="0" err="1">
                <a:latin typeface="Bookman Old Style" pitchFamily="18" charset="0"/>
              </a:rPr>
              <a:t>i</a:t>
            </a:r>
            <a:r>
              <a:rPr lang="en-US" dirty="0">
                <a:latin typeface="Bookman Old Style" pitchFamily="18" charset="0"/>
              </a:rPr>
              <a:t>++)</a:t>
            </a:r>
          </a:p>
          <a:p>
            <a:pPr lvl="5"/>
            <a:r>
              <a:rPr lang="en-US" dirty="0">
                <a:latin typeface="Bookman Old Style" pitchFamily="18" charset="0"/>
              </a:rPr>
              <a:t>for(j=0; j&lt;5; j++) </a:t>
            </a:r>
          </a:p>
          <a:p>
            <a:pPr lvl="5"/>
            <a:r>
              <a:rPr lang="en-US" dirty="0">
                <a:latin typeface="Bookman Old Style" pitchFamily="18" charset="0"/>
              </a:rPr>
              <a:t>{</a:t>
            </a:r>
          </a:p>
          <a:p>
            <a:pPr lvl="5"/>
            <a:r>
              <a:rPr lang="en-US" dirty="0">
                <a:latin typeface="Bookman Old Style" pitchFamily="18" charset="0"/>
              </a:rPr>
              <a:t>	</a:t>
            </a:r>
            <a:r>
              <a:rPr lang="en-US" dirty="0" err="1">
                <a:latin typeface="Bookman Old Style" pitchFamily="18" charset="0"/>
              </a:rPr>
              <a:t>twoD</a:t>
            </a:r>
            <a:r>
              <a:rPr lang="en-US" dirty="0">
                <a:latin typeface="Bookman Old Style" pitchFamily="18" charset="0"/>
              </a:rPr>
              <a:t>[</a:t>
            </a:r>
            <a:r>
              <a:rPr lang="en-US" dirty="0" err="1">
                <a:latin typeface="Bookman Old Style" pitchFamily="18" charset="0"/>
              </a:rPr>
              <a:t>i</a:t>
            </a:r>
            <a:r>
              <a:rPr lang="en-US" dirty="0">
                <a:latin typeface="Bookman Old Style" pitchFamily="18" charset="0"/>
              </a:rPr>
              <a:t>][j] = k;</a:t>
            </a:r>
          </a:p>
          <a:p>
            <a:pPr lvl="5"/>
            <a:r>
              <a:rPr lang="en-US" dirty="0">
                <a:latin typeface="Bookman Old Style" pitchFamily="18" charset="0"/>
              </a:rPr>
              <a:t>	k++;</a:t>
            </a:r>
          </a:p>
          <a:p>
            <a:pPr lvl="5"/>
            <a:r>
              <a:rPr lang="en-US" dirty="0">
                <a:latin typeface="Bookman Old Style" pitchFamily="18" charset="0"/>
              </a:rPr>
              <a:t>}</a:t>
            </a:r>
          </a:p>
          <a:p>
            <a:pPr lvl="5"/>
            <a:r>
              <a:rPr lang="en-US" dirty="0">
                <a:latin typeface="Bookman Old Style" pitchFamily="18" charset="0"/>
              </a:rPr>
              <a:t>for(</a:t>
            </a:r>
            <a:r>
              <a:rPr lang="en-US" dirty="0" err="1">
                <a:latin typeface="Bookman Old Style" pitchFamily="18" charset="0"/>
              </a:rPr>
              <a:t>i</a:t>
            </a:r>
            <a:r>
              <a:rPr lang="en-US" dirty="0">
                <a:latin typeface="Bookman Old Style" pitchFamily="18" charset="0"/>
              </a:rPr>
              <a:t>=0; </a:t>
            </a:r>
            <a:r>
              <a:rPr lang="en-US" dirty="0" err="1">
                <a:latin typeface="Bookman Old Style" pitchFamily="18" charset="0"/>
              </a:rPr>
              <a:t>i</a:t>
            </a:r>
            <a:r>
              <a:rPr lang="en-US" dirty="0">
                <a:latin typeface="Bookman Old Style" pitchFamily="18" charset="0"/>
              </a:rPr>
              <a:t>&lt;4; </a:t>
            </a:r>
            <a:r>
              <a:rPr lang="en-US" dirty="0" err="1">
                <a:latin typeface="Bookman Old Style" pitchFamily="18" charset="0"/>
              </a:rPr>
              <a:t>i</a:t>
            </a:r>
            <a:r>
              <a:rPr lang="en-US" dirty="0">
                <a:latin typeface="Bookman Old Style" pitchFamily="18" charset="0"/>
              </a:rPr>
              <a:t>++) </a:t>
            </a:r>
          </a:p>
          <a:p>
            <a:pPr lvl="5"/>
            <a:r>
              <a:rPr lang="en-US" dirty="0">
                <a:latin typeface="Bookman Old Style" pitchFamily="18" charset="0"/>
              </a:rPr>
              <a:t>{</a:t>
            </a:r>
          </a:p>
          <a:p>
            <a:pPr lvl="5"/>
            <a:r>
              <a:rPr lang="en-US" dirty="0">
                <a:latin typeface="Bookman Old Style" pitchFamily="18" charset="0"/>
              </a:rPr>
              <a:t>	for(j=0; j&lt;5; j++)</a:t>
            </a:r>
          </a:p>
          <a:p>
            <a:pPr lvl="5"/>
            <a:r>
              <a:rPr lang="en-US" dirty="0">
                <a:latin typeface="Bookman Old Style" pitchFamily="18" charset="0"/>
              </a:rPr>
              <a:t>		</a:t>
            </a:r>
            <a:r>
              <a:rPr lang="en-US" dirty="0" err="1">
                <a:latin typeface="Bookman Old Style" pitchFamily="18" charset="0"/>
              </a:rPr>
              <a:t>System.</a:t>
            </a:r>
            <a:r>
              <a:rPr lang="en-US" i="1" dirty="0" err="1">
                <a:latin typeface="Bookman Old Style" pitchFamily="18" charset="0"/>
              </a:rPr>
              <a:t>out.print</a:t>
            </a:r>
            <a:r>
              <a:rPr lang="en-US" i="1" dirty="0">
                <a:latin typeface="Bookman Old Style" pitchFamily="18" charset="0"/>
              </a:rPr>
              <a:t>(</a:t>
            </a:r>
            <a:r>
              <a:rPr lang="en-US" i="1" dirty="0" err="1">
                <a:latin typeface="Bookman Old Style" pitchFamily="18" charset="0"/>
              </a:rPr>
              <a:t>twoD</a:t>
            </a:r>
            <a:r>
              <a:rPr lang="en-US" i="1" dirty="0">
                <a:latin typeface="Bookman Old Style" pitchFamily="18" charset="0"/>
              </a:rPr>
              <a:t>[i][j] + " ");</a:t>
            </a:r>
          </a:p>
          <a:p>
            <a:pPr lvl="5"/>
            <a:r>
              <a:rPr lang="en-US" dirty="0">
                <a:latin typeface="Bookman Old Style" pitchFamily="18" charset="0"/>
              </a:rPr>
              <a:t>	</a:t>
            </a:r>
            <a:r>
              <a:rPr lang="en-US" dirty="0" err="1">
                <a:latin typeface="Bookman Old Style" pitchFamily="18" charset="0"/>
              </a:rPr>
              <a:t>System.</a:t>
            </a:r>
            <a:r>
              <a:rPr lang="en-US" i="1" dirty="0" err="1">
                <a:latin typeface="Bookman Old Style" pitchFamily="18" charset="0"/>
              </a:rPr>
              <a:t>out.println</a:t>
            </a:r>
            <a:r>
              <a:rPr lang="en-US" i="1" dirty="0">
                <a:latin typeface="Bookman Old Style" pitchFamily="18" charset="0"/>
              </a:rPr>
              <a:t>();</a:t>
            </a:r>
            <a:endParaRPr lang="en-US" dirty="0">
              <a:latin typeface="Bookman Old Style" pitchFamily="18" charset="0"/>
            </a:endParaRPr>
          </a:p>
          <a:p>
            <a:pPr lvl="5"/>
            <a:r>
              <a:rPr lang="en-US" i="1" dirty="0">
                <a:latin typeface="Bookman Old Style" pitchFamily="18" charset="0"/>
              </a:rPr>
              <a:t>}</a:t>
            </a:r>
          </a:p>
          <a:p>
            <a:pPr lvl="5"/>
            <a:r>
              <a:rPr lang="en-US" i="1" dirty="0">
                <a:latin typeface="Bookman Old Style" pitchFamily="18" charset="0"/>
              </a:rPr>
              <a:t>}</a:t>
            </a:r>
          </a:p>
          <a:p>
            <a:pPr lvl="5"/>
            <a:r>
              <a:rPr lang="en-US" i="1" dirty="0">
                <a:latin typeface="Bookman Old Style" pitchFamily="18" charset="0"/>
              </a:rPr>
              <a:t>}</a:t>
            </a:r>
          </a:p>
        </p:txBody>
      </p:sp>
      <p:sp>
        <p:nvSpPr>
          <p:cNvPr id="5" name="Flowchart: Document 2"/>
          <p:cNvSpPr/>
          <p:nvPr/>
        </p:nvSpPr>
        <p:spPr>
          <a:xfrm>
            <a:off x="6831865" y="137253"/>
            <a:ext cx="2286000" cy="1981200"/>
          </a:xfrm>
          <a:prstGeom prst="flowChartDocumen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  <a:latin typeface="Bookman Old Style" pitchFamily="18" charset="0"/>
              </a:rPr>
              <a:t>Output</a:t>
            </a:r>
          </a:p>
          <a:p>
            <a:pPr algn="ctr"/>
            <a:endParaRPr lang="en-US" sz="1600" b="1" u="sng" dirty="0">
              <a:solidFill>
                <a:schemeClr val="tx1"/>
              </a:solidFill>
              <a:latin typeface="Bookman Old Style" pitchFamily="18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Bookman Old Style" pitchFamily="18" charset="0"/>
              </a:rPr>
              <a:t>0 1 2 3 4 </a:t>
            </a:r>
          </a:p>
          <a:p>
            <a:r>
              <a:rPr lang="en-US" sz="1600" dirty="0">
                <a:solidFill>
                  <a:schemeClr val="tx1"/>
                </a:solidFill>
                <a:latin typeface="Bookman Old Style" pitchFamily="18" charset="0"/>
              </a:rPr>
              <a:t>5 6 7 8 9 </a:t>
            </a:r>
          </a:p>
          <a:p>
            <a:r>
              <a:rPr lang="en-US" sz="1600" dirty="0">
                <a:solidFill>
                  <a:schemeClr val="tx1"/>
                </a:solidFill>
                <a:latin typeface="Bookman Old Style" pitchFamily="18" charset="0"/>
              </a:rPr>
              <a:t>10 11 12 13 14 </a:t>
            </a:r>
          </a:p>
          <a:p>
            <a:r>
              <a:rPr lang="en-US" sz="1600" dirty="0">
                <a:solidFill>
                  <a:schemeClr val="tx1"/>
                </a:solidFill>
                <a:latin typeface="Bookman Old Style" pitchFamily="18" charset="0"/>
              </a:rPr>
              <a:t>15 16 17 18 19 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27384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69336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54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2012776"/>
            <a:ext cx="7620000" cy="48006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8808864" y="6632241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10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872848" y="798772"/>
            <a:ext cx="4114800" cy="57912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Bookman Old Style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8448" y="798772"/>
            <a:ext cx="4572000" cy="57912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Bookman Old Style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2360" y="1069554"/>
            <a:ext cx="4800600" cy="45243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Bookman Old Style" pitchFamily="18" charset="0"/>
              </a:rPr>
              <a:t>class </a:t>
            </a:r>
            <a:r>
              <a:rPr lang="en-US" dirty="0" err="1">
                <a:latin typeface="Bookman Old Style" pitchFamily="18" charset="0"/>
              </a:rPr>
              <a:t>TwoDAgain</a:t>
            </a:r>
            <a:r>
              <a:rPr lang="en-US" dirty="0">
                <a:latin typeface="Bookman Old Style" pitchFamily="18" charset="0"/>
              </a:rPr>
              <a:t> </a:t>
            </a:r>
          </a:p>
          <a:p>
            <a:r>
              <a:rPr lang="en-US" dirty="0">
                <a:latin typeface="Bookman Old Style" pitchFamily="18" charset="0"/>
              </a:rPr>
              <a:t>{</a:t>
            </a:r>
          </a:p>
          <a:p>
            <a:r>
              <a:rPr lang="en-US" dirty="0">
                <a:latin typeface="Bookman Old Style" pitchFamily="18" charset="0"/>
              </a:rPr>
              <a:t>  public static void main(String </a:t>
            </a:r>
            <a:r>
              <a:rPr lang="en-US" dirty="0" err="1">
                <a:latin typeface="Bookman Old Style" pitchFamily="18" charset="0"/>
              </a:rPr>
              <a:t>args</a:t>
            </a:r>
            <a:r>
              <a:rPr lang="en-US" dirty="0">
                <a:latin typeface="Bookman Old Style" pitchFamily="18" charset="0"/>
              </a:rPr>
              <a:t>[]) </a:t>
            </a:r>
          </a:p>
          <a:p>
            <a:r>
              <a:rPr lang="en-US" dirty="0">
                <a:latin typeface="Bookman Old Style" pitchFamily="18" charset="0"/>
              </a:rPr>
              <a:t> {</a:t>
            </a:r>
          </a:p>
          <a:p>
            <a:r>
              <a:rPr lang="en-US" dirty="0">
                <a:latin typeface="Bookman Old Style" pitchFamily="18" charset="0"/>
              </a:rPr>
              <a:t>	</a:t>
            </a:r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 </a:t>
            </a:r>
            <a:r>
              <a:rPr lang="en-US" dirty="0" err="1">
                <a:latin typeface="Bookman Old Style" pitchFamily="18" charset="0"/>
              </a:rPr>
              <a:t>twoD</a:t>
            </a:r>
            <a:r>
              <a:rPr lang="en-US" dirty="0">
                <a:latin typeface="Bookman Old Style" pitchFamily="18" charset="0"/>
              </a:rPr>
              <a:t>[][] = new </a:t>
            </a:r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[4][];</a:t>
            </a:r>
          </a:p>
          <a:p>
            <a:r>
              <a:rPr lang="en-US" dirty="0">
                <a:latin typeface="Bookman Old Style" pitchFamily="18" charset="0"/>
              </a:rPr>
              <a:t>	</a:t>
            </a:r>
            <a:r>
              <a:rPr lang="en-US" dirty="0" err="1">
                <a:latin typeface="Bookman Old Style" pitchFamily="18" charset="0"/>
              </a:rPr>
              <a:t>twoD</a:t>
            </a:r>
            <a:r>
              <a:rPr lang="en-US" dirty="0">
                <a:latin typeface="Bookman Old Style" pitchFamily="18" charset="0"/>
              </a:rPr>
              <a:t>[0] = new </a:t>
            </a:r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[1];</a:t>
            </a:r>
          </a:p>
          <a:p>
            <a:r>
              <a:rPr lang="en-US" dirty="0">
                <a:latin typeface="Bookman Old Style" pitchFamily="18" charset="0"/>
              </a:rPr>
              <a:t>	</a:t>
            </a:r>
            <a:r>
              <a:rPr lang="en-US" dirty="0" err="1">
                <a:latin typeface="Bookman Old Style" pitchFamily="18" charset="0"/>
              </a:rPr>
              <a:t>twoD</a:t>
            </a:r>
            <a:r>
              <a:rPr lang="en-US" dirty="0">
                <a:latin typeface="Bookman Old Style" pitchFamily="18" charset="0"/>
              </a:rPr>
              <a:t>[1] = new </a:t>
            </a:r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[2];</a:t>
            </a:r>
          </a:p>
          <a:p>
            <a:r>
              <a:rPr lang="en-US" dirty="0">
                <a:latin typeface="Bookman Old Style" pitchFamily="18" charset="0"/>
              </a:rPr>
              <a:t>	</a:t>
            </a:r>
            <a:r>
              <a:rPr lang="en-US" dirty="0" err="1">
                <a:latin typeface="Bookman Old Style" pitchFamily="18" charset="0"/>
              </a:rPr>
              <a:t>twoD</a:t>
            </a:r>
            <a:r>
              <a:rPr lang="en-US" dirty="0">
                <a:latin typeface="Bookman Old Style" pitchFamily="18" charset="0"/>
              </a:rPr>
              <a:t>[2] = new </a:t>
            </a:r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[3];</a:t>
            </a:r>
          </a:p>
          <a:p>
            <a:r>
              <a:rPr lang="en-US" dirty="0">
                <a:latin typeface="Bookman Old Style" pitchFamily="18" charset="0"/>
              </a:rPr>
              <a:t>	</a:t>
            </a:r>
            <a:r>
              <a:rPr lang="en-US" dirty="0" err="1">
                <a:latin typeface="Bookman Old Style" pitchFamily="18" charset="0"/>
              </a:rPr>
              <a:t>twoD</a:t>
            </a:r>
            <a:r>
              <a:rPr lang="en-US" dirty="0">
                <a:latin typeface="Bookman Old Style" pitchFamily="18" charset="0"/>
              </a:rPr>
              <a:t>[3] = new </a:t>
            </a:r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[4];</a:t>
            </a:r>
          </a:p>
          <a:p>
            <a:r>
              <a:rPr lang="en-US" dirty="0">
                <a:latin typeface="Bookman Old Style" pitchFamily="18" charset="0"/>
              </a:rPr>
              <a:t>	</a:t>
            </a:r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 </a:t>
            </a:r>
            <a:r>
              <a:rPr lang="en-US" dirty="0" err="1">
                <a:latin typeface="Bookman Old Style" pitchFamily="18" charset="0"/>
              </a:rPr>
              <a:t>i</a:t>
            </a:r>
            <a:r>
              <a:rPr lang="en-US" dirty="0">
                <a:latin typeface="Bookman Old Style" pitchFamily="18" charset="0"/>
              </a:rPr>
              <a:t>, j, k = 0;</a:t>
            </a:r>
          </a:p>
          <a:p>
            <a:r>
              <a:rPr lang="en-US" dirty="0">
                <a:latin typeface="Bookman Old Style" pitchFamily="18" charset="0"/>
              </a:rPr>
              <a:t>	for(</a:t>
            </a:r>
            <a:r>
              <a:rPr lang="en-US" dirty="0" err="1">
                <a:latin typeface="Bookman Old Style" pitchFamily="18" charset="0"/>
              </a:rPr>
              <a:t>i</a:t>
            </a:r>
            <a:r>
              <a:rPr lang="en-US" dirty="0">
                <a:latin typeface="Bookman Old Style" pitchFamily="18" charset="0"/>
              </a:rPr>
              <a:t>=0; </a:t>
            </a:r>
            <a:r>
              <a:rPr lang="en-US" dirty="0" err="1">
                <a:latin typeface="Bookman Old Style" pitchFamily="18" charset="0"/>
              </a:rPr>
              <a:t>i</a:t>
            </a:r>
            <a:r>
              <a:rPr lang="en-US" dirty="0">
                <a:latin typeface="Bookman Old Style" pitchFamily="18" charset="0"/>
              </a:rPr>
              <a:t>&lt;4; </a:t>
            </a:r>
            <a:r>
              <a:rPr lang="en-US" dirty="0" err="1">
                <a:latin typeface="Bookman Old Style" pitchFamily="18" charset="0"/>
              </a:rPr>
              <a:t>i</a:t>
            </a:r>
            <a:r>
              <a:rPr lang="en-US" dirty="0">
                <a:latin typeface="Bookman Old Style" pitchFamily="18" charset="0"/>
              </a:rPr>
              <a:t>++)</a:t>
            </a:r>
          </a:p>
          <a:p>
            <a:r>
              <a:rPr lang="en-US" dirty="0">
                <a:latin typeface="Bookman Old Style" pitchFamily="18" charset="0"/>
              </a:rPr>
              <a:t>		for(j=0; j&lt;i+1; j++) </a:t>
            </a:r>
          </a:p>
          <a:p>
            <a:r>
              <a:rPr lang="en-US" dirty="0">
                <a:latin typeface="Bookman Old Style" pitchFamily="18" charset="0"/>
              </a:rPr>
              <a:t>		{</a:t>
            </a:r>
          </a:p>
          <a:p>
            <a:r>
              <a:rPr lang="en-US" dirty="0">
                <a:latin typeface="Bookman Old Style" pitchFamily="18" charset="0"/>
              </a:rPr>
              <a:t>			</a:t>
            </a:r>
            <a:r>
              <a:rPr lang="en-US" dirty="0" err="1">
                <a:latin typeface="Bookman Old Style" pitchFamily="18" charset="0"/>
              </a:rPr>
              <a:t>twoD</a:t>
            </a:r>
            <a:r>
              <a:rPr lang="en-US" dirty="0">
                <a:latin typeface="Bookman Old Style" pitchFamily="18" charset="0"/>
              </a:rPr>
              <a:t>[</a:t>
            </a:r>
            <a:r>
              <a:rPr lang="en-US" dirty="0" err="1">
                <a:latin typeface="Bookman Old Style" pitchFamily="18" charset="0"/>
              </a:rPr>
              <a:t>i</a:t>
            </a:r>
            <a:r>
              <a:rPr lang="en-US" dirty="0">
                <a:latin typeface="Bookman Old Style" pitchFamily="18" charset="0"/>
              </a:rPr>
              <a:t>][j] = k;</a:t>
            </a:r>
          </a:p>
          <a:p>
            <a:r>
              <a:rPr lang="en-US" dirty="0">
                <a:latin typeface="Bookman Old Style" pitchFamily="18" charset="0"/>
              </a:rPr>
              <a:t>			k++;</a:t>
            </a:r>
          </a:p>
          <a:p>
            <a:r>
              <a:rPr lang="en-US" dirty="0">
                <a:latin typeface="Bookman Old Style" pitchFamily="18" charset="0"/>
              </a:rPr>
              <a:t>		}</a:t>
            </a:r>
          </a:p>
        </p:txBody>
      </p:sp>
      <p:sp>
        <p:nvSpPr>
          <p:cNvPr id="7" name="Flowchart: Document 2"/>
          <p:cNvSpPr/>
          <p:nvPr/>
        </p:nvSpPr>
        <p:spPr>
          <a:xfrm>
            <a:off x="6506367" y="4437112"/>
            <a:ext cx="2286000" cy="1981200"/>
          </a:xfrm>
          <a:prstGeom prst="flowChartDocumen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Bookman Old Style" pitchFamily="18" charset="0"/>
              </a:rPr>
              <a:t>Output</a:t>
            </a:r>
          </a:p>
          <a:p>
            <a:pPr algn="ctr"/>
            <a:endParaRPr lang="en-US" b="1" u="sng" dirty="0">
              <a:solidFill>
                <a:schemeClr val="tx1"/>
              </a:solidFill>
              <a:latin typeface="Bookman Old Style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0 </a:t>
            </a:r>
          </a:p>
          <a:p>
            <a:r>
              <a:rPr lang="en-US" dirty="0">
                <a:solidFill>
                  <a:schemeClr val="tx1"/>
                </a:solidFill>
                <a:latin typeface="Bookman Old Style" pitchFamily="18" charset="0"/>
              </a:rPr>
              <a:t>1 2 </a:t>
            </a:r>
          </a:p>
          <a:p>
            <a:r>
              <a:rPr lang="da-DK" dirty="0">
                <a:solidFill>
                  <a:schemeClr val="tx1"/>
                </a:solidFill>
                <a:latin typeface="Bookman Old Style" pitchFamily="18" charset="0"/>
              </a:rPr>
              <a:t>3 4 5 </a:t>
            </a:r>
          </a:p>
          <a:p>
            <a:r>
              <a:rPr lang="da-DK" dirty="0">
                <a:solidFill>
                  <a:schemeClr val="tx1"/>
                </a:solidFill>
                <a:latin typeface="Bookman Old Style" pitchFamily="18" charset="0"/>
              </a:rPr>
              <a:t>6 7 8 9 </a:t>
            </a:r>
            <a:endParaRPr lang="en-US" dirty="0">
              <a:solidFill>
                <a:schemeClr val="tx1"/>
              </a:solidFill>
              <a:latin typeface="Bookman Old Style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05400" y="1179772"/>
            <a:ext cx="3657600" cy="25853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Bookman Old Style" pitchFamily="18" charset="0"/>
              </a:rPr>
              <a:t>      for(</a:t>
            </a:r>
            <a:r>
              <a:rPr lang="en-US" dirty="0" err="1">
                <a:latin typeface="Bookman Old Style" pitchFamily="18" charset="0"/>
              </a:rPr>
              <a:t>i</a:t>
            </a:r>
            <a:r>
              <a:rPr lang="en-US" dirty="0">
                <a:latin typeface="Bookman Old Style" pitchFamily="18" charset="0"/>
              </a:rPr>
              <a:t>=0; </a:t>
            </a:r>
            <a:r>
              <a:rPr lang="en-US" dirty="0" err="1">
                <a:latin typeface="Bookman Old Style" pitchFamily="18" charset="0"/>
              </a:rPr>
              <a:t>i</a:t>
            </a:r>
            <a:r>
              <a:rPr lang="en-US" dirty="0">
                <a:latin typeface="Bookman Old Style" pitchFamily="18" charset="0"/>
              </a:rPr>
              <a:t>&lt;4; </a:t>
            </a:r>
            <a:r>
              <a:rPr lang="en-US" dirty="0" err="1">
                <a:latin typeface="Bookman Old Style" pitchFamily="18" charset="0"/>
              </a:rPr>
              <a:t>i</a:t>
            </a:r>
            <a:r>
              <a:rPr lang="en-US" dirty="0">
                <a:latin typeface="Bookman Old Style" pitchFamily="18" charset="0"/>
              </a:rPr>
              <a:t>++) </a:t>
            </a:r>
          </a:p>
          <a:p>
            <a:r>
              <a:rPr lang="en-US" dirty="0">
                <a:latin typeface="Bookman Old Style" pitchFamily="18" charset="0"/>
              </a:rPr>
              <a:t>      {</a:t>
            </a:r>
          </a:p>
          <a:p>
            <a:r>
              <a:rPr lang="en-US" dirty="0">
                <a:latin typeface="Bookman Old Style" pitchFamily="18" charset="0"/>
              </a:rPr>
              <a:t>	for(j=0; j&lt;i+1; j++)</a:t>
            </a:r>
          </a:p>
          <a:p>
            <a:r>
              <a:rPr lang="en-US" dirty="0">
                <a:latin typeface="Bookman Old Style" pitchFamily="18" charset="0"/>
              </a:rPr>
              <a:t>	</a:t>
            </a:r>
            <a:r>
              <a:rPr lang="en-US" dirty="0" err="1">
                <a:latin typeface="Bookman Old Style" pitchFamily="18" charset="0"/>
              </a:rPr>
              <a:t>System.</a:t>
            </a:r>
            <a:r>
              <a:rPr lang="en-US" i="1" dirty="0" err="1">
                <a:latin typeface="Bookman Old Style" pitchFamily="18" charset="0"/>
              </a:rPr>
              <a:t>out.print</a:t>
            </a:r>
            <a:endParaRPr lang="en-US" i="1" dirty="0">
              <a:latin typeface="Bookman Old Style" pitchFamily="18" charset="0"/>
            </a:endParaRPr>
          </a:p>
          <a:p>
            <a:r>
              <a:rPr lang="en-US" i="1" dirty="0">
                <a:latin typeface="Bookman Old Style" pitchFamily="18" charset="0"/>
              </a:rPr>
              <a:t>	(</a:t>
            </a:r>
            <a:r>
              <a:rPr lang="en-US" i="1" dirty="0" err="1">
                <a:latin typeface="Bookman Old Style" pitchFamily="18" charset="0"/>
              </a:rPr>
              <a:t>twoD</a:t>
            </a:r>
            <a:r>
              <a:rPr lang="en-US" i="1" dirty="0">
                <a:latin typeface="Bookman Old Style" pitchFamily="18" charset="0"/>
              </a:rPr>
              <a:t>[</a:t>
            </a:r>
            <a:r>
              <a:rPr lang="en-US" i="1" dirty="0" err="1">
                <a:latin typeface="Bookman Old Style" pitchFamily="18" charset="0"/>
              </a:rPr>
              <a:t>i</a:t>
            </a:r>
            <a:r>
              <a:rPr lang="en-US" i="1" dirty="0">
                <a:latin typeface="Bookman Old Style" pitchFamily="18" charset="0"/>
              </a:rPr>
              <a:t>][j] + " ");</a:t>
            </a:r>
          </a:p>
          <a:p>
            <a:r>
              <a:rPr lang="en-US" dirty="0">
                <a:latin typeface="Bookman Old Style" pitchFamily="18" charset="0"/>
              </a:rPr>
              <a:t>	</a:t>
            </a:r>
            <a:r>
              <a:rPr lang="en-US" dirty="0" err="1">
                <a:latin typeface="Bookman Old Style" pitchFamily="18" charset="0"/>
              </a:rPr>
              <a:t>System.</a:t>
            </a:r>
            <a:r>
              <a:rPr lang="en-US" i="1" dirty="0" err="1">
                <a:latin typeface="Bookman Old Style" pitchFamily="18" charset="0"/>
              </a:rPr>
              <a:t>out.println</a:t>
            </a:r>
            <a:r>
              <a:rPr lang="en-US" i="1" dirty="0">
                <a:latin typeface="Bookman Old Style" pitchFamily="18" charset="0"/>
              </a:rPr>
              <a:t>();</a:t>
            </a:r>
          </a:p>
          <a:p>
            <a:r>
              <a:rPr lang="en-US" dirty="0">
                <a:latin typeface="Bookman Old Style" pitchFamily="18" charset="0"/>
              </a:rPr>
              <a:t>     }</a:t>
            </a:r>
          </a:p>
          <a:p>
            <a:r>
              <a:rPr lang="en-US" dirty="0">
                <a:latin typeface="Bookman Old Style" pitchFamily="18" charset="0"/>
              </a:rPr>
              <a:t>  }</a:t>
            </a:r>
          </a:p>
          <a:p>
            <a:r>
              <a:rPr lang="en-US" dirty="0">
                <a:latin typeface="Bookman Old Style" pitchFamily="18" charset="0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395372"/>
            <a:ext cx="7308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C"/>
                </a:solidFill>
                <a:latin typeface="Bookman Old Style" pitchFamily="18" charset="0"/>
              </a:rPr>
              <a:t>//Demonstrate an unequal size two-dimensional array.</a:t>
            </a:r>
          </a:p>
        </p:txBody>
      </p:sp>
    </p:spTree>
    <p:extLst>
      <p:ext uri="{BB962C8B-B14F-4D97-AF65-F5344CB8AC3E}">
        <p14:creationId xmlns:p14="http://schemas.microsoft.com/office/powerpoint/2010/main" val="279881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775888" y="6633160"/>
            <a:ext cx="548640" cy="396240"/>
          </a:xfrm>
        </p:spPr>
        <p:txBody>
          <a:bodyPr/>
          <a:lstStyle/>
          <a:p>
            <a:pPr eaLnBrk="1" latinLnBrk="0" hangingPunct="1"/>
            <a:fld id="{F0C94032-CD4C-4C25-B0C2-CEC720522D92}" type="slidenum">
              <a:rPr kumimoji="0" lang="en-US" sz="1200" smtClean="0"/>
              <a:pPr eaLnBrk="1" latinLnBrk="0" hangingPunct="1"/>
              <a:t>11</a:t>
            </a:fld>
            <a:endParaRPr kumimoji="0" lang="en-US" sz="12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7504" y="260648"/>
            <a:ext cx="87129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en-US" dirty="0">
                <a:solidFill>
                  <a:srgbClr val="0000CC"/>
                </a:solidFill>
                <a:latin typeface="Bookman Old Style" pitchFamily="18" charset="0"/>
              </a:rPr>
              <a:t>Example 4</a:t>
            </a:r>
            <a:r>
              <a:rPr lang="en-US" dirty="0">
                <a:latin typeface="Bookman Old Style" pitchFamily="18" charset="0"/>
              </a:rPr>
              <a:t>. Write a program to find an element of an array using the sequential search algorithm.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7504" y="987107"/>
            <a:ext cx="903649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Bookman Old Style" pitchFamily="18" charset="0"/>
              </a:rPr>
              <a:t>public class </a:t>
            </a:r>
            <a:r>
              <a:rPr lang="en-US" dirty="0" err="1">
                <a:latin typeface="Bookman Old Style" pitchFamily="18" charset="0"/>
              </a:rPr>
              <a:t>SquentialSearch</a:t>
            </a:r>
            <a:r>
              <a:rPr lang="en-US" dirty="0">
                <a:latin typeface="Bookman Old Style" pitchFamily="18" charset="0"/>
              </a:rPr>
              <a:t>{</a:t>
            </a:r>
          </a:p>
          <a:p>
            <a:r>
              <a:rPr lang="en-US" dirty="0">
                <a:latin typeface="Bookman Old Style" pitchFamily="18" charset="0"/>
              </a:rPr>
              <a:t>public static void main(String[] </a:t>
            </a:r>
            <a:r>
              <a:rPr lang="en-US" dirty="0" err="1">
                <a:latin typeface="Bookman Old Style" pitchFamily="18" charset="0"/>
              </a:rPr>
              <a:t>args</a:t>
            </a:r>
            <a:r>
              <a:rPr lang="en-US" dirty="0">
                <a:latin typeface="Bookman Old Style" pitchFamily="18" charset="0"/>
              </a:rPr>
              <a:t>){</a:t>
            </a:r>
          </a:p>
          <a:p>
            <a:pPr lvl="1"/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[] </a:t>
            </a:r>
            <a:r>
              <a:rPr lang="en-US" dirty="0" err="1">
                <a:latin typeface="Bookman Old Style" pitchFamily="18" charset="0"/>
              </a:rPr>
              <a:t>arr</a:t>
            </a:r>
            <a:r>
              <a:rPr lang="en-US" dirty="0">
                <a:latin typeface="Bookman Old Style" pitchFamily="18" charset="0"/>
              </a:rPr>
              <a:t>={23,2,4,56,80,23,4,5,6,10};</a:t>
            </a:r>
          </a:p>
          <a:p>
            <a:pPr lvl="1"/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 </a:t>
            </a:r>
            <a:r>
              <a:rPr lang="en-US" dirty="0" err="1">
                <a:latin typeface="Bookman Old Style" pitchFamily="18" charset="0"/>
              </a:rPr>
              <a:t>pos</a:t>
            </a:r>
            <a:r>
              <a:rPr lang="en-US" dirty="0">
                <a:latin typeface="Bookman Old Style" pitchFamily="18" charset="0"/>
              </a:rPr>
              <a:t>=</a:t>
            </a:r>
            <a:r>
              <a:rPr lang="en-US" dirty="0" err="1">
                <a:latin typeface="Bookman Old Style" pitchFamily="18" charset="0"/>
              </a:rPr>
              <a:t>seqsearch</a:t>
            </a:r>
            <a:r>
              <a:rPr lang="en-US" dirty="0">
                <a:latin typeface="Bookman Old Style" pitchFamily="18" charset="0"/>
              </a:rPr>
              <a:t>(arr,56, </a:t>
            </a:r>
            <a:r>
              <a:rPr lang="en-US" dirty="0" err="1">
                <a:latin typeface="Bookman Old Style" pitchFamily="18" charset="0"/>
              </a:rPr>
              <a:t>arr.length</a:t>
            </a:r>
            <a:r>
              <a:rPr lang="en-US" dirty="0">
                <a:latin typeface="Bookman Old Style" pitchFamily="18" charset="0"/>
              </a:rPr>
              <a:t>); 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//call method for sequential search</a:t>
            </a:r>
          </a:p>
          <a:p>
            <a:pPr lvl="1"/>
            <a:r>
              <a:rPr lang="en-US" dirty="0">
                <a:latin typeface="Bookman Old Style" pitchFamily="18" charset="0"/>
              </a:rPr>
              <a:t>if(</a:t>
            </a:r>
            <a:r>
              <a:rPr lang="en-US" dirty="0" err="1">
                <a:latin typeface="Bookman Old Style" pitchFamily="18" charset="0"/>
              </a:rPr>
              <a:t>pos</a:t>
            </a:r>
            <a:r>
              <a:rPr lang="en-US" dirty="0">
                <a:latin typeface="Bookman Old Style" pitchFamily="18" charset="0"/>
              </a:rPr>
              <a:t>!=-1) </a:t>
            </a:r>
          </a:p>
          <a:p>
            <a:pPr lvl="1"/>
            <a:r>
              <a:rPr lang="en-US" dirty="0">
                <a:latin typeface="Bookman Old Style" pitchFamily="18" charset="0"/>
              </a:rPr>
              <a:t>  </a:t>
            </a:r>
            <a:r>
              <a:rPr lang="en-US" dirty="0" err="1">
                <a:latin typeface="Bookman Old Style" pitchFamily="18" charset="0"/>
              </a:rPr>
              <a:t>System.out.println</a:t>
            </a:r>
            <a:r>
              <a:rPr lang="en-US" dirty="0">
                <a:latin typeface="Bookman Old Style" pitchFamily="18" charset="0"/>
              </a:rPr>
              <a:t>(" The values is found at the position of "+ </a:t>
            </a:r>
            <a:r>
              <a:rPr lang="en-US" dirty="0" err="1">
                <a:latin typeface="Bookman Old Style" pitchFamily="18" charset="0"/>
              </a:rPr>
              <a:t>pos</a:t>
            </a:r>
            <a:r>
              <a:rPr lang="en-US" dirty="0">
                <a:latin typeface="Bookman Old Style" pitchFamily="18" charset="0"/>
              </a:rPr>
              <a:t>);</a:t>
            </a:r>
          </a:p>
          <a:p>
            <a:r>
              <a:rPr lang="en-US" dirty="0">
                <a:latin typeface="Bookman Old Style" pitchFamily="18" charset="0"/>
              </a:rPr>
              <a:t>}</a:t>
            </a:r>
          </a:p>
          <a:p>
            <a:r>
              <a:rPr lang="en-US" dirty="0">
                <a:latin typeface="Bookman Old Style" pitchFamily="18" charset="0"/>
              </a:rPr>
              <a:t>//Method for sequential search</a:t>
            </a:r>
          </a:p>
          <a:p>
            <a:r>
              <a:rPr lang="en-US" dirty="0">
                <a:latin typeface="Bookman Old Style" pitchFamily="18" charset="0"/>
              </a:rPr>
              <a:t>public static </a:t>
            </a:r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 </a:t>
            </a:r>
            <a:r>
              <a:rPr lang="en-US" b="1" dirty="0" err="1">
                <a:latin typeface="Bookman Old Style" pitchFamily="18" charset="0"/>
              </a:rPr>
              <a:t>seqsearch</a:t>
            </a:r>
            <a:r>
              <a:rPr lang="en-US" dirty="0">
                <a:latin typeface="Bookman Old Style" pitchFamily="18" charset="0"/>
              </a:rPr>
              <a:t>(</a:t>
            </a:r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[ ] </a:t>
            </a:r>
            <a:r>
              <a:rPr lang="en-US" dirty="0" err="1">
                <a:latin typeface="Bookman Old Style" pitchFamily="18" charset="0"/>
              </a:rPr>
              <a:t>dataset,int</a:t>
            </a:r>
            <a:r>
              <a:rPr lang="en-US" dirty="0">
                <a:latin typeface="Bookman Old Style" pitchFamily="18" charset="0"/>
              </a:rPr>
              <a:t> </a:t>
            </a:r>
            <a:r>
              <a:rPr lang="en-US" dirty="0" err="1">
                <a:latin typeface="Bookman Old Style" pitchFamily="18" charset="0"/>
              </a:rPr>
              <a:t>target,int</a:t>
            </a:r>
            <a:r>
              <a:rPr lang="en-US" dirty="0">
                <a:latin typeface="Bookman Old Style" pitchFamily="18" charset="0"/>
              </a:rPr>
              <a:t> n){</a:t>
            </a:r>
          </a:p>
          <a:p>
            <a:pPr lvl="1"/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 found=0;</a:t>
            </a:r>
          </a:p>
          <a:p>
            <a:pPr lvl="1"/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 i;</a:t>
            </a:r>
          </a:p>
          <a:p>
            <a:pPr lvl="1"/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 </a:t>
            </a:r>
            <a:r>
              <a:rPr lang="en-US" dirty="0" err="1">
                <a:latin typeface="Bookman Old Style" pitchFamily="18" charset="0"/>
              </a:rPr>
              <a:t>pos</a:t>
            </a:r>
            <a:r>
              <a:rPr lang="en-US" dirty="0">
                <a:latin typeface="Bookman Old Style" pitchFamily="18" charset="0"/>
              </a:rPr>
              <a:t>=-1;</a:t>
            </a:r>
          </a:p>
          <a:p>
            <a:pPr lvl="1"/>
            <a:r>
              <a:rPr lang="en-US" dirty="0">
                <a:latin typeface="Bookman Old Style" pitchFamily="18" charset="0"/>
              </a:rPr>
              <a:t>for(i=0;i&lt;n &amp;&amp; found!=1;i++)</a:t>
            </a:r>
          </a:p>
          <a:p>
            <a:pPr lvl="1"/>
            <a:r>
              <a:rPr lang="en-US" dirty="0">
                <a:latin typeface="Bookman Old Style" pitchFamily="18" charset="0"/>
              </a:rPr>
              <a:t>  if(target==dataset[i])</a:t>
            </a:r>
          </a:p>
          <a:p>
            <a:pPr lvl="1"/>
            <a:r>
              <a:rPr lang="en-US" dirty="0">
                <a:latin typeface="Bookman Old Style" pitchFamily="18" charset="0"/>
              </a:rPr>
              <a:t>   { </a:t>
            </a:r>
          </a:p>
          <a:p>
            <a:pPr lvl="1"/>
            <a:r>
              <a:rPr lang="en-US" dirty="0">
                <a:latin typeface="Bookman Old Style" pitchFamily="18" charset="0"/>
              </a:rPr>
              <a:t>      </a:t>
            </a:r>
            <a:r>
              <a:rPr lang="en-US" dirty="0" err="1">
                <a:latin typeface="Bookman Old Style" pitchFamily="18" charset="0"/>
              </a:rPr>
              <a:t>pos</a:t>
            </a:r>
            <a:r>
              <a:rPr lang="en-US" dirty="0">
                <a:latin typeface="Bookman Old Style" pitchFamily="18" charset="0"/>
              </a:rPr>
              <a:t>=i;</a:t>
            </a:r>
          </a:p>
          <a:p>
            <a:pPr lvl="1"/>
            <a:r>
              <a:rPr lang="en-US" dirty="0">
                <a:latin typeface="Bookman Old Style" pitchFamily="18" charset="0"/>
              </a:rPr>
              <a:t>      found=1;</a:t>
            </a:r>
          </a:p>
          <a:p>
            <a:pPr lvl="1"/>
            <a:r>
              <a:rPr lang="en-US" dirty="0">
                <a:latin typeface="Bookman Old Style" pitchFamily="18" charset="0"/>
              </a:rPr>
              <a:t>    }</a:t>
            </a:r>
          </a:p>
          <a:p>
            <a:pPr lvl="1"/>
            <a:r>
              <a:rPr lang="en-US" dirty="0">
                <a:latin typeface="Bookman Old Style" pitchFamily="18" charset="0"/>
              </a:rPr>
              <a:t>return </a:t>
            </a:r>
            <a:r>
              <a:rPr lang="en-US" dirty="0" err="1">
                <a:latin typeface="Bookman Old Style" pitchFamily="18" charset="0"/>
              </a:rPr>
              <a:t>pos</a:t>
            </a:r>
            <a:r>
              <a:rPr lang="en-US" dirty="0">
                <a:latin typeface="Bookman Old Style" pitchFamily="18" charset="0"/>
              </a:rPr>
              <a:t>;</a:t>
            </a:r>
          </a:p>
          <a:p>
            <a:pPr lvl="1"/>
            <a:r>
              <a:rPr lang="en-US" dirty="0">
                <a:latin typeface="Bookman Old Style" pitchFamily="18" charset="0"/>
              </a:rPr>
              <a:t>  }</a:t>
            </a:r>
          </a:p>
          <a:p>
            <a:r>
              <a:rPr lang="en-US" dirty="0">
                <a:latin typeface="Bookman Old Style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33858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Next Week Lecture</a:t>
            </a:r>
            <a:endParaRPr lang="ko-KR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835696" y="1556792"/>
            <a:ext cx="6912768" cy="614197"/>
          </a:xfrm>
        </p:spPr>
        <p:txBody>
          <a:bodyPr>
            <a:normAutofit fontScale="55000" lnSpcReduction="20000"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1" dirty="0">
                <a:latin typeface="Bookman Old Style" pitchFamily="18" charset="0"/>
              </a:rPr>
              <a:t>Operators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1" dirty="0">
                <a:latin typeface="Bookman Old Style" pitchFamily="18" charset="0"/>
              </a:rPr>
              <a:t>Control Statements</a:t>
            </a:r>
          </a:p>
        </p:txBody>
      </p:sp>
      <p:sp>
        <p:nvSpPr>
          <p:cNvPr id="6" name="Title 2"/>
          <p:cNvSpPr txBox="1">
            <a:spLocks/>
          </p:cNvSpPr>
          <p:nvPr/>
        </p:nvSpPr>
        <p:spPr>
          <a:xfrm>
            <a:off x="5850396" y="5778104"/>
            <a:ext cx="3762164" cy="117928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ctr"/>
            <a:r>
              <a:rPr lang="en-US" altLang="ko-KR" sz="3200" dirty="0"/>
              <a:t>Thank you!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7910761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3652</TotalTime>
  <Words>1277</Words>
  <Application>Microsoft Office PowerPoint</Application>
  <PresentationFormat>On-screen Show (4:3)</PresentationFormat>
  <Paragraphs>196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Bookman Old Style</vt:lpstr>
      <vt:lpstr>Calibri</vt:lpstr>
      <vt:lpstr>Wingdings</vt:lpstr>
      <vt:lpstr>Custom Design</vt:lpstr>
      <vt:lpstr>PowerPoint Presentation</vt:lpstr>
      <vt:lpstr>Arrays</vt:lpstr>
      <vt:lpstr>Declaring and Creating Arrays</vt:lpstr>
      <vt:lpstr>Initializing Arrays </vt:lpstr>
      <vt:lpstr>Processing Arrays  </vt:lpstr>
      <vt:lpstr>PowerPoint Presentation</vt:lpstr>
      <vt:lpstr>PowerPoint Presentation</vt:lpstr>
      <vt:lpstr>Multidimensional Array</vt:lpstr>
      <vt:lpstr>PowerPoint Presentation</vt:lpstr>
      <vt:lpstr>PowerPoint Presentation</vt:lpstr>
      <vt:lpstr>PowerPoint Presentation</vt:lpstr>
      <vt:lpstr>Next Week Lecture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Khaing Zar Myint Aung</cp:lastModifiedBy>
  <cp:revision>119</cp:revision>
  <dcterms:created xsi:type="dcterms:W3CDTF">2014-04-01T16:27:38Z</dcterms:created>
  <dcterms:modified xsi:type="dcterms:W3CDTF">2026-06-08T02:29:47Z</dcterms:modified>
</cp:coreProperties>
</file>