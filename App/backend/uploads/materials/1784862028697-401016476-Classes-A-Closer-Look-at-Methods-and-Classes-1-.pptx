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44"/>
  </p:notesMasterIdLst>
  <p:sldIdLst>
    <p:sldId id="256" r:id="rId2"/>
    <p:sldId id="307" r:id="rId3"/>
    <p:sldId id="409" r:id="rId4"/>
    <p:sldId id="410" r:id="rId5"/>
    <p:sldId id="411" r:id="rId6"/>
    <p:sldId id="412" r:id="rId7"/>
    <p:sldId id="413" r:id="rId8"/>
    <p:sldId id="414" r:id="rId9"/>
    <p:sldId id="440" r:id="rId10"/>
    <p:sldId id="446" r:id="rId11"/>
    <p:sldId id="415" r:id="rId12"/>
    <p:sldId id="416" r:id="rId13"/>
    <p:sldId id="417" r:id="rId14"/>
    <p:sldId id="441" r:id="rId15"/>
    <p:sldId id="442" r:id="rId16"/>
    <p:sldId id="443" r:id="rId17"/>
    <p:sldId id="444" r:id="rId18"/>
    <p:sldId id="445" r:id="rId19"/>
    <p:sldId id="449" r:id="rId20"/>
    <p:sldId id="418" r:id="rId21"/>
    <p:sldId id="453" r:id="rId22"/>
    <p:sldId id="450" r:id="rId23"/>
    <p:sldId id="451" r:id="rId24"/>
    <p:sldId id="419" r:id="rId25"/>
    <p:sldId id="420" r:id="rId26"/>
    <p:sldId id="456" r:id="rId27"/>
    <p:sldId id="422" r:id="rId28"/>
    <p:sldId id="423" r:id="rId29"/>
    <p:sldId id="424" r:id="rId30"/>
    <p:sldId id="425" r:id="rId31"/>
    <p:sldId id="457" r:id="rId32"/>
    <p:sldId id="458" r:id="rId33"/>
    <p:sldId id="459" r:id="rId34"/>
    <p:sldId id="461" r:id="rId35"/>
    <p:sldId id="462" r:id="rId36"/>
    <p:sldId id="460" r:id="rId37"/>
    <p:sldId id="463" r:id="rId38"/>
    <p:sldId id="468" r:id="rId39"/>
    <p:sldId id="466" r:id="rId40"/>
    <p:sldId id="467" r:id="rId41"/>
    <p:sldId id="469" r:id="rId42"/>
    <p:sldId id="259" r:id="rId43"/>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3399FF"/>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504" autoAdjust="0"/>
  </p:normalViewPr>
  <p:slideViewPr>
    <p:cSldViewPr>
      <p:cViewPr varScale="1">
        <p:scale>
          <a:sx n="82" d="100"/>
          <a:sy n="82" d="100"/>
        </p:scale>
        <p:origin x="1474" y="38"/>
      </p:cViewPr>
      <p:guideLst>
        <p:guide orient="horz"/>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D3FDCA-91AA-4804-9A07-6F0DDB6CA845}" type="datetimeFigureOut">
              <a:rPr lang="en-US" smtClean="0"/>
              <a:t>6/15/2026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C9CE79-09F1-4C6E-A96F-5EE19B972FCD}" type="slidenum">
              <a:rPr lang="en-US" smtClean="0"/>
              <a:t>‹#›</a:t>
            </a:fld>
            <a:endParaRPr lang="en-US"/>
          </a:p>
        </p:txBody>
      </p:sp>
    </p:spTree>
    <p:extLst>
      <p:ext uri="{BB962C8B-B14F-4D97-AF65-F5344CB8AC3E}">
        <p14:creationId xmlns:p14="http://schemas.microsoft.com/office/powerpoint/2010/main" val="3891392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a:t>
            </a:r>
            <a:r>
              <a:rPr lang="en-US" baseline="0" dirty="0"/>
              <a:t> method </a:t>
            </a:r>
            <a:r>
              <a:rPr lang="en-US" baseline="0" dirty="0">
                <a:sym typeface="Wingdings"/>
              </a:rPr>
              <a:t> global variable (class own)  static variable</a:t>
            </a:r>
          </a:p>
          <a:p>
            <a:r>
              <a:rPr lang="en-US" baseline="0" dirty="0">
                <a:sym typeface="Wingdings"/>
              </a:rPr>
              <a:t>		     local variable   instance also ok</a:t>
            </a:r>
            <a:endParaRPr lang="en-US" dirty="0"/>
          </a:p>
        </p:txBody>
      </p:sp>
      <p:sp>
        <p:nvSpPr>
          <p:cNvPr id="4" name="Slide Number Placeholder 3"/>
          <p:cNvSpPr>
            <a:spLocks noGrp="1"/>
          </p:cNvSpPr>
          <p:nvPr>
            <p:ph type="sldNum" sz="quarter" idx="10"/>
          </p:nvPr>
        </p:nvSpPr>
        <p:spPr/>
        <p:txBody>
          <a:bodyPr/>
          <a:lstStyle/>
          <a:p>
            <a:fld id="{BC480A22-0A66-CA46-AF8C-F32EA2D836D8}" type="slidenum">
              <a:rPr lang="en-US" smtClean="0"/>
              <a:t>20</a:t>
            </a:fld>
            <a:endParaRPr lang="en-US"/>
          </a:p>
        </p:txBody>
      </p:sp>
    </p:spTree>
    <p:extLst>
      <p:ext uri="{BB962C8B-B14F-4D97-AF65-F5344CB8AC3E}">
        <p14:creationId xmlns:p14="http://schemas.microsoft.com/office/powerpoint/2010/main" val="1901084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480A22-0A66-CA46-AF8C-F32EA2D836D8}" type="slidenum">
              <a:rPr lang="en-US" smtClean="0"/>
              <a:t>37</a:t>
            </a:fld>
            <a:endParaRPr lang="en-US"/>
          </a:p>
        </p:txBody>
      </p:sp>
    </p:spTree>
    <p:extLst>
      <p:ext uri="{BB962C8B-B14F-4D97-AF65-F5344CB8AC3E}">
        <p14:creationId xmlns:p14="http://schemas.microsoft.com/office/powerpoint/2010/main" val="2586598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C9CE79-09F1-4C6E-A96F-5EE19B972FCD}" type="slidenum">
              <a:rPr lang="en-US" smtClean="0"/>
              <a:t>42</a:t>
            </a:fld>
            <a:endParaRPr lang="en-US"/>
          </a:p>
        </p:txBody>
      </p:sp>
    </p:spTree>
    <p:extLst>
      <p:ext uri="{BB962C8B-B14F-4D97-AF65-F5344CB8AC3E}">
        <p14:creationId xmlns:p14="http://schemas.microsoft.com/office/powerpoint/2010/main" val="154488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1485"/>
            <a:ext cx="7772400" cy="1468967"/>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1895959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81513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313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185"/>
            <a:ext cx="7772400" cy="150071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1860431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3505802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4584"/>
            <a:ext cx="4040188" cy="6413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5934"/>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4584"/>
            <a:ext cx="4041775" cy="6413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5934"/>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3538794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1150510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2403535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2"/>
            <a:ext cx="3008313" cy="1162049"/>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258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0"/>
            <a:ext cx="3008313" cy="46905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501824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7267"/>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3833"/>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867"/>
            <a:ext cx="5486400" cy="8043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722440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2810871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5167"/>
            <a:ext cx="2057400" cy="585046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5167"/>
            <a:ext cx="6019800" cy="58504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1DC1F-5561-484E-AB46-68C682854F61}" type="slidenum">
              <a:rPr lang="en-US" smtClean="0"/>
              <a:t>‹#›</a:t>
            </a:fld>
            <a:endParaRPr lang="en-US"/>
          </a:p>
        </p:txBody>
      </p:sp>
    </p:spTree>
    <p:extLst>
      <p:ext uri="{BB962C8B-B14F-4D97-AF65-F5344CB8AC3E}">
        <p14:creationId xmlns:p14="http://schemas.microsoft.com/office/powerpoint/2010/main" val="4240091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7685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19672" y="0"/>
            <a:ext cx="7524328" cy="1179288"/>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4" name="Content Placeholder 2"/>
          <p:cNvSpPr>
            <a:spLocks noGrp="1"/>
          </p:cNvSpPr>
          <p:nvPr>
            <p:ph idx="1"/>
          </p:nvPr>
        </p:nvSpPr>
        <p:spPr>
          <a:xfrm>
            <a:off x="1979712" y="1316766"/>
            <a:ext cx="6912768" cy="614197"/>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5" name="Content Placeholder 2"/>
          <p:cNvSpPr>
            <a:spLocks noGrp="1"/>
          </p:cNvSpPr>
          <p:nvPr>
            <p:ph idx="10"/>
          </p:nvPr>
        </p:nvSpPr>
        <p:spPr>
          <a:xfrm>
            <a:off x="1990056" y="2218994"/>
            <a:ext cx="6912768" cy="3994316"/>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spTree>
    <p:extLst>
      <p:ext uri="{BB962C8B-B14F-4D97-AF65-F5344CB8AC3E}">
        <p14:creationId xmlns:p14="http://schemas.microsoft.com/office/powerpoint/2010/main" val="9228082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9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474" y="484094"/>
            <a:ext cx="7556313" cy="1116106"/>
          </a:xfrm>
          <a:prstGeom prst="rect">
            <a:avLst/>
          </a:prstGeom>
        </p:spPr>
        <p:txBody>
          <a:bodyPr/>
          <a:lstStyle/>
          <a:p>
            <a:r>
              <a:rPr lang="en-US"/>
              <a:t>Click to edit Master title style</a:t>
            </a:r>
            <a:endParaRPr/>
          </a:p>
        </p:txBody>
      </p:sp>
      <p:sp>
        <p:nvSpPr>
          <p:cNvPr id="3" name="Content Placeholder 2"/>
          <p:cNvSpPr>
            <a:spLocks noGrp="1"/>
          </p:cNvSpPr>
          <p:nvPr>
            <p:ph idx="1"/>
          </p:nvPr>
        </p:nvSpPr>
        <p:spPr>
          <a:xfrm>
            <a:off x="498474" y="1981200"/>
            <a:ext cx="7556313" cy="4144963"/>
          </a:xfrm>
          <a:prstGeom prst="rect">
            <a:avLst/>
          </a:prstGeo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6795247" y="6423585"/>
            <a:ext cx="2133600" cy="365125"/>
          </a:xfrm>
          <a:prstGeom prst="rect">
            <a:avLst/>
          </a:prstGeom>
        </p:spPr>
        <p:txBody>
          <a:bodyPr/>
          <a:lstStyle/>
          <a:p>
            <a:pPr eaLnBrk="1" latinLnBrk="0" hangingPunct="1"/>
            <a:endParaRPr lang="en-US" dirty="0"/>
          </a:p>
        </p:txBody>
      </p:sp>
      <p:sp>
        <p:nvSpPr>
          <p:cNvPr id="5" name="Footer Placeholder 4"/>
          <p:cNvSpPr>
            <a:spLocks noGrp="1"/>
          </p:cNvSpPr>
          <p:nvPr>
            <p:ph type="ftr" sz="quarter" idx="11"/>
          </p:nvPr>
        </p:nvSpPr>
        <p:spPr>
          <a:xfrm>
            <a:off x="201706" y="6423585"/>
            <a:ext cx="6122894" cy="365125"/>
          </a:xfrm>
          <a:prstGeom prst="rect">
            <a:avLst/>
          </a:prstGeom>
        </p:spPr>
        <p:txBody>
          <a:bodyPr/>
          <a:lstStyle/>
          <a:p>
            <a:endParaRPr kumimoji="0" lang="en-US"/>
          </a:p>
        </p:txBody>
      </p:sp>
      <p:sp>
        <p:nvSpPr>
          <p:cNvPr id="6" name="Slide Number Placeholder 5"/>
          <p:cNvSpPr>
            <a:spLocks noGrp="1"/>
          </p:cNvSpPr>
          <p:nvPr>
            <p:ph type="sldNum" sz="quarter" idx="12"/>
          </p:nvPr>
        </p:nvSpPr>
        <p:spPr>
          <a:xfrm>
            <a:off x="8305800" y="242234"/>
            <a:ext cx="554038" cy="365125"/>
          </a:xfrm>
          <a:prstGeom prst="rect">
            <a:avLst/>
          </a:prstGeom>
        </p:spPr>
        <p:txBody>
          <a:bodyPr/>
          <a:lstStyle/>
          <a:p>
            <a:fld id="{F0C94032-CD4C-4C25-B0C2-CEC720522D92}" type="slidenum">
              <a:rPr kumimoji="0" lang="en-US" smtClean="0"/>
              <a:pPr eaLnBrk="1" latinLnBrk="0" hangingPunct="1"/>
              <a:t>‹#›</a:t>
            </a:fld>
            <a:endParaRPr kumimoji="0" lang="en-US" dirty="0">
              <a:solidFill>
                <a:srgbClr val="FFFFFF"/>
              </a:solidFill>
            </a:endParaRPr>
          </a:p>
        </p:txBody>
      </p:sp>
    </p:spTree>
    <p:extLst>
      <p:ext uri="{BB962C8B-B14F-4D97-AF65-F5344CB8AC3E}">
        <p14:creationId xmlns:p14="http://schemas.microsoft.com/office/powerpoint/2010/main" val="30584524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1179288"/>
          </a:xfrm>
          <a:prstGeom prst="rect">
            <a:avLst/>
          </a:prstGeom>
        </p:spPr>
        <p:txBody>
          <a:bodyPr anchor="ctr"/>
          <a:lstStyle>
            <a:lvl1pPr algn="l">
              <a:defRPr>
                <a:solidFill>
                  <a:schemeClr val="tx1">
                    <a:lumMod val="75000"/>
                    <a:lumOff val="25000"/>
                  </a:schemeClr>
                </a:solidFill>
              </a:defRPr>
            </a:lvl1pPr>
          </a:lstStyle>
          <a:p>
            <a:r>
              <a:rPr lang="en-US" altLang="ko-KR" dirty="0"/>
              <a:t> Click to edit title</a:t>
            </a:r>
            <a:endParaRPr lang="ko-KR" altLang="en-US" dirty="0"/>
          </a:p>
        </p:txBody>
      </p:sp>
      <p:sp>
        <p:nvSpPr>
          <p:cNvPr id="4" name="Content Placeholder 2"/>
          <p:cNvSpPr>
            <a:spLocks noGrp="1"/>
          </p:cNvSpPr>
          <p:nvPr>
            <p:ph idx="1"/>
          </p:nvPr>
        </p:nvSpPr>
        <p:spPr>
          <a:xfrm>
            <a:off x="395536" y="1508787"/>
            <a:ext cx="8496944" cy="614197"/>
          </a:xfrm>
          <a:prstGeom prst="rect">
            <a:avLst/>
          </a:prstGeom>
        </p:spPr>
        <p:txBody>
          <a:bodyPr anchor="ctr"/>
          <a:lstStyle>
            <a:lvl1pPr marL="0" indent="0">
              <a:buNone/>
              <a:defRPr sz="2000">
                <a:solidFill>
                  <a:schemeClr val="tx1">
                    <a:lumMod val="75000"/>
                    <a:lumOff val="25000"/>
                  </a:schemeClr>
                </a:solidFill>
              </a:defRPr>
            </a:lvl1pPr>
          </a:lstStyle>
          <a:p>
            <a:pPr lvl="0"/>
            <a:r>
              <a:rPr lang="en-US" altLang="ko-KR" dirty="0"/>
              <a:t>Click to edit Master text styles</a:t>
            </a:r>
          </a:p>
        </p:txBody>
      </p:sp>
      <p:sp>
        <p:nvSpPr>
          <p:cNvPr id="5" name="Content Placeholder 2"/>
          <p:cNvSpPr>
            <a:spLocks noGrp="1"/>
          </p:cNvSpPr>
          <p:nvPr>
            <p:ph idx="10"/>
          </p:nvPr>
        </p:nvSpPr>
        <p:spPr>
          <a:xfrm>
            <a:off x="405880" y="2411015"/>
            <a:ext cx="8496944" cy="3994316"/>
          </a:xfrm>
          <a:prstGeom prst="rect">
            <a:avLst/>
          </a:prstGeom>
        </p:spPr>
        <p:txBody>
          <a:bodyPr lIns="396000" anchor="t"/>
          <a:lstStyle>
            <a:lvl1pPr marL="0" indent="0">
              <a:buNone/>
              <a:defRPr sz="1400">
                <a:solidFill>
                  <a:schemeClr val="tx1">
                    <a:lumMod val="75000"/>
                    <a:lumOff val="25000"/>
                  </a:schemeClr>
                </a:solidFill>
              </a:defRPr>
            </a:lvl1pPr>
          </a:lstStyle>
          <a:p>
            <a:pPr lvl="0"/>
            <a:r>
              <a:rPr lang="en-US" altLang="ko-KR" dirty="0"/>
              <a:t>Click to edit Master text styles</a:t>
            </a:r>
          </a:p>
        </p:txBody>
      </p:sp>
    </p:spTree>
    <p:extLst>
      <p:ext uri="{BB962C8B-B14F-4D97-AF65-F5344CB8AC3E}">
        <p14:creationId xmlns:p14="http://schemas.microsoft.com/office/powerpoint/2010/main" val="1146943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5167"/>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4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6183"/>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1"/>
            <a:ext cx="2895600" cy="36618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6183"/>
          </a:xfrm>
          <a:prstGeom prst="rect">
            <a:avLst/>
          </a:prstGeom>
        </p:spPr>
        <p:txBody>
          <a:bodyPr vert="horz" lIns="91440" tIns="45720" rIns="91440" bIns="45720" rtlCol="0" anchor="ctr"/>
          <a:lstStyle>
            <a:lvl1pPr algn="r">
              <a:defRPr sz="1200">
                <a:solidFill>
                  <a:schemeClr val="tx1">
                    <a:tint val="75000"/>
                  </a:schemeClr>
                </a:solidFill>
              </a:defRPr>
            </a:lvl1pPr>
          </a:lstStyle>
          <a:p>
            <a:fld id="{0F31DC1F-5561-484E-AB46-68C682854F61}" type="slidenum">
              <a:rPr lang="en-US" smtClean="0"/>
              <a:t>‹#›</a:t>
            </a:fld>
            <a:endParaRPr lang="en-US"/>
          </a:p>
        </p:txBody>
      </p:sp>
    </p:spTree>
    <p:extLst>
      <p:ext uri="{BB962C8B-B14F-4D97-AF65-F5344CB8AC3E}">
        <p14:creationId xmlns:p14="http://schemas.microsoft.com/office/powerpoint/2010/main" val="262123990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776" r:id="rId12"/>
    <p:sldLayoutId id="2147483777" r:id="rId13"/>
    <p:sldLayoutId id="2147483778" r:id="rId14"/>
    <p:sldLayoutId id="2147483650"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3523454" y="3129354"/>
            <a:ext cx="5508104" cy="584775"/>
          </a:xfrm>
          <a:prstGeom prst="rect">
            <a:avLst/>
          </a:prstGeom>
          <a:noFill/>
          <a:ln w="9525">
            <a:noFill/>
            <a:miter lim="800000"/>
            <a:headEnd/>
            <a:tailEnd/>
          </a:ln>
        </p:spPr>
        <p:txBody>
          <a:bodyPr wrap="square">
            <a:spAutoFit/>
          </a:bodyPr>
          <a:lstStyle/>
          <a:p>
            <a:pPr algn="r"/>
            <a:r>
              <a:rPr lang="en-US" altLang="ko-KR" sz="3200" b="1" dirty="0">
                <a:solidFill>
                  <a:schemeClr val="tx1">
                    <a:lumMod val="75000"/>
                    <a:lumOff val="25000"/>
                  </a:schemeClr>
                </a:solidFill>
                <a:latin typeface="Arial" pitchFamily="34" charset="0"/>
                <a:ea typeface="맑은 고딕" pitchFamily="50" charset="-127"/>
                <a:cs typeface="Arial" pitchFamily="34" charset="0"/>
              </a:rPr>
              <a:t>Programming in Java</a:t>
            </a:r>
          </a:p>
        </p:txBody>
      </p:sp>
    </p:spTree>
    <p:extLst>
      <p:ext uri="{BB962C8B-B14F-4D97-AF65-F5344CB8AC3E}">
        <p14:creationId xmlns:p14="http://schemas.microsoft.com/office/powerpoint/2010/main" val="303447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403648" y="1628800"/>
            <a:ext cx="7884368" cy="3240360"/>
          </a:xfrm>
        </p:spPr>
        <p:txBody>
          <a:bodyPr/>
          <a:lstStyle/>
          <a:p>
            <a:pPr algn="ctr">
              <a:spcAft>
                <a:spcPts val="1800"/>
              </a:spcAft>
            </a:pPr>
            <a:br>
              <a:rPr lang="en-US" dirty="0"/>
            </a:br>
            <a:br>
              <a:rPr lang="en-US" dirty="0"/>
            </a:br>
            <a:r>
              <a:rPr lang="en-US" dirty="0"/>
              <a:t>Classes, A Closer Look at Methods and Classes</a:t>
            </a:r>
          </a:p>
        </p:txBody>
      </p:sp>
    </p:spTree>
    <p:extLst>
      <p:ext uri="{BB962C8B-B14F-4D97-AF65-F5344CB8AC3E}">
        <p14:creationId xmlns:p14="http://schemas.microsoft.com/office/powerpoint/2010/main" val="2879034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68424" y="188640"/>
            <a:ext cx="7620000" cy="1143000"/>
          </a:xfrm>
        </p:spPr>
        <p:txBody>
          <a:bodyPr/>
          <a:lstStyle/>
          <a:p>
            <a:r>
              <a:rPr lang="en-US" dirty="0">
                <a:latin typeface="Arial" pitchFamily="34" charset="0"/>
                <a:cs typeface="Arial" pitchFamily="34" charset="0"/>
              </a:rPr>
              <a:t>Outline of Class</a:t>
            </a:r>
          </a:p>
        </p:txBody>
      </p:sp>
      <p:sp>
        <p:nvSpPr>
          <p:cNvPr id="5" name="Text Placeholder 4"/>
          <p:cNvSpPr>
            <a:spLocks noGrp="1"/>
          </p:cNvSpPr>
          <p:nvPr>
            <p:ph idx="1"/>
          </p:nvPr>
        </p:nvSpPr>
        <p:spPr>
          <a:xfrm>
            <a:off x="251520" y="1196752"/>
            <a:ext cx="8784976" cy="5400600"/>
          </a:xfrm>
        </p:spPr>
        <p:txBody>
          <a:bodyPr>
            <a:normAutofit/>
          </a:bodyPr>
          <a:lstStyle/>
          <a:p>
            <a:pPr>
              <a:lnSpc>
                <a:spcPct val="150000"/>
              </a:lnSpc>
              <a:buFont typeface="Wingdings" pitchFamily="2" charset="2"/>
              <a:buChar char="§"/>
            </a:pPr>
            <a:r>
              <a:rPr lang="en-US" sz="2800" dirty="0">
                <a:latin typeface="Bookman Old Style" pitchFamily="18" charset="0"/>
              </a:rPr>
              <a:t>Introduction to Classes</a:t>
            </a:r>
          </a:p>
          <a:p>
            <a:pPr>
              <a:lnSpc>
                <a:spcPct val="150000"/>
              </a:lnSpc>
              <a:buFont typeface="Wingdings" pitchFamily="2" charset="2"/>
              <a:buChar char="§"/>
            </a:pPr>
            <a:r>
              <a:rPr lang="en-US" sz="2800" dirty="0">
                <a:latin typeface="Bookman Old Style" pitchFamily="18" charset="0"/>
              </a:rPr>
              <a:t>A close look on Objects and Methods</a:t>
            </a:r>
          </a:p>
          <a:p>
            <a:pPr>
              <a:lnSpc>
                <a:spcPct val="150000"/>
              </a:lnSpc>
            </a:pPr>
            <a:endParaRPr lang="en-US" sz="2800" dirty="0">
              <a:latin typeface="Bookman Old Style" pitchFamily="18" charset="0"/>
            </a:endParaRPr>
          </a:p>
          <a:p>
            <a:pPr>
              <a:lnSpc>
                <a:spcPct val="150000"/>
              </a:lnSpc>
            </a:pPr>
            <a:endParaRPr lang="en-US" sz="2800" dirty="0">
              <a:latin typeface="Bookman Old Style" pitchFamily="18" charset="0"/>
            </a:endParaRPr>
          </a:p>
        </p:txBody>
      </p:sp>
      <p:sp>
        <p:nvSpPr>
          <p:cNvPr id="7" name="Rectangle 6"/>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0645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432" y="188640"/>
            <a:ext cx="7620000" cy="1143000"/>
          </a:xfrm>
        </p:spPr>
        <p:txBody>
          <a:bodyPr/>
          <a:lstStyle/>
          <a:p>
            <a:r>
              <a:rPr lang="en-US" dirty="0">
                <a:latin typeface="Arial" pitchFamily="34" charset="0"/>
                <a:cs typeface="Arial" pitchFamily="34" charset="0"/>
              </a:rPr>
              <a:t>Introduction to Class</a:t>
            </a:r>
          </a:p>
        </p:txBody>
      </p:sp>
      <p:sp>
        <p:nvSpPr>
          <p:cNvPr id="3" name="Content Placeholder 2"/>
          <p:cNvSpPr>
            <a:spLocks noGrp="1"/>
          </p:cNvSpPr>
          <p:nvPr>
            <p:ph idx="1"/>
          </p:nvPr>
        </p:nvSpPr>
        <p:spPr>
          <a:xfrm>
            <a:off x="467544" y="1103114"/>
            <a:ext cx="8496944" cy="4800600"/>
          </a:xfrm>
        </p:spPr>
        <p:txBody>
          <a:bodyPr>
            <a:normAutofit/>
          </a:bodyPr>
          <a:lstStyle/>
          <a:p>
            <a:pPr algn="just" latinLnBrk="0">
              <a:buFont typeface="Wingdings" pitchFamily="2" charset="2"/>
              <a:buChar char="§"/>
            </a:pPr>
            <a:r>
              <a:rPr lang="en-US" sz="2000" dirty="0">
                <a:latin typeface="Bookman Old Style" pitchFamily="18" charset="0"/>
              </a:rPr>
              <a:t> A class defines the properties and behaviors for objects</a:t>
            </a:r>
          </a:p>
          <a:p>
            <a:pPr algn="just" latinLnBrk="0">
              <a:buFont typeface="Wingdings" pitchFamily="2" charset="2"/>
              <a:buChar char="§"/>
            </a:pPr>
            <a:r>
              <a:rPr lang="en-US" sz="2000" dirty="0">
                <a:latin typeface="Bookman Old Style" pitchFamily="18" charset="0"/>
              </a:rPr>
              <a:t> Object-oriented programming (OOP) involves programming using objects. </a:t>
            </a:r>
          </a:p>
          <a:p>
            <a:pPr lvl="1" algn="just" latinLnBrk="0"/>
            <a:r>
              <a:rPr lang="en-US" sz="2000" dirty="0">
                <a:latin typeface="Bookman Old Style" pitchFamily="18" charset="0"/>
              </a:rPr>
              <a:t>An object  represents an entity in the real world. </a:t>
            </a:r>
          </a:p>
          <a:p>
            <a:pPr lvl="1" algn="just" latinLnBrk="0"/>
            <a:r>
              <a:rPr lang="en-US" sz="2000" dirty="0">
                <a:latin typeface="Bookman Old Style" pitchFamily="18" charset="0"/>
              </a:rPr>
              <a:t>An object has a unique identity, state, and behavior.</a:t>
            </a:r>
          </a:p>
          <a:p>
            <a:pPr algn="just" latinLnBrk="0">
              <a:buFont typeface="Wingdings" pitchFamily="2" charset="2"/>
              <a:buChar char="§"/>
            </a:pPr>
            <a:r>
              <a:rPr lang="en-US" sz="2000" dirty="0">
                <a:latin typeface="Bookman Old Style" pitchFamily="18" charset="0"/>
              </a:rPr>
              <a:t>The state  of an object (also known as its properties  or attributes ) is represented by data fields  with their current values. </a:t>
            </a:r>
          </a:p>
          <a:p>
            <a:pPr algn="just" latinLnBrk="0">
              <a:buFont typeface="Wingdings" pitchFamily="2" charset="2"/>
              <a:buChar char="§"/>
            </a:pPr>
            <a:r>
              <a:rPr lang="en-US" sz="2000" dirty="0">
                <a:latin typeface="Bookman Old Style" pitchFamily="18" charset="0"/>
              </a:rPr>
              <a:t>The behavior  of an object (also known as its actions ) is defined by methods. To invoke a method on an object is to ask the object to perform an action. </a:t>
            </a:r>
          </a:p>
        </p:txBody>
      </p:sp>
      <p:sp>
        <p:nvSpPr>
          <p:cNvPr id="4" name="Rectangle 3"/>
          <p:cNvSpPr/>
          <p:nvPr/>
        </p:nvSpPr>
        <p:spPr>
          <a:xfrm>
            <a:off x="1878804" y="5332202"/>
            <a:ext cx="2189561" cy="97711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400">
              <a:latin typeface="Bookman Old Style" pitchFamily="18" charset="0"/>
            </a:endParaRPr>
          </a:p>
        </p:txBody>
      </p:sp>
      <p:sp>
        <p:nvSpPr>
          <p:cNvPr id="5" name="Oval 4"/>
          <p:cNvSpPr/>
          <p:nvPr/>
        </p:nvSpPr>
        <p:spPr>
          <a:xfrm>
            <a:off x="5158523" y="5157192"/>
            <a:ext cx="1573717" cy="151216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400" dirty="0">
              <a:latin typeface="Bookman Old Style" pitchFamily="18" charset="0"/>
            </a:endParaRPr>
          </a:p>
        </p:txBody>
      </p:sp>
      <p:sp>
        <p:nvSpPr>
          <p:cNvPr id="6" name="TextBox 5"/>
          <p:cNvSpPr txBox="1"/>
          <p:nvPr/>
        </p:nvSpPr>
        <p:spPr>
          <a:xfrm>
            <a:off x="5600410" y="4785897"/>
            <a:ext cx="690050" cy="307777"/>
          </a:xfrm>
          <a:prstGeom prst="rect">
            <a:avLst/>
          </a:prstGeom>
          <a:noFill/>
        </p:spPr>
        <p:txBody>
          <a:bodyPr wrap="none" rtlCol="0">
            <a:spAutoFit/>
          </a:bodyPr>
          <a:lstStyle/>
          <a:p>
            <a:r>
              <a:rPr lang="en-US" sz="1400" dirty="0">
                <a:latin typeface="Bookman Old Style" pitchFamily="18" charset="0"/>
              </a:rPr>
              <a:t>Circle</a:t>
            </a:r>
          </a:p>
        </p:txBody>
      </p:sp>
      <p:sp>
        <p:nvSpPr>
          <p:cNvPr id="7" name="TextBox 6"/>
          <p:cNvSpPr txBox="1"/>
          <p:nvPr/>
        </p:nvSpPr>
        <p:spPr>
          <a:xfrm>
            <a:off x="5093610" y="5441154"/>
            <a:ext cx="1725152" cy="738664"/>
          </a:xfrm>
          <a:prstGeom prst="rect">
            <a:avLst/>
          </a:prstGeom>
          <a:noFill/>
        </p:spPr>
        <p:txBody>
          <a:bodyPr wrap="none" rtlCol="0">
            <a:spAutoFit/>
          </a:bodyPr>
          <a:lstStyle/>
          <a:p>
            <a:pPr algn="ctr"/>
            <a:r>
              <a:rPr lang="en-US" sz="1400" dirty="0">
                <a:latin typeface="Bookman Old Style" pitchFamily="18" charset="0"/>
              </a:rPr>
              <a:t>data: radius</a:t>
            </a:r>
          </a:p>
          <a:p>
            <a:pPr algn="ctr"/>
            <a:endParaRPr lang="en-US" sz="1400" dirty="0">
              <a:latin typeface="Bookman Old Style" pitchFamily="18" charset="0"/>
            </a:endParaRPr>
          </a:p>
          <a:p>
            <a:pPr algn="ctr"/>
            <a:r>
              <a:rPr lang="en-US" sz="1400" dirty="0">
                <a:latin typeface="Bookman Old Style" pitchFamily="18" charset="0"/>
              </a:rPr>
              <a:t>method: </a:t>
            </a:r>
            <a:r>
              <a:rPr lang="en-US" sz="1400" dirty="0" err="1">
                <a:latin typeface="Bookman Old Style" pitchFamily="18" charset="0"/>
              </a:rPr>
              <a:t>getArea</a:t>
            </a:r>
            <a:r>
              <a:rPr lang="en-US" sz="1400" dirty="0">
                <a:latin typeface="Bookman Old Style" pitchFamily="18" charset="0"/>
              </a:rPr>
              <a:t>()</a:t>
            </a:r>
          </a:p>
        </p:txBody>
      </p:sp>
      <p:sp>
        <p:nvSpPr>
          <p:cNvPr id="8" name="TextBox 7"/>
          <p:cNvSpPr txBox="1"/>
          <p:nvPr/>
        </p:nvSpPr>
        <p:spPr>
          <a:xfrm>
            <a:off x="2442096" y="4993431"/>
            <a:ext cx="1035861" cy="307777"/>
          </a:xfrm>
          <a:prstGeom prst="rect">
            <a:avLst/>
          </a:prstGeom>
          <a:noFill/>
        </p:spPr>
        <p:txBody>
          <a:bodyPr wrap="none" rtlCol="0">
            <a:spAutoFit/>
          </a:bodyPr>
          <a:lstStyle/>
          <a:p>
            <a:r>
              <a:rPr lang="en-US" sz="1400" dirty="0">
                <a:latin typeface="Bookman Old Style" pitchFamily="18" charset="0"/>
              </a:rPr>
              <a:t>Rectangle</a:t>
            </a:r>
          </a:p>
        </p:txBody>
      </p:sp>
      <p:sp>
        <p:nvSpPr>
          <p:cNvPr id="9" name="TextBox 8"/>
          <p:cNvSpPr txBox="1"/>
          <p:nvPr/>
        </p:nvSpPr>
        <p:spPr>
          <a:xfrm>
            <a:off x="2038600" y="5433345"/>
            <a:ext cx="1845377" cy="738664"/>
          </a:xfrm>
          <a:prstGeom prst="rect">
            <a:avLst/>
          </a:prstGeom>
          <a:noFill/>
        </p:spPr>
        <p:txBody>
          <a:bodyPr wrap="none" rtlCol="0">
            <a:spAutoFit/>
          </a:bodyPr>
          <a:lstStyle/>
          <a:p>
            <a:pPr algn="ctr"/>
            <a:r>
              <a:rPr lang="en-US" sz="1400" dirty="0">
                <a:latin typeface="Bookman Old Style" pitchFamily="18" charset="0"/>
              </a:rPr>
              <a:t>data: height, width</a:t>
            </a:r>
          </a:p>
          <a:p>
            <a:pPr algn="ctr"/>
            <a:endParaRPr lang="en-US" sz="1400" dirty="0">
              <a:latin typeface="Bookman Old Style" pitchFamily="18" charset="0"/>
            </a:endParaRPr>
          </a:p>
          <a:p>
            <a:pPr algn="ctr"/>
            <a:r>
              <a:rPr lang="en-US" sz="1400" dirty="0">
                <a:latin typeface="Bookman Old Style" pitchFamily="18" charset="0"/>
              </a:rPr>
              <a:t>method: </a:t>
            </a:r>
            <a:r>
              <a:rPr lang="en-US" sz="1400" dirty="0" err="1">
                <a:latin typeface="Bookman Old Style" pitchFamily="18" charset="0"/>
              </a:rPr>
              <a:t>getArea</a:t>
            </a:r>
            <a:r>
              <a:rPr lang="en-US" sz="1400" dirty="0">
                <a:latin typeface="Bookman Old Style" pitchFamily="18" charset="0"/>
              </a:rPr>
              <a:t>()</a:t>
            </a:r>
          </a:p>
        </p:txBody>
      </p:sp>
      <p:sp>
        <p:nvSpPr>
          <p:cNvPr id="11" name="Rectangle 10"/>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02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dissolv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dissolve">
                                      <p:cBhvr>
                                        <p:cTn id="21" dur="500"/>
                                        <p:tgtEl>
                                          <p:spTgt spid="7">
                                            <p:txEl>
                                              <p:pRg st="0" end="0"/>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9">
                                            <p:txEl>
                                              <p:pRg st="0" end="0"/>
                                            </p:txEl>
                                          </p:spTgt>
                                        </p:tgtEl>
                                        <p:attrNameLst>
                                          <p:attrName>style.visibility</p:attrName>
                                        </p:attrNameLst>
                                      </p:cBhvr>
                                      <p:to>
                                        <p:strVal val="visible"/>
                                      </p:to>
                                    </p:set>
                                    <p:animEffect transition="in" filter="dissolve">
                                      <p:cBhvr>
                                        <p:cTn id="24" dur="500"/>
                                        <p:tgtEl>
                                          <p:spTgt spid="9">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9">
                                            <p:txEl>
                                              <p:pRg st="2" end="2"/>
                                            </p:txEl>
                                          </p:spTgt>
                                        </p:tgtEl>
                                        <p:attrNameLst>
                                          <p:attrName>style.visibility</p:attrName>
                                        </p:attrNameLst>
                                      </p:cBhvr>
                                      <p:to>
                                        <p:strVal val="visible"/>
                                      </p:to>
                                    </p:set>
                                    <p:animEffect transition="in" filter="dissolve">
                                      <p:cBhvr>
                                        <p:cTn id="29" dur="500"/>
                                        <p:tgtEl>
                                          <p:spTgt spid="9">
                                            <p:txEl>
                                              <p:pRg st="2" end="2"/>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7">
                                            <p:txEl>
                                              <p:pRg st="2" end="2"/>
                                            </p:txEl>
                                          </p:spTgt>
                                        </p:tgtEl>
                                        <p:attrNameLst>
                                          <p:attrName>style.visibility</p:attrName>
                                        </p:attrNameLst>
                                      </p:cBhvr>
                                      <p:to>
                                        <p:strVal val="visible"/>
                                      </p:to>
                                    </p:set>
                                    <p:animEffect transition="in" filter="dissolve">
                                      <p:cBhvr>
                                        <p:cTn id="3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424" y="188640"/>
            <a:ext cx="7620000" cy="1143000"/>
          </a:xfrm>
        </p:spPr>
        <p:txBody>
          <a:bodyPr/>
          <a:lstStyle/>
          <a:p>
            <a:r>
              <a:rPr lang="en-US" dirty="0">
                <a:latin typeface="Arial" pitchFamily="34" charset="0"/>
                <a:cs typeface="Arial" pitchFamily="34" charset="0"/>
              </a:rPr>
              <a:t>Why Use Classes?</a:t>
            </a:r>
          </a:p>
        </p:txBody>
      </p:sp>
      <p:sp>
        <p:nvSpPr>
          <p:cNvPr id="3" name="Content Placeholder 2"/>
          <p:cNvSpPr>
            <a:spLocks noGrp="1"/>
          </p:cNvSpPr>
          <p:nvPr>
            <p:ph idx="1"/>
          </p:nvPr>
        </p:nvSpPr>
        <p:spPr>
          <a:xfrm>
            <a:off x="457200" y="1340768"/>
            <a:ext cx="7620000" cy="4800600"/>
          </a:xfrm>
        </p:spPr>
        <p:txBody>
          <a:bodyPr>
            <a:noAutofit/>
          </a:bodyPr>
          <a:lstStyle/>
          <a:p>
            <a:pPr>
              <a:buFont typeface="Wingdings" pitchFamily="2" charset="2"/>
              <a:buChar char="§"/>
            </a:pPr>
            <a:r>
              <a:rPr lang="en-US" sz="2200" dirty="0">
                <a:latin typeface="Bookman Old Style" pitchFamily="18" charset="0"/>
              </a:rPr>
              <a:t>Why not just primitives? </a:t>
            </a:r>
          </a:p>
          <a:p>
            <a:pPr marL="228600" lvl="1" indent="0">
              <a:buNone/>
            </a:pPr>
            <a:r>
              <a:rPr lang="en-US" sz="2200" dirty="0">
                <a:latin typeface="Bookman Old Style" pitchFamily="18" charset="0"/>
              </a:rPr>
              <a:t>// student Alex</a:t>
            </a:r>
          </a:p>
          <a:p>
            <a:pPr marL="457200" lvl="2" indent="0">
              <a:buNone/>
            </a:pPr>
            <a:r>
              <a:rPr lang="en-US" sz="2200" dirty="0">
                <a:latin typeface="Bookman Old Style" pitchFamily="18" charset="0"/>
              </a:rPr>
              <a:t>String </a:t>
            </a:r>
            <a:r>
              <a:rPr lang="en-US" sz="2200" dirty="0" err="1">
                <a:latin typeface="Bookman Old Style" pitchFamily="18" charset="0"/>
              </a:rPr>
              <a:t>nameAlex</a:t>
            </a:r>
            <a:r>
              <a:rPr lang="en-US" sz="2200" dirty="0">
                <a:latin typeface="Bookman Old Style" pitchFamily="18" charset="0"/>
              </a:rPr>
              <a:t>;</a:t>
            </a:r>
          </a:p>
          <a:p>
            <a:pPr marL="457200" lvl="2" indent="0">
              <a:buNone/>
            </a:pPr>
            <a:r>
              <a:rPr lang="en-US" sz="2200" dirty="0" err="1">
                <a:latin typeface="Bookman Old Style" pitchFamily="18" charset="0"/>
              </a:rPr>
              <a:t>int</a:t>
            </a:r>
            <a:r>
              <a:rPr lang="en-US" sz="2200" dirty="0">
                <a:latin typeface="Bookman Old Style" pitchFamily="18" charset="0"/>
              </a:rPr>
              <a:t> </a:t>
            </a:r>
            <a:r>
              <a:rPr lang="en-US" sz="2200" dirty="0" err="1">
                <a:latin typeface="Bookman Old Style" pitchFamily="18" charset="0"/>
              </a:rPr>
              <a:t>idAlex</a:t>
            </a:r>
            <a:r>
              <a:rPr lang="en-US" sz="2200" dirty="0">
                <a:latin typeface="Bookman Old Style" pitchFamily="18" charset="0"/>
              </a:rPr>
              <a:t>;</a:t>
            </a:r>
          </a:p>
          <a:p>
            <a:pPr marL="228600" lvl="1" indent="0">
              <a:buNone/>
            </a:pPr>
            <a:r>
              <a:rPr lang="en-US" sz="2200" dirty="0">
                <a:latin typeface="Bookman Old Style" pitchFamily="18" charset="0"/>
              </a:rPr>
              <a:t>// student </a:t>
            </a:r>
            <a:r>
              <a:rPr lang="en-US" sz="2200" dirty="0" err="1">
                <a:latin typeface="Bookman Old Style" pitchFamily="18" charset="0"/>
              </a:rPr>
              <a:t>david</a:t>
            </a:r>
            <a:r>
              <a:rPr lang="en-US" sz="2200" dirty="0">
                <a:latin typeface="Bookman Old Style" pitchFamily="18" charset="0"/>
              </a:rPr>
              <a:t> </a:t>
            </a:r>
          </a:p>
          <a:p>
            <a:pPr marL="457200" lvl="2" indent="0">
              <a:buNone/>
            </a:pPr>
            <a:r>
              <a:rPr lang="en-US" sz="2200" dirty="0">
                <a:latin typeface="Bookman Old Style" pitchFamily="18" charset="0"/>
              </a:rPr>
              <a:t>String </a:t>
            </a:r>
            <a:r>
              <a:rPr lang="en-US" sz="2200" dirty="0" err="1">
                <a:latin typeface="Bookman Old Style" pitchFamily="18" charset="0"/>
              </a:rPr>
              <a:t>nameDavid</a:t>
            </a:r>
            <a:r>
              <a:rPr lang="en-US" sz="2200" dirty="0">
                <a:latin typeface="Bookman Old Style" pitchFamily="18" charset="0"/>
              </a:rPr>
              <a:t>;</a:t>
            </a:r>
          </a:p>
          <a:p>
            <a:pPr marL="457200" lvl="2" indent="0">
              <a:buNone/>
            </a:pPr>
            <a:r>
              <a:rPr lang="en-US" sz="2200" dirty="0" err="1">
                <a:latin typeface="Bookman Old Style" pitchFamily="18" charset="0"/>
              </a:rPr>
              <a:t>int</a:t>
            </a:r>
            <a:r>
              <a:rPr lang="en-US" sz="2200" dirty="0">
                <a:latin typeface="Bookman Old Style" pitchFamily="18" charset="0"/>
              </a:rPr>
              <a:t> </a:t>
            </a:r>
            <a:r>
              <a:rPr lang="en-US" sz="2200" dirty="0" err="1">
                <a:latin typeface="Bookman Old Style" pitchFamily="18" charset="0"/>
              </a:rPr>
              <a:t>idDavid</a:t>
            </a:r>
            <a:r>
              <a:rPr lang="en-US" sz="2200" dirty="0">
                <a:latin typeface="Bookman Old Style" pitchFamily="18" charset="0"/>
              </a:rPr>
              <a:t>;</a:t>
            </a:r>
          </a:p>
          <a:p>
            <a:pPr marL="228600" lvl="1" indent="0">
              <a:buNone/>
            </a:pPr>
            <a:r>
              <a:rPr lang="en-US" sz="2200" dirty="0">
                <a:latin typeface="Bookman Old Style" pitchFamily="18" charset="0"/>
              </a:rPr>
              <a:t>// student </a:t>
            </a:r>
            <a:r>
              <a:rPr lang="en-US" sz="2200" dirty="0" err="1">
                <a:latin typeface="Bookman Old Style" pitchFamily="18" charset="0"/>
              </a:rPr>
              <a:t>david</a:t>
            </a:r>
            <a:r>
              <a:rPr lang="en-US" sz="2200" dirty="0">
                <a:latin typeface="Bookman Old Style" pitchFamily="18" charset="0"/>
              </a:rPr>
              <a:t> </a:t>
            </a:r>
          </a:p>
          <a:p>
            <a:pPr marL="457200" lvl="2" indent="0">
              <a:buNone/>
            </a:pPr>
            <a:r>
              <a:rPr lang="en-US" sz="2200" dirty="0">
                <a:latin typeface="Bookman Old Style" pitchFamily="18" charset="0"/>
              </a:rPr>
              <a:t>String nameDavid2;</a:t>
            </a:r>
          </a:p>
          <a:p>
            <a:pPr marL="457200" lvl="2" indent="0">
              <a:buNone/>
            </a:pPr>
            <a:r>
              <a:rPr lang="en-US" sz="2200" dirty="0" err="1">
                <a:latin typeface="Bookman Old Style" pitchFamily="18" charset="0"/>
              </a:rPr>
              <a:t>int</a:t>
            </a:r>
            <a:r>
              <a:rPr lang="en-US" sz="2200" dirty="0">
                <a:latin typeface="Bookman Old Style" pitchFamily="18" charset="0"/>
              </a:rPr>
              <a:t> idDavid2;</a:t>
            </a:r>
          </a:p>
          <a:p>
            <a:pPr marL="228600" lvl="1" indent="0">
              <a:buNone/>
            </a:pPr>
            <a:endParaRPr lang="en-US" sz="2200" dirty="0">
              <a:latin typeface="Bookman Old Style" pitchFamily="18" charset="0"/>
            </a:endParaRPr>
          </a:p>
        </p:txBody>
      </p:sp>
      <p:sp>
        <p:nvSpPr>
          <p:cNvPr id="5" name="Rectangle 4"/>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4499992" y="5589240"/>
            <a:ext cx="504056" cy="36004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200">
              <a:latin typeface="Bookman Old Style" pitchFamily="18" charset="0"/>
            </a:endParaRPr>
          </a:p>
        </p:txBody>
      </p:sp>
      <p:sp>
        <p:nvSpPr>
          <p:cNvPr id="8" name="Rectangle 7"/>
          <p:cNvSpPr/>
          <p:nvPr/>
        </p:nvSpPr>
        <p:spPr>
          <a:xfrm>
            <a:off x="2267744" y="5579948"/>
            <a:ext cx="2250937" cy="430887"/>
          </a:xfrm>
          <a:prstGeom prst="rect">
            <a:avLst/>
          </a:prstGeom>
        </p:spPr>
        <p:txBody>
          <a:bodyPr wrap="none">
            <a:spAutoFit/>
          </a:bodyPr>
          <a:lstStyle/>
          <a:p>
            <a:r>
              <a:rPr lang="en-US" sz="2200" dirty="0">
                <a:solidFill>
                  <a:srgbClr val="FF0000"/>
                </a:solidFill>
                <a:latin typeface="Bookman Old Style" pitchFamily="18" charset="0"/>
              </a:rPr>
              <a:t>500 students? </a:t>
            </a:r>
            <a:endParaRPr lang="en-US" sz="2200" dirty="0">
              <a:latin typeface="Bookman Old Style" pitchFamily="18" charset="0"/>
            </a:endParaRPr>
          </a:p>
        </p:txBody>
      </p:sp>
      <p:sp>
        <p:nvSpPr>
          <p:cNvPr id="9" name="Rectangle 8"/>
          <p:cNvSpPr/>
          <p:nvPr/>
        </p:nvSpPr>
        <p:spPr>
          <a:xfrm>
            <a:off x="5004048" y="5590401"/>
            <a:ext cx="2069797" cy="430887"/>
          </a:xfrm>
          <a:prstGeom prst="rect">
            <a:avLst/>
          </a:prstGeom>
        </p:spPr>
        <p:txBody>
          <a:bodyPr wrap="none">
            <a:spAutoFit/>
          </a:bodyPr>
          <a:lstStyle/>
          <a:p>
            <a:pPr marL="228600" lvl="1" indent="0">
              <a:buNone/>
            </a:pPr>
            <a:r>
              <a:rPr lang="en-US" sz="2200" dirty="0">
                <a:solidFill>
                  <a:srgbClr val="FF0000"/>
                </a:solidFill>
                <a:latin typeface="Bookman Old Style" pitchFamily="18" charset="0"/>
              </a:rPr>
              <a:t>That Sucks!</a:t>
            </a:r>
          </a:p>
        </p:txBody>
      </p:sp>
    </p:spTree>
    <p:extLst>
      <p:ext uri="{BB962C8B-B14F-4D97-AF65-F5344CB8AC3E}">
        <p14:creationId xmlns:p14="http://schemas.microsoft.com/office/powerpoint/2010/main" val="2136121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768424" y="116632"/>
            <a:ext cx="7620000" cy="1143000"/>
          </a:xfrm>
        </p:spPr>
        <p:txBody>
          <a:bodyPr/>
          <a:lstStyle/>
          <a:p>
            <a:r>
              <a:rPr lang="en-US" dirty="0">
                <a:latin typeface="Arial" pitchFamily="34" charset="0"/>
                <a:cs typeface="Arial" pitchFamily="34" charset="0"/>
              </a:rPr>
              <a:t>Why Use Classes?</a:t>
            </a:r>
          </a:p>
        </p:txBody>
      </p:sp>
      <p:sp>
        <p:nvSpPr>
          <p:cNvPr id="6" name="TextBox 5"/>
          <p:cNvSpPr txBox="1"/>
          <p:nvPr/>
        </p:nvSpPr>
        <p:spPr>
          <a:xfrm>
            <a:off x="3791697" y="3025081"/>
            <a:ext cx="1584088" cy="523220"/>
          </a:xfrm>
          <a:prstGeom prst="rect">
            <a:avLst/>
          </a:prstGeom>
          <a:solidFill>
            <a:srgbClr val="FFFFFF"/>
          </a:solidFill>
        </p:spPr>
        <p:txBody>
          <a:bodyPr wrap="none" rtlCol="0">
            <a:spAutoFit/>
          </a:bodyPr>
          <a:lstStyle/>
          <a:p>
            <a:r>
              <a:rPr lang="en-US" sz="2800" dirty="0">
                <a:latin typeface="Bookman Old Style" pitchFamily="18" charset="0"/>
              </a:rPr>
              <a:t>Student</a:t>
            </a:r>
          </a:p>
        </p:txBody>
      </p:sp>
      <p:sp>
        <p:nvSpPr>
          <p:cNvPr id="3" name="Oval 2"/>
          <p:cNvSpPr/>
          <p:nvPr/>
        </p:nvSpPr>
        <p:spPr>
          <a:xfrm>
            <a:off x="3448111" y="1100960"/>
            <a:ext cx="2014058" cy="163773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Bookman Old Style" pitchFamily="18" charset="0"/>
              </a:rPr>
              <a:t>Name</a:t>
            </a:r>
          </a:p>
          <a:p>
            <a:pPr algn="ctr"/>
            <a:r>
              <a:rPr lang="en-US" dirty="0">
                <a:latin typeface="Bookman Old Style" pitchFamily="18" charset="0"/>
              </a:rPr>
              <a:t>ID</a:t>
            </a:r>
          </a:p>
          <a:p>
            <a:pPr algn="ctr"/>
            <a:r>
              <a:rPr lang="en-US" dirty="0">
                <a:latin typeface="Bookman Old Style" pitchFamily="18" charset="0"/>
              </a:rPr>
              <a:t>Sex</a:t>
            </a:r>
          </a:p>
          <a:p>
            <a:pPr algn="ctr"/>
            <a:r>
              <a:rPr lang="en-US" dirty="0">
                <a:latin typeface="Bookman Old Style" pitchFamily="18" charset="0"/>
              </a:rPr>
              <a:t>…</a:t>
            </a:r>
          </a:p>
        </p:txBody>
      </p:sp>
      <p:sp>
        <p:nvSpPr>
          <p:cNvPr id="10" name="TextBox 9"/>
          <p:cNvSpPr txBox="1"/>
          <p:nvPr/>
        </p:nvSpPr>
        <p:spPr>
          <a:xfrm>
            <a:off x="467544" y="6021975"/>
            <a:ext cx="1806905" cy="523220"/>
          </a:xfrm>
          <a:prstGeom prst="rect">
            <a:avLst/>
          </a:prstGeom>
          <a:solidFill>
            <a:srgbClr val="FFFFFF"/>
          </a:solidFill>
        </p:spPr>
        <p:txBody>
          <a:bodyPr wrap="none" rtlCol="0">
            <a:spAutoFit/>
          </a:bodyPr>
          <a:lstStyle/>
          <a:p>
            <a:r>
              <a:rPr lang="en-US" sz="2800" dirty="0">
                <a:latin typeface="Bookman Old Style" pitchFamily="18" charset="0"/>
              </a:rPr>
              <a:t>Student1</a:t>
            </a:r>
          </a:p>
        </p:txBody>
      </p:sp>
      <p:sp>
        <p:nvSpPr>
          <p:cNvPr id="11" name="Oval 10"/>
          <p:cNvSpPr/>
          <p:nvPr/>
        </p:nvSpPr>
        <p:spPr>
          <a:xfrm>
            <a:off x="275420" y="4170424"/>
            <a:ext cx="2014058" cy="163773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Bookman Old Style" pitchFamily="18" charset="0"/>
              </a:rPr>
              <a:t>Name</a:t>
            </a:r>
          </a:p>
          <a:p>
            <a:pPr algn="ctr"/>
            <a:r>
              <a:rPr lang="en-US" dirty="0">
                <a:latin typeface="Bookman Old Style" pitchFamily="18" charset="0"/>
              </a:rPr>
              <a:t>ID</a:t>
            </a:r>
          </a:p>
          <a:p>
            <a:pPr algn="ctr"/>
            <a:r>
              <a:rPr lang="en-US" dirty="0">
                <a:latin typeface="Bookman Old Style" pitchFamily="18" charset="0"/>
              </a:rPr>
              <a:t>Sex</a:t>
            </a:r>
          </a:p>
          <a:p>
            <a:pPr algn="ctr"/>
            <a:r>
              <a:rPr lang="en-US" dirty="0">
                <a:latin typeface="Bookman Old Style" pitchFamily="18" charset="0"/>
              </a:rPr>
              <a:t>…</a:t>
            </a:r>
          </a:p>
        </p:txBody>
      </p:sp>
      <p:sp>
        <p:nvSpPr>
          <p:cNvPr id="12" name="TextBox 11"/>
          <p:cNvSpPr txBox="1"/>
          <p:nvPr/>
        </p:nvSpPr>
        <p:spPr>
          <a:xfrm>
            <a:off x="2954086" y="6016047"/>
            <a:ext cx="1806905" cy="523220"/>
          </a:xfrm>
          <a:prstGeom prst="rect">
            <a:avLst/>
          </a:prstGeom>
          <a:solidFill>
            <a:srgbClr val="FFFFFF"/>
          </a:solidFill>
        </p:spPr>
        <p:txBody>
          <a:bodyPr wrap="none" rtlCol="0">
            <a:spAutoFit/>
          </a:bodyPr>
          <a:lstStyle/>
          <a:p>
            <a:r>
              <a:rPr lang="en-US" sz="2800" dirty="0">
                <a:latin typeface="Bookman Old Style" pitchFamily="18" charset="0"/>
              </a:rPr>
              <a:t>Student2</a:t>
            </a:r>
          </a:p>
        </p:txBody>
      </p:sp>
      <p:sp>
        <p:nvSpPr>
          <p:cNvPr id="13" name="Oval 12"/>
          <p:cNvSpPr/>
          <p:nvPr/>
        </p:nvSpPr>
        <p:spPr>
          <a:xfrm>
            <a:off x="2784668" y="4222552"/>
            <a:ext cx="2014058" cy="163773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Bookman Old Style" pitchFamily="18" charset="0"/>
              </a:rPr>
              <a:t>Name</a:t>
            </a:r>
          </a:p>
          <a:p>
            <a:pPr algn="ctr"/>
            <a:r>
              <a:rPr lang="en-US" dirty="0">
                <a:latin typeface="Bookman Old Style" pitchFamily="18" charset="0"/>
              </a:rPr>
              <a:t>ID</a:t>
            </a:r>
          </a:p>
          <a:p>
            <a:pPr algn="ctr"/>
            <a:r>
              <a:rPr lang="en-US" dirty="0">
                <a:latin typeface="Bookman Old Style" pitchFamily="18" charset="0"/>
              </a:rPr>
              <a:t>Sex</a:t>
            </a:r>
          </a:p>
          <a:p>
            <a:pPr algn="ctr"/>
            <a:r>
              <a:rPr lang="en-US" dirty="0">
                <a:latin typeface="Bookman Old Style" pitchFamily="18" charset="0"/>
              </a:rPr>
              <a:t>…</a:t>
            </a:r>
          </a:p>
        </p:txBody>
      </p:sp>
      <p:sp>
        <p:nvSpPr>
          <p:cNvPr id="14" name="TextBox 13"/>
          <p:cNvSpPr txBox="1"/>
          <p:nvPr/>
        </p:nvSpPr>
        <p:spPr>
          <a:xfrm>
            <a:off x="5368506" y="6007336"/>
            <a:ext cx="1806905" cy="523220"/>
          </a:xfrm>
          <a:prstGeom prst="rect">
            <a:avLst/>
          </a:prstGeom>
          <a:solidFill>
            <a:srgbClr val="FFFFFF"/>
          </a:solidFill>
        </p:spPr>
        <p:txBody>
          <a:bodyPr wrap="none" rtlCol="0">
            <a:spAutoFit/>
          </a:bodyPr>
          <a:lstStyle/>
          <a:p>
            <a:r>
              <a:rPr lang="en-US" sz="2800" dirty="0">
                <a:latin typeface="Bookman Old Style" pitchFamily="18" charset="0"/>
              </a:rPr>
              <a:t>Student3</a:t>
            </a:r>
          </a:p>
        </p:txBody>
      </p:sp>
      <p:sp>
        <p:nvSpPr>
          <p:cNvPr id="15" name="Oval 14"/>
          <p:cNvSpPr/>
          <p:nvPr/>
        </p:nvSpPr>
        <p:spPr>
          <a:xfrm>
            <a:off x="5126518" y="4170424"/>
            <a:ext cx="2014058" cy="163773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Bookman Old Style" pitchFamily="18" charset="0"/>
              </a:rPr>
              <a:t>Name</a:t>
            </a:r>
          </a:p>
          <a:p>
            <a:pPr algn="ctr"/>
            <a:r>
              <a:rPr lang="en-US" dirty="0">
                <a:latin typeface="Bookman Old Style" pitchFamily="18" charset="0"/>
              </a:rPr>
              <a:t>ID</a:t>
            </a:r>
          </a:p>
          <a:p>
            <a:pPr algn="ctr"/>
            <a:r>
              <a:rPr lang="en-US" dirty="0">
                <a:latin typeface="Bookman Old Style" pitchFamily="18" charset="0"/>
              </a:rPr>
              <a:t>Sex</a:t>
            </a:r>
          </a:p>
          <a:p>
            <a:pPr algn="ctr"/>
            <a:r>
              <a:rPr lang="en-US" dirty="0">
                <a:latin typeface="Bookman Old Style" pitchFamily="18" charset="0"/>
              </a:rPr>
              <a:t>…</a:t>
            </a:r>
          </a:p>
        </p:txBody>
      </p:sp>
      <p:sp>
        <p:nvSpPr>
          <p:cNvPr id="16" name="TextBox 15"/>
          <p:cNvSpPr txBox="1"/>
          <p:nvPr/>
        </p:nvSpPr>
        <p:spPr>
          <a:xfrm>
            <a:off x="7351076" y="4586887"/>
            <a:ext cx="1770036" cy="954107"/>
          </a:xfrm>
          <a:prstGeom prst="rect">
            <a:avLst/>
          </a:prstGeom>
          <a:solidFill>
            <a:srgbClr val="FFFFFF"/>
          </a:solidFill>
        </p:spPr>
        <p:txBody>
          <a:bodyPr wrap="none" rtlCol="0">
            <a:spAutoFit/>
          </a:bodyPr>
          <a:lstStyle/>
          <a:p>
            <a:pPr algn="ctr"/>
            <a:r>
              <a:rPr lang="en-US" sz="2800" dirty="0">
                <a:latin typeface="Bookman Old Style" pitchFamily="18" charset="0"/>
              </a:rPr>
              <a:t>… 497 </a:t>
            </a:r>
          </a:p>
          <a:p>
            <a:pPr algn="ctr"/>
            <a:r>
              <a:rPr lang="en-US" sz="2800" dirty="0">
                <a:latin typeface="Bookman Old Style" pitchFamily="18" charset="0"/>
              </a:rPr>
              <a:t>Students</a:t>
            </a:r>
          </a:p>
        </p:txBody>
      </p:sp>
      <p:sp>
        <p:nvSpPr>
          <p:cNvPr id="17" name="Rectangle 16"/>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
        <p:nvSpPr>
          <p:cNvPr id="18" name="Rectangle 17"/>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Tree>
    <p:extLst>
      <p:ext uri="{BB962C8B-B14F-4D97-AF65-F5344CB8AC3E}">
        <p14:creationId xmlns:p14="http://schemas.microsoft.com/office/powerpoint/2010/main" val="3679395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415827" y="854089"/>
            <a:ext cx="6831839" cy="526297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600" dirty="0">
                <a:latin typeface="Bookman Old Style" pitchFamily="18" charset="0"/>
              </a:rPr>
              <a:t>class Box {</a:t>
            </a:r>
          </a:p>
          <a:p>
            <a:endParaRPr lang="en-US" sz="1600" dirty="0">
              <a:latin typeface="Bookman Old Style" pitchFamily="18" charset="0"/>
            </a:endParaRPr>
          </a:p>
          <a:p>
            <a:pPr lvl="1"/>
            <a:r>
              <a:rPr lang="en-US" sz="1600" dirty="0">
                <a:latin typeface="Bookman Old Style" pitchFamily="18" charset="0"/>
              </a:rPr>
              <a:t>double width;</a:t>
            </a:r>
          </a:p>
          <a:p>
            <a:pPr lvl="1"/>
            <a:r>
              <a:rPr lang="en-US" sz="1600" dirty="0">
                <a:latin typeface="Bookman Old Style" pitchFamily="18" charset="0"/>
              </a:rPr>
              <a:t>double height;</a:t>
            </a:r>
          </a:p>
          <a:p>
            <a:pPr lvl="1"/>
            <a:r>
              <a:rPr lang="en-US" sz="1600" dirty="0">
                <a:latin typeface="Bookman Old Style" pitchFamily="18" charset="0"/>
              </a:rPr>
              <a:t>double depth;</a:t>
            </a:r>
          </a:p>
          <a:p>
            <a:pPr lvl="1"/>
            <a:r>
              <a:rPr lang="en-US" sz="1600" dirty="0">
                <a:latin typeface="Bookman Old Style" pitchFamily="18" charset="0"/>
              </a:rPr>
              <a:t>/** construct a box object using default constructor*/</a:t>
            </a:r>
          </a:p>
          <a:p>
            <a:pPr lvl="1"/>
            <a:r>
              <a:rPr lang="en-US" sz="1600" dirty="0">
                <a:latin typeface="Bookman Old Style" pitchFamily="18" charset="0"/>
              </a:rPr>
              <a:t>Box(){</a:t>
            </a:r>
          </a:p>
          <a:p>
            <a:pPr lvl="1"/>
            <a:r>
              <a:rPr lang="en-US" sz="1600" dirty="0">
                <a:latin typeface="Bookman Old Style" pitchFamily="18" charset="0"/>
              </a:rPr>
              <a:t>}</a:t>
            </a:r>
          </a:p>
          <a:p>
            <a:pPr lvl="1"/>
            <a:endParaRPr lang="en-US" sz="1600" dirty="0">
              <a:latin typeface="Bookman Old Style" pitchFamily="18" charset="0"/>
            </a:endParaRPr>
          </a:p>
          <a:p>
            <a:pPr lvl="1"/>
            <a:r>
              <a:rPr lang="en-US" sz="1600" dirty="0">
                <a:latin typeface="Bookman Old Style" pitchFamily="18" charset="0"/>
              </a:rPr>
              <a:t>/* construct a box object using constructor parameterized*/</a:t>
            </a:r>
          </a:p>
          <a:p>
            <a:pPr lvl="1"/>
            <a:r>
              <a:rPr lang="en-US" sz="1600" dirty="0">
                <a:latin typeface="Bookman Old Style" pitchFamily="18" charset="0"/>
              </a:rPr>
              <a:t>Box(double w, double h, double d)</a:t>
            </a:r>
          </a:p>
          <a:p>
            <a:pPr lvl="1"/>
            <a:r>
              <a:rPr lang="en-US" sz="1600" dirty="0">
                <a:latin typeface="Bookman Old Style" pitchFamily="18" charset="0"/>
              </a:rPr>
              <a:t>{</a:t>
            </a:r>
          </a:p>
          <a:p>
            <a:pPr lvl="1"/>
            <a:r>
              <a:rPr lang="en-US" sz="1600" dirty="0">
                <a:latin typeface="Bookman Old Style" pitchFamily="18" charset="0"/>
              </a:rPr>
              <a:t>	width=w;</a:t>
            </a:r>
          </a:p>
          <a:p>
            <a:pPr lvl="1"/>
            <a:r>
              <a:rPr lang="en-US" sz="1600" dirty="0">
                <a:latin typeface="Bookman Old Style" pitchFamily="18" charset="0"/>
              </a:rPr>
              <a:t>	height=h;</a:t>
            </a:r>
          </a:p>
          <a:p>
            <a:pPr lvl="1"/>
            <a:r>
              <a:rPr lang="en-US" sz="1600" dirty="0">
                <a:latin typeface="Bookman Old Style" pitchFamily="18" charset="0"/>
              </a:rPr>
              <a:t>	depth=d;</a:t>
            </a:r>
          </a:p>
          <a:p>
            <a:pPr lvl="1"/>
            <a:r>
              <a:rPr lang="en-US" sz="1600" dirty="0">
                <a:latin typeface="Bookman Old Style" pitchFamily="18" charset="0"/>
              </a:rPr>
              <a:t>}</a:t>
            </a:r>
          </a:p>
          <a:p>
            <a:pPr lvl="1"/>
            <a:r>
              <a:rPr lang="en-US" sz="1600" dirty="0">
                <a:latin typeface="Bookman Old Style" pitchFamily="18" charset="0"/>
              </a:rPr>
              <a:t>double volume( )</a:t>
            </a:r>
          </a:p>
          <a:p>
            <a:pPr lvl="1"/>
            <a:r>
              <a:rPr lang="en-US" sz="1600" dirty="0">
                <a:latin typeface="Bookman Old Style" pitchFamily="18" charset="0"/>
              </a:rPr>
              <a:t>{</a:t>
            </a:r>
          </a:p>
          <a:p>
            <a:pPr lvl="1"/>
            <a:r>
              <a:rPr lang="en-US" sz="1600" dirty="0">
                <a:latin typeface="Bookman Old Style" pitchFamily="18" charset="0"/>
              </a:rPr>
              <a:t>	return width*height*depth;</a:t>
            </a:r>
          </a:p>
          <a:p>
            <a:pPr lvl="1"/>
            <a:r>
              <a:rPr lang="en-US" sz="1600" dirty="0">
                <a:latin typeface="Bookman Old Style" pitchFamily="18" charset="0"/>
              </a:rPr>
              <a:t>}</a:t>
            </a:r>
          </a:p>
          <a:p>
            <a:pPr lvl="1"/>
            <a:r>
              <a:rPr lang="en-US" sz="1600" dirty="0">
                <a:latin typeface="Bookman Old Style" pitchFamily="18" charset="0"/>
              </a:rPr>
              <a:t>}</a:t>
            </a:r>
          </a:p>
        </p:txBody>
      </p:sp>
      <p:sp>
        <p:nvSpPr>
          <p:cNvPr id="2" name="Title 1"/>
          <p:cNvSpPr>
            <a:spLocks noGrp="1"/>
          </p:cNvSpPr>
          <p:nvPr>
            <p:ph type="title"/>
          </p:nvPr>
        </p:nvSpPr>
        <p:spPr>
          <a:xfrm>
            <a:off x="696416" y="-99392"/>
            <a:ext cx="7620000" cy="1143000"/>
          </a:xfrm>
        </p:spPr>
        <p:txBody>
          <a:bodyPr>
            <a:normAutofit/>
          </a:bodyPr>
          <a:lstStyle/>
          <a:p>
            <a:r>
              <a:rPr lang="en-US" sz="3600" dirty="0">
                <a:latin typeface="Arial" pitchFamily="34" charset="0"/>
                <a:cs typeface="Arial" pitchFamily="34" charset="0"/>
              </a:rPr>
              <a:t>Defining Classes</a:t>
            </a:r>
          </a:p>
        </p:txBody>
      </p:sp>
      <p:sp>
        <p:nvSpPr>
          <p:cNvPr id="7" name="TextBox 6"/>
          <p:cNvSpPr txBox="1"/>
          <p:nvPr/>
        </p:nvSpPr>
        <p:spPr>
          <a:xfrm>
            <a:off x="2987824" y="6237312"/>
            <a:ext cx="2988319" cy="461665"/>
          </a:xfrm>
          <a:prstGeom prst="rect">
            <a:avLst/>
          </a:prstGeom>
          <a:solidFill>
            <a:schemeClr val="bg1"/>
          </a:solidFill>
        </p:spPr>
        <p:txBody>
          <a:bodyPr wrap="none" rtlCol="0">
            <a:spAutoFit/>
          </a:bodyPr>
          <a:lstStyle/>
          <a:p>
            <a:r>
              <a:rPr lang="en-US" sz="2400" b="1" dirty="0">
                <a:latin typeface="Bookman Old Style" pitchFamily="18" charset="0"/>
              </a:rPr>
              <a:t>Sample Box Class</a:t>
            </a:r>
          </a:p>
        </p:txBody>
      </p:sp>
      <p:cxnSp>
        <p:nvCxnSpPr>
          <p:cNvPr id="10" name="Straight Arrow Connector 9"/>
          <p:cNvCxnSpPr>
            <a:stCxn id="27" idx="1"/>
          </p:cNvCxnSpPr>
          <p:nvPr/>
        </p:nvCxnSpPr>
        <p:spPr>
          <a:xfrm flipH="1">
            <a:off x="2686025" y="1753131"/>
            <a:ext cx="4758241" cy="0"/>
          </a:xfrm>
          <a:prstGeom prst="straightConnector1">
            <a:avLst/>
          </a:prstGeom>
          <a:ln w="12700" cmpd="sng">
            <a:tailEnd type="arrow"/>
          </a:ln>
        </p:spPr>
        <p:style>
          <a:lnRef idx="2">
            <a:schemeClr val="accent1"/>
          </a:lnRef>
          <a:fillRef idx="0">
            <a:schemeClr val="accent1"/>
          </a:fillRef>
          <a:effectRef idx="1">
            <a:schemeClr val="accent1"/>
          </a:effectRef>
          <a:fontRef idx="minor">
            <a:schemeClr val="tx1"/>
          </a:fontRef>
        </p:style>
      </p:cxnSp>
      <p:sp>
        <p:nvSpPr>
          <p:cNvPr id="14" name="Right Bracket 13"/>
          <p:cNvSpPr/>
          <p:nvPr/>
        </p:nvSpPr>
        <p:spPr>
          <a:xfrm>
            <a:off x="2517445" y="1438466"/>
            <a:ext cx="168579" cy="674281"/>
          </a:xfrm>
          <a:prstGeom prst="rightBracket">
            <a:avLst/>
          </a:prstGeom>
          <a:ln w="12700" cmpd="sng"/>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8" name="Straight Arrow Connector 17"/>
          <p:cNvCxnSpPr>
            <a:stCxn id="28" idx="1"/>
            <a:endCxn id="19" idx="2"/>
          </p:cNvCxnSpPr>
          <p:nvPr/>
        </p:nvCxnSpPr>
        <p:spPr>
          <a:xfrm flipH="1" flipV="1">
            <a:off x="7032553" y="3551847"/>
            <a:ext cx="411713" cy="4016"/>
          </a:xfrm>
          <a:prstGeom prst="straightConnector1">
            <a:avLst/>
          </a:prstGeom>
          <a:ln w="12700" cmpd="sng">
            <a:tailEnd type="arrow"/>
          </a:ln>
        </p:spPr>
        <p:style>
          <a:lnRef idx="2">
            <a:schemeClr val="accent1"/>
          </a:lnRef>
          <a:fillRef idx="0">
            <a:schemeClr val="accent1"/>
          </a:fillRef>
          <a:effectRef idx="1">
            <a:schemeClr val="accent1"/>
          </a:effectRef>
          <a:fontRef idx="minor">
            <a:schemeClr val="tx1"/>
          </a:fontRef>
        </p:style>
      </p:cxnSp>
      <p:sp>
        <p:nvSpPr>
          <p:cNvPr id="19" name="Right Bracket 18"/>
          <p:cNvSpPr/>
          <p:nvPr/>
        </p:nvSpPr>
        <p:spPr>
          <a:xfrm>
            <a:off x="6948264" y="2304815"/>
            <a:ext cx="84289" cy="2494063"/>
          </a:xfrm>
          <a:prstGeom prst="rightBracket">
            <a:avLst/>
          </a:prstGeom>
          <a:ln w="12700" cmpd="sng"/>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Straight Arrow Connector 22"/>
          <p:cNvCxnSpPr>
            <a:stCxn id="29" idx="1"/>
            <a:endCxn id="24" idx="2"/>
          </p:cNvCxnSpPr>
          <p:nvPr/>
        </p:nvCxnSpPr>
        <p:spPr>
          <a:xfrm flipH="1" flipV="1">
            <a:off x="5650481" y="5379980"/>
            <a:ext cx="1808299" cy="5420"/>
          </a:xfrm>
          <a:prstGeom prst="straightConnector1">
            <a:avLst/>
          </a:prstGeom>
          <a:ln w="12700" cmpd="sng">
            <a:tailEnd type="arrow"/>
          </a:ln>
        </p:spPr>
        <p:style>
          <a:lnRef idx="2">
            <a:schemeClr val="accent1"/>
          </a:lnRef>
          <a:fillRef idx="0">
            <a:schemeClr val="accent1"/>
          </a:fillRef>
          <a:effectRef idx="1">
            <a:schemeClr val="accent1"/>
          </a:effectRef>
          <a:fontRef idx="minor">
            <a:schemeClr val="tx1"/>
          </a:fontRef>
        </p:style>
      </p:cxnSp>
      <p:sp>
        <p:nvSpPr>
          <p:cNvPr id="24" name="Right Bracket 23"/>
          <p:cNvSpPr/>
          <p:nvPr/>
        </p:nvSpPr>
        <p:spPr>
          <a:xfrm>
            <a:off x="5481902" y="4725144"/>
            <a:ext cx="168579" cy="1309671"/>
          </a:xfrm>
          <a:prstGeom prst="rightBracket">
            <a:avLst/>
          </a:prstGeom>
          <a:ln w="12700" cmpd="sng"/>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Bookman Old Style" pitchFamily="18" charset="0"/>
            </a:endParaRPr>
          </a:p>
        </p:txBody>
      </p:sp>
      <p:sp>
        <p:nvSpPr>
          <p:cNvPr id="27" name="TextBox 26"/>
          <p:cNvSpPr txBox="1"/>
          <p:nvPr/>
        </p:nvSpPr>
        <p:spPr>
          <a:xfrm>
            <a:off x="7444266" y="1568465"/>
            <a:ext cx="1394934" cy="369332"/>
          </a:xfrm>
          <a:prstGeom prst="rect">
            <a:avLst/>
          </a:prstGeom>
          <a:noFill/>
        </p:spPr>
        <p:txBody>
          <a:bodyPr wrap="none" rtlCol="0">
            <a:spAutoFit/>
          </a:bodyPr>
          <a:lstStyle/>
          <a:p>
            <a:r>
              <a:rPr lang="en-US" dirty="0">
                <a:latin typeface="Bookman Old Style" pitchFamily="18" charset="0"/>
              </a:rPr>
              <a:t>Data fields</a:t>
            </a:r>
          </a:p>
        </p:txBody>
      </p:sp>
      <p:sp>
        <p:nvSpPr>
          <p:cNvPr id="28" name="TextBox 27"/>
          <p:cNvSpPr txBox="1"/>
          <p:nvPr/>
        </p:nvSpPr>
        <p:spPr>
          <a:xfrm>
            <a:off x="7444266" y="3371197"/>
            <a:ext cx="1664238" cy="369332"/>
          </a:xfrm>
          <a:prstGeom prst="rect">
            <a:avLst/>
          </a:prstGeom>
          <a:noFill/>
        </p:spPr>
        <p:txBody>
          <a:bodyPr wrap="none" rtlCol="0">
            <a:spAutoFit/>
          </a:bodyPr>
          <a:lstStyle/>
          <a:p>
            <a:r>
              <a:rPr lang="en-US" dirty="0">
                <a:latin typeface="Bookman Old Style" pitchFamily="18" charset="0"/>
              </a:rPr>
              <a:t>Constructors</a:t>
            </a:r>
          </a:p>
        </p:txBody>
      </p:sp>
      <p:sp>
        <p:nvSpPr>
          <p:cNvPr id="29" name="TextBox 28"/>
          <p:cNvSpPr txBox="1"/>
          <p:nvPr/>
        </p:nvSpPr>
        <p:spPr>
          <a:xfrm>
            <a:off x="7458780" y="5200734"/>
            <a:ext cx="1029449" cy="369332"/>
          </a:xfrm>
          <a:prstGeom prst="rect">
            <a:avLst/>
          </a:prstGeom>
          <a:noFill/>
        </p:spPr>
        <p:txBody>
          <a:bodyPr wrap="none" rtlCol="0">
            <a:spAutoFit/>
          </a:bodyPr>
          <a:lstStyle/>
          <a:p>
            <a:r>
              <a:rPr lang="en-US" dirty="0">
                <a:latin typeface="Bookman Old Style" pitchFamily="18" charset="0"/>
              </a:rPr>
              <a:t>Method</a:t>
            </a:r>
          </a:p>
        </p:txBody>
      </p:sp>
      <p:sp>
        <p:nvSpPr>
          <p:cNvPr id="17" name="Rectangle 16"/>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
        <p:nvSpPr>
          <p:cNvPr id="20" name="Rectangle 19"/>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Tree>
    <p:extLst>
      <p:ext uri="{BB962C8B-B14F-4D97-AF65-F5344CB8AC3E}">
        <p14:creationId xmlns:p14="http://schemas.microsoft.com/office/powerpoint/2010/main" val="3683634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432" y="160174"/>
            <a:ext cx="7620000" cy="1143000"/>
          </a:xfrm>
        </p:spPr>
        <p:txBody>
          <a:bodyPr/>
          <a:lstStyle/>
          <a:p>
            <a:r>
              <a:rPr lang="en-US" dirty="0"/>
              <a:t>Constructors- Creating Objects</a:t>
            </a:r>
          </a:p>
        </p:txBody>
      </p:sp>
      <p:sp>
        <p:nvSpPr>
          <p:cNvPr id="3" name="Content Placeholder 2"/>
          <p:cNvSpPr>
            <a:spLocks noGrp="1"/>
          </p:cNvSpPr>
          <p:nvPr>
            <p:ph idx="1"/>
          </p:nvPr>
        </p:nvSpPr>
        <p:spPr>
          <a:xfrm>
            <a:off x="280964" y="1364704"/>
            <a:ext cx="8539507" cy="4800600"/>
          </a:xfrm>
        </p:spPr>
        <p:txBody>
          <a:bodyPr>
            <a:normAutofit fontScale="92500" lnSpcReduction="20000"/>
          </a:bodyPr>
          <a:lstStyle/>
          <a:p>
            <a:pPr latinLnBrk="0">
              <a:lnSpc>
                <a:spcPct val="150000"/>
              </a:lnSpc>
              <a:spcBef>
                <a:spcPts val="0"/>
              </a:spcBef>
              <a:buFont typeface="Wingdings" pitchFamily="2" charset="2"/>
              <a:buChar char="§"/>
            </a:pPr>
            <a:r>
              <a:rPr lang="en-US" sz="2000" dirty="0">
                <a:latin typeface="Bookman Old Style" pitchFamily="18" charset="0"/>
              </a:rPr>
              <a:t>Constructors are a special kind of method. They have three peculiarities:</a:t>
            </a:r>
          </a:p>
          <a:p>
            <a:pPr lvl="1" latinLnBrk="0">
              <a:lnSpc>
                <a:spcPct val="150000"/>
              </a:lnSpc>
              <a:spcBef>
                <a:spcPts val="0"/>
              </a:spcBef>
            </a:pPr>
            <a:r>
              <a:rPr lang="en-US" sz="2000" dirty="0">
                <a:latin typeface="Bookman Old Style" pitchFamily="18" charset="0"/>
              </a:rPr>
              <a:t>A constructor must have the same name as the class itself</a:t>
            </a:r>
          </a:p>
          <a:p>
            <a:pPr lvl="1" latinLnBrk="0">
              <a:lnSpc>
                <a:spcPct val="150000"/>
              </a:lnSpc>
              <a:spcBef>
                <a:spcPts val="0"/>
              </a:spcBef>
            </a:pPr>
            <a:r>
              <a:rPr lang="en-US" sz="2000" dirty="0">
                <a:latin typeface="Bookman Old Style" pitchFamily="18" charset="0"/>
              </a:rPr>
              <a:t>Constructors do not have a return type—not even void .</a:t>
            </a:r>
          </a:p>
          <a:p>
            <a:pPr lvl="1" latinLnBrk="0">
              <a:lnSpc>
                <a:spcPct val="150000"/>
              </a:lnSpc>
              <a:spcBef>
                <a:spcPts val="0"/>
              </a:spcBef>
            </a:pPr>
            <a:r>
              <a:rPr lang="en-US" sz="2000" dirty="0">
                <a:latin typeface="Bookman Old Style" pitchFamily="18" charset="0"/>
              </a:rPr>
              <a:t>Constructors are invoked using the new  operator when an object is created. Constructors play the role of initializing objects.</a:t>
            </a:r>
          </a:p>
          <a:p>
            <a:pPr latinLnBrk="0">
              <a:lnSpc>
                <a:spcPct val="150000"/>
              </a:lnSpc>
              <a:spcBef>
                <a:spcPts val="0"/>
              </a:spcBef>
              <a:buFont typeface="Wingdings" pitchFamily="2" charset="2"/>
              <a:buChar char="§"/>
            </a:pPr>
            <a:r>
              <a:rPr lang="en-US" sz="2000" dirty="0">
                <a:latin typeface="Bookman Old Style" pitchFamily="18" charset="0"/>
              </a:rPr>
              <a:t>Two types</a:t>
            </a:r>
          </a:p>
          <a:p>
            <a:pPr lvl="1" latinLnBrk="0">
              <a:lnSpc>
                <a:spcPct val="150000"/>
              </a:lnSpc>
              <a:spcBef>
                <a:spcPts val="0"/>
              </a:spcBef>
            </a:pPr>
            <a:r>
              <a:rPr lang="en-US" sz="2000" dirty="0">
                <a:latin typeface="Bookman Old Style" pitchFamily="18" charset="0"/>
              </a:rPr>
              <a:t>Default Constructor</a:t>
            </a:r>
          </a:p>
          <a:p>
            <a:pPr lvl="1" latinLnBrk="0">
              <a:lnSpc>
                <a:spcPct val="150000"/>
              </a:lnSpc>
              <a:spcBef>
                <a:spcPts val="0"/>
              </a:spcBef>
            </a:pPr>
            <a:r>
              <a:rPr lang="en-US" sz="2000" dirty="0">
                <a:latin typeface="Bookman Old Style" pitchFamily="18" charset="0"/>
              </a:rPr>
              <a:t>Parameterized Constructors</a:t>
            </a:r>
          </a:p>
          <a:p>
            <a:pPr latinLnBrk="0">
              <a:lnSpc>
                <a:spcPct val="150000"/>
              </a:lnSpc>
              <a:spcBef>
                <a:spcPts val="0"/>
              </a:spcBef>
              <a:buFont typeface="Wingdings" pitchFamily="2" charset="2"/>
              <a:buChar char="§"/>
            </a:pPr>
            <a:r>
              <a:rPr lang="en-US" sz="2100" dirty="0">
                <a:latin typeface="Bookman Old Style" pitchFamily="18" charset="0"/>
              </a:rPr>
              <a:t>A constructor is invoked to create an object using the </a:t>
            </a:r>
            <a:r>
              <a:rPr lang="en-US" sz="2100" b="1" dirty="0">
                <a:solidFill>
                  <a:srgbClr val="FF0000"/>
                </a:solidFill>
                <a:latin typeface="Bookman Old Style" pitchFamily="18" charset="0"/>
              </a:rPr>
              <a:t>new</a:t>
            </a:r>
            <a:r>
              <a:rPr lang="en-US" sz="2100" dirty="0">
                <a:latin typeface="Bookman Old Style" pitchFamily="18" charset="0"/>
              </a:rPr>
              <a:t> operator.</a:t>
            </a:r>
          </a:p>
          <a:p>
            <a:pPr lvl="1" latinLnBrk="0">
              <a:lnSpc>
                <a:spcPct val="150000"/>
              </a:lnSpc>
              <a:spcBef>
                <a:spcPts val="0"/>
              </a:spcBef>
            </a:pPr>
            <a:endParaRPr lang="en-US" sz="2000" dirty="0">
              <a:latin typeface="Bookman Old Style" pitchFamily="18" charset="0"/>
            </a:endParaRPr>
          </a:p>
        </p:txBody>
      </p:sp>
      <p:sp>
        <p:nvSpPr>
          <p:cNvPr id="12" name="Rectangle 11"/>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
        <p:nvSpPr>
          <p:cNvPr id="13" name="Rectangle 12"/>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Tree>
    <p:extLst>
      <p:ext uri="{BB962C8B-B14F-4D97-AF65-F5344CB8AC3E}">
        <p14:creationId xmlns:p14="http://schemas.microsoft.com/office/powerpoint/2010/main" val="3460206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280964" y="1362504"/>
            <a:ext cx="7531396" cy="4745915"/>
          </a:xfrm>
          <a:prstGeom prst="rect">
            <a:avLst/>
          </a:prstGeom>
        </p:spPr>
        <p:txBody>
          <a:bodyPr wrap="square">
            <a:spAutoFit/>
          </a:bodyPr>
          <a:lstStyle/>
          <a:p>
            <a:pPr>
              <a:lnSpc>
                <a:spcPct val="120000"/>
              </a:lnSpc>
            </a:pPr>
            <a:r>
              <a:rPr lang="en-US" dirty="0">
                <a:latin typeface="Bookman Old Style" pitchFamily="18" charset="0"/>
              </a:rPr>
              <a:t>public class </a:t>
            </a:r>
            <a:r>
              <a:rPr lang="en-US" b="1" dirty="0">
                <a:latin typeface="Bookman Old Style" pitchFamily="18" charset="0"/>
              </a:rPr>
              <a:t>CLASSNAME</a:t>
            </a:r>
            <a:r>
              <a:rPr lang="en-US" dirty="0">
                <a:latin typeface="Bookman Old Style" pitchFamily="18" charset="0"/>
              </a:rPr>
              <a:t>{ </a:t>
            </a:r>
          </a:p>
          <a:p>
            <a:pPr lvl="1">
              <a:lnSpc>
                <a:spcPct val="120000"/>
              </a:lnSpc>
            </a:pPr>
            <a:r>
              <a:rPr lang="en-US" b="1" dirty="0">
                <a:latin typeface="Bookman Old Style" pitchFamily="18" charset="0"/>
              </a:rPr>
              <a:t>CLASSNAME</a:t>
            </a:r>
            <a:r>
              <a:rPr lang="en-US" dirty="0">
                <a:latin typeface="Bookman Old Style" pitchFamily="18" charset="0"/>
              </a:rPr>
              <a:t> ( ) { } //Default</a:t>
            </a:r>
          </a:p>
          <a:p>
            <a:pPr lvl="1">
              <a:lnSpc>
                <a:spcPct val="120000"/>
              </a:lnSpc>
            </a:pPr>
            <a:r>
              <a:rPr lang="en-US" b="1" dirty="0">
                <a:latin typeface="Bookman Old Style" pitchFamily="18" charset="0"/>
              </a:rPr>
              <a:t>CLASSNAME</a:t>
            </a:r>
            <a:r>
              <a:rPr lang="en-US" dirty="0">
                <a:latin typeface="Bookman Old Style" pitchFamily="18" charset="0"/>
              </a:rPr>
              <a:t> ([</a:t>
            </a:r>
            <a:r>
              <a:rPr lang="en-US" i="1" dirty="0">
                <a:solidFill>
                  <a:srgbClr val="FF0000"/>
                </a:solidFill>
                <a:latin typeface="Bookman Old Style" pitchFamily="18" charset="0"/>
              </a:rPr>
              <a:t>ARGUMENTS</a:t>
            </a:r>
            <a:r>
              <a:rPr lang="en-US" dirty="0">
                <a:latin typeface="Bookman Old Style" pitchFamily="18" charset="0"/>
              </a:rPr>
              <a:t>]) { } //Parameterized</a:t>
            </a:r>
          </a:p>
          <a:p>
            <a:pPr>
              <a:lnSpc>
                <a:spcPct val="120000"/>
              </a:lnSpc>
            </a:pPr>
            <a:r>
              <a:rPr lang="en-US" dirty="0">
                <a:latin typeface="Bookman Old Style" pitchFamily="18" charset="0"/>
              </a:rPr>
              <a:t> } </a:t>
            </a:r>
          </a:p>
          <a:p>
            <a:pPr>
              <a:lnSpc>
                <a:spcPct val="120000"/>
              </a:lnSpc>
            </a:pPr>
            <a:endParaRPr lang="en-US" dirty="0">
              <a:latin typeface="Bookman Old Style" pitchFamily="18" charset="0"/>
            </a:endParaRPr>
          </a:p>
          <a:p>
            <a:pPr>
              <a:lnSpc>
                <a:spcPct val="120000"/>
              </a:lnSpc>
            </a:pPr>
            <a:endParaRPr lang="en-US" dirty="0">
              <a:latin typeface="Bookman Old Style" pitchFamily="18" charset="0"/>
            </a:endParaRPr>
          </a:p>
          <a:p>
            <a:pPr>
              <a:lnSpc>
                <a:spcPct val="120000"/>
              </a:lnSpc>
            </a:pPr>
            <a:endParaRPr lang="en-US" dirty="0">
              <a:latin typeface="Bookman Old Style" pitchFamily="18" charset="0"/>
            </a:endParaRPr>
          </a:p>
          <a:p>
            <a:pPr>
              <a:lnSpc>
                <a:spcPct val="120000"/>
              </a:lnSpc>
            </a:pPr>
            <a:endParaRPr lang="en-US" dirty="0">
              <a:latin typeface="Bookman Old Style" pitchFamily="18" charset="0"/>
            </a:endParaRPr>
          </a:p>
          <a:p>
            <a:pPr>
              <a:lnSpc>
                <a:spcPct val="120000"/>
              </a:lnSpc>
            </a:pPr>
            <a:endParaRPr lang="en-US" dirty="0">
              <a:latin typeface="Bookman Old Style" pitchFamily="18" charset="0"/>
            </a:endParaRPr>
          </a:p>
          <a:p>
            <a:pPr>
              <a:lnSpc>
                <a:spcPct val="120000"/>
              </a:lnSpc>
            </a:pPr>
            <a:endParaRPr lang="en-US" dirty="0">
              <a:latin typeface="Bookman Old Style" pitchFamily="18" charset="0"/>
            </a:endParaRPr>
          </a:p>
          <a:p>
            <a:pPr>
              <a:lnSpc>
                <a:spcPct val="120000"/>
              </a:lnSpc>
            </a:pPr>
            <a:r>
              <a:rPr lang="en-US" dirty="0">
                <a:latin typeface="Bookman Old Style" pitchFamily="18" charset="0"/>
              </a:rPr>
              <a:t>//Constructing Objects Using Constructors</a:t>
            </a:r>
          </a:p>
          <a:p>
            <a:pPr>
              <a:lnSpc>
                <a:spcPct val="120000"/>
              </a:lnSpc>
            </a:pPr>
            <a:r>
              <a:rPr lang="en-US" dirty="0">
                <a:latin typeface="Bookman Old Style" pitchFamily="18" charset="0"/>
              </a:rPr>
              <a:t>CLASSNAME obj1 = </a:t>
            </a:r>
            <a:r>
              <a:rPr lang="en-US" b="1" dirty="0">
                <a:solidFill>
                  <a:srgbClr val="FF0000"/>
                </a:solidFill>
                <a:latin typeface="Bookman Old Style" pitchFamily="18" charset="0"/>
              </a:rPr>
              <a:t>new</a:t>
            </a:r>
            <a:r>
              <a:rPr lang="en-US" dirty="0">
                <a:latin typeface="Bookman Old Style" pitchFamily="18" charset="0"/>
              </a:rPr>
              <a:t> CLASSNAME(); </a:t>
            </a:r>
          </a:p>
          <a:p>
            <a:pPr>
              <a:lnSpc>
                <a:spcPct val="120000"/>
              </a:lnSpc>
            </a:pPr>
            <a:r>
              <a:rPr lang="en-US" dirty="0">
                <a:latin typeface="Bookman Old Style" pitchFamily="18" charset="0"/>
              </a:rPr>
              <a:t>CLASSNAME obj2 = </a:t>
            </a:r>
            <a:r>
              <a:rPr lang="en-US" b="1" dirty="0">
                <a:solidFill>
                  <a:srgbClr val="FF0000"/>
                </a:solidFill>
                <a:latin typeface="Bookman Old Style" pitchFamily="18" charset="0"/>
              </a:rPr>
              <a:t>new </a:t>
            </a:r>
            <a:r>
              <a:rPr lang="en-US" dirty="0">
                <a:latin typeface="Bookman Old Style" pitchFamily="18" charset="0"/>
              </a:rPr>
              <a:t>CLASSNAME([ARGUMENTS]) </a:t>
            </a:r>
          </a:p>
          <a:p>
            <a:pPr>
              <a:lnSpc>
                <a:spcPct val="120000"/>
              </a:lnSpc>
              <a:spcBef>
                <a:spcPts val="0"/>
              </a:spcBef>
            </a:pPr>
            <a:endParaRPr lang="en-US" dirty="0">
              <a:latin typeface="Bookman Old Style" pitchFamily="18" charset="0"/>
            </a:endParaRPr>
          </a:p>
        </p:txBody>
      </p:sp>
      <p:sp>
        <p:nvSpPr>
          <p:cNvPr id="2" name="Title 1"/>
          <p:cNvSpPr>
            <a:spLocks noGrp="1"/>
          </p:cNvSpPr>
          <p:nvPr>
            <p:ph type="title"/>
          </p:nvPr>
        </p:nvSpPr>
        <p:spPr>
          <a:xfrm>
            <a:off x="457200" y="116632"/>
            <a:ext cx="8229600" cy="1143000"/>
          </a:xfrm>
        </p:spPr>
        <p:txBody>
          <a:bodyPr/>
          <a:lstStyle/>
          <a:p>
            <a:r>
              <a:rPr lang="en-US" dirty="0">
                <a:latin typeface="Arial" pitchFamily="34" charset="0"/>
                <a:cs typeface="Arial" pitchFamily="34" charset="0"/>
              </a:rPr>
              <a:t>Constructors</a:t>
            </a:r>
          </a:p>
        </p:txBody>
      </p:sp>
      <p:sp>
        <p:nvSpPr>
          <p:cNvPr id="7" name="Rectangle 6"/>
          <p:cNvSpPr/>
          <p:nvPr/>
        </p:nvSpPr>
        <p:spPr>
          <a:xfrm>
            <a:off x="280964" y="1333160"/>
            <a:ext cx="6523283" cy="15197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Rectangle 9"/>
          <p:cNvSpPr/>
          <p:nvPr/>
        </p:nvSpPr>
        <p:spPr>
          <a:xfrm>
            <a:off x="280963" y="4581128"/>
            <a:ext cx="6523283" cy="1327847"/>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p:cNvSpPr/>
          <p:nvPr/>
        </p:nvSpPr>
        <p:spPr>
          <a:xfrm>
            <a:off x="4932040" y="2643236"/>
            <a:ext cx="4211960" cy="1815882"/>
          </a:xfrm>
          <a:prstGeom prst="rect">
            <a:avLst/>
          </a:prstGeom>
          <a:solidFill>
            <a:schemeClr val="bg2"/>
          </a:solidFill>
        </p:spPr>
        <p:txBody>
          <a:bodyPr wrap="square">
            <a:spAutoFit/>
          </a:bodyPr>
          <a:lstStyle/>
          <a:p>
            <a:pPr lvl="1"/>
            <a:r>
              <a:rPr lang="en-US" sz="1600" dirty="0">
                <a:latin typeface="Bookman Old Style" pitchFamily="18" charset="0"/>
              </a:rPr>
              <a:t>Box(){ }</a:t>
            </a:r>
          </a:p>
          <a:p>
            <a:pPr lvl="1"/>
            <a:r>
              <a:rPr lang="en-US" sz="1600" dirty="0">
                <a:latin typeface="Bookman Old Style" pitchFamily="18" charset="0"/>
              </a:rPr>
              <a:t>Box(double w, double h, double d)</a:t>
            </a:r>
          </a:p>
          <a:p>
            <a:pPr lvl="1"/>
            <a:r>
              <a:rPr lang="en-US" sz="1600" dirty="0">
                <a:latin typeface="Bookman Old Style" pitchFamily="18" charset="0"/>
              </a:rPr>
              <a:t>{</a:t>
            </a:r>
          </a:p>
          <a:p>
            <a:pPr lvl="1"/>
            <a:r>
              <a:rPr lang="en-US" sz="1600" dirty="0">
                <a:latin typeface="Bookman Old Style" pitchFamily="18" charset="0"/>
              </a:rPr>
              <a:t>	width=w;</a:t>
            </a:r>
          </a:p>
          <a:p>
            <a:pPr lvl="1"/>
            <a:r>
              <a:rPr lang="en-US" sz="1600" dirty="0">
                <a:latin typeface="Bookman Old Style" pitchFamily="18" charset="0"/>
              </a:rPr>
              <a:t>	height=h;</a:t>
            </a:r>
          </a:p>
          <a:p>
            <a:pPr lvl="1"/>
            <a:r>
              <a:rPr lang="en-US" sz="1600" dirty="0">
                <a:latin typeface="Bookman Old Style" pitchFamily="18" charset="0"/>
              </a:rPr>
              <a:t>	depth=d;</a:t>
            </a:r>
          </a:p>
          <a:p>
            <a:pPr lvl="1"/>
            <a:r>
              <a:rPr lang="en-US" sz="1600" dirty="0">
                <a:latin typeface="Bookman Old Style" pitchFamily="18" charset="0"/>
              </a:rPr>
              <a:t>}</a:t>
            </a:r>
          </a:p>
        </p:txBody>
      </p:sp>
      <p:cxnSp>
        <p:nvCxnSpPr>
          <p:cNvPr id="16" name="Elbow Connector 15"/>
          <p:cNvCxnSpPr>
            <a:stCxn id="7" idx="3"/>
            <a:endCxn id="6" idx="0"/>
          </p:cNvCxnSpPr>
          <p:nvPr/>
        </p:nvCxnSpPr>
        <p:spPr>
          <a:xfrm>
            <a:off x="6804247" y="2093048"/>
            <a:ext cx="233773" cy="550188"/>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932040" y="5877272"/>
            <a:ext cx="3287788" cy="584775"/>
          </a:xfrm>
          <a:prstGeom prst="rect">
            <a:avLst/>
          </a:prstGeom>
          <a:solidFill>
            <a:schemeClr val="bg2"/>
          </a:solidFill>
        </p:spPr>
        <p:txBody>
          <a:bodyPr wrap="square">
            <a:spAutoFit/>
          </a:bodyPr>
          <a:lstStyle/>
          <a:p>
            <a:pPr lvl="1"/>
            <a:r>
              <a:rPr lang="en-US" sz="1600" dirty="0">
                <a:latin typeface="Bookman Old Style" pitchFamily="18" charset="0"/>
              </a:rPr>
              <a:t>Box b1=new Box();</a:t>
            </a:r>
          </a:p>
          <a:p>
            <a:pPr lvl="1"/>
            <a:r>
              <a:rPr lang="en-US" sz="1600" dirty="0">
                <a:latin typeface="Bookman Old Style" pitchFamily="18" charset="0"/>
              </a:rPr>
              <a:t>Box b2=new Box(2,3,4)</a:t>
            </a:r>
          </a:p>
        </p:txBody>
      </p:sp>
      <p:cxnSp>
        <p:nvCxnSpPr>
          <p:cNvPr id="17" name="Elbow Connector 16"/>
          <p:cNvCxnSpPr/>
          <p:nvPr/>
        </p:nvCxnSpPr>
        <p:spPr>
          <a:xfrm>
            <a:off x="6839760" y="5327084"/>
            <a:ext cx="233773" cy="550188"/>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
        <p:nvSpPr>
          <p:cNvPr id="19" name="Rectangle 18"/>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Tree>
    <p:extLst>
      <p:ext uri="{BB962C8B-B14F-4D97-AF65-F5344CB8AC3E}">
        <p14:creationId xmlns:p14="http://schemas.microsoft.com/office/powerpoint/2010/main" val="379276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579296" cy="1143000"/>
          </a:xfrm>
        </p:spPr>
        <p:txBody>
          <a:bodyPr>
            <a:normAutofit/>
          </a:bodyPr>
          <a:lstStyle/>
          <a:p>
            <a:r>
              <a:rPr lang="en-US" sz="3600" b="0" dirty="0">
                <a:latin typeface="Arial" pitchFamily="34" charset="0"/>
                <a:cs typeface="Arial" pitchFamily="34" charset="0"/>
              </a:rPr>
              <a:t>Accessing an Object’s Data and Methods</a:t>
            </a:r>
            <a:endParaRPr lang="en-US" sz="3600" dirty="0">
              <a:latin typeface="Arial" pitchFamily="34" charset="0"/>
              <a:cs typeface="Arial" pitchFamily="34" charset="0"/>
            </a:endParaRPr>
          </a:p>
        </p:txBody>
      </p:sp>
      <p:sp>
        <p:nvSpPr>
          <p:cNvPr id="3" name="Content Placeholder 2"/>
          <p:cNvSpPr>
            <a:spLocks noGrp="1"/>
          </p:cNvSpPr>
          <p:nvPr>
            <p:ph idx="1"/>
          </p:nvPr>
        </p:nvSpPr>
        <p:spPr>
          <a:xfrm>
            <a:off x="457200" y="1600200"/>
            <a:ext cx="8507288" cy="4800600"/>
          </a:xfrm>
        </p:spPr>
        <p:txBody>
          <a:bodyPr/>
          <a:lstStyle/>
          <a:p>
            <a:pPr latinLnBrk="0">
              <a:lnSpc>
                <a:spcPct val="150000"/>
              </a:lnSpc>
            </a:pPr>
            <a:r>
              <a:rPr lang="en-US" sz="2400" dirty="0">
                <a:latin typeface="Bookman Old Style" pitchFamily="18" charset="0"/>
              </a:rPr>
              <a:t>An object’s member refers to its data fields and methods. </a:t>
            </a:r>
          </a:p>
          <a:p>
            <a:pPr latinLnBrk="0">
              <a:lnSpc>
                <a:spcPct val="150000"/>
              </a:lnSpc>
            </a:pPr>
            <a:r>
              <a:rPr lang="en-US" sz="2400" dirty="0">
                <a:latin typeface="Bookman Old Style" pitchFamily="18" charset="0"/>
              </a:rPr>
              <a:t>After an object is created, its data can be accessed and its methods invoked using the dot operator (.), </a:t>
            </a:r>
            <a:r>
              <a:rPr lang="en-US" sz="2400" dirty="0" err="1">
                <a:latin typeface="Bookman Old Style" pitchFamily="18" charset="0"/>
              </a:rPr>
              <a:t>als</a:t>
            </a:r>
            <a:r>
              <a:rPr lang="en-US" sz="2400" dirty="0">
                <a:latin typeface="Bookman Old Style" pitchFamily="18" charset="0"/>
              </a:rPr>
              <a:t> o known as the object member access operator.</a:t>
            </a:r>
          </a:p>
          <a:p>
            <a:pPr marL="742950" lvl="2" indent="-342900" latinLnBrk="0">
              <a:lnSpc>
                <a:spcPct val="150000"/>
              </a:lnSpc>
            </a:pPr>
            <a:r>
              <a:rPr lang="en-US" sz="2000" b="1" dirty="0" err="1">
                <a:latin typeface="Bookman Old Style" pitchFamily="18" charset="0"/>
              </a:rPr>
              <a:t>objectRefVar.dataField</a:t>
            </a:r>
            <a:r>
              <a:rPr lang="en-US" sz="2000" dirty="0">
                <a:latin typeface="Bookman Old Style" pitchFamily="18" charset="0"/>
              </a:rPr>
              <a:t> references a data field in the object.</a:t>
            </a:r>
          </a:p>
          <a:p>
            <a:pPr marL="742950" lvl="2" indent="-342900" latinLnBrk="0">
              <a:lnSpc>
                <a:spcPct val="150000"/>
              </a:lnSpc>
            </a:pPr>
            <a:r>
              <a:rPr lang="en-US" sz="2000" b="1" dirty="0" err="1">
                <a:latin typeface="Bookman Old Style" pitchFamily="18" charset="0"/>
              </a:rPr>
              <a:t>objectRefVar.method</a:t>
            </a:r>
            <a:r>
              <a:rPr lang="en-US" sz="2000" b="1" dirty="0">
                <a:latin typeface="Bookman Old Style" pitchFamily="18" charset="0"/>
              </a:rPr>
              <a:t>(arguments)</a:t>
            </a:r>
            <a:r>
              <a:rPr lang="en-US" sz="2000" dirty="0">
                <a:latin typeface="Bookman Old Style" pitchFamily="18" charset="0"/>
              </a:rPr>
              <a:t> invokes a method on the object</a:t>
            </a:r>
          </a:p>
        </p:txBody>
      </p:sp>
      <p:sp>
        <p:nvSpPr>
          <p:cNvPr id="5" name="Rectangle 4"/>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
        <p:nvSpPr>
          <p:cNvPr id="6" name="Rectangle 5"/>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Tree>
    <p:extLst>
      <p:ext uri="{BB962C8B-B14F-4D97-AF65-F5344CB8AC3E}">
        <p14:creationId xmlns:p14="http://schemas.microsoft.com/office/powerpoint/2010/main" val="665492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23528" y="1340768"/>
            <a:ext cx="8748972" cy="4583819"/>
          </a:xfrm>
          <a:prstGeom prst="rect">
            <a:avLst/>
          </a:prstGeom>
        </p:spPr>
        <p:txBody>
          <a:bodyPr wrap="square">
            <a:spAutoFit/>
          </a:bodyPr>
          <a:lstStyle/>
          <a:p>
            <a:pPr>
              <a:lnSpc>
                <a:spcPct val="114000"/>
              </a:lnSpc>
            </a:pPr>
            <a:r>
              <a:rPr lang="en-US" sz="1600" dirty="0">
                <a:latin typeface="Bookman Old Style" pitchFamily="18" charset="0"/>
              </a:rPr>
              <a:t>class </a:t>
            </a:r>
            <a:r>
              <a:rPr lang="en-US" sz="1600" dirty="0" err="1">
                <a:latin typeface="Bookman Old Style" pitchFamily="18" charset="0"/>
              </a:rPr>
              <a:t>BoxDemo</a:t>
            </a:r>
            <a:r>
              <a:rPr lang="en-US" sz="1600" dirty="0">
                <a:latin typeface="Bookman Old Style" pitchFamily="18" charset="0"/>
              </a:rPr>
              <a:t> {</a:t>
            </a:r>
          </a:p>
          <a:p>
            <a:pPr lvl="1">
              <a:lnSpc>
                <a:spcPct val="114000"/>
              </a:lnSpc>
            </a:pPr>
            <a:r>
              <a:rPr lang="en-US" sz="1600" dirty="0">
                <a:latin typeface="Bookman Old Style" pitchFamily="18" charset="0"/>
              </a:rPr>
              <a:t>public static void main(String </a:t>
            </a:r>
            <a:r>
              <a:rPr lang="en-US" sz="1600" dirty="0" err="1">
                <a:latin typeface="Bookman Old Style" pitchFamily="18" charset="0"/>
              </a:rPr>
              <a:t>args</a:t>
            </a:r>
            <a:r>
              <a:rPr lang="en-US" sz="1600" dirty="0">
                <a:latin typeface="Bookman Old Style" pitchFamily="18" charset="0"/>
              </a:rPr>
              <a:t>[]) {</a:t>
            </a:r>
          </a:p>
          <a:p>
            <a:pPr lvl="2">
              <a:lnSpc>
                <a:spcPct val="114000"/>
              </a:lnSpc>
            </a:pPr>
            <a:r>
              <a:rPr lang="en-US" sz="1600" b="1" dirty="0">
                <a:latin typeface="Bookman Old Style" pitchFamily="18" charset="0"/>
              </a:rPr>
              <a:t>Box</a:t>
            </a:r>
            <a:r>
              <a:rPr lang="en-US" sz="1600" dirty="0">
                <a:latin typeface="Bookman Old Style" pitchFamily="18" charset="0"/>
              </a:rPr>
              <a:t> mybox1 = </a:t>
            </a:r>
            <a:r>
              <a:rPr lang="en-US" sz="1600" b="1" dirty="0">
                <a:latin typeface="Bookman Old Style" pitchFamily="18" charset="0"/>
              </a:rPr>
              <a:t>new</a:t>
            </a:r>
            <a:r>
              <a:rPr lang="en-US" sz="1600" dirty="0">
                <a:latin typeface="Bookman Old Style" pitchFamily="18" charset="0"/>
              </a:rPr>
              <a:t> </a:t>
            </a:r>
            <a:r>
              <a:rPr lang="en-US" sz="1600" b="1" dirty="0">
                <a:latin typeface="Bookman Old Style" pitchFamily="18" charset="0"/>
              </a:rPr>
              <a:t>Box</a:t>
            </a:r>
            <a:r>
              <a:rPr lang="en-US" sz="1600" dirty="0">
                <a:latin typeface="Bookman Old Style" pitchFamily="18" charset="0"/>
              </a:rPr>
              <a:t>(); </a:t>
            </a:r>
            <a:r>
              <a:rPr lang="en-US" sz="1600" dirty="0">
                <a:solidFill>
                  <a:srgbClr val="0000CC"/>
                </a:solidFill>
                <a:latin typeface="Bookman Old Style" pitchFamily="18" charset="0"/>
              </a:rPr>
              <a:t>//Create box object using default constructor</a:t>
            </a:r>
          </a:p>
          <a:p>
            <a:pPr lvl="2">
              <a:lnSpc>
                <a:spcPct val="114000"/>
              </a:lnSpc>
            </a:pPr>
            <a:r>
              <a:rPr lang="en-US" sz="1600" b="1" dirty="0">
                <a:latin typeface="Bookman Old Style" pitchFamily="18" charset="0"/>
              </a:rPr>
              <a:t>Box</a:t>
            </a:r>
            <a:r>
              <a:rPr lang="en-US" sz="1600" dirty="0">
                <a:latin typeface="Bookman Old Style" pitchFamily="18" charset="0"/>
              </a:rPr>
              <a:t> mybox2 = new </a:t>
            </a:r>
            <a:r>
              <a:rPr lang="en-US" sz="1600" b="1" dirty="0">
                <a:latin typeface="Bookman Old Style" pitchFamily="18" charset="0"/>
              </a:rPr>
              <a:t>Box</a:t>
            </a:r>
            <a:r>
              <a:rPr lang="en-US" sz="1600" dirty="0">
                <a:latin typeface="Bookman Old Style" pitchFamily="18" charset="0"/>
              </a:rPr>
              <a:t>(</a:t>
            </a:r>
            <a:r>
              <a:rPr lang="en-US" sz="1600" dirty="0">
                <a:solidFill>
                  <a:srgbClr val="FF0000"/>
                </a:solidFill>
                <a:latin typeface="Bookman Old Style" pitchFamily="18" charset="0"/>
              </a:rPr>
              <a:t>3,6,9</a:t>
            </a:r>
            <a:r>
              <a:rPr lang="en-US" sz="1600" dirty="0">
                <a:latin typeface="Bookman Old Style" pitchFamily="18" charset="0"/>
              </a:rPr>
              <a:t>); </a:t>
            </a:r>
            <a:r>
              <a:rPr lang="en-US" sz="1600" dirty="0">
                <a:solidFill>
                  <a:srgbClr val="0000CC"/>
                </a:solidFill>
                <a:latin typeface="Bookman Old Style" pitchFamily="18" charset="0"/>
              </a:rPr>
              <a:t>//Using parameterized constructor</a:t>
            </a:r>
          </a:p>
          <a:p>
            <a:pPr lvl="2">
              <a:lnSpc>
                <a:spcPct val="114000"/>
              </a:lnSpc>
            </a:pPr>
            <a:r>
              <a:rPr lang="en-US" sz="1600" dirty="0">
                <a:latin typeface="Bookman Old Style" pitchFamily="18" charset="0"/>
              </a:rPr>
              <a:t>double </a:t>
            </a:r>
            <a:r>
              <a:rPr lang="en-US" sz="1600" dirty="0" err="1">
                <a:latin typeface="Bookman Old Style" pitchFamily="18" charset="0"/>
              </a:rPr>
              <a:t>vol</a:t>
            </a:r>
            <a:r>
              <a:rPr lang="en-US" sz="1600" dirty="0">
                <a:latin typeface="Bookman Old Style" pitchFamily="18" charset="0"/>
              </a:rPr>
              <a:t>;</a:t>
            </a:r>
          </a:p>
          <a:p>
            <a:pPr lvl="2">
              <a:lnSpc>
                <a:spcPct val="114000"/>
              </a:lnSpc>
            </a:pPr>
            <a:r>
              <a:rPr lang="en-US" sz="1600" dirty="0">
                <a:latin typeface="Bookman Old Style" pitchFamily="18" charset="0"/>
              </a:rPr>
              <a:t>// assign values to mybox1's instance variables</a:t>
            </a:r>
          </a:p>
          <a:p>
            <a:pPr lvl="2">
              <a:lnSpc>
                <a:spcPct val="114000"/>
              </a:lnSpc>
            </a:pPr>
            <a:r>
              <a:rPr lang="en-US" sz="1600" dirty="0">
                <a:latin typeface="Bookman Old Style" pitchFamily="18" charset="0"/>
              </a:rPr>
              <a:t>mybox1</a:t>
            </a:r>
            <a:r>
              <a:rPr lang="en-US" sz="1600" b="1" dirty="0">
                <a:latin typeface="Bookman Old Style" pitchFamily="18" charset="0"/>
              </a:rPr>
              <a:t>.width</a:t>
            </a:r>
            <a:r>
              <a:rPr lang="en-US" sz="1600" dirty="0">
                <a:latin typeface="Bookman Old Style" pitchFamily="18" charset="0"/>
              </a:rPr>
              <a:t> = 10;</a:t>
            </a:r>
          </a:p>
          <a:p>
            <a:pPr lvl="2">
              <a:lnSpc>
                <a:spcPct val="114000"/>
              </a:lnSpc>
            </a:pPr>
            <a:r>
              <a:rPr lang="en-US" sz="1600" dirty="0">
                <a:latin typeface="Bookman Old Style" pitchFamily="18" charset="0"/>
              </a:rPr>
              <a:t>mybox1</a:t>
            </a:r>
            <a:r>
              <a:rPr lang="en-US" sz="1600" b="1" dirty="0">
                <a:latin typeface="Bookman Old Style" pitchFamily="18" charset="0"/>
              </a:rPr>
              <a:t>.height</a:t>
            </a:r>
            <a:r>
              <a:rPr lang="en-US" sz="1600" dirty="0">
                <a:latin typeface="Bookman Old Style" pitchFamily="18" charset="0"/>
              </a:rPr>
              <a:t> = 20;</a:t>
            </a:r>
          </a:p>
          <a:p>
            <a:pPr lvl="2">
              <a:lnSpc>
                <a:spcPct val="114000"/>
              </a:lnSpc>
            </a:pPr>
            <a:r>
              <a:rPr lang="en-US" sz="1600" dirty="0">
                <a:latin typeface="Bookman Old Style" pitchFamily="18" charset="0"/>
              </a:rPr>
              <a:t>mybox1</a:t>
            </a:r>
            <a:r>
              <a:rPr lang="en-US" sz="1600" b="1" dirty="0">
                <a:latin typeface="Bookman Old Style" pitchFamily="18" charset="0"/>
              </a:rPr>
              <a:t>.depth</a:t>
            </a:r>
            <a:r>
              <a:rPr lang="en-US" sz="1600" dirty="0">
                <a:latin typeface="Bookman Old Style" pitchFamily="18" charset="0"/>
              </a:rPr>
              <a:t> = 15;</a:t>
            </a:r>
          </a:p>
          <a:p>
            <a:pPr lvl="2">
              <a:lnSpc>
                <a:spcPct val="114000"/>
              </a:lnSpc>
            </a:pPr>
            <a:r>
              <a:rPr lang="en-US" sz="1600" dirty="0">
                <a:latin typeface="Bookman Old Style" pitchFamily="18" charset="0"/>
              </a:rPr>
              <a:t>// compute volume of first box</a:t>
            </a:r>
          </a:p>
          <a:p>
            <a:pPr lvl="2">
              <a:lnSpc>
                <a:spcPct val="114000"/>
              </a:lnSpc>
            </a:pPr>
            <a:r>
              <a:rPr lang="en-US" sz="1600" dirty="0" err="1">
                <a:latin typeface="Bookman Old Style" pitchFamily="18" charset="0"/>
              </a:rPr>
              <a:t>vol</a:t>
            </a:r>
            <a:r>
              <a:rPr lang="en-US" sz="1600" dirty="0">
                <a:latin typeface="Bookman Old Style" pitchFamily="18" charset="0"/>
              </a:rPr>
              <a:t> = mybox1.width * mybox1.height * mybox1.depth;</a:t>
            </a:r>
          </a:p>
          <a:p>
            <a:pPr lvl="2">
              <a:lnSpc>
                <a:spcPct val="114000"/>
              </a:lnSpc>
            </a:pPr>
            <a:r>
              <a:rPr lang="en-US" sz="1600" dirty="0" err="1">
                <a:latin typeface="Bookman Old Style" pitchFamily="18" charset="0"/>
              </a:rPr>
              <a:t>System.out.println</a:t>
            </a:r>
            <a:r>
              <a:rPr lang="en-US" sz="1600" dirty="0">
                <a:latin typeface="Bookman Old Style" pitchFamily="18" charset="0"/>
              </a:rPr>
              <a:t>("Volume of box 1 is " + </a:t>
            </a:r>
            <a:r>
              <a:rPr lang="en-US" sz="1600" dirty="0" err="1">
                <a:latin typeface="Bookman Old Style" pitchFamily="18" charset="0"/>
              </a:rPr>
              <a:t>vol</a:t>
            </a:r>
            <a:r>
              <a:rPr lang="en-US" sz="1600" dirty="0">
                <a:latin typeface="Bookman Old Style" pitchFamily="18" charset="0"/>
              </a:rPr>
              <a:t>);</a:t>
            </a:r>
          </a:p>
          <a:p>
            <a:pPr lvl="2">
              <a:lnSpc>
                <a:spcPct val="114000"/>
              </a:lnSpc>
            </a:pPr>
            <a:r>
              <a:rPr lang="en-US" sz="1600" dirty="0">
                <a:latin typeface="Bookman Old Style" pitchFamily="18" charset="0"/>
              </a:rPr>
              <a:t>// compute volume of second box using object's method</a:t>
            </a:r>
          </a:p>
          <a:p>
            <a:pPr lvl="2">
              <a:lnSpc>
                <a:spcPct val="114000"/>
              </a:lnSpc>
            </a:pPr>
            <a:r>
              <a:rPr lang="en-US" sz="1600" dirty="0" err="1">
                <a:latin typeface="Bookman Old Style" pitchFamily="18" charset="0"/>
              </a:rPr>
              <a:t>System.out.println</a:t>
            </a:r>
            <a:r>
              <a:rPr lang="en-US" sz="1600" dirty="0">
                <a:latin typeface="Bookman Old Style" pitchFamily="18" charset="0"/>
              </a:rPr>
              <a:t>("Volume of box 2 is " + mybox2</a:t>
            </a:r>
            <a:r>
              <a:rPr lang="en-US" sz="1600" b="1" dirty="0">
                <a:latin typeface="Bookman Old Style" pitchFamily="18" charset="0"/>
              </a:rPr>
              <a:t>.volume()</a:t>
            </a:r>
            <a:r>
              <a:rPr lang="en-US" sz="1600" dirty="0">
                <a:latin typeface="Bookman Old Style" pitchFamily="18" charset="0"/>
              </a:rPr>
              <a:t>);</a:t>
            </a:r>
          </a:p>
          <a:p>
            <a:pPr lvl="1">
              <a:lnSpc>
                <a:spcPct val="114000"/>
              </a:lnSpc>
            </a:pPr>
            <a:r>
              <a:rPr lang="en-US" sz="1600" dirty="0">
                <a:latin typeface="Bookman Old Style" pitchFamily="18" charset="0"/>
              </a:rPr>
              <a:t>}</a:t>
            </a:r>
          </a:p>
          <a:p>
            <a:pPr>
              <a:lnSpc>
                <a:spcPct val="114000"/>
              </a:lnSpc>
            </a:pPr>
            <a:r>
              <a:rPr lang="en-US" sz="1600" dirty="0">
                <a:latin typeface="Bookman Old Style" pitchFamily="18" charset="0"/>
              </a:rPr>
              <a:t>}</a:t>
            </a:r>
          </a:p>
        </p:txBody>
      </p:sp>
      <p:sp>
        <p:nvSpPr>
          <p:cNvPr id="5" name="Rectangle 4"/>
          <p:cNvSpPr/>
          <p:nvPr/>
        </p:nvSpPr>
        <p:spPr>
          <a:xfrm>
            <a:off x="6776640" y="3204265"/>
            <a:ext cx="2031325" cy="584775"/>
          </a:xfrm>
          <a:prstGeom prst="rect">
            <a:avLst/>
          </a:prstGeom>
        </p:spPr>
        <p:txBody>
          <a:bodyPr wrap="none">
            <a:spAutoFit/>
          </a:bodyPr>
          <a:lstStyle/>
          <a:p>
            <a:r>
              <a:rPr lang="en-US" sz="1600" dirty="0">
                <a:latin typeface="Bookman Old Style" pitchFamily="18" charset="0"/>
              </a:rPr>
              <a:t>Accessing fields: </a:t>
            </a:r>
          </a:p>
          <a:p>
            <a:r>
              <a:rPr lang="en-US" sz="1600" b="1" dirty="0" err="1">
                <a:solidFill>
                  <a:srgbClr val="FF0000"/>
                </a:solidFill>
                <a:latin typeface="Bookman Old Style" pitchFamily="18" charset="0"/>
              </a:rPr>
              <a:t>object</a:t>
            </a:r>
            <a:r>
              <a:rPr lang="en-US" sz="1600" dirty="0" err="1">
                <a:latin typeface="Bookman Old Style" pitchFamily="18" charset="0"/>
              </a:rPr>
              <a:t>.</a:t>
            </a:r>
            <a:r>
              <a:rPr lang="en-US" sz="1600" b="1" dirty="0" err="1">
                <a:latin typeface="Bookman Old Style" pitchFamily="18" charset="0"/>
              </a:rPr>
              <a:t>FieldName</a:t>
            </a:r>
            <a:endParaRPr lang="en-US" sz="1600" b="1" dirty="0">
              <a:latin typeface="Bookman Old Style" pitchFamily="18" charset="0"/>
            </a:endParaRPr>
          </a:p>
        </p:txBody>
      </p:sp>
      <p:cxnSp>
        <p:nvCxnSpPr>
          <p:cNvPr id="8" name="Straight Arrow Connector 7"/>
          <p:cNvCxnSpPr>
            <a:endCxn id="16" idx="3"/>
          </p:cNvCxnSpPr>
          <p:nvPr/>
        </p:nvCxnSpPr>
        <p:spPr>
          <a:xfrm flipH="1">
            <a:off x="3491880" y="3505049"/>
            <a:ext cx="32403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951890" y="3933056"/>
            <a:ext cx="2300630" cy="584775"/>
          </a:xfrm>
          <a:prstGeom prst="rect">
            <a:avLst/>
          </a:prstGeom>
        </p:spPr>
        <p:txBody>
          <a:bodyPr wrap="none">
            <a:spAutoFit/>
          </a:bodyPr>
          <a:lstStyle/>
          <a:p>
            <a:r>
              <a:rPr lang="en-US" sz="1600" dirty="0">
                <a:latin typeface="Bookman Old Style" pitchFamily="18" charset="0"/>
              </a:rPr>
              <a:t>Accessing method: </a:t>
            </a:r>
          </a:p>
          <a:p>
            <a:r>
              <a:rPr lang="en-US" sz="1600" b="1" dirty="0" err="1">
                <a:solidFill>
                  <a:srgbClr val="FF0000"/>
                </a:solidFill>
                <a:latin typeface="Bookman Old Style" pitchFamily="18" charset="0"/>
              </a:rPr>
              <a:t>object</a:t>
            </a:r>
            <a:r>
              <a:rPr lang="en-US" sz="1600" dirty="0" err="1">
                <a:latin typeface="Bookman Old Style" pitchFamily="18" charset="0"/>
              </a:rPr>
              <a:t>.</a:t>
            </a:r>
            <a:r>
              <a:rPr lang="en-US" sz="1600" b="1" dirty="0" err="1">
                <a:latin typeface="Bookman Old Style" pitchFamily="18" charset="0"/>
              </a:rPr>
              <a:t>MethodName</a:t>
            </a:r>
            <a:endParaRPr lang="en-US" sz="1600" b="1" dirty="0">
              <a:latin typeface="Bookman Old Style" pitchFamily="18" charset="0"/>
            </a:endParaRPr>
          </a:p>
        </p:txBody>
      </p:sp>
      <p:cxnSp>
        <p:nvCxnSpPr>
          <p:cNvPr id="13" name="Straight Arrow Connector 12"/>
          <p:cNvCxnSpPr/>
          <p:nvPr/>
        </p:nvCxnSpPr>
        <p:spPr>
          <a:xfrm flipH="1">
            <a:off x="7236296" y="4517831"/>
            <a:ext cx="360040" cy="48524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
        <p:nvSpPr>
          <p:cNvPr id="12" name="Rectangle 11"/>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
        <p:nvSpPr>
          <p:cNvPr id="15" name="Rectangle 14"/>
          <p:cNvSpPr/>
          <p:nvPr/>
        </p:nvSpPr>
        <p:spPr>
          <a:xfrm>
            <a:off x="5760132" y="5596261"/>
            <a:ext cx="3312368" cy="830997"/>
          </a:xfrm>
          <a:prstGeom prst="rect">
            <a:avLst/>
          </a:prstGeom>
          <a:solidFill>
            <a:schemeClr val="tx2">
              <a:lumMod val="60000"/>
              <a:lumOff val="40000"/>
            </a:schemeClr>
          </a:solidFill>
          <a:ln>
            <a:noFill/>
          </a:ln>
        </p:spPr>
        <p:txBody>
          <a:bodyPr wrap="square">
            <a:spAutoFit/>
          </a:bodyPr>
          <a:lstStyle/>
          <a:p>
            <a:pPr algn="ctr"/>
            <a:r>
              <a:rPr lang="en-US" sz="1600" u="sng" dirty="0">
                <a:latin typeface="Bookman Old Style" pitchFamily="18" charset="0"/>
              </a:rPr>
              <a:t>Output</a:t>
            </a:r>
          </a:p>
          <a:p>
            <a:r>
              <a:rPr lang="en-US" sz="1600" dirty="0">
                <a:latin typeface="Bookman Old Style" pitchFamily="18" charset="0"/>
              </a:rPr>
              <a:t>Volume of box 1 is 3000.0</a:t>
            </a:r>
          </a:p>
          <a:p>
            <a:r>
              <a:rPr lang="en-US" sz="1600" dirty="0">
                <a:latin typeface="Bookman Old Style" pitchFamily="18" charset="0"/>
              </a:rPr>
              <a:t>Volume of box 2 is 162.0</a:t>
            </a:r>
          </a:p>
        </p:txBody>
      </p:sp>
      <p:sp>
        <p:nvSpPr>
          <p:cNvPr id="16" name="Rectangle 15"/>
          <p:cNvSpPr/>
          <p:nvPr/>
        </p:nvSpPr>
        <p:spPr>
          <a:xfrm>
            <a:off x="1187624" y="3077041"/>
            <a:ext cx="2304256" cy="856015"/>
          </a:xfrm>
          <a:prstGeom prst="rect">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5502560" y="5003073"/>
            <a:ext cx="1949760" cy="298135"/>
          </a:xfrm>
          <a:prstGeom prst="rect">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4"/>
          <p:cNvSpPr txBox="1">
            <a:spLocks/>
          </p:cNvSpPr>
          <p:nvPr/>
        </p:nvSpPr>
        <p:spPr>
          <a:xfrm>
            <a:off x="35496" y="332656"/>
            <a:ext cx="9108504" cy="1116106"/>
          </a:xfrm>
          <a:prstGeom prst="rect">
            <a:avLst/>
          </a:prstGeom>
        </p:spPr>
        <p:txBody>
          <a:bodyPr vert="horz" lIns="91440" tIns="45720" rIns="91440" bIns="45720" rtlCol="0" anchor="t" anchorCtr="0">
            <a:noAutofit/>
          </a:bodyPr>
          <a:lstStyle>
            <a:lvl1pPr algn="l" defTabSz="914400" rtl="0" eaLnBrk="1" latinLnBrk="0" hangingPunct="1">
              <a:spcBef>
                <a:spcPct val="0"/>
              </a:spcBef>
              <a:buNone/>
              <a:defRPr sz="3600" b="0" kern="1200">
                <a:solidFill>
                  <a:schemeClr val="accent1"/>
                </a:solidFill>
                <a:latin typeface="+mj-lt"/>
                <a:ea typeface="+mj-ea"/>
                <a:cs typeface="+mj-cs"/>
              </a:defRPr>
            </a:lvl1pPr>
          </a:lstStyle>
          <a:p>
            <a:pPr algn="just"/>
            <a:r>
              <a:rPr lang="en-US" sz="1600" b="1" dirty="0">
                <a:solidFill>
                  <a:prstClr val="black"/>
                </a:solidFill>
                <a:latin typeface="Bookman Old Style" pitchFamily="18" charset="0"/>
              </a:rPr>
              <a:t>Example 3.1. </a:t>
            </a:r>
            <a:r>
              <a:rPr lang="en-US" sz="1600" dirty="0">
                <a:solidFill>
                  <a:prstClr val="black"/>
                </a:solidFill>
                <a:latin typeface="Bookman Old Style" pitchFamily="18" charset="0"/>
              </a:rPr>
              <a:t>Create two box objects mybox1 and mybox2 using default constructor and parameterized constructor respectively. Assign dimensions of mybox1 and compute volumes of each box. </a:t>
            </a:r>
          </a:p>
        </p:txBody>
      </p:sp>
    </p:spTree>
    <p:extLst>
      <p:ext uri="{BB962C8B-B14F-4D97-AF65-F5344CB8AC3E}">
        <p14:creationId xmlns:p14="http://schemas.microsoft.com/office/powerpoint/2010/main" val="2857482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1143000"/>
          </a:xfrm>
        </p:spPr>
        <p:txBody>
          <a:bodyPr>
            <a:normAutofit/>
          </a:bodyPr>
          <a:lstStyle/>
          <a:p>
            <a:r>
              <a:rPr lang="en-US" sz="3200" dirty="0">
                <a:latin typeface="Arial" pitchFamily="34" charset="0"/>
                <a:cs typeface="Arial" pitchFamily="34" charset="0"/>
              </a:rPr>
              <a:t>A closer look at </a:t>
            </a:r>
            <a:r>
              <a:rPr lang="en-US" sz="3200" dirty="0">
                <a:solidFill>
                  <a:srgbClr val="FF0000"/>
                </a:solidFill>
                <a:latin typeface="Arial" pitchFamily="34" charset="0"/>
                <a:cs typeface="Arial" pitchFamily="34" charset="0"/>
              </a:rPr>
              <a:t>new</a:t>
            </a:r>
          </a:p>
        </p:txBody>
      </p:sp>
      <p:sp>
        <p:nvSpPr>
          <p:cNvPr id="5" name="TextBox 4"/>
          <p:cNvSpPr txBox="1"/>
          <p:nvPr/>
        </p:nvSpPr>
        <p:spPr>
          <a:xfrm>
            <a:off x="858110" y="5157192"/>
            <a:ext cx="6159058" cy="1446550"/>
          </a:xfrm>
          <a:prstGeom prst="rect">
            <a:avLst/>
          </a:prstGeom>
          <a:noFill/>
        </p:spPr>
        <p:txBody>
          <a:bodyPr wrap="none" rtlCol="0">
            <a:spAutoFit/>
          </a:bodyPr>
          <a:lstStyle/>
          <a:p>
            <a:pPr marL="342900" indent="-342900">
              <a:buFont typeface="Wingdings" pitchFamily="2" charset="2"/>
              <a:buChar char="§"/>
            </a:pPr>
            <a:r>
              <a:rPr lang="en-US" sz="2200" dirty="0">
                <a:latin typeface="Bookman Old Style" pitchFamily="18" charset="0"/>
              </a:rPr>
              <a:t>class </a:t>
            </a:r>
            <a:r>
              <a:rPr lang="en-US" sz="2200" dirty="0">
                <a:latin typeface="Bookman Old Style" pitchFamily="18" charset="0"/>
                <a:sym typeface="Wingdings"/>
              </a:rPr>
              <a:t> logical construct</a:t>
            </a:r>
          </a:p>
          <a:p>
            <a:pPr marL="342900" indent="-342900">
              <a:buFont typeface="Wingdings" pitchFamily="2" charset="2"/>
              <a:buChar char="§"/>
            </a:pPr>
            <a:r>
              <a:rPr lang="en-US" sz="2200" dirty="0">
                <a:latin typeface="Bookman Old Style" pitchFamily="18" charset="0"/>
                <a:sym typeface="Wingdings"/>
              </a:rPr>
              <a:t>object  physical reality</a:t>
            </a:r>
          </a:p>
          <a:p>
            <a:pPr marL="342900" indent="-342900">
              <a:buFont typeface="Wingdings" pitchFamily="2" charset="2"/>
              <a:buChar char="§"/>
            </a:pPr>
            <a:r>
              <a:rPr lang="en-US" sz="2200" dirty="0">
                <a:solidFill>
                  <a:schemeClr val="dk1"/>
                </a:solidFill>
                <a:latin typeface="Bookman Old Style" pitchFamily="18" charset="0"/>
              </a:rPr>
              <a:t>The object’s location is called a reference</a:t>
            </a:r>
            <a:endParaRPr lang="fr-FR" sz="2200" dirty="0">
              <a:solidFill>
                <a:schemeClr val="dk1"/>
              </a:solidFill>
              <a:latin typeface="Bookman Old Style" pitchFamily="18" charset="0"/>
            </a:endParaRPr>
          </a:p>
          <a:p>
            <a:pPr marL="342900" indent="-342900">
              <a:buFont typeface="Wingdings" pitchFamily="2" charset="2"/>
              <a:buChar char="§"/>
            </a:pPr>
            <a:endParaRPr lang="en-US" sz="2200" dirty="0">
              <a:latin typeface="Bookman Old Style"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052736"/>
            <a:ext cx="7185075" cy="3796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
        <p:nvSpPr>
          <p:cNvPr id="10" name="Rectangle 9"/>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Tree>
    <p:extLst>
      <p:ext uri="{BB962C8B-B14F-4D97-AF65-F5344CB8AC3E}">
        <p14:creationId xmlns:p14="http://schemas.microsoft.com/office/powerpoint/2010/main" val="1648608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p:cNvGrpSpPr/>
          <p:nvPr/>
        </p:nvGrpSpPr>
        <p:grpSpPr>
          <a:xfrm>
            <a:off x="724035" y="2158327"/>
            <a:ext cx="7423291" cy="1630713"/>
            <a:chOff x="724035" y="2681578"/>
            <a:chExt cx="7423291" cy="1630713"/>
          </a:xfrm>
        </p:grpSpPr>
        <p:pic>
          <p:nvPicPr>
            <p:cNvPr id="8" name="Picture 7"/>
            <p:cNvPicPr>
              <a:picLocks noChangeAspect="1"/>
            </p:cNvPicPr>
            <p:nvPr/>
          </p:nvPicPr>
          <p:blipFill rotWithShape="1">
            <a:blip r:embed="rId2"/>
            <a:srcRect l="50000"/>
            <a:stretch/>
          </p:blipFill>
          <p:spPr>
            <a:xfrm>
              <a:off x="5594626" y="2681578"/>
              <a:ext cx="2552700" cy="1612900"/>
            </a:xfrm>
            <a:prstGeom prst="rect">
              <a:avLst/>
            </a:prstGeom>
          </p:spPr>
        </p:pic>
        <p:pic>
          <p:nvPicPr>
            <p:cNvPr id="9" name="Picture 8"/>
            <p:cNvPicPr>
              <a:picLocks noChangeAspect="1"/>
            </p:cNvPicPr>
            <p:nvPr/>
          </p:nvPicPr>
          <p:blipFill rotWithShape="1">
            <a:blip r:embed="rId2"/>
            <a:srcRect l="50000"/>
            <a:stretch/>
          </p:blipFill>
          <p:spPr>
            <a:xfrm>
              <a:off x="1706756" y="2699391"/>
              <a:ext cx="2552700" cy="1612900"/>
            </a:xfrm>
            <a:prstGeom prst="rect">
              <a:avLst/>
            </a:prstGeom>
          </p:spPr>
        </p:pic>
        <p:pic>
          <p:nvPicPr>
            <p:cNvPr id="10" name="Picture 9"/>
            <p:cNvPicPr>
              <a:picLocks noChangeAspect="1"/>
            </p:cNvPicPr>
            <p:nvPr/>
          </p:nvPicPr>
          <p:blipFill rotWithShape="1">
            <a:blip r:embed="rId2"/>
            <a:srcRect l="11954" t="3318" r="76092" b="57321"/>
            <a:stretch/>
          </p:blipFill>
          <p:spPr>
            <a:xfrm>
              <a:off x="724035" y="3197172"/>
              <a:ext cx="610299" cy="634848"/>
            </a:xfrm>
            <a:prstGeom prst="rect">
              <a:avLst/>
            </a:prstGeom>
          </p:spPr>
        </p:pic>
        <p:pic>
          <p:nvPicPr>
            <p:cNvPr id="11" name="Picture 10"/>
            <p:cNvPicPr>
              <a:picLocks noChangeAspect="1"/>
            </p:cNvPicPr>
            <p:nvPr/>
          </p:nvPicPr>
          <p:blipFill rotWithShape="1">
            <a:blip r:embed="rId2"/>
            <a:srcRect l="11954" t="53318" r="76092" b="-3318"/>
            <a:stretch/>
          </p:blipFill>
          <p:spPr>
            <a:xfrm>
              <a:off x="4648741" y="3128140"/>
              <a:ext cx="610299" cy="806450"/>
            </a:xfrm>
            <a:prstGeom prst="rect">
              <a:avLst/>
            </a:prstGeom>
          </p:spPr>
        </p:pic>
        <p:sp>
          <p:nvSpPr>
            <p:cNvPr id="14" name="Rectangle 13"/>
            <p:cNvSpPr/>
            <p:nvPr/>
          </p:nvSpPr>
          <p:spPr>
            <a:xfrm>
              <a:off x="844792" y="3291990"/>
              <a:ext cx="449166" cy="2422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4771468" y="3293988"/>
              <a:ext cx="449166" cy="2422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p:nvPr/>
          </p:nvCxnSpPr>
          <p:spPr>
            <a:xfrm>
              <a:off x="1331640" y="3412101"/>
              <a:ext cx="43204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p:nvPr/>
          </p:nvCxnSpPr>
          <p:spPr>
            <a:xfrm>
              <a:off x="5220634" y="3409095"/>
              <a:ext cx="432048"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pic>
        <p:nvPicPr>
          <p:cNvPr id="4" name="Picture 3"/>
          <p:cNvPicPr>
            <a:picLocks noChangeAspect="1"/>
          </p:cNvPicPr>
          <p:nvPr/>
        </p:nvPicPr>
        <p:blipFill rotWithShape="1">
          <a:blip r:embed="rId2"/>
          <a:srcRect l="8114"/>
          <a:stretch/>
        </p:blipFill>
        <p:spPr>
          <a:xfrm>
            <a:off x="4427984" y="3645024"/>
            <a:ext cx="4691189" cy="1612900"/>
          </a:xfrm>
          <a:prstGeom prst="rect">
            <a:avLst/>
          </a:prstGeom>
        </p:spPr>
      </p:pic>
      <p:sp>
        <p:nvSpPr>
          <p:cNvPr id="2" name="Title 1"/>
          <p:cNvSpPr>
            <a:spLocks noGrp="1"/>
          </p:cNvSpPr>
          <p:nvPr>
            <p:ph type="title"/>
          </p:nvPr>
        </p:nvSpPr>
        <p:spPr>
          <a:xfrm>
            <a:off x="457200" y="116632"/>
            <a:ext cx="8435280" cy="1143000"/>
          </a:xfrm>
        </p:spPr>
        <p:txBody>
          <a:bodyPr>
            <a:normAutofit/>
          </a:bodyPr>
          <a:lstStyle/>
          <a:p>
            <a:r>
              <a:rPr lang="en-US" sz="3600" dirty="0">
                <a:latin typeface="Arial" pitchFamily="34" charset="0"/>
                <a:cs typeface="Arial" pitchFamily="34" charset="0"/>
              </a:rPr>
              <a:t>Assigning Object Reference Variables</a:t>
            </a:r>
          </a:p>
        </p:txBody>
      </p:sp>
      <p:sp>
        <p:nvSpPr>
          <p:cNvPr id="3" name="Content Placeholder 2"/>
          <p:cNvSpPr>
            <a:spLocks noGrp="1"/>
          </p:cNvSpPr>
          <p:nvPr>
            <p:ph idx="1"/>
          </p:nvPr>
        </p:nvSpPr>
        <p:spPr>
          <a:xfrm>
            <a:off x="282352" y="1243037"/>
            <a:ext cx="8579296" cy="5477709"/>
          </a:xfrm>
          <a:ln>
            <a:noFill/>
          </a:ln>
        </p:spPr>
        <p:txBody>
          <a:bodyPr>
            <a:noAutofit/>
          </a:bodyPr>
          <a:lstStyle/>
          <a:p>
            <a:pPr latinLnBrk="0">
              <a:buFont typeface="Wingdings" pitchFamily="2" charset="2"/>
              <a:buChar char="§"/>
            </a:pPr>
            <a:r>
              <a:rPr lang="en-US" sz="2000" dirty="0">
                <a:latin typeface="Bookman Old Style" pitchFamily="18" charset="0"/>
              </a:rPr>
              <a:t> </a:t>
            </a:r>
            <a:r>
              <a:rPr lang="en-US" sz="2000" dirty="0">
                <a:solidFill>
                  <a:srgbClr val="000000"/>
                </a:solidFill>
                <a:latin typeface="Bookman Old Style" pitchFamily="18" charset="0"/>
              </a:rPr>
              <a:t>== operator compares the references </a:t>
            </a:r>
          </a:p>
          <a:p>
            <a:pPr marL="914400" lvl="3" indent="0" latinLnBrk="0">
              <a:buNone/>
            </a:pPr>
            <a:r>
              <a:rPr lang="en-US" sz="1800" dirty="0">
                <a:solidFill>
                  <a:srgbClr val="000000"/>
                </a:solidFill>
                <a:latin typeface="Bookman Old Style" pitchFamily="18" charset="0"/>
              </a:rPr>
              <a:t>Box b1=new Box (2,3,4);</a:t>
            </a:r>
          </a:p>
          <a:p>
            <a:pPr marL="914400" lvl="3" indent="0" latinLnBrk="0">
              <a:buNone/>
            </a:pPr>
            <a:r>
              <a:rPr lang="en-US" sz="1800" dirty="0">
                <a:solidFill>
                  <a:srgbClr val="000000"/>
                </a:solidFill>
                <a:latin typeface="Bookman Old Style" pitchFamily="18" charset="0"/>
              </a:rPr>
              <a:t>Box b2= new Box(2,3,4);</a:t>
            </a:r>
          </a:p>
          <a:p>
            <a:pPr marL="228600" lvl="1" indent="0" latinLnBrk="0">
              <a:buNone/>
            </a:pPr>
            <a:endParaRPr lang="en-US" sz="2000" dirty="0">
              <a:solidFill>
                <a:srgbClr val="FF0000"/>
              </a:solidFill>
              <a:latin typeface="Bookman Old Style" pitchFamily="18" charset="0"/>
            </a:endParaRPr>
          </a:p>
          <a:p>
            <a:pPr marL="228600" lvl="1" indent="0" latinLnBrk="0">
              <a:buNone/>
            </a:pPr>
            <a:endParaRPr lang="en-US" sz="2000" dirty="0">
              <a:solidFill>
                <a:srgbClr val="FF0000"/>
              </a:solidFill>
              <a:latin typeface="Bookman Old Style" pitchFamily="18" charset="0"/>
            </a:endParaRPr>
          </a:p>
          <a:p>
            <a:pPr marL="228600" lvl="1" indent="0" latinLnBrk="0">
              <a:buNone/>
            </a:pPr>
            <a:endParaRPr lang="en-US" sz="2000" dirty="0">
              <a:solidFill>
                <a:srgbClr val="FF0000"/>
              </a:solidFill>
              <a:latin typeface="Bookman Old Style" pitchFamily="18" charset="0"/>
            </a:endParaRPr>
          </a:p>
          <a:p>
            <a:pPr marL="228600" lvl="1" indent="0" latinLnBrk="0">
              <a:buNone/>
            </a:pPr>
            <a:endParaRPr lang="en-US" sz="2000" dirty="0">
              <a:solidFill>
                <a:srgbClr val="FF0000"/>
              </a:solidFill>
              <a:latin typeface="Bookman Old Style" pitchFamily="18" charset="0"/>
            </a:endParaRPr>
          </a:p>
          <a:p>
            <a:pPr marL="228600" lvl="1" indent="0" latinLnBrk="0">
              <a:buNone/>
            </a:pPr>
            <a:r>
              <a:rPr lang="en-US" sz="2000" dirty="0">
                <a:solidFill>
                  <a:srgbClr val="FF0000"/>
                </a:solidFill>
                <a:latin typeface="Bookman Old Style" pitchFamily="18" charset="0"/>
              </a:rPr>
              <a:t>   Does b1==b2?    </a:t>
            </a:r>
            <a:r>
              <a:rPr lang="en-US" sz="2000" dirty="0">
                <a:solidFill>
                  <a:srgbClr val="FF0000"/>
                </a:solidFill>
                <a:latin typeface="Bookman Old Style" pitchFamily="18" charset="0"/>
                <a:sym typeface="Wingdings"/>
              </a:rPr>
              <a:t></a:t>
            </a:r>
            <a:r>
              <a:rPr lang="en-US" sz="2000" dirty="0">
                <a:solidFill>
                  <a:srgbClr val="FF0000"/>
                </a:solidFill>
                <a:latin typeface="Bookman Old Style" pitchFamily="18" charset="0"/>
              </a:rPr>
              <a:t>    No</a:t>
            </a:r>
          </a:p>
          <a:p>
            <a:pPr marL="457200" lvl="2" indent="0" latinLnBrk="0">
              <a:buNone/>
            </a:pPr>
            <a:r>
              <a:rPr lang="en-US" sz="2000" dirty="0">
                <a:solidFill>
                  <a:schemeClr val="tx1"/>
                </a:solidFill>
                <a:latin typeface="Bookman Old Style" pitchFamily="18" charset="0"/>
              </a:rPr>
              <a:t>Box b3=new Box();</a:t>
            </a:r>
          </a:p>
          <a:p>
            <a:pPr marL="457200" lvl="2" indent="0" latinLnBrk="0">
              <a:buNone/>
            </a:pPr>
            <a:r>
              <a:rPr lang="en-US" sz="2000" dirty="0">
                <a:solidFill>
                  <a:schemeClr val="tx1"/>
                </a:solidFill>
                <a:latin typeface="Bookman Old Style" pitchFamily="18" charset="0"/>
              </a:rPr>
              <a:t>Box b4=b3;</a:t>
            </a:r>
          </a:p>
          <a:p>
            <a:pPr marL="457200" lvl="2" indent="0" latinLnBrk="0">
              <a:buNone/>
            </a:pPr>
            <a:r>
              <a:rPr lang="en-US" sz="2000" dirty="0">
                <a:solidFill>
                  <a:srgbClr val="FF0000"/>
                </a:solidFill>
                <a:latin typeface="Bookman Old Style" pitchFamily="18" charset="0"/>
              </a:rPr>
              <a:t>Does b3==b4?    </a:t>
            </a:r>
            <a:r>
              <a:rPr lang="en-US" sz="2000" dirty="0">
                <a:solidFill>
                  <a:srgbClr val="FF0000"/>
                </a:solidFill>
                <a:latin typeface="Bookman Old Style" pitchFamily="18" charset="0"/>
                <a:sym typeface="Wingdings"/>
              </a:rPr>
              <a:t></a:t>
            </a:r>
            <a:r>
              <a:rPr lang="en-US" sz="2000" dirty="0">
                <a:solidFill>
                  <a:srgbClr val="FF0000"/>
                </a:solidFill>
                <a:latin typeface="Bookman Old Style" pitchFamily="18" charset="0"/>
              </a:rPr>
              <a:t>  Yes</a:t>
            </a:r>
          </a:p>
          <a:p>
            <a:pPr marL="0" latinLnBrk="0">
              <a:buFont typeface="Wingdings" pitchFamily="2" charset="2"/>
              <a:buChar char="§"/>
            </a:pPr>
            <a:endParaRPr lang="en-US" sz="1800" dirty="0">
              <a:solidFill>
                <a:schemeClr val="tx1"/>
              </a:solidFill>
              <a:latin typeface="Bookman Old Style" pitchFamily="18" charset="0"/>
            </a:endParaRPr>
          </a:p>
          <a:p>
            <a:pPr marL="0" latinLnBrk="0">
              <a:buFont typeface="Wingdings" pitchFamily="2" charset="2"/>
              <a:buChar char="§"/>
            </a:pPr>
            <a:r>
              <a:rPr lang="en-US" sz="1800" dirty="0">
                <a:solidFill>
                  <a:schemeClr val="tx1"/>
                </a:solidFill>
                <a:latin typeface="Bookman Old Style" pitchFamily="18" charset="0"/>
              </a:rPr>
              <a:t>b3 and b4 refer to the same object</a:t>
            </a:r>
          </a:p>
          <a:p>
            <a:pPr marL="0" latinLnBrk="0">
              <a:buFont typeface="Wingdings" pitchFamily="2" charset="2"/>
              <a:buChar char="§"/>
            </a:pPr>
            <a:r>
              <a:rPr lang="en-US" sz="1800" dirty="0">
                <a:solidFill>
                  <a:schemeClr val="tx1"/>
                </a:solidFill>
                <a:latin typeface="Bookman Old Style" pitchFamily="18" charset="0"/>
              </a:rPr>
              <a:t>Any changes made to the object through b3 will affect the object to which b3 is referring</a:t>
            </a:r>
          </a:p>
        </p:txBody>
      </p:sp>
      <p:sp>
        <p:nvSpPr>
          <p:cNvPr id="6" name="Rectangle 5"/>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
        <p:nvSpPr>
          <p:cNvPr id="7" name="Rectangle 6"/>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
        <p:nvSpPr>
          <p:cNvPr id="21" name="TextBox 20"/>
          <p:cNvSpPr txBox="1"/>
          <p:nvPr/>
        </p:nvSpPr>
        <p:spPr>
          <a:xfrm>
            <a:off x="4619713" y="4114669"/>
            <a:ext cx="405880" cy="307777"/>
          </a:xfrm>
          <a:prstGeom prst="rect">
            <a:avLst/>
          </a:prstGeom>
          <a:solidFill>
            <a:schemeClr val="bg1"/>
          </a:solidFill>
        </p:spPr>
        <p:txBody>
          <a:bodyPr wrap="none" rtlCol="0">
            <a:spAutoFit/>
          </a:bodyPr>
          <a:lstStyle/>
          <a:p>
            <a:r>
              <a:rPr lang="en-US" sz="1400" dirty="0">
                <a:latin typeface="Bookman Old Style" pitchFamily="18" charset="0"/>
              </a:rPr>
              <a:t>b3</a:t>
            </a:r>
          </a:p>
        </p:txBody>
      </p:sp>
      <p:sp>
        <p:nvSpPr>
          <p:cNvPr id="22" name="TextBox 21"/>
          <p:cNvSpPr txBox="1"/>
          <p:nvPr/>
        </p:nvSpPr>
        <p:spPr>
          <a:xfrm>
            <a:off x="4572000" y="4950147"/>
            <a:ext cx="405880" cy="307777"/>
          </a:xfrm>
          <a:prstGeom prst="rect">
            <a:avLst/>
          </a:prstGeom>
          <a:solidFill>
            <a:schemeClr val="bg1"/>
          </a:solidFill>
        </p:spPr>
        <p:txBody>
          <a:bodyPr wrap="none" rtlCol="0">
            <a:spAutoFit/>
          </a:bodyPr>
          <a:lstStyle/>
          <a:p>
            <a:r>
              <a:rPr lang="en-US" sz="1400" dirty="0">
                <a:latin typeface="Bookman Old Style" pitchFamily="18" charset="0"/>
              </a:rPr>
              <a:t>b4</a:t>
            </a:r>
          </a:p>
        </p:txBody>
      </p:sp>
    </p:spTree>
    <p:extLst>
      <p:ext uri="{BB962C8B-B14F-4D97-AF65-F5344CB8AC3E}">
        <p14:creationId xmlns:p14="http://schemas.microsoft.com/office/powerpoint/2010/main" val="3252939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dissolve">
                                      <p:cBhvr>
                                        <p:cTn id="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7504" y="260648"/>
            <a:ext cx="8784976" cy="338554"/>
          </a:xfrm>
          <a:prstGeom prst="rect">
            <a:avLst/>
          </a:prstGeom>
        </p:spPr>
        <p:txBody>
          <a:bodyPr wrap="square">
            <a:spAutoFit/>
          </a:bodyPr>
          <a:lstStyle/>
          <a:p>
            <a:pPr algn="just"/>
            <a:r>
              <a:rPr lang="en-US" sz="1600" b="1" dirty="0">
                <a:solidFill>
                  <a:prstClr val="black"/>
                </a:solidFill>
                <a:latin typeface="Bookman Old Style" pitchFamily="18" charset="0"/>
              </a:rPr>
              <a:t>Example 3.2. </a:t>
            </a:r>
            <a:r>
              <a:rPr lang="en-US" sz="1600" dirty="0">
                <a:solidFill>
                  <a:prstClr val="black"/>
                </a:solidFill>
                <a:latin typeface="Bookman Old Style" pitchFamily="18" charset="0"/>
              </a:rPr>
              <a:t>Demonstrate Object Reference Variables</a:t>
            </a:r>
          </a:p>
        </p:txBody>
      </p:sp>
      <p:sp>
        <p:nvSpPr>
          <p:cNvPr id="7" name="Rectangle 6"/>
          <p:cNvSpPr/>
          <p:nvPr/>
        </p:nvSpPr>
        <p:spPr>
          <a:xfrm>
            <a:off x="0" y="792925"/>
            <a:ext cx="8892480" cy="5509200"/>
          </a:xfrm>
          <a:prstGeom prst="rect">
            <a:avLst/>
          </a:prstGeom>
          <a:ln>
            <a:solidFill>
              <a:srgbClr val="0000CC"/>
            </a:solidFill>
          </a:ln>
        </p:spPr>
        <p:txBody>
          <a:bodyPr wrap="square">
            <a:spAutoFit/>
          </a:bodyPr>
          <a:lstStyle/>
          <a:p>
            <a:pPr algn="just"/>
            <a:r>
              <a:rPr lang="en-US" sz="1600" dirty="0">
                <a:solidFill>
                  <a:prstClr val="black"/>
                </a:solidFill>
                <a:latin typeface="Bookman Old Style" pitchFamily="18" charset="0"/>
              </a:rPr>
              <a:t>class </a:t>
            </a:r>
            <a:r>
              <a:rPr lang="en-US" sz="1600" dirty="0" err="1">
                <a:solidFill>
                  <a:prstClr val="black"/>
                </a:solidFill>
                <a:latin typeface="Bookman Old Style" pitchFamily="18" charset="0"/>
              </a:rPr>
              <a:t>BoxDemo</a:t>
            </a:r>
            <a:r>
              <a:rPr lang="en-US" sz="1600" dirty="0">
                <a:solidFill>
                  <a:prstClr val="black"/>
                </a:solidFill>
                <a:latin typeface="Bookman Old Style" pitchFamily="18" charset="0"/>
              </a:rPr>
              <a:t> {</a:t>
            </a:r>
          </a:p>
          <a:p>
            <a:pPr algn="just"/>
            <a:r>
              <a:rPr lang="en-US" sz="1600" dirty="0">
                <a:solidFill>
                  <a:prstClr val="black"/>
                </a:solidFill>
                <a:latin typeface="Bookman Old Style" pitchFamily="18" charset="0"/>
              </a:rPr>
              <a:t>public static void main(String </a:t>
            </a:r>
            <a:r>
              <a:rPr lang="en-US" sz="1600" dirty="0" err="1">
                <a:solidFill>
                  <a:prstClr val="black"/>
                </a:solidFill>
                <a:latin typeface="Bookman Old Style" pitchFamily="18" charset="0"/>
              </a:rPr>
              <a:t>args</a:t>
            </a:r>
            <a:r>
              <a:rPr lang="en-US" sz="1600" dirty="0">
                <a:solidFill>
                  <a:prstClr val="black"/>
                </a:solidFill>
                <a:latin typeface="Bookman Old Style" pitchFamily="18" charset="0"/>
              </a:rPr>
              <a:t>[]) {</a:t>
            </a:r>
          </a:p>
          <a:p>
            <a:pPr lvl="1" algn="just"/>
            <a:r>
              <a:rPr lang="en-US" sz="1600" dirty="0">
                <a:solidFill>
                  <a:prstClr val="black"/>
                </a:solidFill>
                <a:latin typeface="Bookman Old Style" pitchFamily="18" charset="0"/>
              </a:rPr>
              <a:t>Box box1=new Box (2,3,4);</a:t>
            </a:r>
          </a:p>
          <a:p>
            <a:pPr lvl="1" algn="just"/>
            <a:r>
              <a:rPr lang="en-US" sz="1600" dirty="0">
                <a:solidFill>
                  <a:prstClr val="black"/>
                </a:solidFill>
                <a:latin typeface="Bookman Old Style" pitchFamily="18" charset="0"/>
              </a:rPr>
              <a:t>Box box2= new Box(2,3,4);</a:t>
            </a:r>
          </a:p>
          <a:p>
            <a:pPr lvl="1" algn="just"/>
            <a:r>
              <a:rPr lang="en-US" sz="1600" dirty="0">
                <a:solidFill>
                  <a:prstClr val="black"/>
                </a:solidFill>
                <a:latin typeface="Bookman Old Style" pitchFamily="18" charset="0"/>
              </a:rPr>
              <a:t>Box box3=box1;</a:t>
            </a:r>
          </a:p>
          <a:p>
            <a:pPr lvl="1" algn="just"/>
            <a:r>
              <a:rPr lang="en-US" sz="1600" dirty="0">
                <a:solidFill>
                  <a:prstClr val="black"/>
                </a:solidFill>
                <a:latin typeface="Bookman Old Style" pitchFamily="18" charset="0"/>
              </a:rPr>
              <a:t>if(box1==box2)</a:t>
            </a:r>
          </a:p>
          <a:p>
            <a:pPr lvl="1" algn="just"/>
            <a:r>
              <a:rPr lang="en-US" sz="1600" dirty="0" err="1">
                <a:solidFill>
                  <a:prstClr val="black"/>
                </a:solidFill>
                <a:latin typeface="Bookman Old Style" pitchFamily="18" charset="0"/>
              </a:rPr>
              <a:t>System.out.println</a:t>
            </a:r>
            <a:r>
              <a:rPr lang="en-US" sz="1600" dirty="0">
                <a:solidFill>
                  <a:prstClr val="black"/>
                </a:solidFill>
                <a:latin typeface="Bookman Old Style" pitchFamily="18" charset="0"/>
              </a:rPr>
              <a:t>("Memory references of Box 1 and box 2 are same." );</a:t>
            </a:r>
          </a:p>
          <a:p>
            <a:pPr lvl="1" algn="just"/>
            <a:r>
              <a:rPr lang="en-US" sz="1600" dirty="0">
                <a:solidFill>
                  <a:prstClr val="black"/>
                </a:solidFill>
                <a:latin typeface="Bookman Old Style" pitchFamily="18" charset="0"/>
              </a:rPr>
              <a:t>if(box1==box3)</a:t>
            </a:r>
          </a:p>
          <a:p>
            <a:pPr lvl="1" algn="just"/>
            <a:r>
              <a:rPr lang="en-US" sz="1600" dirty="0" err="1">
                <a:solidFill>
                  <a:prstClr val="black"/>
                </a:solidFill>
                <a:latin typeface="Bookman Old Style" pitchFamily="18" charset="0"/>
              </a:rPr>
              <a:t>System.out.println</a:t>
            </a:r>
            <a:r>
              <a:rPr lang="en-US" sz="1600" dirty="0">
                <a:solidFill>
                  <a:prstClr val="black"/>
                </a:solidFill>
                <a:latin typeface="Bookman Old Style" pitchFamily="18" charset="0"/>
              </a:rPr>
              <a:t>("Memory references of Box 1 and box 3 are same." );</a:t>
            </a:r>
          </a:p>
          <a:p>
            <a:pPr lvl="1" algn="just"/>
            <a:r>
              <a:rPr lang="en-US" sz="1600" dirty="0" err="1">
                <a:solidFill>
                  <a:prstClr val="black"/>
                </a:solidFill>
                <a:latin typeface="Bookman Old Style" pitchFamily="18" charset="0"/>
              </a:rPr>
              <a:t>System.out.println</a:t>
            </a:r>
            <a:r>
              <a:rPr lang="en-US" sz="1600" dirty="0">
                <a:solidFill>
                  <a:prstClr val="black"/>
                </a:solidFill>
                <a:latin typeface="Bookman Old Style" pitchFamily="18" charset="0"/>
              </a:rPr>
              <a:t>("Box 1 : "+box1.width+"\t"+box1.height+"\t"+box1.depth);</a:t>
            </a:r>
          </a:p>
          <a:p>
            <a:pPr lvl="1" algn="just"/>
            <a:r>
              <a:rPr lang="en-US" sz="1600" dirty="0" err="1">
                <a:solidFill>
                  <a:prstClr val="black"/>
                </a:solidFill>
                <a:latin typeface="Bookman Old Style" pitchFamily="18" charset="0"/>
              </a:rPr>
              <a:t>System.out.println</a:t>
            </a:r>
            <a:r>
              <a:rPr lang="en-US" sz="1600" dirty="0">
                <a:solidFill>
                  <a:prstClr val="black"/>
                </a:solidFill>
                <a:latin typeface="Bookman Old Style" pitchFamily="18" charset="0"/>
              </a:rPr>
              <a:t>("Box 2 : "+box2.width+"\t"+box2.height+"\t"+box2.depth);</a:t>
            </a:r>
          </a:p>
          <a:p>
            <a:pPr lvl="1" algn="just"/>
            <a:r>
              <a:rPr lang="en-US" sz="1600" dirty="0" err="1">
                <a:solidFill>
                  <a:prstClr val="black"/>
                </a:solidFill>
                <a:latin typeface="Bookman Old Style" pitchFamily="18" charset="0"/>
              </a:rPr>
              <a:t>System.out.println</a:t>
            </a:r>
            <a:r>
              <a:rPr lang="en-US" sz="1600" dirty="0">
                <a:solidFill>
                  <a:prstClr val="black"/>
                </a:solidFill>
                <a:latin typeface="Bookman Old Style" pitchFamily="18" charset="0"/>
              </a:rPr>
              <a:t>("Box 3 : "+box3.width+"\t"+box3.height+"\t"+box3.depth);</a:t>
            </a:r>
          </a:p>
          <a:p>
            <a:pPr lvl="1" algn="just"/>
            <a:r>
              <a:rPr lang="en-US" sz="1600" dirty="0">
                <a:solidFill>
                  <a:prstClr val="black"/>
                </a:solidFill>
                <a:latin typeface="Bookman Old Style" pitchFamily="18" charset="0"/>
              </a:rPr>
              <a:t>// Update box1's instance variables</a:t>
            </a:r>
          </a:p>
          <a:p>
            <a:pPr lvl="1" algn="just"/>
            <a:r>
              <a:rPr lang="en-US" sz="1600" dirty="0">
                <a:solidFill>
                  <a:prstClr val="black"/>
                </a:solidFill>
                <a:latin typeface="Bookman Old Style" pitchFamily="18" charset="0"/>
              </a:rPr>
              <a:t>box1.width = 10;</a:t>
            </a:r>
          </a:p>
          <a:p>
            <a:pPr lvl="1" algn="just"/>
            <a:r>
              <a:rPr lang="en-US" sz="1600" dirty="0">
                <a:solidFill>
                  <a:prstClr val="black"/>
                </a:solidFill>
                <a:latin typeface="Bookman Old Style" pitchFamily="18" charset="0"/>
              </a:rPr>
              <a:t>box1.height = 20;</a:t>
            </a:r>
          </a:p>
          <a:p>
            <a:pPr lvl="1" algn="just"/>
            <a:r>
              <a:rPr lang="en-US" sz="1600" dirty="0">
                <a:solidFill>
                  <a:prstClr val="black"/>
                </a:solidFill>
                <a:latin typeface="Bookman Old Style" pitchFamily="18" charset="0"/>
              </a:rPr>
              <a:t>box1.depth = 15;</a:t>
            </a:r>
          </a:p>
          <a:p>
            <a:pPr lvl="1" algn="just"/>
            <a:r>
              <a:rPr lang="en-US" sz="1600" dirty="0" err="1">
                <a:solidFill>
                  <a:prstClr val="black"/>
                </a:solidFill>
                <a:latin typeface="Bookman Old Style" pitchFamily="18" charset="0"/>
              </a:rPr>
              <a:t>System.out.println</a:t>
            </a:r>
            <a:r>
              <a:rPr lang="en-US" sz="1600" dirty="0">
                <a:solidFill>
                  <a:prstClr val="black"/>
                </a:solidFill>
                <a:latin typeface="Bookman Old Style" pitchFamily="18" charset="0"/>
              </a:rPr>
              <a:t>("After updating box 1:\n");</a:t>
            </a:r>
          </a:p>
          <a:p>
            <a:pPr lvl="1" algn="just"/>
            <a:r>
              <a:rPr lang="en-US" sz="1600" dirty="0" err="1">
                <a:solidFill>
                  <a:prstClr val="black"/>
                </a:solidFill>
                <a:latin typeface="Bookman Old Style" pitchFamily="18" charset="0"/>
              </a:rPr>
              <a:t>System.out.println</a:t>
            </a:r>
            <a:r>
              <a:rPr lang="en-US" sz="1600" dirty="0">
                <a:solidFill>
                  <a:prstClr val="black"/>
                </a:solidFill>
                <a:latin typeface="Bookman Old Style" pitchFamily="18" charset="0"/>
              </a:rPr>
              <a:t>("Box 1 : "+box1.width+"\t"+box1.height+"\t"+box1.depth);</a:t>
            </a:r>
          </a:p>
          <a:p>
            <a:pPr lvl="1" algn="just"/>
            <a:r>
              <a:rPr lang="en-US" sz="1600" dirty="0" err="1">
                <a:solidFill>
                  <a:prstClr val="black"/>
                </a:solidFill>
                <a:latin typeface="Bookman Old Style" pitchFamily="18" charset="0"/>
              </a:rPr>
              <a:t>System.out.println</a:t>
            </a:r>
            <a:r>
              <a:rPr lang="en-US" sz="1600" dirty="0">
                <a:solidFill>
                  <a:prstClr val="black"/>
                </a:solidFill>
                <a:latin typeface="Bookman Old Style" pitchFamily="18" charset="0"/>
              </a:rPr>
              <a:t>("Box 2 : "+box2.width+"\t"+box2.height+"\t"+box2.depth);</a:t>
            </a:r>
          </a:p>
          <a:p>
            <a:pPr lvl="1" algn="just"/>
            <a:r>
              <a:rPr lang="en-US" sz="1600" dirty="0" err="1">
                <a:solidFill>
                  <a:prstClr val="black"/>
                </a:solidFill>
                <a:latin typeface="Bookman Old Style" pitchFamily="18" charset="0"/>
              </a:rPr>
              <a:t>System.out.println</a:t>
            </a:r>
            <a:r>
              <a:rPr lang="en-US" sz="1600" dirty="0">
                <a:solidFill>
                  <a:prstClr val="black"/>
                </a:solidFill>
                <a:latin typeface="Bookman Old Style" pitchFamily="18" charset="0"/>
              </a:rPr>
              <a:t>("Box 3 : "+box3.width+"\t"+box3.height+"\t"+box3.depth);</a:t>
            </a:r>
          </a:p>
          <a:p>
            <a:pPr algn="just"/>
            <a:r>
              <a:rPr lang="en-US" sz="1600" dirty="0">
                <a:solidFill>
                  <a:prstClr val="black"/>
                </a:solidFill>
                <a:latin typeface="Bookman Old Style" pitchFamily="18" charset="0"/>
              </a:rPr>
              <a:t>}</a:t>
            </a:r>
          </a:p>
          <a:p>
            <a:pPr algn="just"/>
            <a:r>
              <a:rPr lang="en-US" sz="1600" dirty="0">
                <a:solidFill>
                  <a:prstClr val="black"/>
                </a:solidFill>
                <a:latin typeface="Bookman Old Style" pitchFamily="18" charset="0"/>
              </a:rPr>
              <a:t>} </a:t>
            </a:r>
          </a:p>
        </p:txBody>
      </p:sp>
      <p:sp>
        <p:nvSpPr>
          <p:cNvPr id="8" name="Rectangle 7"/>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
        <p:nvSpPr>
          <p:cNvPr id="9" name="Rectangle 8"/>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Tree>
    <p:extLst>
      <p:ext uri="{BB962C8B-B14F-4D97-AF65-F5344CB8AC3E}">
        <p14:creationId xmlns:p14="http://schemas.microsoft.com/office/powerpoint/2010/main" val="2537592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7544" y="548680"/>
            <a:ext cx="6012160" cy="28623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u="sng" dirty="0">
                <a:latin typeface="Bookman Old Style" pitchFamily="18" charset="0"/>
              </a:rPr>
              <a:t>Output</a:t>
            </a:r>
          </a:p>
          <a:p>
            <a:r>
              <a:rPr lang="en-US" dirty="0">
                <a:latin typeface="Bookman Old Style" pitchFamily="18" charset="0"/>
              </a:rPr>
              <a:t>Memory references of Box 1 and box 3 are same.</a:t>
            </a:r>
          </a:p>
          <a:p>
            <a:r>
              <a:rPr lang="en-US" dirty="0">
                <a:latin typeface="Bookman Old Style" pitchFamily="18" charset="0"/>
              </a:rPr>
              <a:t>Box 1 : 2.0 3.0 4.0</a:t>
            </a:r>
          </a:p>
          <a:p>
            <a:r>
              <a:rPr lang="en-US" dirty="0">
                <a:latin typeface="Bookman Old Style" pitchFamily="18" charset="0"/>
              </a:rPr>
              <a:t>Box 2 : 2.0 3.0 4.0</a:t>
            </a:r>
          </a:p>
          <a:p>
            <a:r>
              <a:rPr lang="en-US" dirty="0">
                <a:latin typeface="Bookman Old Style" pitchFamily="18" charset="0"/>
              </a:rPr>
              <a:t>Box 3 : 2.0 3.0 4.0</a:t>
            </a:r>
          </a:p>
          <a:p>
            <a:r>
              <a:rPr lang="en-US" dirty="0">
                <a:latin typeface="Bookman Old Style" pitchFamily="18" charset="0"/>
              </a:rPr>
              <a:t>After updating box 1:</a:t>
            </a:r>
          </a:p>
          <a:p>
            <a:endParaRPr lang="en-US" dirty="0">
              <a:latin typeface="Bookman Old Style" pitchFamily="18" charset="0"/>
            </a:endParaRPr>
          </a:p>
          <a:p>
            <a:r>
              <a:rPr lang="en-US" dirty="0">
                <a:latin typeface="Bookman Old Style" pitchFamily="18" charset="0"/>
              </a:rPr>
              <a:t>Box 1 : 10.0 20.0 15.0</a:t>
            </a:r>
          </a:p>
          <a:p>
            <a:r>
              <a:rPr lang="en-US" dirty="0">
                <a:latin typeface="Bookman Old Style" pitchFamily="18" charset="0"/>
              </a:rPr>
              <a:t>Box 2 : 2.0     3.0  4.0</a:t>
            </a:r>
          </a:p>
          <a:p>
            <a:r>
              <a:rPr lang="en-US" dirty="0">
                <a:latin typeface="Bookman Old Style" pitchFamily="18" charset="0"/>
              </a:rPr>
              <a:t>Box 3 : 10.0 20.0 15.0</a:t>
            </a:r>
          </a:p>
        </p:txBody>
      </p:sp>
      <p:sp>
        <p:nvSpPr>
          <p:cNvPr id="6" name="Rectangle 5"/>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
        <p:nvSpPr>
          <p:cNvPr id="7" name="Rectangle 6"/>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Bookman Old Style" pitchFamily="18" charset="0"/>
            </a:endParaRPr>
          </a:p>
        </p:txBody>
      </p:sp>
    </p:spTree>
    <p:extLst>
      <p:ext uri="{BB962C8B-B14F-4D97-AF65-F5344CB8AC3E}">
        <p14:creationId xmlns:p14="http://schemas.microsoft.com/office/powerpoint/2010/main" val="406253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432" y="44624"/>
            <a:ext cx="7620000" cy="1143000"/>
          </a:xfrm>
        </p:spPr>
        <p:txBody>
          <a:bodyPr>
            <a:normAutofit/>
          </a:bodyPr>
          <a:lstStyle/>
          <a:p>
            <a:r>
              <a:rPr lang="en-US" sz="3600" dirty="0">
                <a:latin typeface="Arial" pitchFamily="34" charset="0"/>
                <a:cs typeface="Arial" pitchFamily="34" charset="0"/>
              </a:rPr>
              <a:t>Introducing Methods</a:t>
            </a:r>
          </a:p>
        </p:txBody>
      </p:sp>
      <p:sp>
        <p:nvSpPr>
          <p:cNvPr id="3" name="Content Placeholder 2"/>
          <p:cNvSpPr>
            <a:spLocks noGrp="1"/>
          </p:cNvSpPr>
          <p:nvPr>
            <p:ph idx="1"/>
          </p:nvPr>
        </p:nvSpPr>
        <p:spPr>
          <a:xfrm>
            <a:off x="251520" y="1508720"/>
            <a:ext cx="8496944" cy="4800600"/>
          </a:xfrm>
        </p:spPr>
        <p:txBody>
          <a:bodyPr>
            <a:normAutofit/>
          </a:bodyPr>
          <a:lstStyle/>
          <a:p>
            <a:pPr algn="just" latinLnBrk="0">
              <a:buFont typeface="Wingdings" pitchFamily="2" charset="2"/>
              <a:buChar char="§"/>
            </a:pPr>
            <a:r>
              <a:rPr lang="en-US" sz="2000" dirty="0">
                <a:latin typeface="Bookman Old Style" pitchFamily="18" charset="0"/>
              </a:rPr>
              <a:t>A method is a program module that contains a series of statements that carry out a task.</a:t>
            </a:r>
          </a:p>
          <a:p>
            <a:pPr algn="just" latinLnBrk="0">
              <a:buFont typeface="Wingdings" pitchFamily="2" charset="2"/>
              <a:buChar char="§"/>
            </a:pPr>
            <a:r>
              <a:rPr lang="en-US" sz="2000" dirty="0">
                <a:latin typeface="Bookman Old Style" pitchFamily="18" charset="0"/>
              </a:rPr>
              <a:t>Any class can contain an unlimited number of methods, and each method can be called an unlimited number of times</a:t>
            </a:r>
          </a:p>
          <a:p>
            <a:pPr algn="just" latinLnBrk="0">
              <a:buFont typeface="Wingdings" pitchFamily="2" charset="2"/>
              <a:buChar char="§"/>
            </a:pPr>
            <a:endParaRPr lang="en-US" sz="2000" dirty="0">
              <a:latin typeface="Bookman Old Style" pitchFamily="18" charset="0"/>
            </a:endParaRPr>
          </a:p>
          <a:p>
            <a:pPr algn="just" latinLnBrk="0">
              <a:buFont typeface="Wingdings" pitchFamily="2" charset="2"/>
              <a:buChar char="§"/>
            </a:pPr>
            <a:endParaRPr lang="en-US" sz="2000" dirty="0">
              <a:latin typeface="Bookman Old Style" pitchFamily="18" charset="0"/>
            </a:endParaRPr>
          </a:p>
          <a:p>
            <a:pPr algn="just" latinLnBrk="0">
              <a:buFont typeface="Wingdings" pitchFamily="2" charset="2"/>
              <a:buChar char="§"/>
            </a:pPr>
            <a:endParaRPr lang="en-US" sz="2000" dirty="0">
              <a:latin typeface="Bookman Old Style" pitchFamily="18" charset="0"/>
            </a:endParaRPr>
          </a:p>
          <a:p>
            <a:pPr algn="just" latinLnBrk="0">
              <a:buFont typeface="Wingdings" pitchFamily="2" charset="2"/>
              <a:buChar char="§"/>
            </a:pPr>
            <a:endParaRPr lang="en-US" sz="2000" dirty="0">
              <a:latin typeface="Bookman Old Style" pitchFamily="18" charset="0"/>
            </a:endParaRPr>
          </a:p>
          <a:p>
            <a:pPr lvl="1" algn="just" latinLnBrk="0">
              <a:buFont typeface="Wingdings" pitchFamily="2" charset="2"/>
              <a:buChar char="§"/>
            </a:pPr>
            <a:r>
              <a:rPr lang="en-US" sz="1600" dirty="0">
                <a:latin typeface="Bookman Old Style" pitchFamily="18" charset="0"/>
              </a:rPr>
              <a:t>type:  specifies the type of data returned by the method </a:t>
            </a:r>
          </a:p>
          <a:p>
            <a:pPr marL="457200" lvl="1" indent="0" algn="just" latinLnBrk="0">
              <a:buNone/>
            </a:pPr>
            <a:r>
              <a:rPr lang="en-US" sz="1600" dirty="0">
                <a:latin typeface="Bookman Old Style" pitchFamily="18" charset="0"/>
              </a:rPr>
              <a:t>	       No return </a:t>
            </a:r>
            <a:r>
              <a:rPr lang="en-US" sz="1600" dirty="0">
                <a:latin typeface="Bookman Old Style" pitchFamily="18" charset="0"/>
                <a:sym typeface="Wingdings" pitchFamily="2" charset="2"/>
              </a:rPr>
              <a:t> </a:t>
            </a:r>
            <a:r>
              <a:rPr lang="en-US" sz="1600" dirty="0">
                <a:latin typeface="Bookman Old Style" pitchFamily="18" charset="0"/>
              </a:rPr>
              <a:t>void</a:t>
            </a:r>
            <a:endParaRPr lang="en-US" sz="1600" dirty="0">
              <a:latin typeface="Bookman Old Style" pitchFamily="18" charset="0"/>
              <a:sym typeface="Wingdings" pitchFamily="2" charset="2"/>
            </a:endParaRPr>
          </a:p>
          <a:p>
            <a:pPr lvl="1" algn="just" latinLnBrk="0">
              <a:buFont typeface="Wingdings" pitchFamily="2" charset="2"/>
              <a:buChar char="§"/>
            </a:pPr>
            <a:endParaRPr lang="en-US" sz="1600" dirty="0">
              <a:latin typeface="Bookman Old Style" pitchFamily="18" charset="0"/>
            </a:endParaRPr>
          </a:p>
        </p:txBody>
      </p:sp>
      <p:sp>
        <p:nvSpPr>
          <p:cNvPr id="11" name="Rectangle 10"/>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069976" y="3114526"/>
            <a:ext cx="4572000" cy="923330"/>
          </a:xfrm>
          <a:prstGeom prst="rect">
            <a:avLst/>
          </a:prstGeom>
          <a:ln>
            <a:solidFill>
              <a:srgbClr val="0000CC"/>
            </a:solidFill>
          </a:ln>
        </p:spPr>
        <p:txBody>
          <a:bodyPr>
            <a:spAutoFit/>
          </a:bodyPr>
          <a:lstStyle/>
          <a:p>
            <a:r>
              <a:rPr lang="en-US" i="1" dirty="0"/>
              <a:t>type  name </a:t>
            </a:r>
            <a:r>
              <a:rPr lang="en-US" dirty="0"/>
              <a:t>(</a:t>
            </a:r>
            <a:r>
              <a:rPr lang="en-US" i="1" dirty="0"/>
              <a:t>parameter</a:t>
            </a:r>
            <a:r>
              <a:rPr lang="en-US" dirty="0"/>
              <a:t>-</a:t>
            </a:r>
            <a:r>
              <a:rPr lang="en-US" i="1" dirty="0"/>
              <a:t>list</a:t>
            </a:r>
            <a:r>
              <a:rPr lang="en-US" dirty="0"/>
              <a:t>) {</a:t>
            </a:r>
          </a:p>
          <a:p>
            <a:r>
              <a:rPr lang="en-US" dirty="0"/>
              <a:t>// body of method</a:t>
            </a:r>
          </a:p>
          <a:p>
            <a:r>
              <a:rPr lang="en-US" dirty="0"/>
              <a:t>}</a:t>
            </a:r>
          </a:p>
        </p:txBody>
      </p:sp>
    </p:spTree>
    <p:extLst>
      <p:ext uri="{BB962C8B-B14F-4D97-AF65-F5344CB8AC3E}">
        <p14:creationId xmlns:p14="http://schemas.microsoft.com/office/powerpoint/2010/main" val="451141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99592" y="620688"/>
            <a:ext cx="7488832" cy="4524315"/>
          </a:xfrm>
          <a:prstGeom prst="rect">
            <a:avLst/>
          </a:prstGeom>
          <a:ln>
            <a:solidFill>
              <a:srgbClr val="0000CC"/>
            </a:solidFill>
          </a:ln>
        </p:spPr>
        <p:txBody>
          <a:bodyPr wrap="square">
            <a:spAutoFit/>
          </a:bodyPr>
          <a:lstStyle/>
          <a:p>
            <a:r>
              <a:rPr lang="en-US" dirty="0">
                <a:latin typeface="Bookman Old Style" pitchFamily="18" charset="0"/>
              </a:rPr>
              <a:t>class Box {</a:t>
            </a:r>
          </a:p>
          <a:p>
            <a:pPr lvl="1"/>
            <a:r>
              <a:rPr lang="en-US" dirty="0">
                <a:latin typeface="Bookman Old Style" pitchFamily="18" charset="0"/>
              </a:rPr>
              <a:t>double width;</a:t>
            </a:r>
          </a:p>
          <a:p>
            <a:pPr lvl="1"/>
            <a:r>
              <a:rPr lang="en-US" dirty="0">
                <a:latin typeface="Bookman Old Style" pitchFamily="18" charset="0"/>
              </a:rPr>
              <a:t>double height;</a:t>
            </a:r>
          </a:p>
          <a:p>
            <a:pPr lvl="1"/>
            <a:r>
              <a:rPr lang="en-US" dirty="0">
                <a:latin typeface="Bookman Old Style" pitchFamily="18" charset="0"/>
              </a:rPr>
              <a:t>double depth;</a:t>
            </a:r>
          </a:p>
          <a:p>
            <a:pPr lvl="1"/>
            <a:r>
              <a:rPr lang="en-US" b="1" dirty="0">
                <a:solidFill>
                  <a:srgbClr val="FF0000"/>
                </a:solidFill>
                <a:latin typeface="Bookman Old Style" pitchFamily="18" charset="0"/>
              </a:rPr>
              <a:t>// Method that computes and returns volume</a:t>
            </a:r>
          </a:p>
          <a:p>
            <a:pPr lvl="1"/>
            <a:r>
              <a:rPr lang="en-US" b="1" dirty="0">
                <a:solidFill>
                  <a:srgbClr val="FF0000"/>
                </a:solidFill>
                <a:latin typeface="Bookman Old Style" pitchFamily="18" charset="0"/>
              </a:rPr>
              <a:t>//No parameter, return type ‘double’</a:t>
            </a:r>
          </a:p>
          <a:p>
            <a:pPr lvl="1"/>
            <a:r>
              <a:rPr lang="en-US" b="1" dirty="0">
                <a:latin typeface="Bookman Old Style" pitchFamily="18" charset="0"/>
              </a:rPr>
              <a:t>double</a:t>
            </a:r>
            <a:r>
              <a:rPr lang="en-US" dirty="0">
                <a:latin typeface="Bookman Old Style" pitchFamily="18" charset="0"/>
              </a:rPr>
              <a:t> volume() {</a:t>
            </a:r>
          </a:p>
          <a:p>
            <a:pPr lvl="1"/>
            <a:r>
              <a:rPr lang="en-US" dirty="0">
                <a:latin typeface="Bookman Old Style" pitchFamily="18" charset="0"/>
              </a:rPr>
              <a:t>	</a:t>
            </a:r>
            <a:r>
              <a:rPr lang="en-US" b="1" dirty="0">
                <a:latin typeface="Bookman Old Style" pitchFamily="18" charset="0"/>
              </a:rPr>
              <a:t>return</a:t>
            </a:r>
            <a:r>
              <a:rPr lang="en-US" dirty="0">
                <a:latin typeface="Bookman Old Style" pitchFamily="18" charset="0"/>
              </a:rPr>
              <a:t> width * height * depth;</a:t>
            </a:r>
          </a:p>
          <a:p>
            <a:pPr lvl="1"/>
            <a:r>
              <a:rPr lang="en-US" dirty="0">
                <a:latin typeface="Bookman Old Style" pitchFamily="18" charset="0"/>
              </a:rPr>
              <a:t>}</a:t>
            </a:r>
          </a:p>
          <a:p>
            <a:pPr lvl="1"/>
            <a:r>
              <a:rPr lang="en-US" b="1" dirty="0">
                <a:solidFill>
                  <a:srgbClr val="FF0000"/>
                </a:solidFill>
                <a:latin typeface="Bookman Old Style" pitchFamily="18" charset="0"/>
              </a:rPr>
              <a:t>// Method that sets dimensions of box, no return</a:t>
            </a:r>
          </a:p>
          <a:p>
            <a:pPr lvl="1"/>
            <a:r>
              <a:rPr lang="en-US" b="1" dirty="0">
                <a:solidFill>
                  <a:srgbClr val="FF0000"/>
                </a:solidFill>
                <a:latin typeface="Bookman Old Style" pitchFamily="18" charset="0"/>
              </a:rPr>
              <a:t>//Three parameters, no return</a:t>
            </a:r>
          </a:p>
          <a:p>
            <a:pPr lvl="1"/>
            <a:r>
              <a:rPr lang="en-US" b="1" dirty="0">
                <a:latin typeface="Bookman Old Style" pitchFamily="18" charset="0"/>
              </a:rPr>
              <a:t>void</a:t>
            </a:r>
            <a:r>
              <a:rPr lang="en-US" dirty="0">
                <a:latin typeface="Bookman Old Style" pitchFamily="18" charset="0"/>
              </a:rPr>
              <a:t> </a:t>
            </a:r>
            <a:r>
              <a:rPr lang="en-US" dirty="0" err="1">
                <a:latin typeface="Bookman Old Style" pitchFamily="18" charset="0"/>
              </a:rPr>
              <a:t>setDim</a:t>
            </a:r>
            <a:r>
              <a:rPr lang="en-US" dirty="0">
                <a:latin typeface="Bookman Old Style" pitchFamily="18" charset="0"/>
              </a:rPr>
              <a:t>(</a:t>
            </a:r>
            <a:r>
              <a:rPr lang="en-US" b="1" dirty="0">
                <a:latin typeface="Bookman Old Style" pitchFamily="18" charset="0"/>
              </a:rPr>
              <a:t>double</a:t>
            </a:r>
            <a:r>
              <a:rPr lang="en-US" dirty="0">
                <a:latin typeface="Bookman Old Style" pitchFamily="18" charset="0"/>
              </a:rPr>
              <a:t> w, </a:t>
            </a:r>
            <a:r>
              <a:rPr lang="en-US" b="1" dirty="0">
                <a:latin typeface="Bookman Old Style" pitchFamily="18" charset="0"/>
              </a:rPr>
              <a:t>double</a:t>
            </a:r>
            <a:r>
              <a:rPr lang="en-US" dirty="0">
                <a:latin typeface="Bookman Old Style" pitchFamily="18" charset="0"/>
              </a:rPr>
              <a:t> h, </a:t>
            </a:r>
            <a:r>
              <a:rPr lang="en-US" b="1" dirty="0">
                <a:latin typeface="Bookman Old Style" pitchFamily="18" charset="0"/>
              </a:rPr>
              <a:t>double</a:t>
            </a:r>
            <a:r>
              <a:rPr lang="en-US" dirty="0">
                <a:latin typeface="Bookman Old Style" pitchFamily="18" charset="0"/>
              </a:rPr>
              <a:t> d) {</a:t>
            </a:r>
          </a:p>
          <a:p>
            <a:pPr lvl="2"/>
            <a:r>
              <a:rPr lang="en-US" dirty="0">
                <a:latin typeface="Bookman Old Style" pitchFamily="18" charset="0"/>
              </a:rPr>
              <a:t>width = w; height = h;</a:t>
            </a:r>
          </a:p>
          <a:p>
            <a:pPr lvl="2"/>
            <a:r>
              <a:rPr lang="en-US" dirty="0">
                <a:latin typeface="Bookman Old Style" pitchFamily="18" charset="0"/>
              </a:rPr>
              <a:t>depth = d;</a:t>
            </a:r>
          </a:p>
          <a:p>
            <a:pPr lvl="1"/>
            <a:r>
              <a:rPr lang="en-US" dirty="0">
                <a:latin typeface="Bookman Old Style" pitchFamily="18" charset="0"/>
              </a:rPr>
              <a:t>}</a:t>
            </a:r>
          </a:p>
          <a:p>
            <a:pPr lvl="1"/>
            <a:r>
              <a:rPr lang="en-US" dirty="0">
                <a:latin typeface="Bookman Old Style" pitchFamily="18" charset="0"/>
              </a:rPr>
              <a:t>}</a:t>
            </a:r>
          </a:p>
        </p:txBody>
      </p:sp>
      <p:sp>
        <p:nvSpPr>
          <p:cNvPr id="6" name="Rectangle 5"/>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699792" y="5291916"/>
            <a:ext cx="4004622" cy="369332"/>
          </a:xfrm>
          <a:prstGeom prst="rect">
            <a:avLst/>
          </a:prstGeom>
          <a:noFill/>
        </p:spPr>
        <p:txBody>
          <a:bodyPr wrap="none" rtlCol="0">
            <a:spAutoFit/>
          </a:bodyPr>
          <a:lstStyle/>
          <a:p>
            <a:r>
              <a:rPr lang="en-US" b="1" dirty="0">
                <a:latin typeface="Bookman Old Style" pitchFamily="18" charset="0"/>
              </a:rPr>
              <a:t>Sample Box Class with Methods</a:t>
            </a:r>
          </a:p>
        </p:txBody>
      </p:sp>
    </p:spTree>
    <p:extLst>
      <p:ext uri="{BB962C8B-B14F-4D97-AF65-F5344CB8AC3E}">
        <p14:creationId xmlns:p14="http://schemas.microsoft.com/office/powerpoint/2010/main" val="852333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7544" y="1484784"/>
            <a:ext cx="6336704" cy="452431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latin typeface="Bookman Old Style" pitchFamily="18" charset="0"/>
              </a:rPr>
              <a:t>class BoxDemo5 {</a:t>
            </a:r>
          </a:p>
          <a:p>
            <a:r>
              <a:rPr lang="en-US" dirty="0">
                <a:latin typeface="Bookman Old Style" pitchFamily="18" charset="0"/>
              </a:rPr>
              <a:t>public static void main(String </a:t>
            </a:r>
            <a:r>
              <a:rPr lang="en-US" dirty="0" err="1">
                <a:latin typeface="Bookman Old Style" pitchFamily="18" charset="0"/>
              </a:rPr>
              <a:t>args</a:t>
            </a:r>
            <a:r>
              <a:rPr lang="en-US" dirty="0">
                <a:latin typeface="Bookman Old Style" pitchFamily="18" charset="0"/>
              </a:rPr>
              <a:t>[]) {</a:t>
            </a:r>
          </a:p>
          <a:p>
            <a:pPr lvl="1"/>
            <a:r>
              <a:rPr lang="en-US" dirty="0">
                <a:latin typeface="Bookman Old Style" pitchFamily="18" charset="0"/>
              </a:rPr>
              <a:t>Box mybox1 = new Box();</a:t>
            </a:r>
          </a:p>
          <a:p>
            <a:pPr lvl="1"/>
            <a:r>
              <a:rPr lang="en-US" dirty="0">
                <a:latin typeface="Bookman Old Style" pitchFamily="18" charset="0"/>
              </a:rPr>
              <a:t>Box mybox2 = new Box();</a:t>
            </a:r>
          </a:p>
          <a:p>
            <a:pPr lvl="1"/>
            <a:r>
              <a:rPr lang="en-US" dirty="0">
                <a:latin typeface="Bookman Old Style" pitchFamily="18" charset="0"/>
              </a:rPr>
              <a:t>double </a:t>
            </a:r>
            <a:r>
              <a:rPr lang="en-US" dirty="0" err="1">
                <a:latin typeface="Bookman Old Style" pitchFamily="18" charset="0"/>
              </a:rPr>
              <a:t>vol</a:t>
            </a:r>
            <a:r>
              <a:rPr lang="en-US" dirty="0">
                <a:latin typeface="Bookman Old Style" pitchFamily="18" charset="0"/>
              </a:rPr>
              <a:t>;</a:t>
            </a:r>
          </a:p>
          <a:p>
            <a:pPr lvl="1"/>
            <a:r>
              <a:rPr lang="en-US" dirty="0">
                <a:latin typeface="Bookman Old Style" pitchFamily="18" charset="0"/>
              </a:rPr>
              <a:t>// initialize each box</a:t>
            </a:r>
          </a:p>
          <a:p>
            <a:pPr lvl="1"/>
            <a:r>
              <a:rPr lang="en-US" dirty="0">
                <a:latin typeface="Bookman Old Style" pitchFamily="18" charset="0"/>
              </a:rPr>
              <a:t>mybox1.</a:t>
            </a:r>
            <a:r>
              <a:rPr lang="en-US" b="1" dirty="0">
                <a:latin typeface="Bookman Old Style" pitchFamily="18" charset="0"/>
              </a:rPr>
              <a:t>setDim</a:t>
            </a:r>
            <a:r>
              <a:rPr lang="en-US" dirty="0">
                <a:latin typeface="Bookman Old Style" pitchFamily="18" charset="0"/>
              </a:rPr>
              <a:t>(10, 20, 15);</a:t>
            </a:r>
          </a:p>
          <a:p>
            <a:pPr lvl="1"/>
            <a:r>
              <a:rPr lang="en-US" dirty="0">
                <a:latin typeface="Bookman Old Style" pitchFamily="18" charset="0"/>
              </a:rPr>
              <a:t>mybox2.</a:t>
            </a:r>
            <a:r>
              <a:rPr lang="en-US" b="1" dirty="0">
                <a:latin typeface="Bookman Old Style" pitchFamily="18" charset="0"/>
              </a:rPr>
              <a:t>setDim</a:t>
            </a:r>
            <a:r>
              <a:rPr lang="en-US" dirty="0">
                <a:latin typeface="Bookman Old Style" pitchFamily="18" charset="0"/>
              </a:rPr>
              <a:t>(3, 6, 9);</a:t>
            </a:r>
          </a:p>
          <a:p>
            <a:pPr lvl="1"/>
            <a:r>
              <a:rPr lang="en-US" dirty="0">
                <a:latin typeface="Bookman Old Style" pitchFamily="18" charset="0"/>
              </a:rPr>
              <a:t>// get volume of first box</a:t>
            </a:r>
          </a:p>
          <a:p>
            <a:pPr lvl="1"/>
            <a:r>
              <a:rPr lang="en-US" dirty="0" err="1">
                <a:latin typeface="Bookman Old Style" pitchFamily="18" charset="0"/>
              </a:rPr>
              <a:t>vol</a:t>
            </a:r>
            <a:r>
              <a:rPr lang="en-US" dirty="0">
                <a:latin typeface="Bookman Old Style" pitchFamily="18" charset="0"/>
              </a:rPr>
              <a:t> = mybox1.</a:t>
            </a:r>
            <a:r>
              <a:rPr lang="en-US" b="1" dirty="0">
                <a:latin typeface="Bookman Old Style" pitchFamily="18" charset="0"/>
              </a:rPr>
              <a:t>volume</a:t>
            </a:r>
            <a:r>
              <a:rPr lang="en-US" dirty="0">
                <a:latin typeface="Bookman Old Style" pitchFamily="18" charset="0"/>
              </a:rPr>
              <a:t>();</a:t>
            </a:r>
          </a:p>
          <a:p>
            <a:pPr lvl="1"/>
            <a:r>
              <a:rPr lang="en-US" dirty="0" err="1">
                <a:latin typeface="Bookman Old Style" pitchFamily="18" charset="0"/>
              </a:rPr>
              <a:t>System.out.println</a:t>
            </a:r>
            <a:r>
              <a:rPr lang="en-US" dirty="0">
                <a:latin typeface="Bookman Old Style" pitchFamily="18" charset="0"/>
              </a:rPr>
              <a:t>("Volume is " + </a:t>
            </a:r>
            <a:r>
              <a:rPr lang="en-US" dirty="0" err="1">
                <a:latin typeface="Bookman Old Style" pitchFamily="18" charset="0"/>
              </a:rPr>
              <a:t>vol</a:t>
            </a:r>
            <a:r>
              <a:rPr lang="en-US" dirty="0">
                <a:latin typeface="Bookman Old Style" pitchFamily="18" charset="0"/>
              </a:rPr>
              <a:t>);</a:t>
            </a:r>
          </a:p>
          <a:p>
            <a:pPr lvl="1"/>
            <a:r>
              <a:rPr lang="en-US" dirty="0">
                <a:latin typeface="Bookman Old Style" pitchFamily="18" charset="0"/>
              </a:rPr>
              <a:t>// get volume of second box</a:t>
            </a:r>
          </a:p>
          <a:p>
            <a:pPr lvl="1"/>
            <a:r>
              <a:rPr lang="en-US" dirty="0" err="1">
                <a:latin typeface="Bookman Old Style" pitchFamily="18" charset="0"/>
              </a:rPr>
              <a:t>vol</a:t>
            </a:r>
            <a:r>
              <a:rPr lang="en-US" dirty="0">
                <a:latin typeface="Bookman Old Style" pitchFamily="18" charset="0"/>
              </a:rPr>
              <a:t> = mybox2.v</a:t>
            </a:r>
            <a:r>
              <a:rPr lang="en-US" b="1" dirty="0">
                <a:latin typeface="Bookman Old Style" pitchFamily="18" charset="0"/>
              </a:rPr>
              <a:t>olume</a:t>
            </a:r>
            <a:r>
              <a:rPr lang="en-US" dirty="0">
                <a:latin typeface="Bookman Old Style" pitchFamily="18" charset="0"/>
              </a:rPr>
              <a:t>();</a:t>
            </a:r>
          </a:p>
          <a:p>
            <a:pPr lvl="1"/>
            <a:r>
              <a:rPr lang="en-US" dirty="0" err="1">
                <a:latin typeface="Bookman Old Style" pitchFamily="18" charset="0"/>
              </a:rPr>
              <a:t>System.out.println</a:t>
            </a:r>
            <a:r>
              <a:rPr lang="en-US" dirty="0">
                <a:latin typeface="Bookman Old Style" pitchFamily="18" charset="0"/>
              </a:rPr>
              <a:t>("Volume is " + </a:t>
            </a:r>
            <a:r>
              <a:rPr lang="en-US" dirty="0" err="1">
                <a:latin typeface="Bookman Old Style" pitchFamily="18" charset="0"/>
              </a:rPr>
              <a:t>vol</a:t>
            </a:r>
            <a:r>
              <a:rPr lang="en-US" dirty="0">
                <a:latin typeface="Bookman Old Style" pitchFamily="18" charset="0"/>
              </a:rPr>
              <a:t>);</a:t>
            </a:r>
          </a:p>
          <a:p>
            <a:r>
              <a:rPr lang="en-US" dirty="0">
                <a:latin typeface="Bookman Old Style" pitchFamily="18" charset="0"/>
              </a:rPr>
              <a:t>}</a:t>
            </a:r>
          </a:p>
          <a:p>
            <a:r>
              <a:rPr lang="en-US" dirty="0">
                <a:latin typeface="Bookman Old Style" pitchFamily="18" charset="0"/>
              </a:rPr>
              <a:t>}</a:t>
            </a:r>
          </a:p>
        </p:txBody>
      </p:sp>
      <p:sp>
        <p:nvSpPr>
          <p:cNvPr id="6" name="Rectangle 5"/>
          <p:cNvSpPr/>
          <p:nvPr/>
        </p:nvSpPr>
        <p:spPr>
          <a:xfrm>
            <a:off x="179512" y="289680"/>
            <a:ext cx="8784976" cy="923330"/>
          </a:xfrm>
          <a:prstGeom prst="rect">
            <a:avLst/>
          </a:prstGeom>
        </p:spPr>
        <p:txBody>
          <a:bodyPr wrap="square">
            <a:spAutoFit/>
          </a:bodyPr>
          <a:lstStyle/>
          <a:p>
            <a:pPr algn="just"/>
            <a:r>
              <a:rPr lang="en-US" b="1" dirty="0">
                <a:solidFill>
                  <a:prstClr val="black"/>
                </a:solidFill>
                <a:latin typeface="Bookman Old Style" pitchFamily="18" charset="0"/>
              </a:rPr>
              <a:t>Example 3.3. </a:t>
            </a:r>
            <a:r>
              <a:rPr lang="en-US" dirty="0">
                <a:solidFill>
                  <a:prstClr val="black"/>
                </a:solidFill>
                <a:latin typeface="Bookman Old Style" pitchFamily="18" charset="0"/>
              </a:rPr>
              <a:t>Create two box objects mybox1 and mybox2 using default constructor and set dimensions of them using </a:t>
            </a:r>
            <a:r>
              <a:rPr lang="en-US" dirty="0" err="1">
                <a:solidFill>
                  <a:prstClr val="black"/>
                </a:solidFill>
                <a:latin typeface="Bookman Old Style" pitchFamily="18" charset="0"/>
              </a:rPr>
              <a:t>setDim</a:t>
            </a:r>
            <a:r>
              <a:rPr lang="en-US" dirty="0">
                <a:solidFill>
                  <a:prstClr val="black"/>
                </a:solidFill>
                <a:latin typeface="Bookman Old Style" pitchFamily="18" charset="0"/>
              </a:rPr>
              <a:t> method of Box class. Finally, compute volumes of each box. </a:t>
            </a:r>
          </a:p>
        </p:txBody>
      </p:sp>
      <p:sp>
        <p:nvSpPr>
          <p:cNvPr id="7" name="Rectangle 6"/>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6050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latin typeface="Arial" pitchFamily="34" charset="0"/>
                <a:cs typeface="Arial" pitchFamily="34" charset="0"/>
              </a:rPr>
              <a:t>Static Variables, Constants, and Methods</a:t>
            </a:r>
          </a:p>
        </p:txBody>
      </p:sp>
      <p:sp>
        <p:nvSpPr>
          <p:cNvPr id="3" name="Content Placeholder 2"/>
          <p:cNvSpPr>
            <a:spLocks noGrp="1"/>
          </p:cNvSpPr>
          <p:nvPr>
            <p:ph idx="1"/>
          </p:nvPr>
        </p:nvSpPr>
        <p:spPr>
          <a:xfrm>
            <a:off x="107504" y="1600200"/>
            <a:ext cx="8928992" cy="4800600"/>
          </a:xfrm>
        </p:spPr>
        <p:txBody>
          <a:bodyPr>
            <a:normAutofit fontScale="85000" lnSpcReduction="10000"/>
          </a:bodyPr>
          <a:lstStyle/>
          <a:p>
            <a:pPr latinLnBrk="0">
              <a:buFont typeface="Wingdings" pitchFamily="2" charset="2"/>
              <a:buChar char="§"/>
            </a:pPr>
            <a:r>
              <a:rPr lang="en-US" sz="2400" b="1" dirty="0">
                <a:latin typeface="Bookman Old Style" pitchFamily="18" charset="0"/>
              </a:rPr>
              <a:t>Static Variable</a:t>
            </a:r>
          </a:p>
          <a:p>
            <a:pPr lvl="1" latinLnBrk="0"/>
            <a:r>
              <a:rPr lang="en-US" sz="1900" i="1" dirty="0">
                <a:latin typeface="Bookman Old Style" pitchFamily="18" charset="0"/>
              </a:rPr>
              <a:t>Shared by all objects of the class</a:t>
            </a:r>
          </a:p>
          <a:p>
            <a:pPr lvl="1" latinLnBrk="0"/>
            <a:r>
              <a:rPr lang="en-US" sz="1900" dirty="0">
                <a:latin typeface="Bookman Old Style" pitchFamily="18" charset="0"/>
              </a:rPr>
              <a:t>It is a variable which belongs to the class and not to object(instance)</a:t>
            </a:r>
          </a:p>
          <a:p>
            <a:pPr lvl="1" latinLnBrk="0"/>
            <a:r>
              <a:rPr lang="en-US" sz="1900" dirty="0">
                <a:latin typeface="Bookman Old Style" pitchFamily="18" charset="0"/>
              </a:rPr>
              <a:t>Static variables are initialized only once, at the start of the execution. These variables will be initialized first, before the initialization of any instance variables</a:t>
            </a:r>
          </a:p>
          <a:p>
            <a:pPr lvl="1" latinLnBrk="0"/>
            <a:r>
              <a:rPr lang="en-US" sz="1900" dirty="0">
                <a:latin typeface="Bookman Old Style" pitchFamily="18" charset="0"/>
              </a:rPr>
              <a:t>A single copy to be shared by all instances of the class</a:t>
            </a:r>
          </a:p>
          <a:p>
            <a:pPr lvl="1" latinLnBrk="0"/>
            <a:r>
              <a:rPr lang="en-US" sz="1900" dirty="0">
                <a:latin typeface="Bookman Old Style" pitchFamily="18" charset="0"/>
              </a:rPr>
              <a:t>A static variable can be accessed directly by the class name and doesn’t need any object</a:t>
            </a:r>
          </a:p>
          <a:p>
            <a:pPr marL="342900" lvl="2" indent="-342900" latinLnBrk="0">
              <a:buFont typeface="Wingdings" pitchFamily="2" charset="2"/>
              <a:buChar char="§"/>
            </a:pPr>
            <a:r>
              <a:rPr lang="en-US" b="1" dirty="0">
                <a:latin typeface="Bookman Old Style" pitchFamily="18" charset="0"/>
              </a:rPr>
              <a:t>Static Methods</a:t>
            </a:r>
          </a:p>
          <a:p>
            <a:pPr lvl="1" latinLnBrk="0"/>
            <a:r>
              <a:rPr lang="en-US" sz="1900" dirty="0">
                <a:latin typeface="Bookman Old Style" pitchFamily="18" charset="0"/>
              </a:rPr>
              <a:t>It is a method which belongs to the class and not to the object(instance)</a:t>
            </a:r>
          </a:p>
          <a:p>
            <a:pPr lvl="1" latinLnBrk="0"/>
            <a:r>
              <a:rPr lang="en-US" sz="1900" dirty="0">
                <a:latin typeface="Bookman Old Style" pitchFamily="18" charset="0"/>
              </a:rPr>
              <a:t>A static method can access only static data. It can not access non-static data (instance variables)</a:t>
            </a:r>
          </a:p>
          <a:p>
            <a:pPr lvl="1" latinLnBrk="0"/>
            <a:r>
              <a:rPr lang="en-US" sz="1900" dirty="0">
                <a:latin typeface="Bookman Old Style" pitchFamily="18" charset="0"/>
              </a:rPr>
              <a:t>A static method can call only other static methods and can not call a non-static method from it.</a:t>
            </a:r>
          </a:p>
          <a:p>
            <a:pPr lvl="1" latinLnBrk="0"/>
            <a:r>
              <a:rPr lang="en-US" sz="1900" dirty="0">
                <a:latin typeface="Bookman Old Style" pitchFamily="18" charset="0"/>
              </a:rPr>
              <a:t>A static method can be accessed directly by the class name and doesn’t need any object</a:t>
            </a:r>
          </a:p>
          <a:p>
            <a:pPr lvl="1" latinLnBrk="0"/>
            <a:r>
              <a:rPr lang="en-US" sz="1900" dirty="0">
                <a:latin typeface="Bookman Old Style" pitchFamily="18" charset="0"/>
              </a:rPr>
              <a:t>A static method cannot refer to "this" or "super" keywords in anyway</a:t>
            </a:r>
          </a:p>
          <a:p>
            <a:pPr marL="800100" lvl="3" indent="-342900" latinLnBrk="0"/>
            <a:endParaRPr lang="en-US" dirty="0">
              <a:latin typeface="Bookman Old Style" pitchFamily="18" charset="0"/>
            </a:endParaRPr>
          </a:p>
        </p:txBody>
      </p:sp>
      <p:sp>
        <p:nvSpPr>
          <p:cNvPr id="5" name="Rectangle 4"/>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5917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10174"/>
            <a:ext cx="7620000" cy="1143000"/>
          </a:xfrm>
        </p:spPr>
        <p:txBody>
          <a:bodyPr/>
          <a:lstStyle/>
          <a:p>
            <a:r>
              <a:rPr lang="en-US" sz="2800" dirty="0">
                <a:latin typeface="Arial" pitchFamily="34" charset="0"/>
                <a:cs typeface="Arial" pitchFamily="34" charset="0"/>
              </a:rPr>
              <a:t>Static Variables, Constants, and Methods</a:t>
            </a:r>
          </a:p>
        </p:txBody>
      </p:sp>
      <p:sp>
        <p:nvSpPr>
          <p:cNvPr id="11" name="Content Placeholder 10"/>
          <p:cNvSpPr>
            <a:spLocks noGrp="1"/>
          </p:cNvSpPr>
          <p:nvPr>
            <p:ph idx="1"/>
          </p:nvPr>
        </p:nvSpPr>
        <p:spPr>
          <a:xfrm>
            <a:off x="179512" y="3068960"/>
            <a:ext cx="8784976" cy="4800600"/>
          </a:xfrm>
        </p:spPr>
        <p:txBody>
          <a:bodyPr>
            <a:normAutofit/>
          </a:bodyPr>
          <a:lstStyle/>
          <a:p>
            <a:pPr latinLnBrk="0">
              <a:lnSpc>
                <a:spcPct val="150000"/>
              </a:lnSpc>
            </a:pPr>
            <a:r>
              <a:rPr lang="en-US" sz="1800" dirty="0">
                <a:latin typeface="Bookman Old Style" pitchFamily="18" charset="0"/>
              </a:rPr>
              <a:t>Static or Instance, </a:t>
            </a:r>
            <a:r>
              <a:rPr lang="en-US" sz="1800" dirty="0">
                <a:solidFill>
                  <a:srgbClr val="FF0000"/>
                </a:solidFill>
                <a:latin typeface="Bookman Old Style" pitchFamily="18" charset="0"/>
              </a:rPr>
              <a:t>how to decide</a:t>
            </a:r>
            <a:r>
              <a:rPr lang="en-US" sz="1800" dirty="0">
                <a:latin typeface="Bookman Old Style" pitchFamily="18" charset="0"/>
              </a:rPr>
              <a:t>?</a:t>
            </a:r>
          </a:p>
          <a:p>
            <a:pPr lvl="1" latinLnBrk="0">
              <a:lnSpc>
                <a:spcPct val="150000"/>
              </a:lnSpc>
            </a:pPr>
            <a:r>
              <a:rPr lang="en-US" sz="1800" dirty="0">
                <a:latin typeface="Bookman Old Style" pitchFamily="18" charset="0"/>
              </a:rPr>
              <a:t>A variable or method that is dependent on a specific instance of the class should be an instance variable or method. </a:t>
            </a:r>
          </a:p>
          <a:p>
            <a:pPr lvl="1" latinLnBrk="0">
              <a:lnSpc>
                <a:spcPct val="150000"/>
              </a:lnSpc>
            </a:pPr>
            <a:r>
              <a:rPr lang="en-US" sz="1800" dirty="0">
                <a:latin typeface="Bookman Old Style" pitchFamily="18" charset="0"/>
              </a:rPr>
              <a:t>A variable or method that is not dependent on a specific instance of the class should be a static variable or method</a:t>
            </a:r>
          </a:p>
          <a:p>
            <a:pPr latinLnBrk="0"/>
            <a:endParaRPr lang="en-US" sz="1800" dirty="0">
              <a:latin typeface="Bookman Old Style" pitchFamily="18" charset="0"/>
            </a:endParaRPr>
          </a:p>
        </p:txBody>
      </p:sp>
      <p:pic>
        <p:nvPicPr>
          <p:cNvPr id="5" name="Picture 4"/>
          <p:cNvPicPr>
            <a:picLocks noChangeAspect="1"/>
          </p:cNvPicPr>
          <p:nvPr/>
        </p:nvPicPr>
        <p:blipFill rotWithShape="1">
          <a:blip r:embed="rId3"/>
          <a:srcRect l="1" r="54691"/>
          <a:stretch/>
        </p:blipFill>
        <p:spPr>
          <a:xfrm>
            <a:off x="35496" y="1262648"/>
            <a:ext cx="4558619" cy="1331284"/>
          </a:xfrm>
          <a:prstGeom prst="rect">
            <a:avLst/>
          </a:prstGeom>
        </p:spPr>
      </p:pic>
      <p:sp>
        <p:nvSpPr>
          <p:cNvPr id="6" name="Rectangle 5"/>
          <p:cNvSpPr/>
          <p:nvPr/>
        </p:nvSpPr>
        <p:spPr>
          <a:xfrm>
            <a:off x="5292080" y="1271420"/>
            <a:ext cx="2693366" cy="923330"/>
          </a:xfrm>
          <a:prstGeom prst="rect">
            <a:avLst/>
          </a:prstGeom>
        </p:spPr>
        <p:txBody>
          <a:bodyPr wrap="none">
            <a:spAutoFit/>
          </a:bodyPr>
          <a:lstStyle/>
          <a:p>
            <a:r>
              <a:rPr lang="en-US" dirty="0">
                <a:latin typeface="Bookman Old Style" pitchFamily="18" charset="0"/>
              </a:rPr>
              <a:t>Declare static variable</a:t>
            </a:r>
          </a:p>
          <a:p>
            <a:endParaRPr lang="en-US" dirty="0">
              <a:latin typeface="Bookman Old Style" pitchFamily="18" charset="0"/>
            </a:endParaRPr>
          </a:p>
          <a:p>
            <a:r>
              <a:rPr lang="en-US" dirty="0">
                <a:latin typeface="Bookman Old Style" pitchFamily="18" charset="0"/>
              </a:rPr>
              <a:t>Declare static method</a:t>
            </a:r>
          </a:p>
        </p:txBody>
      </p:sp>
      <p:cxnSp>
        <p:nvCxnSpPr>
          <p:cNvPr id="7" name="Straight Arrow Connector 6"/>
          <p:cNvCxnSpPr/>
          <p:nvPr/>
        </p:nvCxnSpPr>
        <p:spPr>
          <a:xfrm flipH="1">
            <a:off x="3989701" y="1484784"/>
            <a:ext cx="1080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H="1">
            <a:off x="3989701" y="2043633"/>
            <a:ext cx="1080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7813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877"/>
          <a:stretch/>
        </p:blipFill>
        <p:spPr bwMode="auto">
          <a:xfrm>
            <a:off x="278428" y="476672"/>
            <a:ext cx="8555622" cy="1966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3"/>
          <a:stretch>
            <a:fillRect/>
          </a:stretch>
        </p:blipFill>
        <p:spPr>
          <a:xfrm>
            <a:off x="114301" y="2511425"/>
            <a:ext cx="4425950" cy="4076700"/>
          </a:xfrm>
          <a:prstGeom prst="rect">
            <a:avLst/>
          </a:prstGeom>
          <a:ln>
            <a:solidFill>
              <a:srgbClr val="663366"/>
            </a:solidFill>
          </a:ln>
        </p:spPr>
      </p:pic>
      <p:pic>
        <p:nvPicPr>
          <p:cNvPr id="10" name="Picture 9"/>
          <p:cNvPicPr>
            <a:picLocks noChangeAspect="1"/>
          </p:cNvPicPr>
          <p:nvPr/>
        </p:nvPicPr>
        <p:blipFill>
          <a:blip r:embed="rId4"/>
          <a:stretch>
            <a:fillRect/>
          </a:stretch>
        </p:blipFill>
        <p:spPr>
          <a:xfrm>
            <a:off x="4670964" y="2511425"/>
            <a:ext cx="4367884" cy="4076700"/>
          </a:xfrm>
          <a:prstGeom prst="rect">
            <a:avLst/>
          </a:prstGeom>
          <a:ln>
            <a:solidFill>
              <a:srgbClr val="663366"/>
            </a:solidFill>
          </a:ln>
        </p:spPr>
      </p:pic>
    </p:spTree>
    <p:extLst>
      <p:ext uri="{BB962C8B-B14F-4D97-AF65-F5344CB8AC3E}">
        <p14:creationId xmlns:p14="http://schemas.microsoft.com/office/powerpoint/2010/main" val="1328006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83568" y="5157192"/>
            <a:ext cx="3744416" cy="7920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07504" y="200086"/>
            <a:ext cx="9036496" cy="646331"/>
          </a:xfrm>
          <a:prstGeom prst="rect">
            <a:avLst/>
          </a:prstGeom>
        </p:spPr>
        <p:txBody>
          <a:bodyPr wrap="square">
            <a:spAutoFit/>
          </a:bodyPr>
          <a:lstStyle/>
          <a:p>
            <a:pPr latinLnBrk="0"/>
            <a:r>
              <a:rPr lang="en-US" b="1" dirty="0">
                <a:solidFill>
                  <a:prstClr val="black"/>
                </a:solidFill>
                <a:latin typeface="Bookman Old Style" pitchFamily="18" charset="0"/>
              </a:rPr>
              <a:t>Example 3.4. </a:t>
            </a:r>
            <a:r>
              <a:rPr lang="en-US" dirty="0">
                <a:solidFill>
                  <a:prstClr val="black"/>
                </a:solidFill>
                <a:latin typeface="Bookman Old Style" pitchFamily="18" charset="0"/>
              </a:rPr>
              <a:t>Demonstrate the use of Static and Instance Variables and Methods</a:t>
            </a:r>
            <a:endParaRPr lang="en-US" dirty="0"/>
          </a:p>
        </p:txBody>
      </p:sp>
      <p:sp>
        <p:nvSpPr>
          <p:cNvPr id="9" name="Rectangle 8"/>
          <p:cNvSpPr/>
          <p:nvPr/>
        </p:nvSpPr>
        <p:spPr>
          <a:xfrm>
            <a:off x="323528" y="980728"/>
            <a:ext cx="8568952" cy="5632311"/>
          </a:xfrm>
          <a:prstGeom prst="rect">
            <a:avLst/>
          </a:prstGeom>
          <a:ln>
            <a:solidFill>
              <a:srgbClr val="0000CC"/>
            </a:solidFill>
          </a:ln>
        </p:spPr>
        <p:txBody>
          <a:bodyPr wrap="square">
            <a:spAutoFit/>
          </a:bodyPr>
          <a:lstStyle/>
          <a:p>
            <a:pPr latinLnBrk="0"/>
            <a:r>
              <a:rPr lang="en-US" dirty="0">
                <a:latin typeface="Bookman Old Style" pitchFamily="18" charset="0"/>
              </a:rPr>
              <a:t>class Student {</a:t>
            </a:r>
          </a:p>
          <a:p>
            <a:pPr lvl="1" latinLnBrk="0"/>
            <a:r>
              <a:rPr lang="en-US" dirty="0" err="1">
                <a:latin typeface="Bookman Old Style" pitchFamily="18" charset="0"/>
              </a:rPr>
              <a:t>int</a:t>
            </a:r>
            <a:r>
              <a:rPr lang="en-US" dirty="0">
                <a:latin typeface="Bookman Old Style" pitchFamily="18" charset="0"/>
              </a:rPr>
              <a:t> a; //initialized to zero</a:t>
            </a:r>
          </a:p>
          <a:p>
            <a:pPr lvl="1" latinLnBrk="0"/>
            <a:r>
              <a:rPr lang="en-US" b="1" dirty="0">
                <a:latin typeface="Bookman Old Style" pitchFamily="18" charset="0"/>
              </a:rPr>
              <a:t>static</a:t>
            </a:r>
            <a:r>
              <a:rPr lang="en-US" dirty="0">
                <a:latin typeface="Bookman Old Style" pitchFamily="18" charset="0"/>
              </a:rPr>
              <a:t> </a:t>
            </a:r>
            <a:r>
              <a:rPr lang="en-US" dirty="0" err="1">
                <a:latin typeface="Bookman Old Style" pitchFamily="18" charset="0"/>
              </a:rPr>
              <a:t>int</a:t>
            </a:r>
            <a:r>
              <a:rPr lang="en-US" dirty="0">
                <a:latin typeface="Bookman Old Style" pitchFamily="18" charset="0"/>
              </a:rPr>
              <a:t> b; //initialized to zero only when class is loaded, not for each object created.</a:t>
            </a:r>
          </a:p>
          <a:p>
            <a:pPr lvl="1" latinLnBrk="0"/>
            <a:endParaRPr lang="en-US" dirty="0">
              <a:latin typeface="Bookman Old Style" pitchFamily="18" charset="0"/>
            </a:endParaRPr>
          </a:p>
          <a:p>
            <a:pPr lvl="1" latinLnBrk="0"/>
            <a:r>
              <a:rPr lang="en-US" dirty="0">
                <a:latin typeface="Bookman Old Style" pitchFamily="18" charset="0"/>
              </a:rPr>
              <a:t>  Student(){</a:t>
            </a:r>
          </a:p>
          <a:p>
            <a:pPr lvl="1" latinLnBrk="0"/>
            <a:r>
              <a:rPr lang="en-US" dirty="0">
                <a:latin typeface="Bookman Old Style" pitchFamily="18" charset="0"/>
              </a:rPr>
              <a:t>   //Constructor incrementing static variable b</a:t>
            </a:r>
          </a:p>
          <a:p>
            <a:pPr lvl="1" latinLnBrk="0"/>
            <a:r>
              <a:rPr lang="en-US" dirty="0">
                <a:latin typeface="Bookman Old Style" pitchFamily="18" charset="0"/>
              </a:rPr>
              <a:t>   b++;</a:t>
            </a:r>
          </a:p>
          <a:p>
            <a:pPr lvl="1" latinLnBrk="0"/>
            <a:r>
              <a:rPr lang="en-US" dirty="0">
                <a:latin typeface="Bookman Old Style" pitchFamily="18" charset="0"/>
              </a:rPr>
              <a:t>  }</a:t>
            </a:r>
          </a:p>
          <a:p>
            <a:pPr lvl="1" latinLnBrk="0"/>
            <a:endParaRPr lang="en-US" dirty="0">
              <a:latin typeface="Bookman Old Style" pitchFamily="18" charset="0"/>
            </a:endParaRPr>
          </a:p>
          <a:p>
            <a:pPr lvl="1" latinLnBrk="0"/>
            <a:r>
              <a:rPr lang="en-US" dirty="0">
                <a:latin typeface="Bookman Old Style" pitchFamily="18" charset="0"/>
              </a:rPr>
              <a:t>   public void </a:t>
            </a:r>
            <a:r>
              <a:rPr lang="en-US" dirty="0" err="1">
                <a:latin typeface="Bookman Old Style" pitchFamily="18" charset="0"/>
              </a:rPr>
              <a:t>showData</a:t>
            </a:r>
            <a:r>
              <a:rPr lang="en-US" dirty="0">
                <a:latin typeface="Bookman Old Style" pitchFamily="18" charset="0"/>
              </a:rPr>
              <a:t>(){</a:t>
            </a:r>
          </a:p>
          <a:p>
            <a:pPr lvl="1" latinLnBrk="0"/>
            <a:r>
              <a:rPr lang="en-US" dirty="0">
                <a:latin typeface="Bookman Old Style" pitchFamily="18" charset="0"/>
              </a:rPr>
              <a:t>      </a:t>
            </a:r>
            <a:r>
              <a:rPr lang="en-US" dirty="0" err="1">
                <a:latin typeface="Bookman Old Style" pitchFamily="18" charset="0"/>
              </a:rPr>
              <a:t>System.out.println</a:t>
            </a:r>
            <a:r>
              <a:rPr lang="en-US" dirty="0">
                <a:latin typeface="Bookman Old Style" pitchFamily="18" charset="0"/>
              </a:rPr>
              <a:t>("Value of a = "+a);</a:t>
            </a:r>
          </a:p>
          <a:p>
            <a:pPr lvl="1" latinLnBrk="0"/>
            <a:r>
              <a:rPr lang="en-US" dirty="0">
                <a:latin typeface="Bookman Old Style" pitchFamily="18" charset="0"/>
              </a:rPr>
              <a:t>      </a:t>
            </a:r>
            <a:r>
              <a:rPr lang="en-US" dirty="0" err="1">
                <a:latin typeface="Bookman Old Style" pitchFamily="18" charset="0"/>
              </a:rPr>
              <a:t>System.out.println</a:t>
            </a:r>
            <a:r>
              <a:rPr lang="en-US" dirty="0">
                <a:latin typeface="Bookman Old Style" pitchFamily="18" charset="0"/>
              </a:rPr>
              <a:t>("Value of b = "+b); </a:t>
            </a:r>
            <a:r>
              <a:rPr lang="en-US" dirty="0">
                <a:solidFill>
                  <a:srgbClr val="0000CC"/>
                </a:solidFill>
                <a:latin typeface="Bookman Old Style" pitchFamily="18" charset="0"/>
              </a:rPr>
              <a:t>//can access static variable 					           from non-static method</a:t>
            </a:r>
          </a:p>
          <a:p>
            <a:pPr lvl="1" latinLnBrk="0"/>
            <a:r>
              <a:rPr lang="en-US" dirty="0">
                <a:latin typeface="Bookman Old Style" pitchFamily="18" charset="0"/>
              </a:rPr>
              <a:t>   }</a:t>
            </a:r>
          </a:p>
          <a:p>
            <a:pPr lvl="1" latinLnBrk="0"/>
            <a:r>
              <a:rPr lang="en-US" dirty="0">
                <a:latin typeface="Bookman Old Style" pitchFamily="18" charset="0"/>
              </a:rPr>
              <a:t>public static void increment(){</a:t>
            </a:r>
          </a:p>
          <a:p>
            <a:pPr lvl="1" latinLnBrk="0"/>
            <a:r>
              <a:rPr lang="en-US" dirty="0">
                <a:latin typeface="Bookman Old Style" pitchFamily="18" charset="0"/>
              </a:rPr>
              <a:t>	a++;</a:t>
            </a:r>
          </a:p>
          <a:p>
            <a:pPr lvl="1" latinLnBrk="0"/>
            <a:r>
              <a:rPr lang="en-US" dirty="0">
                <a:latin typeface="Bookman Old Style" pitchFamily="18" charset="0"/>
              </a:rPr>
              <a:t>}</a:t>
            </a:r>
          </a:p>
          <a:p>
            <a:pPr latinLnBrk="0"/>
            <a:endParaRPr lang="en-US" dirty="0">
              <a:latin typeface="Bookman Old Style" pitchFamily="18" charset="0"/>
            </a:endParaRPr>
          </a:p>
          <a:p>
            <a:pPr latinLnBrk="0"/>
            <a:r>
              <a:rPr lang="en-US" dirty="0">
                <a:latin typeface="Bookman Old Style" pitchFamily="18" charset="0"/>
              </a:rPr>
              <a:t>}</a:t>
            </a:r>
          </a:p>
        </p:txBody>
      </p:sp>
      <p:sp>
        <p:nvSpPr>
          <p:cNvPr id="11" name="TextBox 10"/>
          <p:cNvSpPr txBox="1"/>
          <p:nvPr/>
        </p:nvSpPr>
        <p:spPr>
          <a:xfrm>
            <a:off x="5003486" y="5273612"/>
            <a:ext cx="3816424" cy="646331"/>
          </a:xfrm>
          <a:prstGeom prst="rect">
            <a:avLst/>
          </a:prstGeom>
          <a:noFill/>
        </p:spPr>
        <p:txBody>
          <a:bodyPr wrap="square" rtlCol="0">
            <a:spAutoFit/>
          </a:bodyPr>
          <a:lstStyle/>
          <a:p>
            <a:pPr latinLnBrk="0"/>
            <a:r>
              <a:rPr lang="en-US" dirty="0">
                <a:solidFill>
                  <a:srgbClr val="FF0000"/>
                </a:solidFill>
                <a:latin typeface="Bookman Old Style" pitchFamily="18" charset="0"/>
              </a:rPr>
              <a:t>Error block: static method cannot access instance variable</a:t>
            </a:r>
          </a:p>
        </p:txBody>
      </p:sp>
      <p:sp>
        <p:nvSpPr>
          <p:cNvPr id="12" name="Left Arrow 11"/>
          <p:cNvSpPr/>
          <p:nvPr/>
        </p:nvSpPr>
        <p:spPr>
          <a:xfrm>
            <a:off x="4427984" y="5402244"/>
            <a:ext cx="432048" cy="36004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1274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55576" y="1196752"/>
            <a:ext cx="5688632" cy="34778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Bookman Old Style" pitchFamily="18" charset="0"/>
              </a:rPr>
              <a:t>public class Demo{</a:t>
            </a:r>
          </a:p>
          <a:p>
            <a:r>
              <a:rPr lang="en-US" sz="2000" dirty="0">
                <a:latin typeface="Bookman Old Style" pitchFamily="18" charset="0"/>
              </a:rPr>
              <a:t>   public static void main(String </a:t>
            </a:r>
            <a:r>
              <a:rPr lang="en-US" sz="2000" dirty="0" err="1">
                <a:latin typeface="Bookman Old Style" pitchFamily="18" charset="0"/>
              </a:rPr>
              <a:t>args</a:t>
            </a:r>
            <a:r>
              <a:rPr lang="en-US" sz="2000" dirty="0">
                <a:latin typeface="Bookman Old Style" pitchFamily="18" charset="0"/>
              </a:rPr>
              <a:t>[]){</a:t>
            </a:r>
          </a:p>
          <a:p>
            <a:r>
              <a:rPr lang="en-US" sz="2000" dirty="0">
                <a:latin typeface="Bookman Old Style" pitchFamily="18" charset="0"/>
              </a:rPr>
              <a:t>     Student s1 = new Student();</a:t>
            </a:r>
          </a:p>
          <a:p>
            <a:r>
              <a:rPr lang="en-US" sz="2000" dirty="0">
                <a:latin typeface="Bookman Old Style" pitchFamily="18" charset="0"/>
              </a:rPr>
              <a:t>     s1.showData();</a:t>
            </a:r>
          </a:p>
          <a:p>
            <a:r>
              <a:rPr lang="en-US" sz="2000" dirty="0">
                <a:latin typeface="Bookman Old Style" pitchFamily="18" charset="0"/>
              </a:rPr>
              <a:t>     Student s2 = new Student();</a:t>
            </a:r>
          </a:p>
          <a:p>
            <a:r>
              <a:rPr lang="en-US" sz="2000" dirty="0">
                <a:latin typeface="Bookman Old Style" pitchFamily="18" charset="0"/>
              </a:rPr>
              <a:t>     s2.showData();</a:t>
            </a:r>
          </a:p>
          <a:p>
            <a:r>
              <a:rPr lang="en-US" sz="2000" dirty="0">
                <a:latin typeface="Bookman Old Style" pitchFamily="18" charset="0"/>
              </a:rPr>
              <a:t>     </a:t>
            </a:r>
            <a:r>
              <a:rPr lang="en-US" sz="2000" b="1" dirty="0" err="1">
                <a:latin typeface="Bookman Old Style" pitchFamily="18" charset="0"/>
              </a:rPr>
              <a:t>Student.</a:t>
            </a:r>
            <a:r>
              <a:rPr lang="en-US" sz="2000" dirty="0" err="1">
                <a:latin typeface="Bookman Old Style" pitchFamily="18" charset="0"/>
              </a:rPr>
              <a:t>b</a:t>
            </a:r>
            <a:r>
              <a:rPr lang="en-US" sz="2000" dirty="0">
                <a:latin typeface="Bookman Old Style" pitchFamily="18" charset="0"/>
              </a:rPr>
              <a:t>++;</a:t>
            </a:r>
          </a:p>
          <a:p>
            <a:r>
              <a:rPr lang="en-US" sz="2000" dirty="0">
                <a:latin typeface="Bookman Old Style" pitchFamily="18" charset="0"/>
              </a:rPr>
              <a:t>     s1.showData();</a:t>
            </a:r>
          </a:p>
          <a:p>
            <a:endParaRPr lang="en-US" sz="2000" dirty="0">
              <a:latin typeface="Bookman Old Style" pitchFamily="18" charset="0"/>
            </a:endParaRPr>
          </a:p>
          <a:p>
            <a:r>
              <a:rPr lang="en-US" sz="2000" dirty="0">
                <a:latin typeface="Bookman Old Style" pitchFamily="18" charset="0"/>
              </a:rPr>
              <a:t>}</a:t>
            </a:r>
          </a:p>
          <a:p>
            <a:r>
              <a:rPr lang="en-US" sz="2000" dirty="0">
                <a:latin typeface="Bookman Old Style" pitchFamily="18" charset="0"/>
              </a:rPr>
              <a:t>}</a:t>
            </a:r>
          </a:p>
        </p:txBody>
      </p:sp>
      <p:sp>
        <p:nvSpPr>
          <p:cNvPr id="7" name="Rectangle 6"/>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843808" y="4869160"/>
            <a:ext cx="3940502" cy="369332"/>
          </a:xfrm>
          <a:prstGeom prst="rect">
            <a:avLst/>
          </a:prstGeom>
        </p:spPr>
        <p:txBody>
          <a:bodyPr wrap="none">
            <a:spAutoFit/>
          </a:bodyPr>
          <a:lstStyle/>
          <a:p>
            <a:r>
              <a:rPr lang="en-US" dirty="0">
                <a:latin typeface="Bookman Old Style" pitchFamily="18" charset="0"/>
              </a:rPr>
              <a:t>directly access by the class name</a:t>
            </a:r>
            <a:endParaRPr lang="en-US" dirty="0"/>
          </a:p>
        </p:txBody>
      </p:sp>
      <p:cxnSp>
        <p:nvCxnSpPr>
          <p:cNvPr id="22" name="Straight Arrow Connector 21"/>
          <p:cNvCxnSpPr/>
          <p:nvPr/>
        </p:nvCxnSpPr>
        <p:spPr>
          <a:xfrm flipH="1">
            <a:off x="3131840" y="3212976"/>
            <a:ext cx="100811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139952" y="3212976"/>
            <a:ext cx="0" cy="172819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1188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856984" cy="4800600"/>
          </a:xfrm>
        </p:spPr>
        <p:txBody>
          <a:bodyPr>
            <a:normAutofit/>
          </a:bodyPr>
          <a:lstStyle/>
          <a:p>
            <a:pPr marL="0" indent="0" defTabSz="914400">
              <a:buNone/>
            </a:pPr>
            <a:r>
              <a:rPr lang="en-US" sz="1800" b="1" dirty="0">
                <a:latin typeface="Bookman Old Style" pitchFamily="18" charset="0"/>
                <a:cs typeface="Rockwell"/>
              </a:rPr>
              <a:t>Example 3.5</a:t>
            </a:r>
            <a:r>
              <a:rPr lang="en-US" sz="1800" dirty="0">
                <a:latin typeface="Bookman Old Style" pitchFamily="18" charset="0"/>
                <a:cs typeface="Rockwell"/>
              </a:rPr>
              <a:t>:  Demonstrate the use of static variable using Circle Class</a:t>
            </a:r>
          </a:p>
        </p:txBody>
      </p:sp>
      <p:pic>
        <p:nvPicPr>
          <p:cNvPr id="4" name="Picture 3"/>
          <p:cNvPicPr>
            <a:picLocks noChangeAspect="1"/>
          </p:cNvPicPr>
          <p:nvPr/>
        </p:nvPicPr>
        <p:blipFill>
          <a:blip r:embed="rId2"/>
          <a:stretch>
            <a:fillRect/>
          </a:stretch>
        </p:blipFill>
        <p:spPr>
          <a:xfrm>
            <a:off x="611560" y="764704"/>
            <a:ext cx="6597054" cy="5725427"/>
          </a:xfrm>
          <a:prstGeom prst="rect">
            <a:avLst/>
          </a:prstGeom>
        </p:spPr>
      </p:pic>
      <p:sp>
        <p:nvSpPr>
          <p:cNvPr id="7" name="Rectangle 6"/>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3013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endParaRPr lang="en-US"/>
          </a:p>
        </p:txBody>
      </p:sp>
      <p:pic>
        <p:nvPicPr>
          <p:cNvPr id="2" name="Picture 1"/>
          <p:cNvPicPr>
            <a:picLocks noChangeAspect="1"/>
          </p:cNvPicPr>
          <p:nvPr/>
        </p:nvPicPr>
        <p:blipFill rotWithShape="1">
          <a:blip r:embed="rId2"/>
          <a:srcRect l="1511" t="1984" r="3194" b="4734"/>
          <a:stretch/>
        </p:blipFill>
        <p:spPr>
          <a:xfrm>
            <a:off x="395536" y="260648"/>
            <a:ext cx="6874438" cy="5688632"/>
          </a:xfrm>
          <a:prstGeom prst="rect">
            <a:avLst/>
          </a:prstGeom>
          <a:ln>
            <a:solidFill>
              <a:srgbClr val="663366"/>
            </a:solidFill>
          </a:ln>
        </p:spPr>
      </p:pic>
      <p:sp>
        <p:nvSpPr>
          <p:cNvPr id="5" name="Rectangle 4"/>
          <p:cNvSpPr/>
          <p:nvPr/>
        </p:nvSpPr>
        <p:spPr>
          <a:xfrm>
            <a:off x="4313775" y="5589240"/>
            <a:ext cx="4722721" cy="11695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400" dirty="0">
                <a:solidFill>
                  <a:srgbClr val="000000"/>
                </a:solidFill>
                <a:latin typeface="Bookman Old Style" pitchFamily="18" charset="0"/>
                <a:cs typeface="Rockwell"/>
              </a:rPr>
              <a:t>c1 is : radius (1.0) and number of Circle objects (1)</a:t>
            </a:r>
          </a:p>
          <a:p>
            <a:endParaRPr lang="en-US" sz="1400" dirty="0">
              <a:solidFill>
                <a:srgbClr val="000000"/>
              </a:solidFill>
              <a:latin typeface="Bookman Old Style" pitchFamily="18" charset="0"/>
              <a:cs typeface="Rockwell"/>
            </a:endParaRPr>
          </a:p>
          <a:p>
            <a:r>
              <a:rPr lang="en-US" sz="1400" dirty="0">
                <a:solidFill>
                  <a:srgbClr val="000000"/>
                </a:solidFill>
                <a:latin typeface="Bookman Old Style" pitchFamily="18" charset="0"/>
                <a:cs typeface="Rockwell"/>
              </a:rPr>
              <a:t>After creating c2 and modifying c1's radius to 9</a:t>
            </a:r>
          </a:p>
          <a:p>
            <a:r>
              <a:rPr lang="en-US" sz="1400" dirty="0">
                <a:solidFill>
                  <a:srgbClr val="000000"/>
                </a:solidFill>
                <a:latin typeface="Bookman Old Style" pitchFamily="18" charset="0"/>
                <a:cs typeface="Rockwell"/>
              </a:rPr>
              <a:t>c1 is : radius (9.0) and number of Circle objects (2)</a:t>
            </a:r>
          </a:p>
          <a:p>
            <a:r>
              <a:rPr lang="en-US" sz="1400" dirty="0">
                <a:solidFill>
                  <a:srgbClr val="000000"/>
                </a:solidFill>
                <a:latin typeface="Bookman Old Style" pitchFamily="18" charset="0"/>
                <a:cs typeface="Rockwell"/>
              </a:rPr>
              <a:t>c2 is : radius (5.0) and number of Circle objects (2)</a:t>
            </a:r>
          </a:p>
        </p:txBody>
      </p:sp>
    </p:spTree>
    <p:extLst>
      <p:ext uri="{BB962C8B-B14F-4D97-AF65-F5344CB8AC3E}">
        <p14:creationId xmlns:p14="http://schemas.microsoft.com/office/powerpoint/2010/main" val="1253454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09" y="358350"/>
            <a:ext cx="8712968" cy="3240360"/>
          </a:xfrm>
        </p:spPr>
        <p:txBody>
          <a:bodyPr/>
          <a:lstStyle/>
          <a:p>
            <a:pPr marL="0" indent="0" algn="just" latinLnBrk="0">
              <a:buNone/>
            </a:pPr>
            <a:r>
              <a:rPr lang="en-US" sz="2000" dirty="0">
                <a:latin typeface="Bookman Old Style" pitchFamily="18" charset="0"/>
              </a:rPr>
              <a:t>3. Can you invoke an instance method or reference an instance variable from a static method? Can you invoke a static method or reference a static variable from an instance method? What is wrong in the following code?</a:t>
            </a:r>
          </a:p>
          <a:p>
            <a:pPr algn="just" latinLnBrk="0"/>
            <a:endParaRPr lang="en-US" sz="2000" dirty="0">
              <a:latin typeface="Bookman Old Style" pitchFamily="18" charset="0"/>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576" y="1920215"/>
            <a:ext cx="7548267" cy="374441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619672" y="2348880"/>
            <a:ext cx="1368152" cy="3960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156176" y="4221088"/>
            <a:ext cx="1872208" cy="39604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63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32656"/>
            <a:ext cx="8712968" cy="4800600"/>
          </a:xfrm>
        </p:spPr>
        <p:txBody>
          <a:bodyPr>
            <a:normAutofit/>
          </a:bodyPr>
          <a:lstStyle/>
          <a:p>
            <a:pPr algn="just" latinLnBrk="0"/>
            <a:r>
              <a:rPr lang="en-US" sz="1600" b="1" dirty="0">
                <a:solidFill>
                  <a:srgbClr val="FF0000"/>
                </a:solidFill>
                <a:latin typeface="Bookman Old Style" pitchFamily="18" charset="0"/>
                <a:cs typeface="Rockwell"/>
              </a:rPr>
              <a:t>Exercise 3.1</a:t>
            </a:r>
            <a:r>
              <a:rPr lang="en-US" sz="1600" b="1" dirty="0">
                <a:latin typeface="Bookman Old Style" pitchFamily="18" charset="0"/>
                <a:cs typeface="Rockwell"/>
              </a:rPr>
              <a:t>. </a:t>
            </a:r>
            <a:r>
              <a:rPr lang="en-US" sz="1600" dirty="0">
                <a:latin typeface="Bookman Old Style" pitchFamily="18" charset="0"/>
              </a:rPr>
              <a:t>Write a JAVA class named “Box” which has three double variables for the dimension of the box: width, height and depth, default constructor, three argument constructors which will initialize the variables values,   the method “volume” which will calculate the volume of boxes and return the double value, and the method “</a:t>
            </a:r>
            <a:r>
              <a:rPr lang="en-US" sz="1600" dirty="0" err="1">
                <a:latin typeface="Bookman Old Style" pitchFamily="18" charset="0"/>
              </a:rPr>
              <a:t>setDimension</a:t>
            </a:r>
            <a:r>
              <a:rPr lang="en-US" sz="1600" dirty="0">
                <a:latin typeface="Bookman Old Style" pitchFamily="18" charset="0"/>
              </a:rPr>
              <a:t>” which will be used by the objects to set dimensions of the box. Write another JAVA class “</a:t>
            </a:r>
            <a:r>
              <a:rPr lang="en-US" sz="1600" dirty="0" err="1">
                <a:latin typeface="Bookman Old Style" pitchFamily="18" charset="0"/>
              </a:rPr>
              <a:t>BoxDemo</a:t>
            </a:r>
            <a:r>
              <a:rPr lang="en-US" sz="1600" dirty="0">
                <a:latin typeface="Bookman Old Style" pitchFamily="18" charset="0"/>
              </a:rPr>
              <a:t>” to create two objects, one by using default constructor, another by using argument constructor. And then set the dimension of the first object by calling </a:t>
            </a:r>
            <a:r>
              <a:rPr lang="en-US" sz="1600" dirty="0" err="1">
                <a:latin typeface="Bookman Old Style" pitchFamily="18" charset="0"/>
              </a:rPr>
              <a:t>setDimension</a:t>
            </a:r>
            <a:r>
              <a:rPr lang="en-US" sz="1600" dirty="0">
                <a:latin typeface="Bookman Old Style" pitchFamily="18" charset="0"/>
              </a:rPr>
              <a:t> method and compute volumes of boxes.</a:t>
            </a:r>
          </a:p>
        </p:txBody>
      </p:sp>
      <p:pic>
        <p:nvPicPr>
          <p:cNvPr id="4" name="Picture 3"/>
          <p:cNvPicPr>
            <a:picLocks noChangeAspect="1"/>
          </p:cNvPicPr>
          <p:nvPr/>
        </p:nvPicPr>
        <p:blipFill rotWithShape="1">
          <a:blip r:embed="rId2"/>
          <a:srcRect r="31454" b="43519"/>
          <a:stretch/>
        </p:blipFill>
        <p:spPr>
          <a:xfrm>
            <a:off x="899592" y="2892987"/>
            <a:ext cx="4447320" cy="3272317"/>
          </a:xfrm>
          <a:prstGeom prst="rect">
            <a:avLst/>
          </a:prstGeom>
          <a:ln>
            <a:solidFill>
              <a:srgbClr val="663366"/>
            </a:solidFill>
          </a:ln>
        </p:spPr>
      </p:pic>
      <p:sp>
        <p:nvSpPr>
          <p:cNvPr id="7" name="Rectangle 6"/>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9850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12595" y="3068960"/>
            <a:ext cx="6523701" cy="3387912"/>
          </a:xfrm>
          <a:prstGeom prst="rect">
            <a:avLst/>
          </a:prstGeom>
          <a:ln>
            <a:noFill/>
          </a:ln>
        </p:spPr>
      </p:pic>
      <p:pic>
        <p:nvPicPr>
          <p:cNvPr id="10" name="Picture 9"/>
          <p:cNvPicPr>
            <a:picLocks noChangeAspect="1"/>
          </p:cNvPicPr>
          <p:nvPr/>
        </p:nvPicPr>
        <p:blipFill rotWithShape="1">
          <a:blip r:embed="rId3"/>
          <a:srcRect t="56363"/>
          <a:stretch/>
        </p:blipFill>
        <p:spPr>
          <a:xfrm>
            <a:off x="665111" y="434254"/>
            <a:ext cx="6642632" cy="2588419"/>
          </a:xfrm>
          <a:prstGeom prst="rect">
            <a:avLst/>
          </a:prstGeom>
          <a:ln>
            <a:noFill/>
          </a:ln>
        </p:spPr>
      </p:pic>
      <p:sp>
        <p:nvSpPr>
          <p:cNvPr id="11" name="Rectangle 10"/>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467544" y="260648"/>
            <a:ext cx="7776864" cy="6196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71269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752"/>
            <a:ext cx="8229600" cy="1143000"/>
          </a:xfrm>
        </p:spPr>
        <p:txBody>
          <a:bodyPr>
            <a:normAutofit/>
          </a:bodyPr>
          <a:lstStyle/>
          <a:p>
            <a:r>
              <a:rPr lang="en-US" sz="3600" dirty="0">
                <a:latin typeface="Arial" pitchFamily="34" charset="0"/>
                <a:cs typeface="Arial" pitchFamily="34" charset="0"/>
              </a:rPr>
              <a:t>The ‘this’ Keyword</a:t>
            </a:r>
          </a:p>
        </p:txBody>
      </p:sp>
      <p:sp>
        <p:nvSpPr>
          <p:cNvPr id="3" name="Content Placeholder 2"/>
          <p:cNvSpPr>
            <a:spLocks noGrp="1"/>
          </p:cNvSpPr>
          <p:nvPr>
            <p:ph idx="1"/>
          </p:nvPr>
        </p:nvSpPr>
        <p:spPr>
          <a:xfrm>
            <a:off x="0" y="1076672"/>
            <a:ext cx="9144000" cy="4800600"/>
          </a:xfrm>
        </p:spPr>
        <p:txBody>
          <a:bodyPr/>
          <a:lstStyle/>
          <a:p>
            <a:pPr>
              <a:buFont typeface="Wingdings" pitchFamily="2" charset="2"/>
              <a:buChar char="§"/>
            </a:pPr>
            <a:endParaRPr lang="en-US" sz="2000" dirty="0">
              <a:latin typeface="Bookman Old Style" pitchFamily="18" charset="0"/>
            </a:endParaRPr>
          </a:p>
          <a:p>
            <a:pPr>
              <a:buFont typeface="Wingdings" pitchFamily="2" charset="2"/>
              <a:buChar char="§"/>
            </a:pPr>
            <a:r>
              <a:rPr lang="en-US" sz="2000" dirty="0">
                <a:latin typeface="Bookman Old Style" pitchFamily="18" charset="0"/>
              </a:rPr>
              <a:t>Can be used inside any method to refer to the current object</a:t>
            </a:r>
          </a:p>
        </p:txBody>
      </p:sp>
      <p:pic>
        <p:nvPicPr>
          <p:cNvPr id="4" name="Picture 3"/>
          <p:cNvPicPr>
            <a:picLocks noChangeAspect="1"/>
          </p:cNvPicPr>
          <p:nvPr/>
        </p:nvPicPr>
        <p:blipFill>
          <a:blip r:embed="rId2"/>
          <a:stretch>
            <a:fillRect/>
          </a:stretch>
        </p:blipFill>
        <p:spPr>
          <a:xfrm>
            <a:off x="525384" y="2211879"/>
            <a:ext cx="4361518" cy="1549265"/>
          </a:xfrm>
          <a:prstGeom prst="rect">
            <a:avLst/>
          </a:prstGeom>
          <a:ln>
            <a:solidFill>
              <a:srgbClr val="663366"/>
            </a:solidFill>
          </a:ln>
        </p:spPr>
      </p:pic>
      <p:sp>
        <p:nvSpPr>
          <p:cNvPr id="5" name="Right Arrow 4"/>
          <p:cNvSpPr/>
          <p:nvPr/>
        </p:nvSpPr>
        <p:spPr>
          <a:xfrm>
            <a:off x="5230378" y="2828389"/>
            <a:ext cx="303442" cy="34837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5636061" y="2828390"/>
            <a:ext cx="2993127" cy="307777"/>
          </a:xfrm>
          <a:prstGeom prst="rect">
            <a:avLst/>
          </a:prstGeom>
        </p:spPr>
        <p:txBody>
          <a:bodyPr wrap="none">
            <a:spAutoFit/>
          </a:bodyPr>
          <a:lstStyle/>
          <a:p>
            <a:r>
              <a:rPr lang="en-US" sz="1400" dirty="0">
                <a:latin typeface="Bookman Old Style" pitchFamily="18" charset="0"/>
              </a:rPr>
              <a:t>Perfectly correct, but redundant</a:t>
            </a:r>
          </a:p>
        </p:txBody>
      </p:sp>
      <p:pic>
        <p:nvPicPr>
          <p:cNvPr id="7" name="Picture 6"/>
          <p:cNvPicPr>
            <a:picLocks noChangeAspect="1"/>
          </p:cNvPicPr>
          <p:nvPr/>
        </p:nvPicPr>
        <p:blipFill>
          <a:blip r:embed="rId3"/>
          <a:stretch>
            <a:fillRect/>
          </a:stretch>
        </p:blipFill>
        <p:spPr>
          <a:xfrm>
            <a:off x="525384" y="4467798"/>
            <a:ext cx="4361518" cy="1619616"/>
          </a:xfrm>
          <a:prstGeom prst="rect">
            <a:avLst/>
          </a:prstGeom>
          <a:ln>
            <a:solidFill>
              <a:srgbClr val="663366"/>
            </a:solidFill>
          </a:ln>
        </p:spPr>
      </p:pic>
      <p:sp>
        <p:nvSpPr>
          <p:cNvPr id="8" name="Right Arrow 7"/>
          <p:cNvSpPr/>
          <p:nvPr/>
        </p:nvSpPr>
        <p:spPr>
          <a:xfrm>
            <a:off x="5230378" y="5093536"/>
            <a:ext cx="303442" cy="34837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5636061" y="5093537"/>
            <a:ext cx="2476960" cy="307777"/>
          </a:xfrm>
          <a:prstGeom prst="rect">
            <a:avLst/>
          </a:prstGeom>
        </p:spPr>
        <p:txBody>
          <a:bodyPr wrap="none">
            <a:spAutoFit/>
          </a:bodyPr>
          <a:lstStyle/>
          <a:p>
            <a:r>
              <a:rPr lang="en-US" sz="1400" dirty="0">
                <a:latin typeface="Bookman Old Style" pitchFamily="18" charset="0"/>
              </a:rPr>
              <a:t>To resolve name collisions</a:t>
            </a:r>
          </a:p>
        </p:txBody>
      </p:sp>
      <p:sp>
        <p:nvSpPr>
          <p:cNvPr id="11" name="Rectangle 10"/>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1307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endParaRPr lang="en-US"/>
          </a:p>
        </p:txBody>
      </p:sp>
      <p:sp>
        <p:nvSpPr>
          <p:cNvPr id="4" name="Rectangle 3"/>
          <p:cNvSpPr/>
          <p:nvPr/>
        </p:nvSpPr>
        <p:spPr>
          <a:xfrm>
            <a:off x="29990" y="22092"/>
            <a:ext cx="9006506" cy="1077218"/>
          </a:xfrm>
          <a:prstGeom prst="rect">
            <a:avLst/>
          </a:prstGeom>
          <a:solidFill>
            <a:srgbClr val="FFFFFF"/>
          </a:solidFill>
        </p:spPr>
        <p:txBody>
          <a:bodyPr wrap="square">
            <a:spAutoFit/>
          </a:bodyPr>
          <a:lstStyle/>
          <a:p>
            <a:pPr algn="just" latinLnBrk="0"/>
            <a:r>
              <a:rPr lang="en-US" sz="1600" b="1" dirty="0">
                <a:solidFill>
                  <a:srgbClr val="FF0000"/>
                </a:solidFill>
                <a:latin typeface="Bookman Old Style" pitchFamily="18" charset="0"/>
              </a:rPr>
              <a:t>Exercise 3.2. </a:t>
            </a:r>
            <a:r>
              <a:rPr lang="en-US" sz="1600" dirty="0">
                <a:latin typeface="Bookman Old Style" pitchFamily="18" charset="0"/>
              </a:rPr>
              <a:t>Write a JAVA class “Stack” which defines an integer stack that can hold 10 values, push and pop methods. Write another JAVA class which will create the two objects of Stack Class , calling push method to assign the integer values 1 to 10 and 11 to 20 to the Stack and calling pop method to print out the data from stacks.</a:t>
            </a:r>
          </a:p>
        </p:txBody>
      </p:sp>
      <p:sp>
        <p:nvSpPr>
          <p:cNvPr id="13" name="Rectangle 12"/>
          <p:cNvSpPr/>
          <p:nvPr/>
        </p:nvSpPr>
        <p:spPr>
          <a:xfrm>
            <a:off x="611560" y="1196752"/>
            <a:ext cx="6750496" cy="5586145"/>
          </a:xfrm>
          <a:prstGeom prst="rect">
            <a:avLst/>
          </a:prstGeom>
          <a:solidFill>
            <a:schemeClr val="bg1"/>
          </a:solidFill>
          <a:ln>
            <a:solidFill>
              <a:srgbClr val="0000CC"/>
            </a:solidFill>
          </a:ln>
        </p:spPr>
        <p:txBody>
          <a:bodyPr wrap="square">
            <a:spAutoFit/>
          </a:bodyPr>
          <a:lstStyle/>
          <a:p>
            <a:r>
              <a:rPr lang="en-US" sz="1700" dirty="0">
                <a:latin typeface="Bookman Old Style" pitchFamily="18" charset="0"/>
              </a:rPr>
              <a:t>class Stack {</a:t>
            </a:r>
          </a:p>
          <a:p>
            <a:pPr lvl="1"/>
            <a:r>
              <a:rPr lang="en-US" sz="1700" dirty="0" err="1">
                <a:latin typeface="Bookman Old Style" pitchFamily="18" charset="0"/>
              </a:rPr>
              <a:t>int</a:t>
            </a:r>
            <a:r>
              <a:rPr lang="en-US" sz="1700" dirty="0">
                <a:latin typeface="Bookman Old Style" pitchFamily="18" charset="0"/>
              </a:rPr>
              <a:t> </a:t>
            </a:r>
            <a:r>
              <a:rPr lang="en-US" sz="1700" dirty="0" err="1">
                <a:latin typeface="Bookman Old Style" pitchFamily="18" charset="0"/>
              </a:rPr>
              <a:t>stck</a:t>
            </a:r>
            <a:r>
              <a:rPr lang="en-US" sz="1700" dirty="0">
                <a:latin typeface="Bookman Old Style" pitchFamily="18" charset="0"/>
              </a:rPr>
              <a:t>[] = new </a:t>
            </a:r>
            <a:r>
              <a:rPr lang="en-US" sz="1700" dirty="0" err="1">
                <a:latin typeface="Bookman Old Style" pitchFamily="18" charset="0"/>
              </a:rPr>
              <a:t>int</a:t>
            </a:r>
            <a:r>
              <a:rPr lang="en-US" sz="1700" dirty="0">
                <a:latin typeface="Bookman Old Style" pitchFamily="18" charset="0"/>
              </a:rPr>
              <a:t>[10];</a:t>
            </a:r>
          </a:p>
          <a:p>
            <a:pPr lvl="1"/>
            <a:r>
              <a:rPr lang="en-US" sz="1700" dirty="0" err="1">
                <a:latin typeface="Bookman Old Style" pitchFamily="18" charset="0"/>
              </a:rPr>
              <a:t>int</a:t>
            </a:r>
            <a:r>
              <a:rPr lang="en-US" sz="1700" dirty="0">
                <a:latin typeface="Bookman Old Style" pitchFamily="18" charset="0"/>
              </a:rPr>
              <a:t> </a:t>
            </a:r>
            <a:r>
              <a:rPr lang="en-US" sz="1700" dirty="0" err="1">
                <a:latin typeface="Bookman Old Style" pitchFamily="18" charset="0"/>
              </a:rPr>
              <a:t>tos</a:t>
            </a:r>
            <a:r>
              <a:rPr lang="en-US" sz="1700" dirty="0">
                <a:latin typeface="Bookman Old Style" pitchFamily="18" charset="0"/>
              </a:rPr>
              <a:t>;</a:t>
            </a:r>
          </a:p>
          <a:p>
            <a:pPr lvl="1"/>
            <a:r>
              <a:rPr lang="en-US" sz="1700" dirty="0">
                <a:latin typeface="Bookman Old Style" pitchFamily="18" charset="0"/>
              </a:rPr>
              <a:t>Stack() {</a:t>
            </a:r>
          </a:p>
          <a:p>
            <a:pPr lvl="1"/>
            <a:r>
              <a:rPr lang="en-US" sz="1700" dirty="0">
                <a:latin typeface="Bookman Old Style" pitchFamily="18" charset="0"/>
              </a:rPr>
              <a:t>	</a:t>
            </a:r>
            <a:r>
              <a:rPr lang="en-US" sz="1700" dirty="0" err="1">
                <a:latin typeface="Bookman Old Style" pitchFamily="18" charset="0"/>
              </a:rPr>
              <a:t>tos</a:t>
            </a:r>
            <a:r>
              <a:rPr lang="en-US" sz="1700" dirty="0">
                <a:latin typeface="Bookman Old Style" pitchFamily="18" charset="0"/>
              </a:rPr>
              <a:t> = -1;</a:t>
            </a:r>
          </a:p>
          <a:p>
            <a:pPr lvl="1"/>
            <a:r>
              <a:rPr lang="en-US" sz="1700" dirty="0">
                <a:latin typeface="Bookman Old Style" pitchFamily="18" charset="0"/>
              </a:rPr>
              <a:t>}</a:t>
            </a:r>
          </a:p>
          <a:p>
            <a:pPr lvl="1"/>
            <a:r>
              <a:rPr lang="en-US" sz="1700" dirty="0">
                <a:latin typeface="Bookman Old Style" pitchFamily="18" charset="0"/>
              </a:rPr>
              <a:t>void push(</a:t>
            </a:r>
            <a:r>
              <a:rPr lang="en-US" sz="1700" dirty="0" err="1">
                <a:latin typeface="Bookman Old Style" pitchFamily="18" charset="0"/>
              </a:rPr>
              <a:t>int</a:t>
            </a:r>
            <a:r>
              <a:rPr lang="en-US" sz="1700" dirty="0">
                <a:latin typeface="Bookman Old Style" pitchFamily="18" charset="0"/>
              </a:rPr>
              <a:t> item) {     </a:t>
            </a:r>
          </a:p>
          <a:p>
            <a:pPr lvl="2"/>
            <a:r>
              <a:rPr lang="en-US" sz="1700" dirty="0">
                <a:latin typeface="Bookman Old Style" pitchFamily="18" charset="0"/>
              </a:rPr>
              <a:t>if(</a:t>
            </a:r>
            <a:r>
              <a:rPr lang="en-US" sz="1700" dirty="0" err="1">
                <a:latin typeface="Bookman Old Style" pitchFamily="18" charset="0"/>
              </a:rPr>
              <a:t>tos</a:t>
            </a:r>
            <a:r>
              <a:rPr lang="en-US" sz="1700" dirty="0">
                <a:latin typeface="Bookman Old Style" pitchFamily="18" charset="0"/>
              </a:rPr>
              <a:t>==9)</a:t>
            </a:r>
          </a:p>
          <a:p>
            <a:pPr lvl="2"/>
            <a:r>
              <a:rPr lang="en-US" sz="1700" dirty="0" err="1">
                <a:latin typeface="Bookman Old Style" pitchFamily="18" charset="0"/>
              </a:rPr>
              <a:t>System.out.println</a:t>
            </a:r>
            <a:r>
              <a:rPr lang="en-US" sz="1700" dirty="0">
                <a:latin typeface="Bookman Old Style" pitchFamily="18" charset="0"/>
              </a:rPr>
              <a:t>("Stack is full.");</a:t>
            </a:r>
          </a:p>
          <a:p>
            <a:pPr lvl="2"/>
            <a:r>
              <a:rPr lang="en-US" sz="1700" dirty="0">
                <a:latin typeface="Bookman Old Style" pitchFamily="18" charset="0"/>
              </a:rPr>
              <a:t>else</a:t>
            </a:r>
          </a:p>
          <a:p>
            <a:pPr lvl="2"/>
            <a:r>
              <a:rPr lang="en-US" sz="1700" dirty="0" err="1">
                <a:latin typeface="Bookman Old Style" pitchFamily="18" charset="0"/>
              </a:rPr>
              <a:t>stck</a:t>
            </a:r>
            <a:r>
              <a:rPr lang="en-US" sz="1700" dirty="0">
                <a:latin typeface="Bookman Old Style" pitchFamily="18" charset="0"/>
              </a:rPr>
              <a:t>[++</a:t>
            </a:r>
            <a:r>
              <a:rPr lang="en-US" sz="1700" dirty="0" err="1">
                <a:latin typeface="Bookman Old Style" pitchFamily="18" charset="0"/>
              </a:rPr>
              <a:t>tos</a:t>
            </a:r>
            <a:r>
              <a:rPr lang="en-US" sz="1700" dirty="0">
                <a:latin typeface="Bookman Old Style" pitchFamily="18" charset="0"/>
              </a:rPr>
              <a:t>] = item;</a:t>
            </a:r>
          </a:p>
          <a:p>
            <a:pPr lvl="1"/>
            <a:r>
              <a:rPr lang="en-US" sz="1700" dirty="0">
                <a:latin typeface="Bookman Old Style" pitchFamily="18" charset="0"/>
              </a:rPr>
              <a:t>}</a:t>
            </a:r>
          </a:p>
          <a:p>
            <a:pPr lvl="1"/>
            <a:r>
              <a:rPr lang="en-US" sz="1700" dirty="0" err="1">
                <a:latin typeface="Bookman Old Style" pitchFamily="18" charset="0"/>
              </a:rPr>
              <a:t>int</a:t>
            </a:r>
            <a:r>
              <a:rPr lang="en-US" sz="1700" dirty="0">
                <a:latin typeface="Bookman Old Style" pitchFamily="18" charset="0"/>
              </a:rPr>
              <a:t> pop(){</a:t>
            </a:r>
          </a:p>
          <a:p>
            <a:pPr lvl="2"/>
            <a:r>
              <a:rPr lang="en-US" sz="1700" dirty="0">
                <a:latin typeface="Bookman Old Style" pitchFamily="18" charset="0"/>
              </a:rPr>
              <a:t>if(</a:t>
            </a:r>
            <a:r>
              <a:rPr lang="en-US" sz="1700" dirty="0" err="1">
                <a:latin typeface="Bookman Old Style" pitchFamily="18" charset="0"/>
              </a:rPr>
              <a:t>tos</a:t>
            </a:r>
            <a:r>
              <a:rPr lang="en-US" sz="1700" dirty="0">
                <a:latin typeface="Bookman Old Style" pitchFamily="18" charset="0"/>
              </a:rPr>
              <a:t> &lt; 0) {</a:t>
            </a:r>
          </a:p>
          <a:p>
            <a:pPr lvl="2"/>
            <a:r>
              <a:rPr lang="en-US" sz="1700" dirty="0" err="1">
                <a:latin typeface="Bookman Old Style" pitchFamily="18" charset="0"/>
              </a:rPr>
              <a:t>System.out.println</a:t>
            </a:r>
            <a:r>
              <a:rPr lang="en-US" sz="1700" dirty="0">
                <a:latin typeface="Bookman Old Style" pitchFamily="18" charset="0"/>
              </a:rPr>
              <a:t>("Stack underflow.");</a:t>
            </a:r>
          </a:p>
          <a:p>
            <a:pPr lvl="2"/>
            <a:r>
              <a:rPr lang="en-US" sz="1700" dirty="0">
                <a:latin typeface="Bookman Old Style" pitchFamily="18" charset="0"/>
              </a:rPr>
              <a:t>return 0;</a:t>
            </a:r>
          </a:p>
          <a:p>
            <a:pPr lvl="2"/>
            <a:r>
              <a:rPr lang="en-US" sz="1700" dirty="0">
                <a:latin typeface="Bookman Old Style" pitchFamily="18" charset="0"/>
              </a:rPr>
              <a:t>}</a:t>
            </a:r>
          </a:p>
          <a:p>
            <a:pPr lvl="2"/>
            <a:r>
              <a:rPr lang="en-US" sz="1700" dirty="0">
                <a:latin typeface="Bookman Old Style" pitchFamily="18" charset="0"/>
              </a:rPr>
              <a:t>else</a:t>
            </a:r>
          </a:p>
          <a:p>
            <a:pPr lvl="2"/>
            <a:r>
              <a:rPr lang="en-US" sz="1700" dirty="0">
                <a:latin typeface="Bookman Old Style" pitchFamily="18" charset="0"/>
              </a:rPr>
              <a:t>return </a:t>
            </a:r>
            <a:r>
              <a:rPr lang="en-US" sz="1700" dirty="0" err="1">
                <a:latin typeface="Bookman Old Style" pitchFamily="18" charset="0"/>
              </a:rPr>
              <a:t>stck</a:t>
            </a:r>
            <a:r>
              <a:rPr lang="en-US" sz="1700" dirty="0">
                <a:latin typeface="Bookman Old Style" pitchFamily="18" charset="0"/>
              </a:rPr>
              <a:t>[</a:t>
            </a:r>
            <a:r>
              <a:rPr lang="en-US" sz="1700" dirty="0" err="1">
                <a:latin typeface="Bookman Old Style" pitchFamily="18" charset="0"/>
              </a:rPr>
              <a:t>tos</a:t>
            </a:r>
            <a:r>
              <a:rPr lang="en-US" sz="1700" dirty="0">
                <a:latin typeface="Bookman Old Style" pitchFamily="18" charset="0"/>
              </a:rPr>
              <a:t>--];</a:t>
            </a:r>
          </a:p>
          <a:p>
            <a:pPr lvl="1"/>
            <a:r>
              <a:rPr lang="en-US" sz="1700" dirty="0">
                <a:latin typeface="Bookman Old Style" pitchFamily="18" charset="0"/>
              </a:rPr>
              <a:t>}</a:t>
            </a:r>
          </a:p>
          <a:p>
            <a:r>
              <a:rPr lang="en-US" sz="1700" dirty="0">
                <a:latin typeface="Bookman Old Style" pitchFamily="18" charset="0"/>
              </a:rPr>
              <a:t>}</a:t>
            </a:r>
          </a:p>
        </p:txBody>
      </p:sp>
      <p:sp>
        <p:nvSpPr>
          <p:cNvPr id="14" name="Rectangle 13"/>
          <p:cNvSpPr/>
          <p:nvPr/>
        </p:nvSpPr>
        <p:spPr>
          <a:xfrm>
            <a:off x="6372199" y="3200939"/>
            <a:ext cx="2515821" cy="553998"/>
          </a:xfrm>
          <a:prstGeom prst="rect">
            <a:avLst/>
          </a:prstGeom>
          <a:solidFill>
            <a:schemeClr val="bg2"/>
          </a:solidFill>
        </p:spPr>
        <p:txBody>
          <a:bodyPr wrap="square">
            <a:spAutoFit/>
          </a:bodyPr>
          <a:lstStyle/>
          <a:p>
            <a:pPr lvl="1" latinLnBrk="0"/>
            <a:r>
              <a:rPr lang="en-US" sz="1500" dirty="0">
                <a:latin typeface="Bookman Old Style" pitchFamily="18" charset="0"/>
              </a:rPr>
              <a:t>Push an item onto the stack</a:t>
            </a:r>
          </a:p>
        </p:txBody>
      </p:sp>
      <p:sp>
        <p:nvSpPr>
          <p:cNvPr id="15" name="Rectangle 14"/>
          <p:cNvSpPr/>
          <p:nvPr/>
        </p:nvSpPr>
        <p:spPr>
          <a:xfrm>
            <a:off x="6372200" y="4984710"/>
            <a:ext cx="2664296" cy="553998"/>
          </a:xfrm>
          <a:prstGeom prst="rect">
            <a:avLst/>
          </a:prstGeom>
          <a:solidFill>
            <a:schemeClr val="bg2"/>
          </a:solidFill>
        </p:spPr>
        <p:txBody>
          <a:bodyPr wrap="square">
            <a:spAutoFit/>
          </a:bodyPr>
          <a:lstStyle/>
          <a:p>
            <a:pPr lvl="1"/>
            <a:r>
              <a:rPr lang="en-US" sz="1500" dirty="0">
                <a:latin typeface="Bookman Old Style" pitchFamily="18" charset="0"/>
              </a:rPr>
              <a:t>Pop an item from the stack</a:t>
            </a:r>
          </a:p>
        </p:txBody>
      </p:sp>
      <p:sp>
        <p:nvSpPr>
          <p:cNvPr id="16" name="Rectangle 15"/>
          <p:cNvSpPr/>
          <p:nvPr/>
        </p:nvSpPr>
        <p:spPr>
          <a:xfrm>
            <a:off x="6372200" y="2176453"/>
            <a:ext cx="2515820" cy="553998"/>
          </a:xfrm>
          <a:prstGeom prst="rect">
            <a:avLst/>
          </a:prstGeom>
          <a:solidFill>
            <a:schemeClr val="bg2"/>
          </a:solidFill>
        </p:spPr>
        <p:txBody>
          <a:bodyPr wrap="square">
            <a:spAutoFit/>
          </a:bodyPr>
          <a:lstStyle/>
          <a:p>
            <a:pPr lvl="1" latinLnBrk="0"/>
            <a:r>
              <a:rPr lang="en-US" sz="1500" dirty="0">
                <a:latin typeface="Bookman Old Style" pitchFamily="18" charset="0"/>
              </a:rPr>
              <a:t>Initialize top-of-stack</a:t>
            </a:r>
          </a:p>
        </p:txBody>
      </p:sp>
      <p:cxnSp>
        <p:nvCxnSpPr>
          <p:cNvPr id="18" name="Straight Arrow Connector 17"/>
          <p:cNvCxnSpPr>
            <a:stCxn id="16" idx="1"/>
          </p:cNvCxnSpPr>
          <p:nvPr/>
        </p:nvCxnSpPr>
        <p:spPr>
          <a:xfrm flipH="1">
            <a:off x="2699792" y="2453452"/>
            <a:ext cx="3672408" cy="0"/>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0" name="Right Bracket 19"/>
          <p:cNvSpPr/>
          <p:nvPr/>
        </p:nvSpPr>
        <p:spPr>
          <a:xfrm>
            <a:off x="5652120" y="2730451"/>
            <a:ext cx="360040" cy="1490637"/>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1" name="Straight Arrow Connector 20"/>
          <p:cNvCxnSpPr>
            <a:stCxn id="14" idx="1"/>
            <a:endCxn id="20" idx="2"/>
          </p:cNvCxnSpPr>
          <p:nvPr/>
        </p:nvCxnSpPr>
        <p:spPr>
          <a:xfrm flipH="1" flipV="1">
            <a:off x="6012160" y="3475770"/>
            <a:ext cx="360039" cy="2168"/>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4" name="Right Bracket 23"/>
          <p:cNvSpPr/>
          <p:nvPr/>
        </p:nvSpPr>
        <p:spPr>
          <a:xfrm>
            <a:off x="5624500" y="4373488"/>
            <a:ext cx="360040" cy="1791816"/>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5" name="Straight Arrow Connector 24"/>
          <p:cNvCxnSpPr>
            <a:stCxn id="15" idx="1"/>
            <a:endCxn id="24" idx="2"/>
          </p:cNvCxnSpPr>
          <p:nvPr/>
        </p:nvCxnSpPr>
        <p:spPr>
          <a:xfrm flipH="1">
            <a:off x="5984540" y="5261709"/>
            <a:ext cx="387660" cy="7687"/>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07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67544" y="404664"/>
            <a:ext cx="8064896" cy="4524315"/>
          </a:xfrm>
          <a:prstGeom prst="rect">
            <a:avLst/>
          </a:prstGeom>
        </p:spPr>
        <p:txBody>
          <a:bodyPr wrap="square">
            <a:spAutoFit/>
          </a:bodyPr>
          <a:lstStyle/>
          <a:p>
            <a:r>
              <a:rPr lang="en-US" dirty="0">
                <a:latin typeface="Bookman Old Style" pitchFamily="18" charset="0"/>
              </a:rPr>
              <a:t>class </a:t>
            </a:r>
            <a:r>
              <a:rPr lang="en-US" dirty="0" err="1">
                <a:latin typeface="Bookman Old Style" pitchFamily="18" charset="0"/>
              </a:rPr>
              <a:t>TestStack</a:t>
            </a:r>
            <a:r>
              <a:rPr lang="en-US" dirty="0">
                <a:latin typeface="Bookman Old Style" pitchFamily="18" charset="0"/>
              </a:rPr>
              <a:t> {</a:t>
            </a:r>
          </a:p>
          <a:p>
            <a:pPr lvl="1"/>
            <a:r>
              <a:rPr lang="en-US" dirty="0">
                <a:latin typeface="Bookman Old Style" pitchFamily="18" charset="0"/>
              </a:rPr>
              <a:t>public static void main(String </a:t>
            </a:r>
            <a:r>
              <a:rPr lang="en-US" dirty="0" err="1">
                <a:latin typeface="Bookman Old Style" pitchFamily="18" charset="0"/>
              </a:rPr>
              <a:t>args</a:t>
            </a:r>
            <a:r>
              <a:rPr lang="en-US" dirty="0">
                <a:latin typeface="Bookman Old Style" pitchFamily="18" charset="0"/>
              </a:rPr>
              <a:t>[]) {</a:t>
            </a:r>
          </a:p>
          <a:p>
            <a:pPr lvl="2"/>
            <a:r>
              <a:rPr lang="en-US" dirty="0">
                <a:latin typeface="Bookman Old Style" pitchFamily="18" charset="0"/>
              </a:rPr>
              <a:t>Stack mystack1 = </a:t>
            </a:r>
            <a:r>
              <a:rPr lang="en-US" b="1" dirty="0">
                <a:latin typeface="Bookman Old Style" pitchFamily="18" charset="0"/>
              </a:rPr>
              <a:t>new</a:t>
            </a:r>
            <a:r>
              <a:rPr lang="en-US" dirty="0">
                <a:latin typeface="Bookman Old Style" pitchFamily="18" charset="0"/>
              </a:rPr>
              <a:t> Stack();</a:t>
            </a:r>
          </a:p>
          <a:p>
            <a:pPr lvl="2"/>
            <a:r>
              <a:rPr lang="en-US" dirty="0">
                <a:latin typeface="Bookman Old Style" pitchFamily="18" charset="0"/>
              </a:rPr>
              <a:t>Stack mystack2 = </a:t>
            </a:r>
            <a:r>
              <a:rPr lang="en-US" b="1" dirty="0">
                <a:latin typeface="Bookman Old Style" pitchFamily="18" charset="0"/>
              </a:rPr>
              <a:t>new</a:t>
            </a:r>
            <a:r>
              <a:rPr lang="en-US" dirty="0">
                <a:latin typeface="Bookman Old Style" pitchFamily="18" charset="0"/>
              </a:rPr>
              <a:t> Stack();</a:t>
            </a:r>
          </a:p>
          <a:p>
            <a:pPr lvl="2"/>
            <a:r>
              <a:rPr lang="en-US" dirty="0">
                <a:solidFill>
                  <a:srgbClr val="0000CC"/>
                </a:solidFill>
                <a:latin typeface="Bookman Old Style" pitchFamily="18" charset="0"/>
              </a:rPr>
              <a:t>// push some numbers onto the stack</a:t>
            </a:r>
          </a:p>
          <a:p>
            <a:pPr lvl="2"/>
            <a:r>
              <a:rPr lang="en-US" dirty="0">
                <a:latin typeface="Bookman Old Style" pitchFamily="18" charset="0"/>
              </a:rPr>
              <a:t>for(</a:t>
            </a:r>
            <a:r>
              <a:rPr lang="en-US" dirty="0" err="1">
                <a:latin typeface="Bookman Old Style" pitchFamily="18" charset="0"/>
              </a:rPr>
              <a:t>int</a:t>
            </a:r>
            <a:r>
              <a:rPr lang="en-US" dirty="0">
                <a:latin typeface="Bookman Old Style" pitchFamily="18" charset="0"/>
              </a:rPr>
              <a:t> i=0; i&lt;10; i++) </a:t>
            </a:r>
            <a:r>
              <a:rPr lang="en-US" b="1" dirty="0">
                <a:latin typeface="Bookman Old Style" pitchFamily="18" charset="0"/>
              </a:rPr>
              <a:t>mystack1.push(i);</a:t>
            </a:r>
          </a:p>
          <a:p>
            <a:pPr lvl="2"/>
            <a:r>
              <a:rPr lang="en-US" dirty="0">
                <a:latin typeface="Bookman Old Style" pitchFamily="18" charset="0"/>
              </a:rPr>
              <a:t>for(</a:t>
            </a:r>
            <a:r>
              <a:rPr lang="en-US" dirty="0" err="1">
                <a:latin typeface="Bookman Old Style" pitchFamily="18" charset="0"/>
              </a:rPr>
              <a:t>int</a:t>
            </a:r>
            <a:r>
              <a:rPr lang="en-US" dirty="0">
                <a:latin typeface="Bookman Old Style" pitchFamily="18" charset="0"/>
              </a:rPr>
              <a:t> i=10; i&lt;20; i++) </a:t>
            </a:r>
            <a:r>
              <a:rPr lang="en-US" b="1" dirty="0">
                <a:latin typeface="Bookman Old Style" pitchFamily="18" charset="0"/>
              </a:rPr>
              <a:t>mystack2.push(i);</a:t>
            </a:r>
          </a:p>
          <a:p>
            <a:pPr lvl="2"/>
            <a:r>
              <a:rPr lang="en-US" dirty="0">
                <a:solidFill>
                  <a:srgbClr val="0000CC"/>
                </a:solidFill>
                <a:latin typeface="Bookman Old Style" pitchFamily="18" charset="0"/>
              </a:rPr>
              <a:t>// pop those numbers off the stack</a:t>
            </a:r>
          </a:p>
          <a:p>
            <a:pPr lvl="2"/>
            <a:r>
              <a:rPr lang="en-US" dirty="0" err="1">
                <a:latin typeface="Bookman Old Style" pitchFamily="18" charset="0"/>
              </a:rPr>
              <a:t>System.out.println</a:t>
            </a:r>
            <a:r>
              <a:rPr lang="en-US" dirty="0">
                <a:latin typeface="Bookman Old Style" pitchFamily="18" charset="0"/>
              </a:rPr>
              <a:t>("Stack in mystack1:");</a:t>
            </a:r>
          </a:p>
          <a:p>
            <a:pPr lvl="2"/>
            <a:r>
              <a:rPr lang="en-US" dirty="0">
                <a:latin typeface="Bookman Old Style" pitchFamily="18" charset="0"/>
              </a:rPr>
              <a:t>for(</a:t>
            </a:r>
            <a:r>
              <a:rPr lang="en-US" dirty="0" err="1">
                <a:latin typeface="Bookman Old Style" pitchFamily="18" charset="0"/>
              </a:rPr>
              <a:t>int</a:t>
            </a:r>
            <a:r>
              <a:rPr lang="en-US" dirty="0">
                <a:latin typeface="Bookman Old Style" pitchFamily="18" charset="0"/>
              </a:rPr>
              <a:t> i=0; i&lt;10; i++)</a:t>
            </a:r>
          </a:p>
          <a:p>
            <a:pPr lvl="2"/>
            <a:r>
              <a:rPr lang="en-US" dirty="0" err="1">
                <a:latin typeface="Bookman Old Style" pitchFamily="18" charset="0"/>
              </a:rPr>
              <a:t>System.out.println</a:t>
            </a:r>
            <a:r>
              <a:rPr lang="en-US" dirty="0">
                <a:latin typeface="Bookman Old Style" pitchFamily="18" charset="0"/>
              </a:rPr>
              <a:t>(mystack1.</a:t>
            </a:r>
            <a:r>
              <a:rPr lang="en-US" b="1" dirty="0">
                <a:latin typeface="Bookman Old Style" pitchFamily="18" charset="0"/>
              </a:rPr>
              <a:t>pop</a:t>
            </a:r>
            <a:r>
              <a:rPr lang="en-US" dirty="0">
                <a:latin typeface="Bookman Old Style" pitchFamily="18" charset="0"/>
              </a:rPr>
              <a:t>());</a:t>
            </a:r>
          </a:p>
          <a:p>
            <a:pPr lvl="2"/>
            <a:r>
              <a:rPr lang="en-US" dirty="0" err="1">
                <a:latin typeface="Bookman Old Style" pitchFamily="18" charset="0"/>
              </a:rPr>
              <a:t>System.out.println</a:t>
            </a:r>
            <a:r>
              <a:rPr lang="en-US" dirty="0">
                <a:latin typeface="Bookman Old Style" pitchFamily="18" charset="0"/>
              </a:rPr>
              <a:t>("Stack in mystack2:");</a:t>
            </a:r>
          </a:p>
          <a:p>
            <a:pPr lvl="2"/>
            <a:r>
              <a:rPr lang="en-US" dirty="0">
                <a:latin typeface="Bookman Old Style" pitchFamily="18" charset="0"/>
              </a:rPr>
              <a:t>for(</a:t>
            </a:r>
            <a:r>
              <a:rPr lang="en-US" dirty="0" err="1">
                <a:latin typeface="Bookman Old Style" pitchFamily="18" charset="0"/>
              </a:rPr>
              <a:t>int</a:t>
            </a:r>
            <a:r>
              <a:rPr lang="en-US" dirty="0">
                <a:latin typeface="Bookman Old Style" pitchFamily="18" charset="0"/>
              </a:rPr>
              <a:t> i=0; i&lt;10; i++)</a:t>
            </a:r>
          </a:p>
          <a:p>
            <a:pPr lvl="2"/>
            <a:r>
              <a:rPr lang="en-US" dirty="0" err="1">
                <a:latin typeface="Bookman Old Style" pitchFamily="18" charset="0"/>
              </a:rPr>
              <a:t>System.out.println</a:t>
            </a:r>
            <a:r>
              <a:rPr lang="en-US" dirty="0">
                <a:latin typeface="Bookman Old Style" pitchFamily="18" charset="0"/>
              </a:rPr>
              <a:t>(mystack2.</a:t>
            </a:r>
            <a:r>
              <a:rPr lang="en-US" b="1" dirty="0">
                <a:latin typeface="Bookman Old Style" pitchFamily="18" charset="0"/>
              </a:rPr>
              <a:t>pop</a:t>
            </a:r>
            <a:r>
              <a:rPr lang="en-US" dirty="0">
                <a:latin typeface="Bookman Old Style" pitchFamily="18" charset="0"/>
              </a:rPr>
              <a:t>());</a:t>
            </a:r>
          </a:p>
          <a:p>
            <a:pPr lvl="1"/>
            <a:r>
              <a:rPr lang="en-US" dirty="0">
                <a:latin typeface="Bookman Old Style" pitchFamily="18" charset="0"/>
              </a:rPr>
              <a:t>}</a:t>
            </a:r>
          </a:p>
          <a:p>
            <a:r>
              <a:rPr lang="en-US" dirty="0">
                <a:latin typeface="Bookman Old Style" pitchFamily="18" charset="0"/>
              </a:rPr>
              <a:t>}</a:t>
            </a:r>
          </a:p>
        </p:txBody>
      </p:sp>
    </p:spTree>
    <p:extLst>
      <p:ext uri="{BB962C8B-B14F-4D97-AF65-F5344CB8AC3E}">
        <p14:creationId xmlns:p14="http://schemas.microsoft.com/office/powerpoint/2010/main" val="20883272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7620000" cy="1143000"/>
          </a:xfrm>
        </p:spPr>
        <p:txBody>
          <a:bodyPr>
            <a:normAutofit/>
          </a:bodyPr>
          <a:lstStyle/>
          <a:p>
            <a:r>
              <a:rPr lang="en-US" sz="3600" dirty="0">
                <a:latin typeface="Arial" pitchFamily="34" charset="0"/>
                <a:cs typeface="Arial" pitchFamily="34" charset="0"/>
              </a:rPr>
              <a:t>Method Overloading</a:t>
            </a:r>
          </a:p>
        </p:txBody>
      </p:sp>
      <p:sp>
        <p:nvSpPr>
          <p:cNvPr id="5" name="Rectangle 4"/>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p:cNvSpPr txBox="1">
            <a:spLocks/>
          </p:cNvSpPr>
          <p:nvPr/>
        </p:nvSpPr>
        <p:spPr>
          <a:xfrm>
            <a:off x="280548" y="1034534"/>
            <a:ext cx="8611932" cy="561975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1377950"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dirty="0" smtClean="0">
                <a:solidFill>
                  <a:schemeClr val="tx1">
                    <a:lumMod val="65000"/>
                    <a:lumOff val="35000"/>
                  </a:schemeClr>
                </a:solidFill>
                <a:latin typeface="+mn-lt"/>
                <a:ea typeface="+mn-ea"/>
                <a:cs typeface="+mn-cs"/>
              </a:defRPr>
            </a:lvl6pPr>
            <a:lvl7pPr marL="1603375" indent="-228600" algn="l" defTabSz="914400" rtl="0" eaLnBrk="1" latinLnBrk="0" hangingPunct="1">
              <a:spcBef>
                <a:spcPct val="20000"/>
              </a:spcBef>
              <a:buClr>
                <a:schemeClr val="accent1"/>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7pPr>
            <a:lvl8pPr marL="1830388"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8pPr>
            <a:lvl9pPr marL="2057400" indent="-228600" algn="l" defTabSz="914400" rtl="0" eaLnBrk="1" latinLnBrk="0" hangingPunct="1">
              <a:spcBef>
                <a:spcPct val="20000"/>
              </a:spcBef>
              <a:buClr>
                <a:schemeClr val="accent1"/>
              </a:buClr>
              <a:buSzPct val="75000"/>
              <a:buFont typeface="Wingdings" pitchFamily="2" charset="2"/>
              <a:buChar char=""/>
              <a:defRPr lang="en-US" sz="1800" kern="1200" baseline="0" dirty="0">
                <a:solidFill>
                  <a:schemeClr val="tx1">
                    <a:lumMod val="65000"/>
                    <a:lumOff val="35000"/>
                  </a:schemeClr>
                </a:solidFill>
                <a:latin typeface="+mn-lt"/>
                <a:ea typeface="+mn-ea"/>
                <a:cs typeface="+mn-cs"/>
              </a:defRPr>
            </a:lvl9pPr>
          </a:lstStyle>
          <a:p>
            <a:pPr marL="228600" marR="0" lvl="0" indent="-228600" algn="just" defTabSz="914400" rtl="0" eaLnBrk="1" fontAlgn="auto" latinLnBrk="0" hangingPunct="1">
              <a:lnSpc>
                <a:spcPct val="100000"/>
              </a:lnSpc>
              <a:spcBef>
                <a:spcPts val="2000"/>
              </a:spcBef>
              <a:spcAft>
                <a:spcPts val="0"/>
              </a:spcAft>
              <a:buClr>
                <a:srgbClr val="663366"/>
              </a:buClr>
              <a:buSzPct val="75000"/>
              <a:buFont typeface="Wingdings" pitchFamily="2" charset="2"/>
              <a:buChar char="n"/>
              <a:tabLst/>
              <a:defRPr/>
            </a:pPr>
            <a:r>
              <a:rPr kumimoji="0" lang="en-US" sz="2200" b="0" i="0" u="none" strike="noStrike" kern="1200" cap="none" spc="0" normalizeH="0" baseline="0" noProof="0" dirty="0">
                <a:ln>
                  <a:noFill/>
                </a:ln>
                <a:solidFill>
                  <a:sysClr val="windowText" lastClr="000000">
                    <a:lumMod val="65000"/>
                    <a:lumOff val="35000"/>
                  </a:sysClr>
                </a:solidFill>
                <a:effectLst/>
                <a:uLnTx/>
                <a:uFillTx/>
                <a:latin typeface="Rockwell"/>
                <a:ea typeface="+mn-ea"/>
                <a:cs typeface="+mn-cs"/>
              </a:rPr>
              <a:t>Define two or more methods within the same class that share the same name, as long as their parameter declarations are different.</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endPar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endParaRP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class Box{</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double width, height;</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Box(){</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width=0;height=0;</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Box(double w, double h){</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width=w;</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height=h;</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void test( ){</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a:t>
            </a:r>
            <a:r>
              <a:rPr kumimoji="0" lang="en-US" sz="1900" b="0" i="0" u="none" strike="noStrike" kern="1200" cap="none" spc="0" normalizeH="0" baseline="0" noProof="0" dirty="0" err="1">
                <a:ln>
                  <a:noFill/>
                </a:ln>
                <a:solidFill>
                  <a:schemeClr val="tx1"/>
                </a:solidFill>
                <a:effectLst/>
                <a:uLnTx/>
                <a:uFillTx/>
                <a:latin typeface="Bookman Old Style" pitchFamily="18" charset="0"/>
                <a:cs typeface="Nirmala UI Semilight" pitchFamily="34" charset="0"/>
              </a:rPr>
              <a:t>System.out.println</a:t>
            </a: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(“No Parameter”);</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void test(</a:t>
            </a:r>
            <a:r>
              <a:rPr kumimoji="0" lang="en-US" sz="1900" b="0" i="0" u="none" strike="noStrike" kern="1200" cap="none" spc="0" normalizeH="0" baseline="0" noProof="0" dirty="0" err="1">
                <a:ln>
                  <a:noFill/>
                </a:ln>
                <a:solidFill>
                  <a:schemeClr val="tx1"/>
                </a:solidFill>
                <a:effectLst/>
                <a:uLnTx/>
                <a:uFillTx/>
                <a:latin typeface="Bookman Old Style" pitchFamily="18" charset="0"/>
                <a:cs typeface="Nirmala UI Semilight" pitchFamily="34" charset="0"/>
              </a:rPr>
              <a:t>int</a:t>
            </a: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a)</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a:t>
            </a:r>
            <a:r>
              <a:rPr kumimoji="0" lang="en-US" sz="1900" b="0" i="0" u="none" strike="noStrike" kern="1200" cap="none" spc="0" normalizeH="0" baseline="0" noProof="0" dirty="0" err="1">
                <a:ln>
                  <a:noFill/>
                </a:ln>
                <a:solidFill>
                  <a:schemeClr val="tx1"/>
                </a:solidFill>
                <a:effectLst/>
                <a:uLnTx/>
                <a:uFillTx/>
                <a:latin typeface="Bookman Old Style" pitchFamily="18" charset="0"/>
                <a:cs typeface="Nirmala UI Semilight" pitchFamily="34" charset="0"/>
              </a:rPr>
              <a:t>System.out.println</a:t>
            </a: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(“a=“+a);</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	}</a:t>
            </a:r>
          </a:p>
          <a:p>
            <a:pPr marL="457200" marR="0" lvl="2" indent="0" algn="just" defTabSz="914400" rtl="0" eaLnBrk="1" fontAlgn="auto" latinLnBrk="0" hangingPunct="1">
              <a:lnSpc>
                <a:spcPct val="100000"/>
              </a:lnSpc>
              <a:spcBef>
                <a:spcPts val="600"/>
              </a:spcBef>
              <a:spcAft>
                <a:spcPts val="0"/>
              </a:spcAft>
              <a:buClr>
                <a:srgbClr val="663366"/>
              </a:buClr>
              <a:buSzPct val="75000"/>
              <a:buFont typeface="Wingdings" pitchFamily="2" charset="2"/>
              <a:buNone/>
              <a:tabLst/>
              <a:defRPr/>
            </a:pPr>
            <a:r>
              <a:rPr kumimoji="0" lang="en-US" sz="1900" b="0" i="0" u="none" strike="noStrike" kern="1200" cap="none" spc="0" normalizeH="0" baseline="0" noProof="0" dirty="0">
                <a:ln>
                  <a:noFill/>
                </a:ln>
                <a:solidFill>
                  <a:schemeClr val="tx1"/>
                </a:solidFill>
                <a:effectLst/>
                <a:uLnTx/>
                <a:uFillTx/>
                <a:latin typeface="Bookman Old Style" pitchFamily="18" charset="0"/>
                <a:cs typeface="Nirmala UI Semilight" pitchFamily="34" charset="0"/>
              </a:rPr>
              <a:t>}</a:t>
            </a:r>
          </a:p>
        </p:txBody>
      </p:sp>
      <p:grpSp>
        <p:nvGrpSpPr>
          <p:cNvPr id="10" name="Group 9"/>
          <p:cNvGrpSpPr/>
          <p:nvPr/>
        </p:nvGrpSpPr>
        <p:grpSpPr>
          <a:xfrm>
            <a:off x="2108213" y="2539516"/>
            <a:ext cx="4385430" cy="814167"/>
            <a:chOff x="2040744" y="2757311"/>
            <a:chExt cx="4385430" cy="814167"/>
          </a:xfrm>
        </p:grpSpPr>
        <p:cxnSp>
          <p:nvCxnSpPr>
            <p:cNvPr id="11" name="Straight Arrow Connector 10"/>
            <p:cNvCxnSpPr/>
            <p:nvPr/>
          </p:nvCxnSpPr>
          <p:spPr>
            <a:xfrm flipH="1">
              <a:off x="2040744" y="2757312"/>
              <a:ext cx="4385430"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2" name="Elbow Connector 11"/>
            <p:cNvCxnSpPr/>
            <p:nvPr/>
          </p:nvCxnSpPr>
          <p:spPr>
            <a:xfrm rot="10800000" flipV="1">
              <a:off x="3842678" y="2757311"/>
              <a:ext cx="1628254" cy="814167"/>
            </a:xfrm>
            <a:prstGeom prst="bentConnector3">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grpSp>
        <p:nvGrpSpPr>
          <p:cNvPr id="13" name="Group 12"/>
          <p:cNvGrpSpPr/>
          <p:nvPr/>
        </p:nvGrpSpPr>
        <p:grpSpPr>
          <a:xfrm>
            <a:off x="2890204" y="4472526"/>
            <a:ext cx="4035265" cy="814168"/>
            <a:chOff x="2040744" y="2757311"/>
            <a:chExt cx="4385430" cy="814168"/>
          </a:xfrm>
        </p:grpSpPr>
        <p:cxnSp>
          <p:nvCxnSpPr>
            <p:cNvPr id="14" name="Straight Arrow Connector 13"/>
            <p:cNvCxnSpPr/>
            <p:nvPr/>
          </p:nvCxnSpPr>
          <p:spPr>
            <a:xfrm flipH="1">
              <a:off x="2040744" y="2757312"/>
              <a:ext cx="4385430" cy="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5" name="Elbow Connector 14"/>
            <p:cNvCxnSpPr/>
            <p:nvPr/>
          </p:nvCxnSpPr>
          <p:spPr>
            <a:xfrm rot="10800000" flipV="1">
              <a:off x="2159720" y="2757311"/>
              <a:ext cx="3311212" cy="814168"/>
            </a:xfrm>
            <a:prstGeom prst="bentConnector3">
              <a:avLst>
                <a:gd name="adj1" fmla="val -1797"/>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16" name="TextBox 15"/>
          <p:cNvSpPr txBox="1"/>
          <p:nvPr/>
        </p:nvSpPr>
        <p:spPr>
          <a:xfrm>
            <a:off x="6460514" y="2321721"/>
            <a:ext cx="2672526" cy="338554"/>
          </a:xfrm>
          <a:prstGeom prst="rect">
            <a:avLst/>
          </a:prstGeom>
          <a:noFill/>
        </p:spPr>
        <p:txBody>
          <a:bodyPr wrap="none" rtlCol="0">
            <a:spAutoFit/>
          </a:bodyPr>
          <a:lstStyle/>
          <a:p>
            <a:r>
              <a:rPr lang="en-US" sz="1600" dirty="0">
                <a:latin typeface="Bookman Old Style" pitchFamily="18" charset="0"/>
              </a:rPr>
              <a:t>overloading constructors</a:t>
            </a:r>
          </a:p>
        </p:txBody>
      </p:sp>
      <p:sp>
        <p:nvSpPr>
          <p:cNvPr id="17" name="TextBox 16"/>
          <p:cNvSpPr txBox="1"/>
          <p:nvPr/>
        </p:nvSpPr>
        <p:spPr>
          <a:xfrm>
            <a:off x="6941155" y="4270120"/>
            <a:ext cx="2185514" cy="338554"/>
          </a:xfrm>
          <a:prstGeom prst="rect">
            <a:avLst/>
          </a:prstGeom>
          <a:noFill/>
        </p:spPr>
        <p:txBody>
          <a:bodyPr wrap="none" rtlCol="0">
            <a:spAutoFit/>
          </a:bodyPr>
          <a:lstStyle/>
          <a:p>
            <a:r>
              <a:rPr lang="en-US" sz="1600" dirty="0"/>
              <a:t>overloading methods</a:t>
            </a:r>
          </a:p>
        </p:txBody>
      </p:sp>
    </p:spTree>
    <p:extLst>
      <p:ext uri="{BB962C8B-B14F-4D97-AF65-F5344CB8AC3E}">
        <p14:creationId xmlns:p14="http://schemas.microsoft.com/office/powerpoint/2010/main" val="28267980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4637"/>
            <a:ext cx="8229600" cy="1143000"/>
          </a:xfrm>
        </p:spPr>
        <p:txBody>
          <a:bodyPr>
            <a:normAutofit/>
          </a:bodyPr>
          <a:lstStyle/>
          <a:p>
            <a:r>
              <a:rPr lang="en-US" sz="3600" dirty="0">
                <a:latin typeface="Arial" pitchFamily="34" charset="0"/>
                <a:cs typeface="Arial" pitchFamily="34" charset="0"/>
              </a:rPr>
              <a:t>Argument Passing</a:t>
            </a:r>
          </a:p>
        </p:txBody>
      </p:sp>
      <p:sp>
        <p:nvSpPr>
          <p:cNvPr id="3" name="Content Placeholder 2"/>
          <p:cNvSpPr>
            <a:spLocks noGrp="1"/>
          </p:cNvSpPr>
          <p:nvPr>
            <p:ph idx="1"/>
          </p:nvPr>
        </p:nvSpPr>
        <p:spPr>
          <a:xfrm>
            <a:off x="179512" y="1600200"/>
            <a:ext cx="8784976" cy="4800600"/>
          </a:xfrm>
        </p:spPr>
        <p:txBody>
          <a:bodyPr/>
          <a:lstStyle/>
          <a:p>
            <a:pPr latinLnBrk="0"/>
            <a:r>
              <a:rPr lang="en-US" sz="2400" dirty="0">
                <a:latin typeface="Bookman Old Style" pitchFamily="18" charset="0"/>
              </a:rPr>
              <a:t>Call-by-value</a:t>
            </a:r>
          </a:p>
          <a:p>
            <a:pPr lvl="1" latinLnBrk="0"/>
            <a:r>
              <a:rPr lang="en-US" sz="2300" dirty="0">
                <a:latin typeface="Bookman Old Style" pitchFamily="18" charset="0"/>
              </a:rPr>
              <a:t>copies the value of an argument into the formal parameter of the subroutine</a:t>
            </a:r>
          </a:p>
          <a:p>
            <a:pPr latinLnBrk="0"/>
            <a:r>
              <a:rPr lang="en-US" sz="2400" dirty="0">
                <a:latin typeface="Bookman Old Style" pitchFamily="18" charset="0"/>
              </a:rPr>
              <a:t>Call-by-reference</a:t>
            </a:r>
          </a:p>
          <a:p>
            <a:pPr lvl="1" latinLnBrk="0"/>
            <a:r>
              <a:rPr lang="en-US" sz="2300" dirty="0">
                <a:latin typeface="Bookman Old Style" pitchFamily="18" charset="0"/>
              </a:rPr>
              <a:t>a reference to an argument (not the value of the argument) is passed to the parameter</a:t>
            </a:r>
          </a:p>
          <a:p>
            <a:pPr lvl="1" latinLnBrk="0"/>
            <a:r>
              <a:rPr lang="en-US" sz="2300" dirty="0">
                <a:latin typeface="Bookman Old Style" pitchFamily="18" charset="0"/>
              </a:rPr>
              <a:t>changes made to the parameter will affect the argument used to call the subroutine</a:t>
            </a:r>
          </a:p>
        </p:txBody>
      </p:sp>
      <p:sp>
        <p:nvSpPr>
          <p:cNvPr id="5" name="Rectangle 4"/>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5561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856984" cy="4800600"/>
          </a:xfrm>
        </p:spPr>
        <p:txBody>
          <a:bodyPr>
            <a:normAutofit/>
          </a:bodyPr>
          <a:lstStyle/>
          <a:p>
            <a:pPr marL="0" indent="0" defTabSz="914400" latinLnBrk="0">
              <a:buNone/>
            </a:pPr>
            <a:r>
              <a:rPr lang="en-US" sz="1800" b="1" dirty="0">
                <a:latin typeface="Bookman Old Style" pitchFamily="18" charset="0"/>
                <a:cs typeface="Rockwell"/>
              </a:rPr>
              <a:t>Example 3.6</a:t>
            </a:r>
            <a:r>
              <a:rPr lang="en-US" sz="1800" dirty="0">
                <a:latin typeface="Bookman Old Style" pitchFamily="18" charset="0"/>
                <a:cs typeface="Rockwell"/>
              </a:rPr>
              <a:t>:  Demonstrate call-by-value parameter passing</a:t>
            </a:r>
          </a:p>
        </p:txBody>
      </p:sp>
      <p:sp>
        <p:nvSpPr>
          <p:cNvPr id="7" name="Rectangle 6"/>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032" y="1138942"/>
            <a:ext cx="6308192" cy="544297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827584" y="4941168"/>
            <a:ext cx="2088232" cy="432048"/>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05157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856984" cy="4800600"/>
          </a:xfrm>
        </p:spPr>
        <p:txBody>
          <a:bodyPr>
            <a:normAutofit/>
          </a:bodyPr>
          <a:lstStyle/>
          <a:p>
            <a:pPr marL="0" indent="0" defTabSz="914400" latinLnBrk="0">
              <a:buNone/>
            </a:pPr>
            <a:r>
              <a:rPr lang="en-US" sz="1800" b="1" dirty="0">
                <a:latin typeface="Bookman Old Style" pitchFamily="18" charset="0"/>
                <a:cs typeface="Rockwell"/>
              </a:rPr>
              <a:t>Example 3.7</a:t>
            </a:r>
            <a:r>
              <a:rPr lang="en-US" sz="1800" dirty="0">
                <a:latin typeface="Bookman Old Style" pitchFamily="18" charset="0"/>
                <a:cs typeface="Rockwell"/>
              </a:rPr>
              <a:t>:  Demonstrate call-by-reference parameter passing</a:t>
            </a:r>
          </a:p>
        </p:txBody>
      </p:sp>
      <p:sp>
        <p:nvSpPr>
          <p:cNvPr id="7" name="Rectangle 6"/>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067944" y="4098878"/>
            <a:ext cx="2088232" cy="432048"/>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67544" y="980728"/>
            <a:ext cx="6984776" cy="3693319"/>
          </a:xfrm>
          <a:prstGeom prst="rect">
            <a:avLst/>
          </a:prstGeom>
          <a:ln>
            <a:solidFill>
              <a:srgbClr val="0000CC"/>
            </a:solidFill>
          </a:ln>
        </p:spPr>
        <p:txBody>
          <a:bodyPr wrap="square">
            <a:spAutoFit/>
          </a:bodyPr>
          <a:lstStyle/>
          <a:p>
            <a:r>
              <a:rPr lang="en-US" b="1" dirty="0">
                <a:solidFill>
                  <a:srgbClr val="0000CC"/>
                </a:solidFill>
                <a:latin typeface="Bookman Old Style" pitchFamily="18" charset="0"/>
              </a:rPr>
              <a:t>// Objects are passed by reference.</a:t>
            </a:r>
          </a:p>
          <a:p>
            <a:r>
              <a:rPr lang="en-US" dirty="0">
                <a:latin typeface="Bookman Old Style" pitchFamily="18" charset="0"/>
              </a:rPr>
              <a:t>class Test {</a:t>
            </a:r>
          </a:p>
          <a:p>
            <a:pPr lvl="1"/>
            <a:r>
              <a:rPr lang="en-US" dirty="0" err="1">
                <a:latin typeface="Bookman Old Style" pitchFamily="18" charset="0"/>
              </a:rPr>
              <a:t>int</a:t>
            </a:r>
            <a:r>
              <a:rPr lang="en-US" dirty="0">
                <a:latin typeface="Bookman Old Style" pitchFamily="18" charset="0"/>
              </a:rPr>
              <a:t> a, b;</a:t>
            </a:r>
          </a:p>
          <a:p>
            <a:pPr lvl="1"/>
            <a:r>
              <a:rPr lang="en-US" dirty="0">
                <a:latin typeface="Bookman Old Style" pitchFamily="18" charset="0"/>
              </a:rPr>
              <a:t>Test(</a:t>
            </a:r>
            <a:r>
              <a:rPr lang="en-US" dirty="0" err="1">
                <a:latin typeface="Bookman Old Style" pitchFamily="18" charset="0"/>
              </a:rPr>
              <a:t>int</a:t>
            </a:r>
            <a:r>
              <a:rPr lang="en-US" dirty="0">
                <a:latin typeface="Bookman Old Style" pitchFamily="18" charset="0"/>
              </a:rPr>
              <a:t> i, </a:t>
            </a:r>
            <a:r>
              <a:rPr lang="en-US" dirty="0" err="1">
                <a:latin typeface="Bookman Old Style" pitchFamily="18" charset="0"/>
              </a:rPr>
              <a:t>int</a:t>
            </a:r>
            <a:r>
              <a:rPr lang="en-US" dirty="0">
                <a:latin typeface="Bookman Old Style" pitchFamily="18" charset="0"/>
              </a:rPr>
              <a:t> j) {</a:t>
            </a:r>
          </a:p>
          <a:p>
            <a:pPr lvl="2"/>
            <a:r>
              <a:rPr lang="en-US" dirty="0">
                <a:latin typeface="Bookman Old Style" pitchFamily="18" charset="0"/>
              </a:rPr>
              <a:t>a = i;</a:t>
            </a:r>
          </a:p>
          <a:p>
            <a:pPr lvl="2"/>
            <a:r>
              <a:rPr lang="en-US" dirty="0">
                <a:latin typeface="Bookman Old Style" pitchFamily="18" charset="0"/>
              </a:rPr>
              <a:t>b = j;</a:t>
            </a:r>
          </a:p>
          <a:p>
            <a:pPr lvl="1"/>
            <a:r>
              <a:rPr lang="en-US" dirty="0">
                <a:latin typeface="Bookman Old Style" pitchFamily="18" charset="0"/>
              </a:rPr>
              <a:t>}</a:t>
            </a:r>
          </a:p>
          <a:p>
            <a:pPr lvl="1"/>
            <a:r>
              <a:rPr lang="en-US" dirty="0">
                <a:latin typeface="Bookman Old Style" pitchFamily="18" charset="0"/>
              </a:rPr>
              <a:t>// pass an object</a:t>
            </a:r>
          </a:p>
          <a:p>
            <a:pPr lvl="1"/>
            <a:r>
              <a:rPr lang="en-US" dirty="0">
                <a:latin typeface="Bookman Old Style" pitchFamily="18" charset="0"/>
              </a:rPr>
              <a:t>void meth(</a:t>
            </a:r>
            <a:r>
              <a:rPr lang="en-US" b="1" dirty="0">
                <a:latin typeface="Bookman Old Style" pitchFamily="18" charset="0"/>
              </a:rPr>
              <a:t>Test o</a:t>
            </a:r>
            <a:r>
              <a:rPr lang="en-US" dirty="0">
                <a:latin typeface="Bookman Old Style" pitchFamily="18" charset="0"/>
              </a:rPr>
              <a:t>) {</a:t>
            </a:r>
          </a:p>
          <a:p>
            <a:pPr lvl="2"/>
            <a:r>
              <a:rPr lang="en-US" dirty="0" err="1">
                <a:latin typeface="Bookman Old Style" pitchFamily="18" charset="0"/>
              </a:rPr>
              <a:t>o.a</a:t>
            </a:r>
            <a:r>
              <a:rPr lang="en-US" dirty="0">
                <a:latin typeface="Bookman Old Style" pitchFamily="18" charset="0"/>
              </a:rPr>
              <a:t> *= 2;</a:t>
            </a:r>
          </a:p>
          <a:p>
            <a:pPr lvl="2"/>
            <a:r>
              <a:rPr lang="en-US" dirty="0" err="1">
                <a:latin typeface="Bookman Old Style" pitchFamily="18" charset="0"/>
              </a:rPr>
              <a:t>o.b</a:t>
            </a:r>
            <a:r>
              <a:rPr lang="en-US" dirty="0">
                <a:latin typeface="Bookman Old Style" pitchFamily="18" charset="0"/>
              </a:rPr>
              <a:t> /= 2;</a:t>
            </a:r>
          </a:p>
          <a:p>
            <a:pPr lvl="1"/>
            <a:r>
              <a:rPr lang="en-US" dirty="0">
                <a:latin typeface="Bookman Old Style" pitchFamily="18" charset="0"/>
              </a:rPr>
              <a:t>}</a:t>
            </a:r>
          </a:p>
          <a:p>
            <a:r>
              <a:rPr lang="en-US" dirty="0">
                <a:latin typeface="Bookman Old Style" pitchFamily="18" charset="0"/>
              </a:rPr>
              <a:t>}</a:t>
            </a:r>
          </a:p>
        </p:txBody>
      </p:sp>
      <p:sp>
        <p:nvSpPr>
          <p:cNvPr id="5" name="Rectangle 4"/>
          <p:cNvSpPr/>
          <p:nvPr/>
        </p:nvSpPr>
        <p:spPr>
          <a:xfrm>
            <a:off x="3779912" y="1862529"/>
            <a:ext cx="5184576" cy="4662815"/>
          </a:xfrm>
          <a:prstGeom prst="rect">
            <a:avLst/>
          </a:prstGeom>
          <a:solidFill>
            <a:schemeClr val="bg1"/>
          </a:solidFill>
          <a:ln>
            <a:solidFill>
              <a:srgbClr val="0000CC"/>
            </a:solidFill>
          </a:ln>
        </p:spPr>
        <p:txBody>
          <a:bodyPr wrap="square">
            <a:spAutoFit/>
          </a:bodyPr>
          <a:lstStyle/>
          <a:p>
            <a:pPr latinLnBrk="0">
              <a:lnSpc>
                <a:spcPct val="150000"/>
              </a:lnSpc>
            </a:pPr>
            <a:r>
              <a:rPr lang="en-US" dirty="0">
                <a:latin typeface="Bookman Old Style" pitchFamily="18" charset="0"/>
              </a:rPr>
              <a:t>class </a:t>
            </a:r>
            <a:r>
              <a:rPr lang="en-US" dirty="0" err="1">
                <a:latin typeface="Bookman Old Style" pitchFamily="18" charset="0"/>
              </a:rPr>
              <a:t>CallByRef</a:t>
            </a:r>
            <a:r>
              <a:rPr lang="en-US" dirty="0">
                <a:latin typeface="Bookman Old Style" pitchFamily="18" charset="0"/>
              </a:rPr>
              <a:t> {</a:t>
            </a:r>
          </a:p>
          <a:p>
            <a:pPr lvl="1" latinLnBrk="0">
              <a:lnSpc>
                <a:spcPct val="150000"/>
              </a:lnSpc>
            </a:pPr>
            <a:r>
              <a:rPr lang="en-US" dirty="0">
                <a:latin typeface="Bookman Old Style" pitchFamily="18" charset="0"/>
              </a:rPr>
              <a:t>public static void main(String </a:t>
            </a:r>
            <a:r>
              <a:rPr lang="en-US" dirty="0" err="1">
                <a:latin typeface="Bookman Old Style" pitchFamily="18" charset="0"/>
              </a:rPr>
              <a:t>args</a:t>
            </a:r>
            <a:r>
              <a:rPr lang="en-US" dirty="0">
                <a:latin typeface="Bookman Old Style" pitchFamily="18" charset="0"/>
              </a:rPr>
              <a:t>[]) {</a:t>
            </a:r>
          </a:p>
          <a:p>
            <a:pPr lvl="1" latinLnBrk="0">
              <a:lnSpc>
                <a:spcPct val="150000"/>
              </a:lnSpc>
            </a:pPr>
            <a:r>
              <a:rPr lang="en-US" dirty="0">
                <a:latin typeface="Bookman Old Style" pitchFamily="18" charset="0"/>
              </a:rPr>
              <a:t>Test </a:t>
            </a:r>
            <a:r>
              <a:rPr lang="en-US" dirty="0" err="1">
                <a:latin typeface="Bookman Old Style" pitchFamily="18" charset="0"/>
              </a:rPr>
              <a:t>ob</a:t>
            </a:r>
            <a:r>
              <a:rPr lang="en-US" dirty="0">
                <a:latin typeface="Bookman Old Style" pitchFamily="18" charset="0"/>
              </a:rPr>
              <a:t> = new Test(15, 20);</a:t>
            </a:r>
          </a:p>
          <a:p>
            <a:pPr lvl="1" latinLnBrk="0">
              <a:lnSpc>
                <a:spcPct val="150000"/>
              </a:lnSpc>
            </a:pPr>
            <a:r>
              <a:rPr lang="en-US" dirty="0" err="1">
                <a:latin typeface="Bookman Old Style" pitchFamily="18" charset="0"/>
              </a:rPr>
              <a:t>System.out.println</a:t>
            </a:r>
            <a:r>
              <a:rPr lang="en-US" dirty="0">
                <a:latin typeface="Bookman Old Style" pitchFamily="18" charset="0"/>
              </a:rPr>
              <a:t>("</a:t>
            </a:r>
            <a:r>
              <a:rPr lang="en-US" dirty="0" err="1">
                <a:latin typeface="Bookman Old Style" pitchFamily="18" charset="0"/>
              </a:rPr>
              <a:t>ob.a</a:t>
            </a:r>
            <a:r>
              <a:rPr lang="en-US" dirty="0">
                <a:latin typeface="Bookman Old Style" pitchFamily="18" charset="0"/>
              </a:rPr>
              <a:t> and </a:t>
            </a:r>
            <a:r>
              <a:rPr lang="en-US" dirty="0" err="1">
                <a:latin typeface="Bookman Old Style" pitchFamily="18" charset="0"/>
              </a:rPr>
              <a:t>ob.b</a:t>
            </a:r>
            <a:r>
              <a:rPr lang="en-US" dirty="0">
                <a:latin typeface="Bookman Old Style" pitchFamily="18" charset="0"/>
              </a:rPr>
              <a:t> before call: " +</a:t>
            </a:r>
          </a:p>
          <a:p>
            <a:pPr lvl="1" latinLnBrk="0">
              <a:lnSpc>
                <a:spcPct val="150000"/>
              </a:lnSpc>
            </a:pPr>
            <a:r>
              <a:rPr lang="en-US" dirty="0" err="1">
                <a:latin typeface="Bookman Old Style" pitchFamily="18" charset="0"/>
              </a:rPr>
              <a:t>ob.a</a:t>
            </a:r>
            <a:r>
              <a:rPr lang="en-US" dirty="0">
                <a:latin typeface="Bookman Old Style" pitchFamily="18" charset="0"/>
              </a:rPr>
              <a:t> + " " + </a:t>
            </a:r>
            <a:r>
              <a:rPr lang="en-US" dirty="0" err="1">
                <a:latin typeface="Bookman Old Style" pitchFamily="18" charset="0"/>
              </a:rPr>
              <a:t>ob.b</a:t>
            </a:r>
            <a:r>
              <a:rPr lang="en-US" dirty="0">
                <a:latin typeface="Bookman Old Style" pitchFamily="18" charset="0"/>
              </a:rPr>
              <a:t>);</a:t>
            </a:r>
          </a:p>
          <a:p>
            <a:pPr lvl="1" latinLnBrk="0">
              <a:lnSpc>
                <a:spcPct val="150000"/>
              </a:lnSpc>
            </a:pPr>
            <a:r>
              <a:rPr lang="en-US" dirty="0" err="1">
                <a:latin typeface="Bookman Old Style" pitchFamily="18" charset="0"/>
              </a:rPr>
              <a:t>ob.</a:t>
            </a:r>
            <a:r>
              <a:rPr lang="en-US" b="1" dirty="0" err="1">
                <a:latin typeface="Bookman Old Style" pitchFamily="18" charset="0"/>
              </a:rPr>
              <a:t>meth</a:t>
            </a:r>
            <a:r>
              <a:rPr lang="en-US" dirty="0">
                <a:latin typeface="Bookman Old Style" pitchFamily="18" charset="0"/>
              </a:rPr>
              <a:t>(</a:t>
            </a:r>
            <a:r>
              <a:rPr lang="en-US" b="1" dirty="0" err="1">
                <a:latin typeface="Bookman Old Style" pitchFamily="18" charset="0"/>
              </a:rPr>
              <a:t>ob</a:t>
            </a:r>
            <a:r>
              <a:rPr lang="en-US" dirty="0">
                <a:latin typeface="Bookman Old Style" pitchFamily="18" charset="0"/>
              </a:rPr>
              <a:t>);</a:t>
            </a:r>
          </a:p>
          <a:p>
            <a:pPr lvl="1" latinLnBrk="0">
              <a:lnSpc>
                <a:spcPct val="150000"/>
              </a:lnSpc>
            </a:pPr>
            <a:r>
              <a:rPr lang="en-US" dirty="0" err="1">
                <a:latin typeface="Bookman Old Style" pitchFamily="18" charset="0"/>
              </a:rPr>
              <a:t>System.out.println</a:t>
            </a:r>
            <a:r>
              <a:rPr lang="en-US" dirty="0">
                <a:latin typeface="Bookman Old Style" pitchFamily="18" charset="0"/>
              </a:rPr>
              <a:t>(“After call:”+</a:t>
            </a:r>
          </a:p>
          <a:p>
            <a:pPr lvl="1" latinLnBrk="0">
              <a:lnSpc>
                <a:spcPct val="150000"/>
              </a:lnSpc>
            </a:pPr>
            <a:r>
              <a:rPr lang="en-US" dirty="0" err="1">
                <a:latin typeface="Bookman Old Style" pitchFamily="18" charset="0"/>
              </a:rPr>
              <a:t>ob.a</a:t>
            </a:r>
            <a:r>
              <a:rPr lang="en-US" dirty="0">
                <a:latin typeface="Bookman Old Style" pitchFamily="18" charset="0"/>
              </a:rPr>
              <a:t> + " " + </a:t>
            </a:r>
            <a:r>
              <a:rPr lang="en-US" dirty="0" err="1">
                <a:latin typeface="Bookman Old Style" pitchFamily="18" charset="0"/>
              </a:rPr>
              <a:t>ob.b</a:t>
            </a:r>
            <a:r>
              <a:rPr lang="en-US" dirty="0">
                <a:latin typeface="Bookman Old Style" pitchFamily="18" charset="0"/>
              </a:rPr>
              <a:t>);</a:t>
            </a:r>
          </a:p>
          <a:p>
            <a:pPr lvl="1" latinLnBrk="0">
              <a:lnSpc>
                <a:spcPct val="150000"/>
              </a:lnSpc>
            </a:pPr>
            <a:r>
              <a:rPr lang="en-US" dirty="0">
                <a:latin typeface="Bookman Old Style" pitchFamily="18" charset="0"/>
              </a:rPr>
              <a:t>}</a:t>
            </a:r>
          </a:p>
          <a:p>
            <a:pPr latinLnBrk="0">
              <a:lnSpc>
                <a:spcPct val="150000"/>
              </a:lnSpc>
            </a:pPr>
            <a:r>
              <a:rPr lang="en-US" dirty="0">
                <a:latin typeface="Bookman Old Style" pitchFamily="18" charset="0"/>
              </a:rPr>
              <a:t>}</a:t>
            </a:r>
          </a:p>
        </p:txBody>
      </p:sp>
    </p:spTree>
    <p:extLst>
      <p:ext uri="{BB962C8B-B14F-4D97-AF65-F5344CB8AC3E}">
        <p14:creationId xmlns:p14="http://schemas.microsoft.com/office/powerpoint/2010/main" val="32091312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4637"/>
            <a:ext cx="8229600" cy="1143000"/>
          </a:xfrm>
        </p:spPr>
        <p:txBody>
          <a:bodyPr>
            <a:normAutofit/>
          </a:bodyPr>
          <a:lstStyle/>
          <a:p>
            <a:r>
              <a:rPr lang="en-US" sz="3600" dirty="0">
                <a:latin typeface="Arial" pitchFamily="34" charset="0"/>
                <a:cs typeface="Arial" pitchFamily="34" charset="0"/>
              </a:rPr>
              <a:t>Returning Objects</a:t>
            </a:r>
          </a:p>
        </p:txBody>
      </p:sp>
      <p:sp>
        <p:nvSpPr>
          <p:cNvPr id="3" name="Content Placeholder 2"/>
          <p:cNvSpPr>
            <a:spLocks noGrp="1"/>
          </p:cNvSpPr>
          <p:nvPr>
            <p:ph idx="1"/>
          </p:nvPr>
        </p:nvSpPr>
        <p:spPr>
          <a:xfrm>
            <a:off x="467544" y="1412776"/>
            <a:ext cx="8435280" cy="4800600"/>
          </a:xfrm>
        </p:spPr>
        <p:txBody>
          <a:bodyPr/>
          <a:lstStyle/>
          <a:p>
            <a:pPr latinLnBrk="0">
              <a:buFont typeface="Wingdings" pitchFamily="2" charset="2"/>
              <a:buChar char="§"/>
            </a:pPr>
            <a:r>
              <a:rPr lang="en-US" sz="2400" dirty="0">
                <a:latin typeface="Bookman Old Style" pitchFamily="18" charset="0"/>
              </a:rPr>
              <a:t>A method can return any type of data, including class types that you create</a:t>
            </a:r>
          </a:p>
        </p:txBody>
      </p:sp>
      <p:sp>
        <p:nvSpPr>
          <p:cNvPr id="5" name="Rectangle 4"/>
          <p:cNvSpPr/>
          <p:nvPr/>
        </p:nvSpPr>
        <p:spPr>
          <a:xfrm>
            <a:off x="107504" y="2409258"/>
            <a:ext cx="4572000" cy="3139321"/>
          </a:xfrm>
          <a:prstGeom prst="rect">
            <a:avLst/>
          </a:prstGeom>
          <a:ln>
            <a:solidFill>
              <a:srgbClr val="0000CC"/>
            </a:solidFill>
          </a:ln>
        </p:spPr>
        <p:txBody>
          <a:bodyPr>
            <a:spAutoFit/>
          </a:bodyPr>
          <a:lstStyle/>
          <a:p>
            <a:r>
              <a:rPr lang="en-US" dirty="0">
                <a:latin typeface="Bookman Old Style" pitchFamily="18" charset="0"/>
              </a:rPr>
              <a:t>// Returning an object.</a:t>
            </a:r>
          </a:p>
          <a:p>
            <a:r>
              <a:rPr lang="en-US" dirty="0">
                <a:latin typeface="Bookman Old Style" pitchFamily="18" charset="0"/>
              </a:rPr>
              <a:t>class Test {</a:t>
            </a:r>
          </a:p>
          <a:p>
            <a:pPr lvl="1"/>
            <a:r>
              <a:rPr lang="en-US" dirty="0" err="1">
                <a:latin typeface="Bookman Old Style" pitchFamily="18" charset="0"/>
              </a:rPr>
              <a:t>int</a:t>
            </a:r>
            <a:r>
              <a:rPr lang="en-US" dirty="0">
                <a:latin typeface="Bookman Old Style" pitchFamily="18" charset="0"/>
              </a:rPr>
              <a:t> a;</a:t>
            </a:r>
          </a:p>
          <a:p>
            <a:pPr lvl="1"/>
            <a:r>
              <a:rPr lang="en-US" dirty="0">
                <a:latin typeface="Bookman Old Style" pitchFamily="18" charset="0"/>
              </a:rPr>
              <a:t>Test(</a:t>
            </a:r>
            <a:r>
              <a:rPr lang="en-US" dirty="0" err="1">
                <a:latin typeface="Bookman Old Style" pitchFamily="18" charset="0"/>
              </a:rPr>
              <a:t>int</a:t>
            </a:r>
            <a:r>
              <a:rPr lang="en-US" dirty="0">
                <a:latin typeface="Bookman Old Style" pitchFamily="18" charset="0"/>
              </a:rPr>
              <a:t> i) {</a:t>
            </a:r>
          </a:p>
          <a:p>
            <a:pPr lvl="1"/>
            <a:r>
              <a:rPr lang="en-US" dirty="0">
                <a:latin typeface="Bookman Old Style" pitchFamily="18" charset="0"/>
              </a:rPr>
              <a:t>	a = i;</a:t>
            </a:r>
          </a:p>
          <a:p>
            <a:pPr lvl="1"/>
            <a:r>
              <a:rPr lang="en-US" dirty="0">
                <a:latin typeface="Bookman Old Style" pitchFamily="18" charset="0"/>
              </a:rPr>
              <a:t>}</a:t>
            </a:r>
          </a:p>
          <a:p>
            <a:pPr lvl="1"/>
            <a:r>
              <a:rPr lang="en-US" dirty="0">
                <a:latin typeface="Bookman Old Style" pitchFamily="18" charset="0"/>
              </a:rPr>
              <a:t>Test </a:t>
            </a:r>
            <a:r>
              <a:rPr lang="en-US" dirty="0" err="1">
                <a:latin typeface="Bookman Old Style" pitchFamily="18" charset="0"/>
              </a:rPr>
              <a:t>incrByTen</a:t>
            </a:r>
            <a:r>
              <a:rPr lang="en-US" dirty="0">
                <a:latin typeface="Bookman Old Style" pitchFamily="18" charset="0"/>
              </a:rPr>
              <a:t>() {</a:t>
            </a:r>
          </a:p>
          <a:p>
            <a:pPr lvl="1"/>
            <a:r>
              <a:rPr lang="en-US" dirty="0">
                <a:latin typeface="Bookman Old Style" pitchFamily="18" charset="0"/>
              </a:rPr>
              <a:t>	Test temp = new Test(a+10);</a:t>
            </a:r>
          </a:p>
          <a:p>
            <a:pPr lvl="1"/>
            <a:r>
              <a:rPr lang="en-US" dirty="0">
                <a:latin typeface="Bookman Old Style" pitchFamily="18" charset="0"/>
              </a:rPr>
              <a:t>	return temp;</a:t>
            </a:r>
          </a:p>
          <a:p>
            <a:pPr lvl="1"/>
            <a:r>
              <a:rPr lang="en-US" dirty="0">
                <a:latin typeface="Bookman Old Style" pitchFamily="18" charset="0"/>
              </a:rPr>
              <a:t>} </a:t>
            </a:r>
          </a:p>
          <a:p>
            <a:r>
              <a:rPr lang="en-US" dirty="0">
                <a:latin typeface="Bookman Old Style" pitchFamily="18" charset="0"/>
              </a:rPr>
              <a:t>}</a:t>
            </a:r>
          </a:p>
        </p:txBody>
      </p:sp>
      <p:sp>
        <p:nvSpPr>
          <p:cNvPr id="6" name="Rectangle 5"/>
          <p:cNvSpPr/>
          <p:nvPr/>
        </p:nvSpPr>
        <p:spPr>
          <a:xfrm>
            <a:off x="4355976" y="2843058"/>
            <a:ext cx="4932040" cy="3970318"/>
          </a:xfrm>
          <a:prstGeom prst="rect">
            <a:avLst/>
          </a:prstGeom>
          <a:solidFill>
            <a:schemeClr val="bg1"/>
          </a:solidFill>
          <a:ln>
            <a:solidFill>
              <a:srgbClr val="0000CC"/>
            </a:solidFill>
          </a:ln>
        </p:spPr>
        <p:txBody>
          <a:bodyPr wrap="square">
            <a:spAutoFit/>
          </a:bodyPr>
          <a:lstStyle/>
          <a:p>
            <a:pPr latinLnBrk="0"/>
            <a:endParaRPr lang="en-US" dirty="0">
              <a:latin typeface="Bookman Old Style" pitchFamily="18" charset="0"/>
            </a:endParaRPr>
          </a:p>
          <a:p>
            <a:pPr latinLnBrk="0"/>
            <a:r>
              <a:rPr lang="en-US" dirty="0">
                <a:latin typeface="Bookman Old Style" pitchFamily="18" charset="0"/>
              </a:rPr>
              <a:t>class </a:t>
            </a:r>
            <a:r>
              <a:rPr lang="en-US" dirty="0" err="1">
                <a:latin typeface="Bookman Old Style" pitchFamily="18" charset="0"/>
              </a:rPr>
              <a:t>RetOb</a:t>
            </a:r>
            <a:r>
              <a:rPr lang="en-US" dirty="0">
                <a:latin typeface="Bookman Old Style" pitchFamily="18" charset="0"/>
              </a:rPr>
              <a:t> {</a:t>
            </a:r>
          </a:p>
          <a:p>
            <a:pPr lvl="1" latinLnBrk="0"/>
            <a:r>
              <a:rPr lang="en-US" dirty="0">
                <a:latin typeface="Bookman Old Style" pitchFamily="18" charset="0"/>
              </a:rPr>
              <a:t>public static void main(String </a:t>
            </a:r>
            <a:r>
              <a:rPr lang="en-US" dirty="0" err="1">
                <a:latin typeface="Bookman Old Style" pitchFamily="18" charset="0"/>
              </a:rPr>
              <a:t>args</a:t>
            </a:r>
            <a:r>
              <a:rPr lang="en-US" dirty="0">
                <a:latin typeface="Bookman Old Style" pitchFamily="18" charset="0"/>
              </a:rPr>
              <a:t>[]) {</a:t>
            </a:r>
          </a:p>
          <a:p>
            <a:pPr lvl="1" latinLnBrk="0"/>
            <a:r>
              <a:rPr lang="en-US" dirty="0">
                <a:latin typeface="Bookman Old Style" pitchFamily="18" charset="0"/>
              </a:rPr>
              <a:t>Test ob1 = new Test(2);</a:t>
            </a:r>
          </a:p>
          <a:p>
            <a:pPr lvl="1" latinLnBrk="0"/>
            <a:r>
              <a:rPr lang="en-US" dirty="0">
                <a:latin typeface="Bookman Old Style" pitchFamily="18" charset="0"/>
              </a:rPr>
              <a:t>Test ob2;</a:t>
            </a:r>
          </a:p>
          <a:p>
            <a:pPr lvl="1" latinLnBrk="0"/>
            <a:r>
              <a:rPr lang="en-US" dirty="0">
                <a:latin typeface="Bookman Old Style" pitchFamily="18" charset="0"/>
              </a:rPr>
              <a:t>ob2 = ob1.incrByTen();</a:t>
            </a:r>
          </a:p>
          <a:p>
            <a:pPr lvl="1" latinLnBrk="0"/>
            <a:r>
              <a:rPr lang="en-US" dirty="0" err="1">
                <a:latin typeface="Bookman Old Style" pitchFamily="18" charset="0"/>
              </a:rPr>
              <a:t>System.out.println</a:t>
            </a:r>
            <a:r>
              <a:rPr lang="en-US" dirty="0">
                <a:latin typeface="Bookman Old Style" pitchFamily="18" charset="0"/>
              </a:rPr>
              <a:t>("ob1.a: " + ob1.a);</a:t>
            </a:r>
          </a:p>
          <a:p>
            <a:pPr lvl="1" latinLnBrk="0"/>
            <a:r>
              <a:rPr lang="en-US" dirty="0" err="1">
                <a:latin typeface="Bookman Old Style" pitchFamily="18" charset="0"/>
              </a:rPr>
              <a:t>System.out.println</a:t>
            </a:r>
            <a:r>
              <a:rPr lang="en-US" dirty="0">
                <a:latin typeface="Bookman Old Style" pitchFamily="18" charset="0"/>
              </a:rPr>
              <a:t>("ob2.a: " + ob2.a);</a:t>
            </a:r>
          </a:p>
          <a:p>
            <a:pPr lvl="1" latinLnBrk="0"/>
            <a:r>
              <a:rPr lang="en-US" dirty="0">
                <a:latin typeface="Bookman Old Style" pitchFamily="18" charset="0"/>
              </a:rPr>
              <a:t>ob2 = ob2.</a:t>
            </a:r>
            <a:r>
              <a:rPr lang="en-US" b="1" dirty="0">
                <a:latin typeface="Bookman Old Style" pitchFamily="18" charset="0"/>
              </a:rPr>
              <a:t>incrByTen</a:t>
            </a:r>
            <a:r>
              <a:rPr lang="en-US" dirty="0">
                <a:latin typeface="Bookman Old Style" pitchFamily="18" charset="0"/>
              </a:rPr>
              <a:t>();</a:t>
            </a:r>
          </a:p>
          <a:p>
            <a:pPr lvl="1" latinLnBrk="0"/>
            <a:r>
              <a:rPr lang="en-US" dirty="0" err="1">
                <a:latin typeface="Bookman Old Style" pitchFamily="18" charset="0"/>
              </a:rPr>
              <a:t>System.out.println</a:t>
            </a:r>
            <a:r>
              <a:rPr lang="en-US" dirty="0">
                <a:latin typeface="Bookman Old Style" pitchFamily="18" charset="0"/>
              </a:rPr>
              <a:t>("ob2.a after second increase: "</a:t>
            </a:r>
          </a:p>
          <a:p>
            <a:pPr lvl="1" latinLnBrk="0"/>
            <a:r>
              <a:rPr lang="en-US" dirty="0">
                <a:latin typeface="Bookman Old Style" pitchFamily="18" charset="0"/>
              </a:rPr>
              <a:t>+ ob2.a);</a:t>
            </a:r>
          </a:p>
          <a:p>
            <a:pPr lvl="1" latinLnBrk="0"/>
            <a:r>
              <a:rPr lang="en-US" dirty="0">
                <a:latin typeface="Bookman Old Style" pitchFamily="18" charset="0"/>
              </a:rPr>
              <a:t>}</a:t>
            </a:r>
          </a:p>
          <a:p>
            <a:pPr latinLnBrk="0"/>
            <a:r>
              <a:rPr lang="en-US" dirty="0">
                <a:latin typeface="Bookman Old Style" pitchFamily="18" charset="0"/>
              </a:rPr>
              <a:t>}</a:t>
            </a:r>
          </a:p>
        </p:txBody>
      </p:sp>
      <p:sp>
        <p:nvSpPr>
          <p:cNvPr id="7" name="Rectangle 6"/>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44410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75508"/>
            <a:ext cx="7556313" cy="1116106"/>
          </a:xfrm>
        </p:spPr>
        <p:txBody>
          <a:bodyPr>
            <a:normAutofit/>
          </a:bodyPr>
          <a:lstStyle/>
          <a:p>
            <a:r>
              <a:rPr lang="en-US" sz="3600" dirty="0">
                <a:latin typeface="Arial" pitchFamily="34" charset="0"/>
                <a:cs typeface="Arial" pitchFamily="34" charset="0"/>
              </a:rPr>
              <a:t>Recursion</a:t>
            </a:r>
          </a:p>
        </p:txBody>
      </p:sp>
      <p:sp>
        <p:nvSpPr>
          <p:cNvPr id="3" name="Content Placeholder 2"/>
          <p:cNvSpPr>
            <a:spLocks noGrp="1"/>
          </p:cNvSpPr>
          <p:nvPr>
            <p:ph idx="1"/>
          </p:nvPr>
        </p:nvSpPr>
        <p:spPr>
          <a:xfrm>
            <a:off x="354909" y="1444277"/>
            <a:ext cx="8384063" cy="4144963"/>
          </a:xfrm>
        </p:spPr>
        <p:txBody>
          <a:bodyPr>
            <a:normAutofit/>
          </a:bodyPr>
          <a:lstStyle/>
          <a:p>
            <a:pPr>
              <a:lnSpc>
                <a:spcPct val="150000"/>
              </a:lnSpc>
            </a:pPr>
            <a:r>
              <a:rPr lang="en-US" sz="2400" dirty="0">
                <a:latin typeface="Bookman Old Style" pitchFamily="18" charset="0"/>
              </a:rPr>
              <a:t>Process of defining something in terms of itself</a:t>
            </a:r>
          </a:p>
          <a:p>
            <a:pPr>
              <a:lnSpc>
                <a:spcPct val="150000"/>
              </a:lnSpc>
            </a:pPr>
            <a:r>
              <a:rPr lang="en-US" sz="2400" dirty="0">
                <a:latin typeface="Bookman Old Style" pitchFamily="18" charset="0"/>
              </a:rPr>
              <a:t>A method that calls itself is said to be </a:t>
            </a:r>
            <a:r>
              <a:rPr lang="en-US" sz="2400" dirty="0">
                <a:solidFill>
                  <a:srgbClr val="FF0000"/>
                </a:solidFill>
                <a:latin typeface="Bookman Old Style" pitchFamily="18" charset="0"/>
              </a:rPr>
              <a:t>recursive.</a:t>
            </a:r>
          </a:p>
        </p:txBody>
      </p:sp>
      <p:sp>
        <p:nvSpPr>
          <p:cNvPr id="8" name="Rectangle 7"/>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691680" y="3314411"/>
            <a:ext cx="5688632" cy="1754326"/>
          </a:xfrm>
          <a:prstGeom prst="rect">
            <a:avLst/>
          </a:prstGeom>
          <a:solidFill>
            <a:schemeClr val="bg2"/>
          </a:solidFill>
        </p:spPr>
        <p:txBody>
          <a:bodyPr wrap="square">
            <a:spAutoFit/>
          </a:bodyPr>
          <a:lstStyle/>
          <a:p>
            <a:pPr>
              <a:lnSpc>
                <a:spcPct val="150000"/>
              </a:lnSpc>
            </a:pPr>
            <a:r>
              <a:rPr lang="en-US" dirty="0" err="1">
                <a:latin typeface="Bookman Old Style" pitchFamily="18" charset="0"/>
              </a:rPr>
              <a:t>returntype</a:t>
            </a:r>
            <a:r>
              <a:rPr lang="en-US" dirty="0">
                <a:latin typeface="Bookman Old Style" pitchFamily="18" charset="0"/>
              </a:rPr>
              <a:t> </a:t>
            </a:r>
            <a:r>
              <a:rPr lang="en-US" b="1" dirty="0" err="1">
                <a:latin typeface="Bookman Old Style" pitchFamily="18" charset="0"/>
              </a:rPr>
              <a:t>methodname</a:t>
            </a:r>
            <a:r>
              <a:rPr lang="en-US" dirty="0">
                <a:latin typeface="Bookman Old Style" pitchFamily="18" charset="0"/>
              </a:rPr>
              <a:t>(){  </a:t>
            </a:r>
          </a:p>
          <a:p>
            <a:pPr>
              <a:lnSpc>
                <a:spcPct val="150000"/>
              </a:lnSpc>
            </a:pPr>
            <a:r>
              <a:rPr lang="en-US" dirty="0">
                <a:latin typeface="Bookman Old Style" pitchFamily="18" charset="0"/>
              </a:rPr>
              <a:t>//code to be executed  </a:t>
            </a:r>
          </a:p>
          <a:p>
            <a:pPr>
              <a:lnSpc>
                <a:spcPct val="150000"/>
              </a:lnSpc>
            </a:pPr>
            <a:r>
              <a:rPr lang="en-US" b="1" dirty="0">
                <a:latin typeface="Bookman Old Style" pitchFamily="18" charset="0"/>
              </a:rPr>
              <a:t>	</a:t>
            </a:r>
            <a:r>
              <a:rPr lang="en-US" b="1" dirty="0" err="1">
                <a:latin typeface="Bookman Old Style" pitchFamily="18" charset="0"/>
              </a:rPr>
              <a:t>methodname</a:t>
            </a:r>
            <a:r>
              <a:rPr lang="en-US" dirty="0">
                <a:latin typeface="Bookman Old Style" pitchFamily="18" charset="0"/>
              </a:rPr>
              <a:t>();//calling same method  </a:t>
            </a:r>
          </a:p>
          <a:p>
            <a:pPr>
              <a:lnSpc>
                <a:spcPct val="150000"/>
              </a:lnSpc>
            </a:pPr>
            <a:r>
              <a:rPr lang="en-US" dirty="0">
                <a:latin typeface="Bookman Old Style" pitchFamily="18" charset="0"/>
              </a:rPr>
              <a:t>}  </a:t>
            </a:r>
          </a:p>
        </p:txBody>
      </p:sp>
    </p:spTree>
    <p:extLst>
      <p:ext uri="{BB962C8B-B14F-4D97-AF65-F5344CB8AC3E}">
        <p14:creationId xmlns:p14="http://schemas.microsoft.com/office/powerpoint/2010/main" val="2839333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5536" y="404664"/>
            <a:ext cx="7949612" cy="369332"/>
          </a:xfrm>
          <a:prstGeom prst="rect">
            <a:avLst/>
          </a:prstGeom>
        </p:spPr>
        <p:txBody>
          <a:bodyPr wrap="none">
            <a:spAutoFit/>
          </a:bodyPr>
          <a:lstStyle/>
          <a:p>
            <a:r>
              <a:rPr lang="en-US" b="1" dirty="0">
                <a:solidFill>
                  <a:srgbClr val="FF0000"/>
                </a:solidFill>
                <a:latin typeface="Bookman Old Style" pitchFamily="18" charset="0"/>
              </a:rPr>
              <a:t>Exercise 3.3. </a:t>
            </a:r>
            <a:r>
              <a:rPr lang="en-US" dirty="0">
                <a:latin typeface="Bookman Old Style" pitchFamily="18" charset="0"/>
              </a:rPr>
              <a:t>Write a program that computes factorial of a number. </a:t>
            </a:r>
            <a:endParaRPr lang="en-US" dirty="0"/>
          </a:p>
        </p:txBody>
      </p:sp>
      <p:sp>
        <p:nvSpPr>
          <p:cNvPr id="6" name="Rectangle 5"/>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42549" y="980728"/>
            <a:ext cx="8458901" cy="5324535"/>
          </a:xfrm>
          <a:prstGeom prst="rect">
            <a:avLst/>
          </a:prstGeom>
          <a:ln>
            <a:solidFill>
              <a:srgbClr val="0000CC"/>
            </a:solidFill>
          </a:ln>
        </p:spPr>
        <p:txBody>
          <a:bodyPr wrap="square">
            <a:spAutoFit/>
          </a:bodyPr>
          <a:lstStyle/>
          <a:p>
            <a:r>
              <a:rPr lang="en-US" sz="2000" dirty="0">
                <a:latin typeface="Bookman Old Style" pitchFamily="18" charset="0"/>
              </a:rPr>
              <a:t>class Factorial {</a:t>
            </a:r>
          </a:p>
          <a:p>
            <a:r>
              <a:rPr lang="en-US" sz="2000" dirty="0">
                <a:latin typeface="Bookman Old Style" pitchFamily="18" charset="0"/>
              </a:rPr>
              <a:t>// this is a recursive method</a:t>
            </a:r>
          </a:p>
          <a:p>
            <a:r>
              <a:rPr lang="en-US" sz="2000" dirty="0" err="1">
                <a:latin typeface="Bookman Old Style" pitchFamily="18" charset="0"/>
              </a:rPr>
              <a:t>int</a:t>
            </a:r>
            <a:r>
              <a:rPr lang="en-US" sz="2000" dirty="0">
                <a:latin typeface="Bookman Old Style" pitchFamily="18" charset="0"/>
              </a:rPr>
              <a:t> </a:t>
            </a:r>
            <a:r>
              <a:rPr lang="en-US" sz="2000" b="1" dirty="0">
                <a:latin typeface="Bookman Old Style" pitchFamily="18" charset="0"/>
              </a:rPr>
              <a:t>fact</a:t>
            </a:r>
            <a:r>
              <a:rPr lang="en-US" sz="2000" dirty="0">
                <a:latin typeface="Bookman Old Style" pitchFamily="18" charset="0"/>
              </a:rPr>
              <a:t>(</a:t>
            </a:r>
            <a:r>
              <a:rPr lang="en-US" sz="2000" dirty="0" err="1">
                <a:latin typeface="Bookman Old Style" pitchFamily="18" charset="0"/>
              </a:rPr>
              <a:t>int</a:t>
            </a:r>
            <a:r>
              <a:rPr lang="en-US" sz="2000" dirty="0">
                <a:latin typeface="Bookman Old Style" pitchFamily="18" charset="0"/>
              </a:rPr>
              <a:t> n) {</a:t>
            </a:r>
          </a:p>
          <a:p>
            <a:pPr lvl="1"/>
            <a:r>
              <a:rPr lang="en-US" sz="2000" dirty="0" err="1">
                <a:latin typeface="Bookman Old Style" pitchFamily="18" charset="0"/>
              </a:rPr>
              <a:t>int</a:t>
            </a:r>
            <a:r>
              <a:rPr lang="en-US" sz="2000" dirty="0">
                <a:latin typeface="Bookman Old Style" pitchFamily="18" charset="0"/>
              </a:rPr>
              <a:t> result;</a:t>
            </a:r>
          </a:p>
          <a:p>
            <a:pPr lvl="1"/>
            <a:r>
              <a:rPr lang="en-US" sz="2000" dirty="0">
                <a:latin typeface="Bookman Old Style" pitchFamily="18" charset="0"/>
              </a:rPr>
              <a:t>if(n==1) return 1;</a:t>
            </a:r>
          </a:p>
          <a:p>
            <a:pPr lvl="1"/>
            <a:r>
              <a:rPr lang="en-US" sz="2000" dirty="0">
                <a:latin typeface="Bookman Old Style" pitchFamily="18" charset="0"/>
              </a:rPr>
              <a:t>result = </a:t>
            </a:r>
            <a:r>
              <a:rPr lang="en-US" sz="2000" b="1" dirty="0">
                <a:latin typeface="Bookman Old Style" pitchFamily="18" charset="0"/>
              </a:rPr>
              <a:t>fact</a:t>
            </a:r>
            <a:r>
              <a:rPr lang="en-US" sz="2000" dirty="0">
                <a:latin typeface="Bookman Old Style" pitchFamily="18" charset="0"/>
              </a:rPr>
              <a:t>(n-1) * n;</a:t>
            </a:r>
          </a:p>
          <a:p>
            <a:pPr lvl="1"/>
            <a:r>
              <a:rPr lang="en-US" sz="2000" dirty="0">
                <a:latin typeface="Bookman Old Style" pitchFamily="18" charset="0"/>
              </a:rPr>
              <a:t>return result;</a:t>
            </a:r>
          </a:p>
          <a:p>
            <a:pPr lvl="1"/>
            <a:r>
              <a:rPr lang="en-US" sz="2000" dirty="0">
                <a:latin typeface="Bookman Old Style" pitchFamily="18" charset="0"/>
              </a:rPr>
              <a:t>}</a:t>
            </a:r>
          </a:p>
          <a:p>
            <a:r>
              <a:rPr lang="en-US" sz="2000" dirty="0">
                <a:latin typeface="Bookman Old Style" pitchFamily="18" charset="0"/>
              </a:rPr>
              <a:t>}</a:t>
            </a:r>
          </a:p>
          <a:p>
            <a:r>
              <a:rPr lang="en-US" sz="2000" dirty="0">
                <a:latin typeface="Bookman Old Style" pitchFamily="18" charset="0"/>
              </a:rPr>
              <a:t>class Recursion {</a:t>
            </a:r>
          </a:p>
          <a:p>
            <a:pPr lvl="1"/>
            <a:r>
              <a:rPr lang="en-US" sz="2000" dirty="0">
                <a:latin typeface="Bookman Old Style" pitchFamily="18" charset="0"/>
              </a:rPr>
              <a:t>public static void main(String </a:t>
            </a:r>
            <a:r>
              <a:rPr lang="en-US" sz="2000" dirty="0" err="1">
                <a:latin typeface="Bookman Old Style" pitchFamily="18" charset="0"/>
              </a:rPr>
              <a:t>args</a:t>
            </a:r>
            <a:r>
              <a:rPr lang="en-US" sz="2000" dirty="0">
                <a:latin typeface="Bookman Old Style" pitchFamily="18" charset="0"/>
              </a:rPr>
              <a:t>[]) {</a:t>
            </a:r>
          </a:p>
          <a:p>
            <a:pPr lvl="1"/>
            <a:r>
              <a:rPr lang="en-US" sz="2000" dirty="0">
                <a:latin typeface="Bookman Old Style" pitchFamily="18" charset="0"/>
              </a:rPr>
              <a:t>Factorial f = new Factorial();</a:t>
            </a:r>
          </a:p>
          <a:p>
            <a:pPr lvl="1"/>
            <a:r>
              <a:rPr lang="en-US" sz="2000" dirty="0" err="1">
                <a:latin typeface="Bookman Old Style" pitchFamily="18" charset="0"/>
              </a:rPr>
              <a:t>System.out.println</a:t>
            </a:r>
            <a:r>
              <a:rPr lang="en-US" sz="2000" dirty="0">
                <a:latin typeface="Bookman Old Style" pitchFamily="18" charset="0"/>
              </a:rPr>
              <a:t>("Factorial of 3 is " + </a:t>
            </a:r>
            <a:r>
              <a:rPr lang="en-US" sz="2000" dirty="0" err="1">
                <a:latin typeface="Bookman Old Style" pitchFamily="18" charset="0"/>
              </a:rPr>
              <a:t>f.fact</a:t>
            </a:r>
            <a:r>
              <a:rPr lang="en-US" sz="2000" dirty="0">
                <a:latin typeface="Bookman Old Style" pitchFamily="18" charset="0"/>
              </a:rPr>
              <a:t>(3));</a:t>
            </a:r>
          </a:p>
          <a:p>
            <a:pPr lvl="1"/>
            <a:r>
              <a:rPr lang="en-US" sz="2000" dirty="0" err="1">
                <a:latin typeface="Bookman Old Style" pitchFamily="18" charset="0"/>
              </a:rPr>
              <a:t>System.out.println</a:t>
            </a:r>
            <a:r>
              <a:rPr lang="en-US" sz="2000" dirty="0">
                <a:latin typeface="Bookman Old Style" pitchFamily="18" charset="0"/>
              </a:rPr>
              <a:t>("Factorial of 4 is " + </a:t>
            </a:r>
            <a:r>
              <a:rPr lang="en-US" sz="2000" dirty="0" err="1">
                <a:latin typeface="Bookman Old Style" pitchFamily="18" charset="0"/>
              </a:rPr>
              <a:t>f.fact</a:t>
            </a:r>
            <a:r>
              <a:rPr lang="en-US" sz="2000" dirty="0">
                <a:latin typeface="Bookman Old Style" pitchFamily="18" charset="0"/>
              </a:rPr>
              <a:t>(4));</a:t>
            </a:r>
          </a:p>
          <a:p>
            <a:pPr lvl="1"/>
            <a:r>
              <a:rPr lang="en-US" sz="2000" dirty="0" err="1">
                <a:latin typeface="Bookman Old Style" pitchFamily="18" charset="0"/>
              </a:rPr>
              <a:t>System.out.println</a:t>
            </a:r>
            <a:r>
              <a:rPr lang="en-US" sz="2000" dirty="0">
                <a:latin typeface="Bookman Old Style" pitchFamily="18" charset="0"/>
              </a:rPr>
              <a:t>("Factorial of 5 is " + </a:t>
            </a:r>
            <a:r>
              <a:rPr lang="en-US" sz="2000" dirty="0" err="1">
                <a:latin typeface="Bookman Old Style" pitchFamily="18" charset="0"/>
              </a:rPr>
              <a:t>f.fact</a:t>
            </a:r>
            <a:r>
              <a:rPr lang="en-US" sz="2000" dirty="0">
                <a:latin typeface="Bookman Old Style" pitchFamily="18" charset="0"/>
              </a:rPr>
              <a:t>(5));</a:t>
            </a:r>
          </a:p>
          <a:p>
            <a:r>
              <a:rPr lang="en-US" sz="2000" dirty="0">
                <a:latin typeface="Bookman Old Style" pitchFamily="18" charset="0"/>
              </a:rPr>
              <a:t>}</a:t>
            </a:r>
          </a:p>
          <a:p>
            <a:r>
              <a:rPr lang="en-US" sz="2000" dirty="0">
                <a:latin typeface="Bookman Old Style" pitchFamily="18" charset="0"/>
              </a:rPr>
              <a:t>}</a:t>
            </a:r>
          </a:p>
        </p:txBody>
      </p:sp>
    </p:spTree>
    <p:extLst>
      <p:ext uri="{BB962C8B-B14F-4D97-AF65-F5344CB8AC3E}">
        <p14:creationId xmlns:p14="http://schemas.microsoft.com/office/powerpoint/2010/main" val="31441878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188640"/>
            <a:ext cx="7556313" cy="1116106"/>
          </a:xfrm>
        </p:spPr>
        <p:txBody>
          <a:bodyPr>
            <a:normAutofit/>
          </a:bodyPr>
          <a:lstStyle/>
          <a:p>
            <a:r>
              <a:rPr lang="en-US" sz="3600" b="1" dirty="0">
                <a:latin typeface="Arial" pitchFamily="34" charset="0"/>
                <a:cs typeface="Arial" pitchFamily="34" charset="0"/>
              </a:rPr>
              <a:t>Nested and Inner Classes</a:t>
            </a:r>
            <a:endParaRPr lang="en-US" sz="3600" dirty="0">
              <a:latin typeface="Arial" pitchFamily="34" charset="0"/>
              <a:cs typeface="Arial" pitchFamily="34" charset="0"/>
            </a:endParaRPr>
          </a:p>
        </p:txBody>
      </p:sp>
      <p:sp>
        <p:nvSpPr>
          <p:cNvPr id="3" name="Content Placeholder 2"/>
          <p:cNvSpPr>
            <a:spLocks noGrp="1"/>
          </p:cNvSpPr>
          <p:nvPr>
            <p:ph idx="1"/>
          </p:nvPr>
        </p:nvSpPr>
        <p:spPr>
          <a:xfrm>
            <a:off x="395536" y="1700808"/>
            <a:ext cx="8280920" cy="4752528"/>
          </a:xfrm>
        </p:spPr>
        <p:txBody>
          <a:bodyPr>
            <a:normAutofit/>
          </a:bodyPr>
          <a:lstStyle/>
          <a:p>
            <a:r>
              <a:rPr lang="en-US" sz="2800" dirty="0">
                <a:latin typeface="Bookman Old Style" pitchFamily="18" charset="0"/>
              </a:rPr>
              <a:t>Nested Class</a:t>
            </a:r>
          </a:p>
          <a:p>
            <a:pPr lvl="1"/>
            <a:r>
              <a:rPr lang="en-US" sz="2400" dirty="0">
                <a:latin typeface="Bookman Old Style" pitchFamily="18" charset="0"/>
              </a:rPr>
              <a:t>A class within another class</a:t>
            </a:r>
          </a:p>
          <a:p>
            <a:pPr lvl="1"/>
            <a:r>
              <a:rPr lang="en-US" sz="2400" dirty="0">
                <a:latin typeface="Bookman Old Style" pitchFamily="18" charset="0"/>
              </a:rPr>
              <a:t>Two types</a:t>
            </a:r>
          </a:p>
          <a:p>
            <a:pPr lvl="2"/>
            <a:r>
              <a:rPr lang="en-US" dirty="0">
                <a:latin typeface="Bookman Old Style" pitchFamily="18" charset="0"/>
              </a:rPr>
              <a:t>Non-static nested class / Inner class</a:t>
            </a:r>
          </a:p>
          <a:p>
            <a:pPr lvl="3"/>
            <a:r>
              <a:rPr lang="en-US" dirty="0">
                <a:latin typeface="Bookman Old Style" pitchFamily="18" charset="0"/>
              </a:rPr>
              <a:t>has access to all of the variables and methods of its outer class</a:t>
            </a:r>
          </a:p>
          <a:p>
            <a:pPr lvl="2"/>
            <a:r>
              <a:rPr lang="en-US" dirty="0">
                <a:latin typeface="Bookman Old Style" pitchFamily="18" charset="0"/>
              </a:rPr>
              <a:t>Static nested class</a:t>
            </a:r>
          </a:p>
          <a:p>
            <a:pPr lvl="3"/>
            <a:r>
              <a:rPr lang="en-US" dirty="0">
                <a:latin typeface="Bookman Old Style" pitchFamily="18" charset="0"/>
              </a:rPr>
              <a:t>A static nested class is one that has the </a:t>
            </a:r>
            <a:r>
              <a:rPr lang="en-US" b="1" dirty="0">
                <a:latin typeface="Bookman Old Style" pitchFamily="18" charset="0"/>
              </a:rPr>
              <a:t>static </a:t>
            </a:r>
            <a:r>
              <a:rPr lang="en-US" dirty="0">
                <a:latin typeface="Bookman Old Style" pitchFamily="18" charset="0"/>
              </a:rPr>
              <a:t>modifier applied</a:t>
            </a:r>
          </a:p>
          <a:p>
            <a:pPr lvl="3"/>
            <a:r>
              <a:rPr lang="en-US" dirty="0">
                <a:latin typeface="Bookman Old Style" pitchFamily="18" charset="0"/>
              </a:rPr>
              <a:t>it must access the members of its enclosing class through an object.</a:t>
            </a:r>
          </a:p>
          <a:p>
            <a:pPr lvl="2"/>
            <a:endParaRPr lang="en-US" dirty="0">
              <a:latin typeface="Bookman Old Style" pitchFamily="18" charset="0"/>
            </a:endParaRPr>
          </a:p>
        </p:txBody>
      </p:sp>
      <p:sp>
        <p:nvSpPr>
          <p:cNvPr id="5" name="Rectangle 4"/>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52492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179512" y="260648"/>
            <a:ext cx="8856984" cy="48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800" b="1" dirty="0">
                <a:latin typeface="Bookman Old Style" pitchFamily="18" charset="0"/>
                <a:cs typeface="Rockwell"/>
              </a:rPr>
              <a:t>Example 3.8</a:t>
            </a:r>
            <a:r>
              <a:rPr lang="en-US" sz="1800" dirty="0">
                <a:latin typeface="Bookman Old Style" pitchFamily="18" charset="0"/>
                <a:cs typeface="Rockwell"/>
              </a:rPr>
              <a:t>:  Demonstrate Inner Class</a:t>
            </a:r>
          </a:p>
        </p:txBody>
      </p:sp>
      <p:sp>
        <p:nvSpPr>
          <p:cNvPr id="8" name="Rectangle 7"/>
          <p:cNvSpPr/>
          <p:nvPr/>
        </p:nvSpPr>
        <p:spPr>
          <a:xfrm>
            <a:off x="179512" y="764705"/>
            <a:ext cx="8316416" cy="5663089"/>
          </a:xfrm>
          <a:prstGeom prst="rect">
            <a:avLst/>
          </a:prstGeom>
          <a:ln>
            <a:solidFill>
              <a:srgbClr val="0000CC"/>
            </a:solidFill>
          </a:ln>
        </p:spPr>
        <p:txBody>
          <a:bodyPr wrap="square">
            <a:spAutoFit/>
          </a:bodyPr>
          <a:lstStyle/>
          <a:p>
            <a:r>
              <a:rPr lang="en-US" sz="1600" dirty="0">
                <a:latin typeface="Bookman Old Style" pitchFamily="18" charset="0"/>
              </a:rPr>
              <a:t>class </a:t>
            </a:r>
            <a:r>
              <a:rPr lang="en-US" sz="1600" b="1" dirty="0" err="1">
                <a:latin typeface="Bookman Old Style" pitchFamily="18" charset="0"/>
              </a:rPr>
              <a:t>Outer_Demo</a:t>
            </a:r>
            <a:r>
              <a:rPr lang="en-US" sz="1600" dirty="0">
                <a:latin typeface="Bookman Old Style" pitchFamily="18" charset="0"/>
              </a:rPr>
              <a:t> {</a:t>
            </a:r>
          </a:p>
          <a:p>
            <a:pPr lvl="1"/>
            <a:r>
              <a:rPr lang="en-US" sz="1600" dirty="0">
                <a:latin typeface="Bookman Old Style" pitchFamily="18" charset="0"/>
              </a:rPr>
              <a:t>   </a:t>
            </a:r>
            <a:r>
              <a:rPr lang="en-US" sz="1600" dirty="0" err="1">
                <a:latin typeface="Bookman Old Style" pitchFamily="18" charset="0"/>
              </a:rPr>
              <a:t>int</a:t>
            </a:r>
            <a:r>
              <a:rPr lang="en-US" sz="1600" dirty="0">
                <a:latin typeface="Bookman Old Style" pitchFamily="18" charset="0"/>
              </a:rPr>
              <a:t> </a:t>
            </a:r>
            <a:r>
              <a:rPr lang="en-US" sz="1600" dirty="0" err="1">
                <a:latin typeface="Bookman Old Style" pitchFamily="18" charset="0"/>
              </a:rPr>
              <a:t>num</a:t>
            </a:r>
            <a:r>
              <a:rPr lang="en-US" sz="1600" dirty="0">
                <a:latin typeface="Bookman Old Style" pitchFamily="18" charset="0"/>
              </a:rPr>
              <a:t>;</a:t>
            </a:r>
          </a:p>
          <a:p>
            <a:pPr lvl="1"/>
            <a:r>
              <a:rPr lang="en-US" sz="1600" dirty="0">
                <a:solidFill>
                  <a:srgbClr val="FF0000"/>
                </a:solidFill>
                <a:latin typeface="Bookman Old Style" pitchFamily="18" charset="0"/>
              </a:rPr>
              <a:t>   class </a:t>
            </a:r>
            <a:r>
              <a:rPr lang="en-US" sz="1600" b="1" dirty="0" err="1">
                <a:solidFill>
                  <a:srgbClr val="FF0000"/>
                </a:solidFill>
                <a:latin typeface="Bookman Old Style" pitchFamily="18" charset="0"/>
              </a:rPr>
              <a:t>Inner_Demo</a:t>
            </a:r>
            <a:r>
              <a:rPr lang="en-US" sz="1600" dirty="0">
                <a:solidFill>
                  <a:srgbClr val="FF0000"/>
                </a:solidFill>
                <a:latin typeface="Bookman Old Style" pitchFamily="18" charset="0"/>
              </a:rPr>
              <a:t> //Inner Class</a:t>
            </a:r>
          </a:p>
          <a:p>
            <a:pPr lvl="1"/>
            <a:r>
              <a:rPr lang="en-US" sz="1600" dirty="0">
                <a:solidFill>
                  <a:srgbClr val="FF0000"/>
                </a:solidFill>
                <a:latin typeface="Bookman Old Style" pitchFamily="18" charset="0"/>
              </a:rPr>
              <a:t>   {</a:t>
            </a:r>
          </a:p>
          <a:p>
            <a:pPr lvl="1"/>
            <a:r>
              <a:rPr lang="en-US" sz="1600" dirty="0">
                <a:solidFill>
                  <a:srgbClr val="FF0000"/>
                </a:solidFill>
                <a:latin typeface="Bookman Old Style" pitchFamily="18" charset="0"/>
              </a:rPr>
              <a:t>	       public void print() {</a:t>
            </a:r>
          </a:p>
          <a:p>
            <a:pPr lvl="2"/>
            <a:r>
              <a:rPr lang="en-US" sz="1600" dirty="0">
                <a:solidFill>
                  <a:srgbClr val="FF0000"/>
                </a:solidFill>
                <a:latin typeface="Bookman Old Style" pitchFamily="18" charset="0"/>
              </a:rPr>
              <a:t>         </a:t>
            </a:r>
            <a:r>
              <a:rPr lang="en-US" sz="1600" dirty="0" err="1">
                <a:solidFill>
                  <a:srgbClr val="FF0000"/>
                </a:solidFill>
                <a:latin typeface="Bookman Old Style" pitchFamily="18" charset="0"/>
              </a:rPr>
              <a:t>System.out.println</a:t>
            </a:r>
            <a:r>
              <a:rPr lang="en-US" sz="1600" dirty="0">
                <a:solidFill>
                  <a:srgbClr val="FF0000"/>
                </a:solidFill>
                <a:latin typeface="Bookman Old Style" pitchFamily="18" charset="0"/>
              </a:rPr>
              <a:t>("This is an inner class");</a:t>
            </a:r>
          </a:p>
          <a:p>
            <a:pPr lvl="2"/>
            <a:r>
              <a:rPr lang="en-US" sz="1600" dirty="0">
                <a:solidFill>
                  <a:srgbClr val="FF0000"/>
                </a:solidFill>
                <a:latin typeface="Bookman Old Style" pitchFamily="18" charset="0"/>
              </a:rPr>
              <a:t>      }</a:t>
            </a:r>
          </a:p>
          <a:p>
            <a:pPr lvl="1"/>
            <a:r>
              <a:rPr lang="en-US" sz="1600" dirty="0">
                <a:solidFill>
                  <a:srgbClr val="FF0000"/>
                </a:solidFill>
                <a:latin typeface="Bookman Old Style" pitchFamily="18" charset="0"/>
              </a:rPr>
              <a:t>   }</a:t>
            </a:r>
          </a:p>
          <a:p>
            <a:pPr lvl="1"/>
            <a:r>
              <a:rPr lang="en-US" dirty="0">
                <a:latin typeface="Bookman Old Style" pitchFamily="18" charset="0"/>
              </a:rPr>
              <a:t>   void </a:t>
            </a:r>
            <a:r>
              <a:rPr lang="en-US" dirty="0" err="1">
                <a:latin typeface="Bookman Old Style" pitchFamily="18" charset="0"/>
              </a:rPr>
              <a:t>display_Inner</a:t>
            </a:r>
            <a:r>
              <a:rPr lang="en-US" dirty="0">
                <a:latin typeface="Bookman Old Style" pitchFamily="18" charset="0"/>
              </a:rPr>
              <a:t>() {</a:t>
            </a:r>
          </a:p>
          <a:p>
            <a:pPr lvl="1"/>
            <a:r>
              <a:rPr lang="en-US" dirty="0">
                <a:latin typeface="Bookman Old Style" pitchFamily="18" charset="0"/>
              </a:rPr>
              <a:t>      </a:t>
            </a:r>
            <a:r>
              <a:rPr lang="en-US" b="1" dirty="0" err="1">
                <a:latin typeface="Bookman Old Style" pitchFamily="18" charset="0"/>
              </a:rPr>
              <a:t>Inner_Demo</a:t>
            </a:r>
            <a:r>
              <a:rPr lang="en-US" dirty="0">
                <a:latin typeface="Bookman Old Style" pitchFamily="18" charset="0"/>
              </a:rPr>
              <a:t> inner = new </a:t>
            </a:r>
            <a:r>
              <a:rPr lang="en-US" b="1" dirty="0" err="1">
                <a:latin typeface="Bookman Old Style" pitchFamily="18" charset="0"/>
              </a:rPr>
              <a:t>Inner_Demo</a:t>
            </a:r>
            <a:r>
              <a:rPr lang="en-US" dirty="0">
                <a:latin typeface="Bookman Old Style" pitchFamily="18" charset="0"/>
              </a:rPr>
              <a:t>();</a:t>
            </a:r>
          </a:p>
          <a:p>
            <a:pPr lvl="1"/>
            <a:r>
              <a:rPr lang="en-US" dirty="0">
                <a:latin typeface="Bookman Old Style" pitchFamily="18" charset="0"/>
              </a:rPr>
              <a:t>      </a:t>
            </a:r>
            <a:r>
              <a:rPr lang="en-US" dirty="0" err="1">
                <a:latin typeface="Bookman Old Style" pitchFamily="18" charset="0"/>
              </a:rPr>
              <a:t>inner.print</a:t>
            </a:r>
            <a:r>
              <a:rPr lang="en-US" dirty="0">
                <a:latin typeface="Bookman Old Style" pitchFamily="18" charset="0"/>
              </a:rPr>
              <a:t>();</a:t>
            </a:r>
          </a:p>
          <a:p>
            <a:pPr lvl="1"/>
            <a:r>
              <a:rPr lang="en-US" dirty="0">
                <a:latin typeface="Bookman Old Style" pitchFamily="18" charset="0"/>
              </a:rPr>
              <a:t>   }</a:t>
            </a:r>
          </a:p>
          <a:p>
            <a:r>
              <a:rPr lang="en-US" dirty="0">
                <a:latin typeface="Bookman Old Style" pitchFamily="18" charset="0"/>
              </a:rPr>
              <a:t>} </a:t>
            </a:r>
          </a:p>
          <a:p>
            <a:r>
              <a:rPr lang="en-US" dirty="0">
                <a:latin typeface="Bookman Old Style" pitchFamily="18" charset="0"/>
              </a:rPr>
              <a:t>public class </a:t>
            </a:r>
            <a:r>
              <a:rPr lang="en-US" dirty="0" err="1">
                <a:latin typeface="Bookman Old Style" pitchFamily="18" charset="0"/>
              </a:rPr>
              <a:t>My_class</a:t>
            </a:r>
            <a:r>
              <a:rPr lang="en-US" dirty="0">
                <a:latin typeface="Bookman Old Style" pitchFamily="18" charset="0"/>
              </a:rPr>
              <a:t> {</a:t>
            </a:r>
          </a:p>
          <a:p>
            <a:r>
              <a:rPr lang="en-US" dirty="0">
                <a:latin typeface="Bookman Old Style" pitchFamily="18" charset="0"/>
              </a:rPr>
              <a:t>   public static void main(String </a:t>
            </a:r>
            <a:r>
              <a:rPr lang="en-US" dirty="0" err="1">
                <a:latin typeface="Bookman Old Style" pitchFamily="18" charset="0"/>
              </a:rPr>
              <a:t>args</a:t>
            </a:r>
            <a:r>
              <a:rPr lang="en-US" dirty="0">
                <a:latin typeface="Bookman Old Style" pitchFamily="18" charset="0"/>
              </a:rPr>
              <a:t>[]) {</a:t>
            </a:r>
          </a:p>
          <a:p>
            <a:r>
              <a:rPr lang="en-US" dirty="0">
                <a:latin typeface="Bookman Old Style" pitchFamily="18" charset="0"/>
              </a:rPr>
              <a:t>      </a:t>
            </a:r>
            <a:r>
              <a:rPr lang="en-US" dirty="0">
                <a:solidFill>
                  <a:srgbClr val="0000CC"/>
                </a:solidFill>
                <a:latin typeface="Bookman Old Style" pitchFamily="18" charset="0"/>
              </a:rPr>
              <a:t>// Instantiating the outer class </a:t>
            </a:r>
          </a:p>
          <a:p>
            <a:r>
              <a:rPr lang="en-US" dirty="0">
                <a:latin typeface="Bookman Old Style" pitchFamily="18" charset="0"/>
              </a:rPr>
              <a:t>      </a:t>
            </a:r>
            <a:r>
              <a:rPr lang="en-US" dirty="0" err="1">
                <a:latin typeface="Bookman Old Style" pitchFamily="18" charset="0"/>
              </a:rPr>
              <a:t>Outer_Demo</a:t>
            </a:r>
            <a:r>
              <a:rPr lang="en-US" dirty="0">
                <a:latin typeface="Bookman Old Style" pitchFamily="18" charset="0"/>
              </a:rPr>
              <a:t> outer = new </a:t>
            </a:r>
            <a:r>
              <a:rPr lang="en-US" dirty="0" err="1">
                <a:latin typeface="Bookman Old Style" pitchFamily="18" charset="0"/>
              </a:rPr>
              <a:t>Outer_Demo</a:t>
            </a:r>
            <a:r>
              <a:rPr lang="en-US" dirty="0">
                <a:latin typeface="Bookman Old Style" pitchFamily="18" charset="0"/>
              </a:rPr>
              <a:t>();</a:t>
            </a:r>
          </a:p>
          <a:p>
            <a:r>
              <a:rPr lang="en-US" dirty="0">
                <a:latin typeface="Bookman Old Style" pitchFamily="18" charset="0"/>
              </a:rPr>
              <a:t>      </a:t>
            </a:r>
            <a:r>
              <a:rPr lang="en-US" dirty="0">
                <a:solidFill>
                  <a:srgbClr val="0000CC"/>
                </a:solidFill>
                <a:latin typeface="Bookman Old Style" pitchFamily="18" charset="0"/>
              </a:rPr>
              <a:t>// Accessing the </a:t>
            </a:r>
            <a:r>
              <a:rPr lang="en-US" dirty="0" err="1">
                <a:solidFill>
                  <a:srgbClr val="0000CC"/>
                </a:solidFill>
                <a:latin typeface="Bookman Old Style" pitchFamily="18" charset="0"/>
              </a:rPr>
              <a:t>display_Inner</a:t>
            </a:r>
            <a:r>
              <a:rPr lang="en-US" dirty="0">
                <a:solidFill>
                  <a:srgbClr val="0000CC"/>
                </a:solidFill>
                <a:latin typeface="Bookman Old Style" pitchFamily="18" charset="0"/>
              </a:rPr>
              <a:t>() method</a:t>
            </a:r>
            <a:r>
              <a:rPr lang="en-US" dirty="0">
                <a:latin typeface="Bookman Old Style" pitchFamily="18" charset="0"/>
              </a:rPr>
              <a:t>.</a:t>
            </a:r>
          </a:p>
          <a:p>
            <a:r>
              <a:rPr lang="en-US" dirty="0">
                <a:latin typeface="Bookman Old Style" pitchFamily="18" charset="0"/>
              </a:rPr>
              <a:t>      </a:t>
            </a:r>
            <a:r>
              <a:rPr lang="en-US" dirty="0" err="1">
                <a:latin typeface="Bookman Old Style" pitchFamily="18" charset="0"/>
              </a:rPr>
              <a:t>outer.display_Inner</a:t>
            </a:r>
            <a:r>
              <a:rPr lang="en-US" dirty="0">
                <a:latin typeface="Bookman Old Style" pitchFamily="18" charset="0"/>
              </a:rPr>
              <a:t>();</a:t>
            </a:r>
          </a:p>
          <a:p>
            <a:r>
              <a:rPr lang="en-US" dirty="0">
                <a:latin typeface="Bookman Old Style" pitchFamily="18" charset="0"/>
              </a:rPr>
              <a:t>   }</a:t>
            </a:r>
          </a:p>
          <a:p>
            <a:r>
              <a:rPr lang="en-US" dirty="0">
                <a:latin typeface="Bookman Old Style" pitchFamily="18" charset="0"/>
              </a:rPr>
              <a:t>}</a:t>
            </a:r>
            <a:r>
              <a:rPr lang="en-US" sz="1600" dirty="0">
                <a:latin typeface="Bookman Old Style" pitchFamily="18" charset="0"/>
              </a:rPr>
              <a:t>  </a:t>
            </a:r>
          </a:p>
        </p:txBody>
      </p:sp>
      <p:sp>
        <p:nvSpPr>
          <p:cNvPr id="10" name="Rectangle 9"/>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261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179512" y="260648"/>
            <a:ext cx="8856984" cy="4800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1800" b="1" dirty="0">
                <a:latin typeface="Bookman Old Style" pitchFamily="18" charset="0"/>
                <a:cs typeface="Rockwell"/>
              </a:rPr>
              <a:t>Example 3.9</a:t>
            </a:r>
            <a:r>
              <a:rPr lang="en-US" sz="1800" dirty="0">
                <a:latin typeface="Bookman Old Style" pitchFamily="18" charset="0"/>
                <a:cs typeface="Rockwell"/>
              </a:rPr>
              <a:t>:  Demonstrate Inner Class and scope of its variables</a:t>
            </a:r>
          </a:p>
        </p:txBody>
      </p:sp>
      <p:sp>
        <p:nvSpPr>
          <p:cNvPr id="8" name="Rectangle 7"/>
          <p:cNvSpPr/>
          <p:nvPr/>
        </p:nvSpPr>
        <p:spPr>
          <a:xfrm>
            <a:off x="179512" y="764705"/>
            <a:ext cx="8316416" cy="5755422"/>
          </a:xfrm>
          <a:prstGeom prst="rect">
            <a:avLst/>
          </a:prstGeom>
          <a:ln>
            <a:solidFill>
              <a:srgbClr val="0000CC"/>
            </a:solidFill>
          </a:ln>
        </p:spPr>
        <p:txBody>
          <a:bodyPr wrap="square">
            <a:spAutoFit/>
          </a:bodyPr>
          <a:lstStyle/>
          <a:p>
            <a:r>
              <a:rPr lang="en-US" sz="1600" dirty="0">
                <a:latin typeface="Bookman Old Style" pitchFamily="18" charset="0"/>
              </a:rPr>
              <a:t>class Outer {</a:t>
            </a:r>
          </a:p>
          <a:p>
            <a:pPr lvl="1"/>
            <a:r>
              <a:rPr lang="en-US" sz="1600" dirty="0" err="1">
                <a:latin typeface="Bookman Old Style" pitchFamily="18" charset="0"/>
              </a:rPr>
              <a:t>int</a:t>
            </a:r>
            <a:r>
              <a:rPr lang="en-US" sz="1600" dirty="0">
                <a:latin typeface="Bookman Old Style" pitchFamily="18" charset="0"/>
              </a:rPr>
              <a:t> </a:t>
            </a:r>
            <a:r>
              <a:rPr lang="en-US" sz="1600" dirty="0" err="1">
                <a:latin typeface="Bookman Old Style" pitchFamily="18" charset="0"/>
              </a:rPr>
              <a:t>outer_x</a:t>
            </a:r>
            <a:r>
              <a:rPr lang="en-US" sz="1600" dirty="0">
                <a:latin typeface="Bookman Old Style" pitchFamily="18" charset="0"/>
              </a:rPr>
              <a:t> = 100;</a:t>
            </a:r>
          </a:p>
          <a:p>
            <a:pPr lvl="1"/>
            <a:r>
              <a:rPr lang="en-US" sz="1600" dirty="0">
                <a:latin typeface="Bookman Old Style" pitchFamily="18" charset="0"/>
              </a:rPr>
              <a:t>void test() {</a:t>
            </a:r>
          </a:p>
          <a:p>
            <a:pPr lvl="1"/>
            <a:r>
              <a:rPr lang="en-US" sz="1600" dirty="0">
                <a:latin typeface="Bookman Old Style" pitchFamily="18" charset="0"/>
              </a:rPr>
              <a:t>Inner </a:t>
            </a:r>
            <a:r>
              <a:rPr lang="en-US" sz="1600" dirty="0" err="1">
                <a:latin typeface="Bookman Old Style" pitchFamily="18" charset="0"/>
              </a:rPr>
              <a:t>inner</a:t>
            </a:r>
            <a:r>
              <a:rPr lang="en-US" sz="1600" dirty="0">
                <a:latin typeface="Bookman Old Style" pitchFamily="18" charset="0"/>
              </a:rPr>
              <a:t> = new Inner();</a:t>
            </a:r>
          </a:p>
          <a:p>
            <a:pPr lvl="1"/>
            <a:r>
              <a:rPr lang="en-US" sz="1600" dirty="0">
                <a:latin typeface="Bookman Old Style" pitchFamily="18" charset="0"/>
              </a:rPr>
              <a:t>	</a:t>
            </a:r>
            <a:r>
              <a:rPr lang="en-US" sz="1600" dirty="0" err="1">
                <a:latin typeface="Bookman Old Style" pitchFamily="18" charset="0"/>
              </a:rPr>
              <a:t>inner.display</a:t>
            </a:r>
            <a:r>
              <a:rPr lang="en-US" sz="1600" dirty="0">
                <a:latin typeface="Bookman Old Style" pitchFamily="18" charset="0"/>
              </a:rPr>
              <a:t>();</a:t>
            </a:r>
          </a:p>
          <a:p>
            <a:pPr lvl="1"/>
            <a:r>
              <a:rPr lang="en-US" sz="1600" dirty="0">
                <a:latin typeface="Bookman Old Style" pitchFamily="18" charset="0"/>
              </a:rPr>
              <a:t>}</a:t>
            </a:r>
          </a:p>
          <a:p>
            <a:pPr lvl="1"/>
            <a:r>
              <a:rPr lang="en-US" sz="1600" dirty="0">
                <a:latin typeface="Bookman Old Style" pitchFamily="18" charset="0"/>
              </a:rPr>
              <a:t>// this is an inner class</a:t>
            </a:r>
          </a:p>
          <a:p>
            <a:pPr lvl="1"/>
            <a:r>
              <a:rPr lang="en-US" sz="1600" b="1" dirty="0">
                <a:latin typeface="Bookman Old Style" pitchFamily="18" charset="0"/>
              </a:rPr>
              <a:t>class Inner </a:t>
            </a:r>
            <a:r>
              <a:rPr lang="en-US" sz="1600" dirty="0">
                <a:latin typeface="Bookman Old Style" pitchFamily="18" charset="0"/>
              </a:rPr>
              <a:t>{</a:t>
            </a:r>
          </a:p>
          <a:p>
            <a:pPr lvl="2"/>
            <a:r>
              <a:rPr lang="en-US" sz="1600" dirty="0" err="1">
                <a:latin typeface="Bookman Old Style" pitchFamily="18" charset="0"/>
              </a:rPr>
              <a:t>int</a:t>
            </a:r>
            <a:r>
              <a:rPr lang="en-US" sz="1600" dirty="0">
                <a:latin typeface="Bookman Old Style" pitchFamily="18" charset="0"/>
              </a:rPr>
              <a:t> </a:t>
            </a:r>
            <a:r>
              <a:rPr lang="en-US" sz="1600" b="1" dirty="0">
                <a:latin typeface="Bookman Old Style" pitchFamily="18" charset="0"/>
              </a:rPr>
              <a:t>y</a:t>
            </a:r>
            <a:r>
              <a:rPr lang="en-US" sz="1600" dirty="0">
                <a:latin typeface="Bookman Old Style" pitchFamily="18" charset="0"/>
              </a:rPr>
              <a:t> = 10; // y is local to Inner</a:t>
            </a:r>
          </a:p>
          <a:p>
            <a:pPr lvl="2"/>
            <a:r>
              <a:rPr lang="en-US" sz="1600" dirty="0">
                <a:latin typeface="Bookman Old Style" pitchFamily="18" charset="0"/>
              </a:rPr>
              <a:t>void display() {</a:t>
            </a:r>
          </a:p>
          <a:p>
            <a:pPr lvl="2"/>
            <a:r>
              <a:rPr lang="en-US" sz="1600" dirty="0" err="1">
                <a:latin typeface="Bookman Old Style" pitchFamily="18" charset="0"/>
              </a:rPr>
              <a:t>System.out.println</a:t>
            </a:r>
            <a:r>
              <a:rPr lang="en-US" sz="1600" dirty="0">
                <a:latin typeface="Bookman Old Style" pitchFamily="18" charset="0"/>
              </a:rPr>
              <a:t>("display: </a:t>
            </a:r>
            <a:r>
              <a:rPr lang="en-US" sz="1600" dirty="0" err="1">
                <a:latin typeface="Bookman Old Style" pitchFamily="18" charset="0"/>
              </a:rPr>
              <a:t>outer_x</a:t>
            </a:r>
            <a:r>
              <a:rPr lang="en-US" sz="1600" dirty="0">
                <a:latin typeface="Bookman Old Style" pitchFamily="18" charset="0"/>
              </a:rPr>
              <a:t> = " + </a:t>
            </a:r>
            <a:r>
              <a:rPr lang="en-US" sz="1600" dirty="0" err="1">
                <a:latin typeface="Bookman Old Style" pitchFamily="18" charset="0"/>
              </a:rPr>
              <a:t>outer_x</a:t>
            </a:r>
            <a:r>
              <a:rPr lang="en-US" sz="1600" dirty="0">
                <a:latin typeface="Bookman Old Style" pitchFamily="18" charset="0"/>
              </a:rPr>
              <a:t>);</a:t>
            </a:r>
          </a:p>
          <a:p>
            <a:pPr lvl="2"/>
            <a:r>
              <a:rPr lang="en-US" sz="1600" dirty="0">
                <a:latin typeface="Bookman Old Style" pitchFamily="18" charset="0"/>
              </a:rPr>
              <a:t>}</a:t>
            </a:r>
          </a:p>
          <a:p>
            <a:pPr lvl="1"/>
            <a:r>
              <a:rPr lang="en-US" sz="1600" dirty="0">
                <a:latin typeface="Bookman Old Style" pitchFamily="18" charset="0"/>
              </a:rPr>
              <a:t>}</a:t>
            </a:r>
          </a:p>
          <a:p>
            <a:pPr lvl="1"/>
            <a:r>
              <a:rPr lang="en-US" sz="1600" dirty="0">
                <a:latin typeface="Bookman Old Style" pitchFamily="18" charset="0"/>
              </a:rPr>
              <a:t>void showy() {</a:t>
            </a:r>
          </a:p>
          <a:p>
            <a:pPr lvl="1"/>
            <a:r>
              <a:rPr lang="en-US" sz="1600" dirty="0">
                <a:latin typeface="Bookman Old Style" pitchFamily="18" charset="0"/>
              </a:rPr>
              <a:t>	</a:t>
            </a:r>
            <a:r>
              <a:rPr lang="en-US" sz="1600" dirty="0" err="1">
                <a:latin typeface="Bookman Old Style" pitchFamily="18" charset="0"/>
              </a:rPr>
              <a:t>System.out.println</a:t>
            </a:r>
            <a:r>
              <a:rPr lang="en-US" sz="1600" dirty="0">
                <a:latin typeface="Bookman Old Style" pitchFamily="18" charset="0"/>
              </a:rPr>
              <a:t>(</a:t>
            </a:r>
            <a:r>
              <a:rPr lang="en-US" sz="1600" b="1" dirty="0">
                <a:latin typeface="Bookman Old Style" pitchFamily="18" charset="0"/>
              </a:rPr>
              <a:t>y</a:t>
            </a:r>
            <a:r>
              <a:rPr lang="en-US" sz="1600" dirty="0">
                <a:latin typeface="Bookman Old Style" pitchFamily="18" charset="0"/>
              </a:rPr>
              <a:t>); </a:t>
            </a:r>
            <a:r>
              <a:rPr lang="en-US" sz="1600" b="1" dirty="0">
                <a:solidFill>
                  <a:srgbClr val="0000CC"/>
                </a:solidFill>
                <a:latin typeface="Bookman Old Style" pitchFamily="18" charset="0"/>
              </a:rPr>
              <a:t>// error, y not known here! Outside scope of y </a:t>
            </a:r>
          </a:p>
          <a:p>
            <a:pPr lvl="1"/>
            <a:r>
              <a:rPr lang="en-US" sz="1600" dirty="0">
                <a:latin typeface="Bookman Old Style" pitchFamily="18" charset="0"/>
              </a:rPr>
              <a:t>	}</a:t>
            </a:r>
          </a:p>
          <a:p>
            <a:pPr lvl="1"/>
            <a:r>
              <a:rPr lang="en-US" sz="1600" dirty="0">
                <a:latin typeface="Bookman Old Style" pitchFamily="18" charset="0"/>
              </a:rPr>
              <a:t>}</a:t>
            </a:r>
          </a:p>
          <a:p>
            <a:pPr lvl="1"/>
            <a:r>
              <a:rPr lang="en-US" sz="1600" dirty="0">
                <a:latin typeface="Bookman Old Style" pitchFamily="18" charset="0"/>
              </a:rPr>
              <a:t>class </a:t>
            </a:r>
            <a:r>
              <a:rPr lang="en-US" sz="1600" dirty="0" err="1">
                <a:latin typeface="Bookman Old Style" pitchFamily="18" charset="0"/>
              </a:rPr>
              <a:t>InnerClassDemo</a:t>
            </a:r>
            <a:r>
              <a:rPr lang="en-US" sz="1600" dirty="0">
                <a:latin typeface="Bookman Old Style" pitchFamily="18" charset="0"/>
              </a:rPr>
              <a:t> {</a:t>
            </a:r>
          </a:p>
          <a:p>
            <a:pPr lvl="1"/>
            <a:r>
              <a:rPr lang="en-US" sz="1600" dirty="0">
                <a:latin typeface="Bookman Old Style" pitchFamily="18" charset="0"/>
              </a:rPr>
              <a:t>public static void main(String </a:t>
            </a:r>
            <a:r>
              <a:rPr lang="en-US" sz="1600" dirty="0" err="1">
                <a:latin typeface="Bookman Old Style" pitchFamily="18" charset="0"/>
              </a:rPr>
              <a:t>args</a:t>
            </a:r>
            <a:r>
              <a:rPr lang="en-US" sz="1600" dirty="0">
                <a:latin typeface="Bookman Old Style" pitchFamily="18" charset="0"/>
              </a:rPr>
              <a:t>[]) {</a:t>
            </a:r>
          </a:p>
          <a:p>
            <a:pPr lvl="2"/>
            <a:r>
              <a:rPr lang="en-US" sz="1600" dirty="0">
                <a:latin typeface="Bookman Old Style" pitchFamily="18" charset="0"/>
              </a:rPr>
              <a:t>Outer </a:t>
            </a:r>
            <a:r>
              <a:rPr lang="en-US" sz="1600" dirty="0" err="1">
                <a:latin typeface="Bookman Old Style" pitchFamily="18" charset="0"/>
              </a:rPr>
              <a:t>outer</a:t>
            </a:r>
            <a:r>
              <a:rPr lang="en-US" sz="1600" dirty="0">
                <a:latin typeface="Bookman Old Style" pitchFamily="18" charset="0"/>
              </a:rPr>
              <a:t> = new Outer();</a:t>
            </a:r>
          </a:p>
          <a:p>
            <a:pPr lvl="2"/>
            <a:r>
              <a:rPr lang="en-US" sz="1600" dirty="0" err="1">
                <a:latin typeface="Bookman Old Style" pitchFamily="18" charset="0"/>
              </a:rPr>
              <a:t>outer.test</a:t>
            </a:r>
            <a:r>
              <a:rPr lang="en-US" sz="1600" dirty="0">
                <a:latin typeface="Bookman Old Style" pitchFamily="18" charset="0"/>
              </a:rPr>
              <a:t>();</a:t>
            </a:r>
          </a:p>
          <a:p>
            <a:pPr lvl="1"/>
            <a:r>
              <a:rPr lang="en-US" sz="1600" dirty="0">
                <a:latin typeface="Bookman Old Style" pitchFamily="18" charset="0"/>
              </a:rPr>
              <a:t>}</a:t>
            </a:r>
          </a:p>
          <a:p>
            <a:r>
              <a:rPr lang="en-US" sz="1600" dirty="0">
                <a:latin typeface="Bookman Old Style" pitchFamily="18" charset="0"/>
              </a:rPr>
              <a:t>}</a:t>
            </a:r>
          </a:p>
        </p:txBody>
      </p:sp>
      <p:sp>
        <p:nvSpPr>
          <p:cNvPr id="10" name="Rectangle 9"/>
          <p:cNvSpPr/>
          <p:nvPr/>
        </p:nvSpPr>
        <p:spPr>
          <a:xfrm>
            <a:off x="0" y="0"/>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6720747"/>
            <a:ext cx="9144000" cy="164637"/>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66773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ko-KR" dirty="0"/>
              <a:t>Next Week Lecture</a:t>
            </a:r>
            <a:endParaRPr lang="ko-KR" altLang="en-US" dirty="0"/>
          </a:p>
        </p:txBody>
      </p:sp>
      <p:sp>
        <p:nvSpPr>
          <p:cNvPr id="2" name="Content Placeholder 1"/>
          <p:cNvSpPr>
            <a:spLocks noGrp="1"/>
          </p:cNvSpPr>
          <p:nvPr>
            <p:ph idx="1"/>
          </p:nvPr>
        </p:nvSpPr>
        <p:spPr>
          <a:xfrm>
            <a:off x="1763688" y="1268760"/>
            <a:ext cx="6912768" cy="614197"/>
          </a:xfrm>
        </p:spPr>
        <p:txBody>
          <a:bodyPr/>
          <a:lstStyle/>
          <a:p>
            <a:pPr latinLnBrk="0">
              <a:spcBef>
                <a:spcPts val="0"/>
              </a:spcBef>
              <a:defRPr/>
            </a:pPr>
            <a:r>
              <a:rPr lang="en-US" dirty="0">
                <a:solidFill>
                  <a:schemeClr val="tx1"/>
                </a:solidFill>
                <a:latin typeface="Bookman Old Style" pitchFamily="18" charset="0"/>
                <a:ea typeface="Calibri"/>
                <a:cs typeface="Cambria"/>
              </a:rPr>
              <a:t>Inheritance, Method Overriding and Polymorphism </a:t>
            </a:r>
          </a:p>
        </p:txBody>
      </p:sp>
      <p:sp>
        <p:nvSpPr>
          <p:cNvPr id="6" name="Title 2"/>
          <p:cNvSpPr txBox="1">
            <a:spLocks/>
          </p:cNvSpPr>
          <p:nvPr/>
        </p:nvSpPr>
        <p:spPr>
          <a:xfrm>
            <a:off x="5850396" y="5778104"/>
            <a:ext cx="3762164" cy="1179288"/>
          </a:xfrm>
          <a:prstGeom prst="rect">
            <a:avLst/>
          </a:prstGeom>
        </p:spPr>
        <p:txBody>
          <a:bodyPr anchor="ctr"/>
          <a:lstStyle>
            <a:lvl1pPr algn="l" defTabSz="914400" rtl="0" eaLnBrk="1" latinLnBrk="1" hangingPunct="1">
              <a:spcBef>
                <a:spcPct val="0"/>
              </a:spcBef>
              <a:buNone/>
              <a:defRPr sz="3600" b="1" kern="1200">
                <a:solidFill>
                  <a:schemeClr val="tx1">
                    <a:lumMod val="75000"/>
                    <a:lumOff val="25000"/>
                  </a:schemeClr>
                </a:solidFill>
                <a:latin typeface="Arial" pitchFamily="34" charset="0"/>
                <a:ea typeface="+mj-ea"/>
                <a:cs typeface="Arial" pitchFamily="34" charset="0"/>
              </a:defRPr>
            </a:lvl1pPr>
          </a:lstStyle>
          <a:p>
            <a:pPr algn="ctr"/>
            <a:r>
              <a:rPr lang="en-US" altLang="ko-KR" sz="3200" dirty="0"/>
              <a:t>Thank you!</a:t>
            </a:r>
            <a:endParaRPr lang="ko-KR" altLang="en-US" sz="3200" dirty="0"/>
          </a:p>
        </p:txBody>
      </p:sp>
    </p:spTree>
    <p:extLst>
      <p:ext uri="{BB962C8B-B14F-4D97-AF65-F5344CB8AC3E}">
        <p14:creationId xmlns:p14="http://schemas.microsoft.com/office/powerpoint/2010/main" val="97910761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32400</TotalTime>
  <Words>3431</Words>
  <Application>Microsoft Office PowerPoint</Application>
  <PresentationFormat>On-screen Show (4:3)</PresentationFormat>
  <Paragraphs>516</Paragraphs>
  <Slides>42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Bookman Old Style</vt:lpstr>
      <vt:lpstr>Calibri</vt:lpstr>
      <vt:lpstr>Rockwell</vt:lpstr>
      <vt:lpstr>Wingdings</vt:lpstr>
      <vt:lpstr>Custom Design</vt:lpstr>
      <vt:lpstr>PowerPoint Presentation</vt:lpstr>
      <vt:lpstr>  Classes, A Closer Look at Methods and Classes</vt:lpstr>
      <vt:lpstr>Outline of Class</vt:lpstr>
      <vt:lpstr>Introduction to Class</vt:lpstr>
      <vt:lpstr>Why Use Classes?</vt:lpstr>
      <vt:lpstr>Why Use Classes?</vt:lpstr>
      <vt:lpstr>Defining Classes</vt:lpstr>
      <vt:lpstr>Constructors- Creating Objects</vt:lpstr>
      <vt:lpstr>Constructors</vt:lpstr>
      <vt:lpstr>Accessing an Object’s Data and Methods</vt:lpstr>
      <vt:lpstr>PowerPoint Presentation</vt:lpstr>
      <vt:lpstr>A closer look at new</vt:lpstr>
      <vt:lpstr>Assigning Object Reference Variables</vt:lpstr>
      <vt:lpstr>PowerPoint Presentation</vt:lpstr>
      <vt:lpstr>PowerPoint Presentation</vt:lpstr>
      <vt:lpstr>Introducing Methods</vt:lpstr>
      <vt:lpstr>PowerPoint Presentation</vt:lpstr>
      <vt:lpstr>PowerPoint Presentation</vt:lpstr>
      <vt:lpstr>Static Variables, Constants, and Methods</vt:lpstr>
      <vt:lpstr>Static Variables, Constants, and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‘this’ Keyword</vt:lpstr>
      <vt:lpstr>PowerPoint Presentation</vt:lpstr>
      <vt:lpstr>PowerPoint Presentation</vt:lpstr>
      <vt:lpstr>Method Overloading</vt:lpstr>
      <vt:lpstr>Argument Passing</vt:lpstr>
      <vt:lpstr>PowerPoint Presentation</vt:lpstr>
      <vt:lpstr>PowerPoint Presentation</vt:lpstr>
      <vt:lpstr>Returning Objects</vt:lpstr>
      <vt:lpstr>Recursion</vt:lpstr>
      <vt:lpstr>PowerPoint Presentation</vt:lpstr>
      <vt:lpstr>Nested and Inner Classes</vt:lpstr>
      <vt:lpstr>PowerPoint Presentation</vt:lpstr>
      <vt:lpstr>PowerPoint Presentation</vt:lpstr>
      <vt:lpstr>Next Week Lecture</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Khaing Zar Myint Aung</cp:lastModifiedBy>
  <cp:revision>196</cp:revision>
  <dcterms:created xsi:type="dcterms:W3CDTF">2014-04-01T16:27:38Z</dcterms:created>
  <dcterms:modified xsi:type="dcterms:W3CDTF">2026-06-15T13:09:31Z</dcterms:modified>
</cp:coreProperties>
</file>