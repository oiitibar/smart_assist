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408" r:id="rId2"/>
    <p:sldId id="409" r:id="rId3"/>
    <p:sldId id="390" r:id="rId4"/>
    <p:sldId id="406" r:id="rId5"/>
    <p:sldId id="404" r:id="rId6"/>
    <p:sldId id="393" r:id="rId7"/>
    <p:sldId id="407" r:id="rId8"/>
    <p:sldId id="394" r:id="rId9"/>
    <p:sldId id="395" r:id="rId10"/>
    <p:sldId id="396" r:id="rId11"/>
    <p:sldId id="397" r:id="rId12"/>
    <p:sldId id="40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37E43-B0BB-4DE2-8CED-17C1F65A2C65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FEF8D-D13B-4084-8AEC-00802CC66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5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DF8F5-4621-F0AD-122D-90BEBFA2F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846BB-B68D-B524-E8B6-D033619B7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580C5-3249-1C2C-6D8F-01B99901A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78200" y="6516687"/>
            <a:ext cx="5112434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C5245-BF9B-4EF7-AD6D-BE19FC01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03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B002D-9FE5-A769-8558-4F6E5477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0B782-F73E-961B-DF36-D04E3EFFC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4580B-0614-37F6-FDB9-2A0A965B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54609-F7EE-854B-8736-61A72A47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33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2C718-D449-65F4-D5DC-1025B83A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30DE2-1F7F-854E-DE26-6E145E0E3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1A0F6-2617-28B4-6C6C-340B8032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3229A-F631-95D5-C56B-F2DE1C34D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6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67CF2-9EDE-75F5-0FDE-11BA89CD8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5BB62-F41F-337E-277E-CE5F8DFBF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0A410-BA52-D7DD-D3F9-427B2F82A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482B9-8EB8-63CD-ABBF-5FBF1B035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0A9D7-B5B9-527A-3723-FB3DEBDE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82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41763-4BF6-A29D-34BB-1A9C5F62C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FDCF2-1ED3-B308-2F63-22D30531F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87794-9C3A-0FBE-367A-794D14FD1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FF0A52-5028-B5E1-8A9B-EEDF49DC7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8BA8B4-4FAE-EC95-7A26-3C560D909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C5EF49-2F9A-CE46-2F38-1E07AF30F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405E8-F536-E8C7-F0DB-2E938A1A5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88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33E9-647D-905B-71F9-36DB25411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A2B40B-F1A1-00F8-F337-612DB8A27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8B340B-88B6-9162-0D04-62424525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72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041A32-B060-F417-9693-A26B07FF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30158-4DC7-E097-CD45-9178094B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79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F8AE1-B571-57F9-3F73-25BB71A68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9E2BA-86BD-CB46-30DA-0A06FE5AA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7F2A4-2C8A-9362-D2CD-8C79A634B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A81F9-9CB6-4BA0-920B-82D2F2C2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610C7-3D03-7E0E-1123-6953E6939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32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6430-2E6C-FD9E-1082-09C4F539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CCB355-ACBC-34E6-30E5-E7AF74AE2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2CCFF-00D6-83D4-6514-421831A74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9C529-60A8-4689-C9E6-62CDE71E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F054B-8B01-FBE9-E987-FE835417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69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AC306-E58A-5F4A-E21D-B9D92452E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49132-56DE-43ED-D391-93B373C89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9D35D-348C-A669-8F44-D78F5D8C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358E4-1943-4249-AA27-5FFF64DF9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1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C6EEF-6B0C-F3A5-DE09-83BE035D8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BE8D5-C0EE-FB85-1000-00F373615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39275-18CF-790D-D381-2CF5B192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BBF2E-43A2-92BE-6F07-C72067409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96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75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CD726-978C-2999-932E-DDFFD61B1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A0EB4-880F-D68B-2534-9E21B72C7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9C0B1-EA60-DB6A-C2E1-283877053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21834" y="653891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Equations II </a:t>
            </a:r>
            <a:r>
              <a:rPr lang="en-US" dirty="0"/>
              <a:t>(EM-32006)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2CEB1-0130-DBF9-4A32-9F15C9842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2" y="64906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9560457-9E56-4EE8-84E0-8F9CFD0ABA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E23D30-B1E0-D419-E585-4A6354467E81}"/>
              </a:ext>
            </a:extLst>
          </p:cNvPr>
          <p:cNvSpPr/>
          <p:nvPr userDrawn="1"/>
        </p:nvSpPr>
        <p:spPr>
          <a:xfrm>
            <a:off x="297766" y="291588"/>
            <a:ext cx="11596468" cy="62466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4DE399-E715-465A-AD9C-432FC7D08DD6}"/>
              </a:ext>
            </a:extLst>
          </p:cNvPr>
          <p:cNvSpPr/>
          <p:nvPr userDrawn="1"/>
        </p:nvSpPr>
        <p:spPr>
          <a:xfrm>
            <a:off x="3507922" y="2080752"/>
            <a:ext cx="5102680" cy="24006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50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NSPU</a:t>
            </a:r>
          </a:p>
        </p:txBody>
      </p:sp>
    </p:spTree>
    <p:extLst>
      <p:ext uri="{BB962C8B-B14F-4D97-AF65-F5344CB8AC3E}">
        <p14:creationId xmlns:p14="http://schemas.microsoft.com/office/powerpoint/2010/main" val="393625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46726"/>
            <a:ext cx="12192000" cy="6904725"/>
          </a:xfrm>
          <a:prstGeom prst="rect">
            <a:avLst/>
          </a:prstGeom>
          <a:noFill/>
          <a:ln w="3175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3"/>
          <p:cNvSpPr txBox="1"/>
          <p:nvPr/>
        </p:nvSpPr>
        <p:spPr>
          <a:xfrm>
            <a:off x="723578" y="960951"/>
            <a:ext cx="10144690" cy="256539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NAYPYITAW STATE POLYTECHNIC UNIVERSITY(NSPU)</a:t>
            </a:r>
          </a:p>
          <a:p>
            <a:pPr>
              <a:lnSpc>
                <a:spcPct val="150000"/>
              </a:lnSpc>
            </a:pPr>
            <a:endParaRPr lang="en-US" sz="112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1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Computational Mathematics</a:t>
            </a:r>
            <a:br>
              <a:rPr lang="en-US" sz="9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2025-2026</a:t>
            </a:r>
          </a:p>
          <a:p>
            <a:pPr>
              <a:lnSpc>
                <a:spcPct val="150000"/>
              </a:lnSpc>
            </a:pPr>
            <a:endParaRPr lang="en-US" sz="98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828316" y="6621488"/>
            <a:ext cx="2743200" cy="365125"/>
          </a:xfrm>
        </p:spPr>
        <p:txBody>
          <a:bodyPr/>
          <a:lstStyle/>
          <a:p>
            <a:fld id="{39560457-9E56-4EE8-84E0-8F9CFD0ABA54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470330" y="3074385"/>
            <a:ext cx="902057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Mathematics IV</a:t>
            </a:r>
          </a:p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(Fourier Analysis and Complex Analysis)</a:t>
            </a:r>
          </a:p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(EM-4012)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4820" y="495080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Aye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Email:soesandaraye1986@gmail.com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505" y="323849"/>
            <a:ext cx="1251375" cy="1196725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72BB46EB-789E-4E48-A769-788C09777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1159"/>
            <a:ext cx="10515600" cy="13639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Fourier Series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2</a:t>
            </a:fld>
            <a:endParaRPr lang="en-US"/>
          </a:p>
        </p:txBody>
      </p:sp>
      <p:sp>
        <p:nvSpPr>
          <p:cNvPr id="6" name="Title 5"/>
          <p:cNvSpPr txBox="1">
            <a:spLocks noGrp="1"/>
          </p:cNvSpPr>
          <p:nvPr>
            <p:ph type="title"/>
          </p:nvPr>
        </p:nvSpPr>
        <p:spPr>
          <a:xfrm>
            <a:off x="838200" y="732441"/>
            <a:ext cx="1051560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Contents,</a:t>
            </a:r>
          </a:p>
        </p:txBody>
      </p:sp>
      <p:sp>
        <p:nvSpPr>
          <p:cNvPr id="2" name="Content Placeholder 2"/>
          <p:cNvSpPr>
            <a:spLocks noGrp="1"/>
          </p:cNvSpPr>
          <p:nvPr/>
        </p:nvSpPr>
        <p:spPr>
          <a:xfrm>
            <a:off x="734060" y="3067685"/>
            <a:ext cx="10515600" cy="30578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Objectives,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Fourier Series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apply problems by Theory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solve problems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by Theory 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9BE4FEF8-909C-4DE9-AF8A-B10AB104E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5A2354-E8A0-7168-0F16-013F792AD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5D16206-9234-2966-AC91-7181FB572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8056" y="335871"/>
                <a:ext cx="11326402" cy="614801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600" b="1" dirty="0">
                    <a:solidFill>
                      <a:srgbClr val="0070C0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:r>
                  <a:rPr lang="en-US" sz="33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Fourier Series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Fourier series are infinite series that represent periodic functions in terms of cosines and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sines.</a:t>
                </a:r>
                <a:r>
                  <a:rPr lang="en-US" dirty="0"/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such, Fourier series are of greatest importance to the engineer and applied mathematician.</a:t>
                </a:r>
                <a:endPara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function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called a periodic function 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defined for all real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except possibly at some points, and if there is some positive number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called a 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such that 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		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,     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/>
                      </a:rPr>
                      <m:t>𝑓𝑜𝑟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/>
                      </a:rPr>
                      <m:t>𝑎𝑙𝑙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------( 1)</a:t>
                </a:r>
              </a:p>
              <a:p>
                <a:pPr marL="285750" lvl="0" indent="-285750">
                  <a:buFont typeface="Wingdings" pitchFamily="2" charset="2"/>
                  <a:buChar char="Ø"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has period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it also that has the period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2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because (1) implies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𝑝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𝑝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)+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𝑝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𝑒𝑡𝑐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;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for any integer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𝑛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=1,2,3,….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∴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𝑛𝑝</m:t>
                        </m:r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 ,  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𝑓𝑜𝑟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𝑎𝑙𝑙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------(2)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5D16206-9234-2966-AC91-7181FB572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8056" y="335871"/>
                <a:ext cx="11326402" cy="6148015"/>
              </a:xfrm>
              <a:blipFill>
                <a:blip r:embed="rId2"/>
                <a:stretch>
                  <a:fillRect l="-807" t="-1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CC1849E-B6C0-47A6-8522-AC57458F2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05646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5A2354-E8A0-7168-0F16-013F792AD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CA7F82-00EA-45EE-B850-D9FB8C434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054" y="561988"/>
            <a:ext cx="8564170" cy="321488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7316418-D5F8-4D78-93A0-863B708B8644}"/>
              </a:ext>
            </a:extLst>
          </p:cNvPr>
          <p:cNvSpPr/>
          <p:nvPr/>
        </p:nvSpPr>
        <p:spPr>
          <a:xfrm>
            <a:off x="354496" y="4259422"/>
            <a:ext cx="105421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 of a periodic function has the characteristic that it can be obtained by periodic repetition of its graph in any interval of length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(Fig. 258).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9A18229-BAB4-47FD-AF92-C4D89FDF5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41385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5A2354-E8A0-7168-0F16-013F792AD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00935FD-52F5-471B-B7EC-514976CA973F}"/>
                  </a:ext>
                </a:extLst>
              </p:cNvPr>
              <p:cNvSpPr/>
              <p:nvPr/>
            </p:nvSpPr>
            <p:spPr>
              <a:xfrm>
                <a:off x="354495" y="326120"/>
                <a:ext cx="11592340" cy="51706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Notes: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The smallest positive period is often called the fundamental period.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Familiar periodic functions are the cosine, sine, tangent, and cotangent. Examples of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functions that are not periodic are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cosh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𝑎𝑛𝑑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𝑙𝑛𝑥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</m:e>
                    </m:func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𝑓</m:t>
                    </m:r>
                    <m:r>
                      <a:rPr lang="en-US" sz="2400" i="1">
                        <a:latin typeface="Cambria Math"/>
                      </a:rPr>
                      <m:t>(</m:t>
                    </m:r>
                    <m:r>
                      <a:rPr lang="en-US" sz="2400" i="1">
                        <a:latin typeface="Cambria Math"/>
                      </a:rPr>
                      <m:t>𝑥</m:t>
                    </m:r>
                    <m:r>
                      <a:rPr lang="en-US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𝑔</m:t>
                    </m:r>
                    <m:r>
                      <a:rPr lang="en-US" sz="2400" i="1">
                        <a:latin typeface="Cambria Math"/>
                      </a:rPr>
                      <m:t>(</m:t>
                    </m:r>
                    <m:r>
                      <a:rPr lang="en-US" sz="2400" i="1">
                        <a:latin typeface="Cambria Math"/>
                      </a:rPr>
                      <m:t>𝑥</m:t>
                    </m:r>
                    <m:r>
                      <a:rPr lang="en-US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have period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𝑝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𝑎𝑓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i="1">
                        <a:latin typeface="Cambria Math"/>
                      </a:rPr>
                      <m:t>𝑏𝑔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any constants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𝑎</m:t>
                    </m:r>
                    <m:r>
                      <a:rPr lang="en-US" sz="2400" i="1">
                        <a:latin typeface="Cambria Math"/>
                      </a:rPr>
                      <m:t> </m:t>
                    </m:r>
                    <m:r>
                      <a:rPr lang="en-US" sz="2400" i="1">
                        <a:latin typeface="Cambria Math"/>
                      </a:rPr>
                      <m:t>𝑎𝑛𝑑</m:t>
                    </m:r>
                    <m:r>
                      <a:rPr lang="en-US" sz="2400" i="1">
                        <a:latin typeface="Cambria Math"/>
                      </a:rPr>
                      <m:t> </m:t>
                    </m:r>
                    <m:r>
                      <a:rPr lang="en-US" sz="2400" i="1">
                        <a:latin typeface="Cambria Math"/>
                      </a:rPr>
                      <m:t>𝑏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also has the period p.</a:t>
                </a:r>
              </a:p>
              <a:p>
                <a:pPr lvl="0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4.Functions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period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2</m:t>
                    </m:r>
                    <m:r>
                      <a:rPr lang="en-US" sz="2400" i="1">
                        <a:latin typeface="Cambria Math"/>
                      </a:rPr>
                      <m:t>𝜋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terms of the simple functions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1,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US" sz="2400" i="1">
                          <a:latin typeface="Cambria Math"/>
                        </a:rPr>
                        <m:t>,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US" sz="2400" i="1">
                          <a:latin typeface="Cambria Math"/>
                        </a:rPr>
                        <m:t>,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US" sz="2400" i="1">
                          <a:latin typeface="Cambria Math"/>
                        </a:rPr>
                        <m:t>,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US" sz="2400" i="1">
                          <a:latin typeface="Cambria Math"/>
                        </a:rPr>
                        <m:t>,…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US" sz="2400" i="1">
                              <a:latin typeface="Cambria Math"/>
                            </a:rPr>
                            <m:t>𝑛𝑥</m:t>
                          </m:r>
                        </m:e>
                      </m:func>
                      <m:r>
                        <a:rPr lang="en-US" sz="2400" i="1">
                          <a:latin typeface="Cambria Math"/>
                        </a:rPr>
                        <m:t>,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US" sz="2400" i="1">
                              <a:latin typeface="Cambria Math"/>
                            </a:rPr>
                            <m:t>𝑛𝑥</m:t>
                          </m:r>
                        </m:e>
                      </m:func>
                      <m:r>
                        <a:rPr lang="en-US" sz="2400" i="1">
                          <a:latin typeface="Cambria Math"/>
                        </a:rPr>
                        <m:t>,…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All these functions have the period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2</m:t>
                    </m:r>
                    <m:r>
                      <a:rPr lang="en-US" sz="2400" i="1">
                        <a:latin typeface="Cambria Math"/>
                      </a:rPr>
                      <m:t>𝜋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They form the so- called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trigonometric system.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00935FD-52F5-471B-B7EC-514976CA97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95" y="326120"/>
                <a:ext cx="11592340" cy="5170646"/>
              </a:xfrm>
              <a:prstGeom prst="rect">
                <a:avLst/>
              </a:prstGeom>
              <a:blipFill>
                <a:blip r:embed="rId2"/>
                <a:stretch>
                  <a:fillRect l="-789" t="-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4246488-F5A9-46B2-9D92-4BFDC00D2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34910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6A0167-0AF9-ED15-4314-94EA649E4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6CAD6-7937-4E3E-7588-A0C7BD35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0A37F2C-268C-FCFC-5233-A13CC299D9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033" y="648685"/>
            <a:ext cx="4406436" cy="23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BE2E2E6D-421C-AEDF-6244-797F38C35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574" y="477078"/>
            <a:ext cx="5512904" cy="23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8DD4103-98C0-4B04-B5CE-C8643F087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0461" y="4013698"/>
            <a:ext cx="5019260" cy="202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16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693AEA-5D78-4B24-8830-1F8EEBD6F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7C00E7E-A40A-4073-BECE-F1FEF735F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18" y="715134"/>
            <a:ext cx="4865334" cy="2326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15981B29-F84B-4751-A297-95E769BBE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083" y="832820"/>
            <a:ext cx="4399719" cy="2326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0C97DB-8519-43B1-A927-0FF58B3AE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488" y="3159060"/>
            <a:ext cx="4601816" cy="21555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60FA35-EBE4-48E6-A046-F48FCDCF52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8337" y="5327505"/>
            <a:ext cx="9168824" cy="1047528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F30FD53A-DBC0-437B-93D7-D91889192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37432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5CF06D-4939-051F-74DE-2DBB3A6C2F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4492" y="397516"/>
                <a:ext cx="11583256" cy="60931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Fourier coefficients of </a:t>
                </a:r>
                <a14:m>
                  <m:oMath xmlns:m="http://schemas.openxmlformats.org/officeDocument/2006/math">
                    <m:r>
                      <a:rPr lang="en-US" sz="2600" b="1" i="1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sz="2600" b="1" i="1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  <m:r>
                      <a:rPr lang="en-US" sz="2600" b="1" i="1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given by the Euler Formulas</a:t>
                </a:r>
                <a:endParaRPr lang="en-US" sz="2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6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6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den>
                    </m:f>
                    <m:nary>
                      <m:naryPr>
                        <m:limLoc m:val="subSup"/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sub>
                      <m:sup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sup>
                      <m:e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𝑑𝑥</m:t>
                        </m:r>
                      </m:e>
                    </m:nary>
                  </m:oMath>
                </a14:m>
                <a:endParaRPr lang="en-US" sz="2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6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sub>
                        <m:sup>
                          <m:r>
                            <a:rPr lang="en-US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sup>
                        <m:e>
                          <m:r>
                            <a:rPr lang="en-US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6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𝑛𝑥</m:t>
                              </m:r>
                            </m:e>
                          </m:func>
                          <m:r>
                            <a:rPr lang="en-US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600" i="1">
                          <a:solidFill>
                            <a:schemeClr val="tx1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2600" i="1">
                          <a:solidFill>
                            <a:schemeClr val="tx1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sz="2600" i="1">
                          <a:solidFill>
                            <a:schemeClr val="tx1"/>
                          </a:solidFill>
                          <a:latin typeface="Cambria Math"/>
                        </a:rPr>
                        <m:t>=1,2,…</m:t>
                      </m:r>
                    </m:oMath>
                  </m:oMathPara>
                </a14:m>
                <a:endParaRPr lang="en-US" sz="2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6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sub>
                        <m:sup>
                          <m:r>
                            <a:rPr lang="en-US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sup>
                        <m:e>
                          <m:r>
                            <a:rPr lang="en-US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6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6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𝑛𝑥</m:t>
                              </m:r>
                            </m:e>
                          </m:func>
                          <m:r>
                            <a:rPr lang="en-US" sz="2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600" i="1">
                          <a:solidFill>
                            <a:schemeClr val="tx1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600" i="1">
                          <a:solidFill>
                            <a:schemeClr val="tx1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sz="2600" i="1">
                          <a:solidFill>
                            <a:schemeClr val="tx1"/>
                          </a:solidFill>
                          <a:latin typeface="Cambria Math"/>
                        </a:rPr>
                        <m:t>=1,2,…</m:t>
                      </m:r>
                    </m:oMath>
                  </m:oMathPara>
                </a14:m>
                <a:endParaRPr lang="en-US" sz="2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Fourier series for period </a:t>
                </a:r>
                <a14:m>
                  <m:oMath xmlns:m="http://schemas.openxmlformats.org/officeDocument/2006/math">
                    <m:r>
                      <a:rPr lang="en-US" sz="2600" i="1">
                        <a:solidFill>
                          <a:schemeClr val="tx1"/>
                        </a:solidFill>
                        <a:latin typeface="Cambria Math"/>
                      </a:rPr>
                      <m:t>𝑝</m:t>
                    </m:r>
                    <m:r>
                      <a:rPr lang="en-US" sz="2600" i="1">
                        <a:solidFill>
                          <a:schemeClr val="tx1"/>
                        </a:solidFill>
                        <a:latin typeface="Cambria Math"/>
                      </a:rPr>
                      <m:t>=2</m:t>
                    </m:r>
                    <m:r>
                      <a:rPr lang="en-US" sz="2600" i="1">
                        <a:solidFill>
                          <a:schemeClr val="tx1"/>
                        </a:solidFill>
                        <a:latin typeface="Cambria Math"/>
                      </a:rPr>
                      <m:t>𝜋</m:t>
                    </m:r>
                  </m:oMath>
                </a14:m>
                <a:r>
                  <a:rPr lang="en-US" sz="2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6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600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sz="2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60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26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𝑛𝑥</m:t>
                                  </m:r>
                                </m:e>
                              </m:func>
                              <m:r>
                                <a:rPr lang="en-US" sz="26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2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60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26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𝑛𝑥</m:t>
                                  </m:r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en-US" sz="2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5CF06D-4939-051F-74DE-2DBB3A6C2F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4492" y="397516"/>
                <a:ext cx="11583256" cy="6093135"/>
              </a:xfrm>
              <a:blipFill>
                <a:blip r:embed="rId2"/>
                <a:stretch>
                  <a:fillRect l="-947" t="-1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008599-DD2E-A7FA-6DBA-B4A6E9679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8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E93F1636-4DDD-4C3A-8C3B-6D122A4C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71822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913CB3-DCBC-19D3-C1D8-EE2FECAC22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8056" y="448888"/>
                <a:ext cx="11408596" cy="595191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1 Periodic Rectangular Wave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ourier coefficients of the periodic function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figure.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formula is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𝑘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, 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𝑖𝑓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&lt;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&lt;0  </m:t>
                            </m:r>
                          </m:e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𝑘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𝑖𝑓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0&lt;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&lt;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+2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𝑘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, 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𝑖𝑓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&lt;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&lt;0  </m:t>
                            </m:r>
                          </m:e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𝑘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𝑖𝑓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0&lt;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&lt;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e>
                        </m:eqArr>
                      </m:e>
                    </m:d>
                  </m:oMath>
                </a14:m>
                <a:endParaRPr lang="en-US" sz="2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+2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∴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𝑝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=2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𝜋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limLoc m:val="subSup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0</m:t>
                            </m:r>
                          </m:sup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𝑘𝑑𝑥</m:t>
                            </m:r>
                          </m:e>
                        </m:nary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+</m:t>
                        </m:r>
                        <m:nary>
                          <m:naryPr>
                            <m:limLoc m:val="subSup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sup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𝑘𝑑𝑥</m:t>
                            </m:r>
                          </m:e>
                        </m:nary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𝑘𝑥</m:t>
                            </m:r>
                          </m:e>
                        </m:d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e>
                          </m:mr>
                        </m: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+</m:t>
                        </m:r>
                        <m:d>
                          <m:dPr>
                            <m:begChr m:val=""/>
                            <m:endChr m:val="⌋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𝑘𝑥</m:t>
                            </m:r>
                          </m:e>
                        </m:d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∴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913CB3-DCBC-19D3-C1D8-EE2FECAC22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8056" y="448888"/>
                <a:ext cx="11408596" cy="5951912"/>
              </a:xfrm>
              <a:blipFill>
                <a:blip r:embed="rId2"/>
                <a:stretch>
                  <a:fillRect l="-801" t="-1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35381-5956-5FC9-A584-8546AC765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2" y="6490652"/>
            <a:ext cx="2743200" cy="365125"/>
          </a:xfrm>
        </p:spPr>
        <p:txBody>
          <a:bodyPr/>
          <a:lstStyle/>
          <a:p>
            <a:fld id="{39560457-9E56-4EE8-84E0-8F9CFD0ABA54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981C0A-75A5-444A-AFC1-C7A0667BA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817" y="2376426"/>
            <a:ext cx="3696503" cy="2562583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512347B2-8822-430C-B609-50F057C48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44718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071643-158B-3279-4107-7F99DD3C17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6411" y="397517"/>
                <a:ext cx="11449692" cy="608637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𝑛𝑥</m:t>
                              </m:r>
                            </m:e>
                          </m:func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=1,2,…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limLoc m:val="subSup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0</m:t>
                            </m:r>
                          </m:sup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𝑘</m:t>
                            </m:r>
                            <m:func>
                              <m:func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𝑛𝑥</m:t>
                                </m:r>
                              </m:e>
                            </m:func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𝑑𝑥</m:t>
                            </m:r>
                          </m:e>
                        </m:nary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+</m:t>
                        </m:r>
                        <m:nary>
                          <m:naryPr>
                            <m:limLoc m:val="subSup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sup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𝑘</m:t>
                            </m:r>
                            <m:func>
                              <m:func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𝑛𝑥</m:t>
                                </m:r>
                              </m:e>
                            </m:func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𝑑𝑥</m:t>
                            </m:r>
                          </m:e>
                        </m:nary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𝑘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𝑛𝑥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e>
                          </m:mr>
                        </m: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+</m:t>
                        </m:r>
                        <m:d>
                          <m:dPr>
                            <m:begChr m:val=""/>
                            <m:endChr m:val="⌋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𝑛𝑥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∴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𝑛𝑥</m:t>
                              </m:r>
                            </m:e>
                          </m:func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𝑑𝑥</m:t>
                          </m:r>
                        </m:e>
                      </m:nary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=1,2,…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limLoc m:val="subSup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0</m:t>
                            </m:r>
                          </m:sup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𝑘</m:t>
                            </m:r>
                            <m:func>
                              <m:func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𝑛𝑥</m:t>
                                </m:r>
                              </m:e>
                            </m:func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𝑑𝑥</m:t>
                            </m:r>
                          </m:e>
                        </m:nary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+</m:t>
                        </m:r>
                        <m:nary>
                          <m:naryPr>
                            <m:limLoc m:val="subSup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sup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𝑘</m:t>
                            </m:r>
                            <m:func>
                              <m:func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𝑛𝑥</m:t>
                                </m:r>
                              </m:e>
                            </m:func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𝑑𝑥</m:t>
                            </m:r>
                          </m:e>
                        </m:nary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𝑘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𝑛𝑥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e>
                          </m:mr>
                        </m: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d>
                          <m:dPr>
                            <m:begChr m:val=""/>
                            <m:endChr m:val="⌋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𝑛𝑥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𝑘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0</m:t>
                            </m:r>
                          </m:e>
                        </m:func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func>
                          <m:func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e>
                        </m:func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func>
                          <m:func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func>
                          </m:e>
                        </m:func>
                      </m:e>
                    </m:d>
                  </m:oMath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∴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071643-158B-3279-4107-7F99DD3C17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6411" y="397517"/>
                <a:ext cx="11449692" cy="608637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C2A3D-6745-86C7-6959-BBB7E1892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10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48D8DAF-39CF-40BF-9DFF-49BD23618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84985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B7F895-12E6-B0C7-6DC9-7291BE45D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137" y="397516"/>
                <a:ext cx="11542159" cy="60931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e>
                          </m:func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4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e>
                          </m:func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𝜋</m:t>
                              </m:r>
                            </m:e>
                          </m:func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4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𝑘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4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𝜋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1−</m:t>
                        </m:r>
                        <m:func>
                          <m:func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4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𝜋</m:t>
                            </m:r>
                          </m:e>
                        </m:func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=0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,………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ourier 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series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𝑛𝑥</m:t>
                                  </m:r>
                                </m:e>
                              </m:func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𝑛𝑥</m:t>
                                  </m:r>
                                </m:e>
                              </m:func>
                            </m:e>
                          </m:d>
                        </m:e>
                      </m:nary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4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𝜋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5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5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func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+…..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B7F895-12E6-B0C7-6DC9-7291BE45D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137" y="397516"/>
                <a:ext cx="11542159" cy="6093135"/>
              </a:xfrm>
              <a:blipFill>
                <a:blip r:embed="rId2"/>
                <a:stretch>
                  <a:fillRect l="-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43C56-6265-615C-CF4F-4B3E9A7FA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11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A7874FE-2404-45F3-9ACE-99032E12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5102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05E8B0-71DD-192B-BAB2-B089316D8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0457-9E56-4EE8-84E0-8F9CFD0ABA54}" type="slidenum">
              <a:rPr lang="en-US" smtClean="0"/>
              <a:t>12</a:t>
            </a:fld>
            <a:endParaRPr lang="en-US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1D5FA7BB-28D3-000F-9486-1F7C41005CE5}"/>
              </a:ext>
            </a:extLst>
          </p:cNvPr>
          <p:cNvSpPr txBox="1">
            <a:spLocks/>
          </p:cNvSpPr>
          <p:nvPr/>
        </p:nvSpPr>
        <p:spPr>
          <a:xfrm>
            <a:off x="3735144" y="1399719"/>
            <a:ext cx="5393391" cy="6306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A0D6E0-59BA-9F80-29B5-806062C99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66" y="1763965"/>
            <a:ext cx="2000528" cy="25244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139153-5E14-E658-7947-669471D23F83}"/>
                  </a:ext>
                </a:extLst>
              </p:cNvPr>
              <p:cNvSpPr txBox="1"/>
              <p:nvPr/>
            </p:nvSpPr>
            <p:spPr>
              <a:xfrm>
                <a:off x="2781372" y="2788413"/>
                <a:ext cx="10188391" cy="475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Advanced Engineering Mathematics, Erwin </a:t>
                </a:r>
                <a:r>
                  <a:rPr lang="en-US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Kreyszig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Edition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139153-5E14-E658-7947-669471D23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372" y="2788413"/>
                <a:ext cx="10188391" cy="475579"/>
              </a:xfrm>
              <a:prstGeom prst="rect">
                <a:avLst/>
              </a:prstGeom>
              <a:blipFill rotWithShape="0">
                <a:blip r:embed="rId3"/>
                <a:stretch>
                  <a:fillRect l="-778" t="-8974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7DA02EEF-0630-0C89-647C-51C8C0C5E10F}"/>
              </a:ext>
            </a:extLst>
          </p:cNvPr>
          <p:cNvSpPr/>
          <p:nvPr/>
        </p:nvSpPr>
        <p:spPr>
          <a:xfrm>
            <a:off x="9571264" y="4974507"/>
            <a:ext cx="2321858" cy="155916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Thank you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B71DFEF-441E-46B7-AC3A-76AB5AEB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3887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Analysis and Complex Analysis </a:t>
            </a:r>
            <a:r>
              <a:rPr lang="en-US" dirty="0"/>
              <a:t>(EM-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4012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24854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4">
      <a:dk1>
        <a:sysClr val="windowText" lastClr="000000"/>
      </a:dk1>
      <a:lt1>
        <a:sysClr val="window" lastClr="FFFFFF"/>
      </a:lt1>
      <a:dk2>
        <a:srgbClr val="212745"/>
      </a:dk2>
      <a:lt2>
        <a:srgbClr val="7030A0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</TotalTime>
  <Words>715</Words>
  <Application>Microsoft Office PowerPoint</Application>
  <PresentationFormat>Widescreen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Contents,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MATHS_DPRT</dc:creator>
  <cp:lastModifiedBy>Dell</cp:lastModifiedBy>
  <cp:revision>84</cp:revision>
  <dcterms:created xsi:type="dcterms:W3CDTF">2023-06-26T03:06:53Z</dcterms:created>
  <dcterms:modified xsi:type="dcterms:W3CDTF">2026-05-25T02:23:54Z</dcterms:modified>
</cp:coreProperties>
</file>