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4" r:id="rId3"/>
    <p:sldId id="257" r:id="rId4"/>
    <p:sldId id="258" r:id="rId5"/>
    <p:sldId id="259" r:id="rId6"/>
    <p:sldId id="267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828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670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6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7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6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83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72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1428929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64048D7A-414B-4D46-AC00-5D5F7061FE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48CD657A-614A-4176-A8E3-EB710254A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4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E6C8-1A38-4ACF-9C10-7E45C1A6F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33349"/>
            <a:ext cx="9418320" cy="280987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B  New places  1   Work with a partner. Discuss the questions.                                     PG 63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How do you usually decide where to go on holiday?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What do you use as your main source of information for holiday destinations?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Have you ever been on a holiday where you stopped in multiple locations?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036   Two friends are talking about a trip around Italy. Listen to their descriptions of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where  they went and match the place to the photos A-E.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Milan : ……………….               4    Naples: ……………………..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Bergamo : ……………….         5    Amalfi Coast ………………….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Pesaro : ………………….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98949-66EE-4AFE-B048-372277645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3038474"/>
            <a:ext cx="9418320" cy="3819525"/>
          </a:xfrm>
        </p:spPr>
        <p:txBody>
          <a:bodyPr/>
          <a:lstStyle/>
          <a:p>
            <a:pPr marL="457200" indent="-457200">
              <a:buAutoNum type="arabicPlain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1244E-AAC7-46F9-9D70-7408815FB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6" y="3114676"/>
            <a:ext cx="54292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30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5F345D-7CFF-4A5F-8864-A4D2238EB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390526"/>
            <a:ext cx="8595360" cy="5789612"/>
          </a:xfrm>
        </p:spPr>
        <p:txBody>
          <a:bodyPr>
            <a:normAutofit/>
          </a:bodyPr>
          <a:lstStyle/>
          <a:p>
            <a:pPr marL="457200" indent="-457200">
              <a:buAutoNum type="arabicPlain" startAt="3"/>
            </a:pPr>
            <a:r>
              <a:rPr lang="en-US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036   Listen again and answer the questions.             PG 63</a:t>
            </a:r>
          </a:p>
          <a:p>
            <a:pPr marL="457200" indent="-457200">
              <a:buAutoNum type="arabicPlain"/>
            </a:pP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was Katie disappointed with Milan?</a:t>
            </a:r>
          </a:p>
          <a:p>
            <a:pPr marL="457200" indent="-457200">
              <a:buAutoNum type="arabicPlain"/>
            </a:pP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she describe the two parts of Bergamo?</a:t>
            </a:r>
          </a:p>
          <a:p>
            <a:pPr marL="457200" indent="-457200">
              <a:buAutoNum type="arabicPlain"/>
            </a:pP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differences does Katie mention between the inercity trains and the regional trains?</a:t>
            </a:r>
          </a:p>
          <a:p>
            <a:pPr marL="457200" indent="-457200">
              <a:buAutoNum type="arabicPlain"/>
            </a:pP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did they choose Pesaro rather than Rimini for their next stop?</a:t>
            </a:r>
          </a:p>
          <a:p>
            <a:pPr marL="457200" indent="-457200">
              <a:buAutoNum type="arabicPlain"/>
            </a:pP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did they do in Pesaro?</a:t>
            </a:r>
          </a:p>
          <a:p>
            <a:pPr marL="457200" indent="-457200">
              <a:buAutoNum type="arabicPlain"/>
            </a:pP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advantages of Naples does Katie mention? </a:t>
            </a:r>
          </a:p>
          <a:p>
            <a:pPr marL="457200" indent="-457200">
              <a:buAutoNum type="arabicPlain" startAt="7"/>
            </a:pP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did they stay in Sorrento?   </a:t>
            </a:r>
          </a:p>
          <a:p>
            <a:pPr marL="457200" indent="-457200">
              <a:buAutoNum type="arabicPlain" startAt="7"/>
            </a:pP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Why did Katie buy her friend a present?</a:t>
            </a:r>
            <a:b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816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4F73-4D6D-44C8-AC9A-2F3004720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66675"/>
            <a:ext cx="10830687" cy="123825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Complete the sentences from the audio with the words in the box.                                              PG 63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DCF63-BBD7-4CD6-906A-189D5086D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66926"/>
            <a:ext cx="11296649" cy="479107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clearly a …………………. 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usiness city because it was really busy and incredibly expensive!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The old town up on the hill was really ………………… , with beautiful buildings and old squares.</a:t>
            </a:r>
          </a:p>
          <a:p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  The intercity trains are …………………. airconditioned, fast and clean.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  When you go on the small regional trains , they are pretty …………………. , like something from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the 1970s, and crammed full of people.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  It’s a bit ………………….and clearly not as well maintained as somewhere like Milan.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    It was also ………………… compared to the north .</a:t>
            </a:r>
          </a:p>
          <a:p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    It was my birthday while we were there , so we booked a really .................... 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 hotel in Sorrento.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    Places like Sorrento and the town of Amalfi are …………………… with tourists.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0BD697-CDE1-458E-B955-B37FAE44AB44}"/>
              </a:ext>
            </a:extLst>
          </p:cNvPr>
          <p:cNvSpPr/>
          <p:nvPr/>
        </p:nvSpPr>
        <p:spPr>
          <a:xfrm>
            <a:off x="628649" y="828674"/>
            <a:ext cx="5391151" cy="1114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bustling   dated    comparatively cheap      luxurious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quaint    scruffy     stated of the art     thriving    </a:t>
            </a:r>
          </a:p>
        </p:txBody>
      </p:sp>
    </p:spTree>
    <p:extLst>
      <p:ext uri="{BB962C8B-B14F-4D97-AF65-F5344CB8AC3E}">
        <p14:creationId xmlns:p14="http://schemas.microsoft.com/office/powerpoint/2010/main" val="111976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A61D-0F82-4ACE-8C9C-1A2B8778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66676"/>
            <a:ext cx="11029950" cy="1162049"/>
          </a:xfrm>
        </p:spPr>
        <p:txBody>
          <a:bodyPr>
            <a:normAutofit fontScale="90000"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Work with a partner. Describe places you have visited or hotels  you have stayed in. Use words from exercise 4.                                                                                                                      PG 63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A391B-510B-454C-AAFA-EB853BDA3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704850"/>
            <a:ext cx="10639425" cy="547528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 Work with a partner. Discuss the questions.                                                        PG 64                            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Do you ever take a guidebook on holiday? Why? / Why not?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Why do you think guidebooks are less popular nowadays?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Do you think there is a future for guidebooks? Why ? / Why not?</a:t>
            </a:r>
          </a:p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 Read the article. Does the author have the same opinions as you?</a:t>
            </a:r>
          </a:p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  Read the article again and answer the questions.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How did the financial crash affect the sales of guidebooks?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A081AC-FA05-42B7-A5F2-944D3CAC1C79}"/>
              </a:ext>
            </a:extLst>
          </p:cNvPr>
          <p:cNvSpPr/>
          <p:nvPr/>
        </p:nvSpPr>
        <p:spPr>
          <a:xfrm>
            <a:off x="200025" y="704850"/>
            <a:ext cx="3952875" cy="1028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stayed in a hotel in Munich.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clean but a bit dated.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EB40A5-AB4E-41A5-9E3F-DDF210619CDC}"/>
              </a:ext>
            </a:extLst>
          </p:cNvPr>
          <p:cNvSpPr/>
          <p:nvPr/>
        </p:nvSpPr>
        <p:spPr>
          <a:xfrm>
            <a:off x="4819650" y="847725"/>
            <a:ext cx="4714875" cy="1438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love Valencia. It’s the third largest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in Spain and is comparatively cheap compared to Madrid and Barcelona </a:t>
            </a:r>
          </a:p>
        </p:txBody>
      </p:sp>
    </p:spTree>
    <p:extLst>
      <p:ext uri="{BB962C8B-B14F-4D97-AF65-F5344CB8AC3E}">
        <p14:creationId xmlns:p14="http://schemas.microsoft.com/office/powerpoint/2010/main" val="513367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EBF1C-E81B-4857-8929-C3E28577D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14300"/>
            <a:ext cx="10773537" cy="1628775"/>
          </a:xfrm>
        </p:spPr>
        <p:txBody>
          <a:bodyPr>
            <a:normAutofit fontScale="90000"/>
          </a:bodyPr>
          <a:lstStyle/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Which two events seemed to suggest that the era of guidebooks was over?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PG 64</a:t>
            </a: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What aspects of modern life mean that it is surprising guidebooks are becoming popular again?</a:t>
            </a: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What reasons are given for people turning to guidebooks again?</a:t>
            </a: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What disadvantages is mentioned of using your phone for travel information?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6C26C-A24F-40E7-911A-D81007BBA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495425"/>
            <a:ext cx="9609582" cy="4684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  What future does the writer predict for e- readers?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  Why is the market for traditional paper guidebooks unlikely to grow further in the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future?</a:t>
            </a:r>
          </a:p>
          <a:p>
            <a:pPr marL="457200" indent="-457200">
              <a:buAutoNum type="arabicPlain" startAt="9"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with a partner. Discuss the questions.</a:t>
            </a:r>
          </a:p>
          <a:p>
            <a:pPr marL="457200" indent="-457200">
              <a:buAutoNum type="arabicPlain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you ever tried a digital detox? If so, what was the impact?</a:t>
            </a:r>
          </a:p>
          <a:p>
            <a:pPr marL="457200" indent="-457200">
              <a:buAutoNum type="arabicPlain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are on holiday, are you able to completely switch off from your work or studies? Why? / Why not?</a:t>
            </a:r>
          </a:p>
        </p:txBody>
      </p:sp>
    </p:spTree>
    <p:extLst>
      <p:ext uri="{BB962C8B-B14F-4D97-AF65-F5344CB8AC3E}">
        <p14:creationId xmlns:p14="http://schemas.microsoft.com/office/powerpoint/2010/main" val="359256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082328-996F-4268-BC71-C8E94D15A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1" y="0"/>
            <a:ext cx="4876799" cy="67341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28739F-9257-4D46-9A91-ED9DAD299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632" y="123825"/>
            <a:ext cx="4508543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3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4B23-C453-4008-B343-CFA5238E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0"/>
            <a:ext cx="10906125" cy="188594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Look at 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sentences from the article. Match each to a use in the grammar box.          Pg 65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 It has long been argued that guidebooks are dead.</a:t>
            </a: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  It appeared that the age of the guidebook was over.</a:t>
            </a: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  It is astonishing that, against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odds, guidebooks are actually starting to make a comeback.</a:t>
            </a:r>
            <a:b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   It’s hard to know exactly, but……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134FC-F894-40AA-A3EF-F1CB96C00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85949"/>
            <a:ext cx="9476232" cy="47096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   It’s forty years since the British company Rough Guides first launched its travel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guides aimed at budget travellers.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 : INTRODUCTORY        </a:t>
            </a: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     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PG 123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 it at the start of sentences:</a:t>
            </a:r>
          </a:p>
          <a:p>
            <a:pPr marL="457200" indent="-457200">
              <a:buAutoNum type="arabicPlain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talk about the weather, date, period of time, distance, etc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 it+be )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twenty 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kilometers from here to London.</a:t>
            </a:r>
          </a:p>
          <a:p>
            <a:pPr marL="457200" indent="-457200">
              <a:buAutoNum type="arabicPlain" startAt="2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show our opinion or emotions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it+be+ adjective+ clause): It’s unbelievable how 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easy global travel has become.</a:t>
            </a:r>
          </a:p>
          <a:p>
            <a:pPr marL="457200" indent="-457200">
              <a:buAutoNum type="arabicPlain" startAt="3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distance ourselves from evidence or to show what we understand from the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evidence ( it+ verb + clause): It seems that there was a combination of factors.</a:t>
            </a:r>
            <a:endParaRPr lang="en-US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33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6BF8-9D06-4D84-A1C3-70842D5E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76201"/>
            <a:ext cx="10840212" cy="160019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/>
              <a:t>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report the findings or opinion of others ( it+ be+ Past Participle + clause) : It has been           PG 65 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suggested that e-books might be the future.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  We also use it with a number of fixed expressions: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It’s no wonder ….                                It’s no coincidence ….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It’s easy to believe 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58740-B2F7-4CBA-A1AC-977FA9498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743075"/>
            <a:ext cx="10668000" cy="4038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  Complete the sentences with the words in the box. </a:t>
            </a:r>
          </a:p>
          <a:p>
            <a:endParaRPr 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It ………………… more humid every summer.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 It’s no ………………… that people took fewer foreign holidays as the pound became weaker.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  It has been ………………. that the country’s economy is too reliant on tourism.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  It’s ……………… how much tourism has increased in the last decade.</a:t>
            </a:r>
          </a:p>
          <a:p>
            <a:pPr marL="457200" indent="-457200">
              <a:buAutoNum type="arabicPlain" startAt="5"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................... to believe that 50 years ago this area was largely desert.</a:t>
            </a:r>
          </a:p>
          <a:p>
            <a:pPr marL="457200" indent="-457200">
              <a:buAutoNum type="arabicPlain" startAt="5"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……………… as if people’s travel habits are slowly changing.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51D882-EA7C-4448-8D1F-B82445D00F3F}"/>
              </a:ext>
            </a:extLst>
          </p:cNvPr>
          <p:cNvSpPr/>
          <p:nvPr/>
        </p:nvSpPr>
        <p:spPr>
          <a:xfrm>
            <a:off x="342900" y="2114551"/>
            <a:ext cx="5219700" cy="609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coincidence      gets        hard         seems</a:t>
            </a:r>
          </a:p>
          <a:p>
            <a:r>
              <a:rPr lang="en-US" dirty="0"/>
              <a:t>suggested        remarkable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2003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B9E98-A405-4EC9-B5C5-7820D340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0"/>
            <a:ext cx="10821162" cy="93344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  Complete the second sentence so it has a similar meaning to the first. Start with it and use the correct form of the word in brackets.                                                                                  PG 65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98B33-F15C-4C2F-A468-A93EF6DE1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019175"/>
            <a:ext cx="9638157" cy="6010274"/>
          </a:xfrm>
        </p:spPr>
        <p:txBody>
          <a:bodyPr>
            <a:normAutofit/>
          </a:bodyPr>
          <a:lstStyle/>
          <a:p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The hotel hasn’t had much money spent on it since we last stayed here.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……………………………… has been spent on the hotel since we last stayed 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here. (appears)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2    Some people think placing your elbows on the table while eating is rude.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………………………………… place your elbows on the table while eating.  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(consider)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3   They said that a number of flight companied may go bankrupt. 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……………………. that a number of flight companies may go bankrupt.      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(reported) 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4  I’m not surprised local people are protesting about the number of 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tourists.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…………………………….. local people are protesting about the number of tourists. (wonder)</a:t>
            </a:r>
          </a:p>
        </p:txBody>
      </p:sp>
    </p:spTree>
    <p:extLst>
      <p:ext uri="{BB962C8B-B14F-4D97-AF65-F5344CB8AC3E}">
        <p14:creationId xmlns:p14="http://schemas.microsoft.com/office/powerpoint/2010/main" val="141767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EFE9-4BA5-4D39-A805-7479B35B0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5726"/>
            <a:ext cx="9695307" cy="6619874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 I don’t like getting to the airport early as you just sit there waiting.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……………….. to the airport early as you just sit there waiting. (pointless)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  The flight lasts around eight hours.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………………….. flight. (about)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    Look at the ideas in the box and complete the sentences with your own ideas.</a:t>
            </a:r>
          </a:p>
          <a:p>
            <a:endParaRPr 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no wonder ………..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hard to know ………..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easy to believe …………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seems  as if …………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pointless …………..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     Work in pairs. Compare your sentences and discuss your ideas.</a:t>
            </a:r>
          </a:p>
          <a:p>
            <a:endParaRPr 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3394DC-9EE7-4909-9AA5-11399B48732C}"/>
              </a:ext>
            </a:extLst>
          </p:cNvPr>
          <p:cNvSpPr/>
          <p:nvPr/>
        </p:nvSpPr>
        <p:spPr>
          <a:xfrm>
            <a:off x="952500" y="2457450"/>
            <a:ext cx="5915025" cy="971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international travel      travel and the environment</a:t>
            </a:r>
          </a:p>
          <a:p>
            <a:pPr algn="ctr"/>
            <a:r>
              <a:rPr lang="en-US" dirty="0"/>
              <a:t>digital detox         space travel</a:t>
            </a:r>
          </a:p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4360568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D70D5E"/>
      </a:accent2>
      <a:accent3>
        <a:srgbClr val="98037E"/>
      </a:accent3>
      <a:accent4>
        <a:srgbClr val="68027D"/>
      </a:accent4>
      <a:accent5>
        <a:srgbClr val="095ACA"/>
      </a:accent5>
      <a:accent6>
        <a:srgbClr val="063597"/>
      </a:accent6>
      <a:hlink>
        <a:srgbClr val="17BBFD"/>
      </a:hlink>
      <a:folHlink>
        <a:srgbClr val="FF79C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23C5FE65-18CC-4A65-9EBC-B05E331504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1381</TotalTime>
  <Words>1301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Schoolbook</vt:lpstr>
      <vt:lpstr>Times New Roman</vt:lpstr>
      <vt:lpstr>Wingdings 2</vt:lpstr>
      <vt:lpstr>View</vt:lpstr>
      <vt:lpstr>6 B  New places  1   Work with a partner. Discuss the questions.                                     PG 63 1    How do you usually decide where to go on holiday? 2    What do you use as your main source of information for holiday destinations? 3    Have you ever been on a holiday where you stopped in multiple locations? 2    036   Two friends are talking about a trip around Italy. Listen to their descriptions of                  where  they went and match the place to the photos A-E. 1    Milan : ……………….               4    Naples: …………………….. 2    Bergamo : ……………….         5    Amalfi Coast …………………. 3    Pesaro : ………………….</vt:lpstr>
      <vt:lpstr>PowerPoint Presentation</vt:lpstr>
      <vt:lpstr>4   Complete the sentences from the audio with the words in the box.                                              PG 63    </vt:lpstr>
      <vt:lpstr>5   Work with a partner. Describe places you have visited or hotels  you have stayed in. Use words from exercise 4.                                                                                                                      PG 63 </vt:lpstr>
      <vt:lpstr>   2   Which two events seemed to suggest that the era of guidebooks was over?                                             PG 64 3   What aspects of modern life mean that it is surprising guidebooks are becoming popular again? 4    What reasons are given for people turning to guidebooks again? 5    What disadvantages is mentioned of using your phone for travel information?   </vt:lpstr>
      <vt:lpstr>PowerPoint Presentation</vt:lpstr>
      <vt:lpstr>10. Look at the sentences from the article. Match each to a use in the grammar box.          Pg 65 a    It has long been argued that guidebooks are dead. b    It appeared that the age of the guidebook was over. c    It is astonishing that, against the odds, guidebooks are actually starting to make a comeback. d    It’s hard to know exactly, but……  </vt:lpstr>
      <vt:lpstr>4     to report the findings or opinion of others ( it+ be+ Past Participle + clause) : It has been           PG 65           suggested that e-books might be the future. 5      We also use it with a number of fixed expressions:          It’s no wonder ….                                It’s no coincidence ….          It’s easy to believe …..</vt:lpstr>
      <vt:lpstr>12   Complete the second sentence so it has a similar meaning to the first. Start with it and use the correct form of the word in brackets.                                                                                  PG 65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B  New places  1   Work with a partner. Discuss the questions. 1    How do you usually decide where to go on holiday? 2    What do you use as your main source of information for holiday destinations? 3    Have you ever been on a holiday where you stopped in multiple locations? 2    036   Two friends are talking about a trip around Italy. Listen to their descriptions of where they went and match the place to the photos A-E.</dc:title>
  <dc:creator>DAST</dc:creator>
  <cp:lastModifiedBy>DAST</cp:lastModifiedBy>
  <cp:revision>44</cp:revision>
  <dcterms:created xsi:type="dcterms:W3CDTF">2026-05-19T06:42:40Z</dcterms:created>
  <dcterms:modified xsi:type="dcterms:W3CDTF">2026-07-13T05:31:35Z</dcterms:modified>
</cp:coreProperties>
</file>