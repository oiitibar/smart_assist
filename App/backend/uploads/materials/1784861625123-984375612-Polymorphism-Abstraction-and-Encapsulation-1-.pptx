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</p:sldMasterIdLst>
  <p:notesMasterIdLst>
    <p:notesMasterId r:id="rId36"/>
  </p:notesMasterIdLst>
  <p:sldIdLst>
    <p:sldId id="256" r:id="rId3"/>
    <p:sldId id="368" r:id="rId4"/>
    <p:sldId id="356" r:id="rId5"/>
    <p:sldId id="313" r:id="rId6"/>
    <p:sldId id="294" r:id="rId7"/>
    <p:sldId id="316" r:id="rId8"/>
    <p:sldId id="317" r:id="rId9"/>
    <p:sldId id="318" r:id="rId10"/>
    <p:sldId id="321" r:id="rId11"/>
    <p:sldId id="322" r:id="rId12"/>
    <p:sldId id="349" r:id="rId13"/>
    <p:sldId id="351" r:id="rId14"/>
    <p:sldId id="350" r:id="rId15"/>
    <p:sldId id="369" r:id="rId16"/>
    <p:sldId id="352" r:id="rId17"/>
    <p:sldId id="353" r:id="rId18"/>
    <p:sldId id="355" r:id="rId19"/>
    <p:sldId id="354" r:id="rId20"/>
    <p:sldId id="370" r:id="rId21"/>
    <p:sldId id="357" r:id="rId22"/>
    <p:sldId id="360" r:id="rId23"/>
    <p:sldId id="361" r:id="rId24"/>
    <p:sldId id="366" r:id="rId25"/>
    <p:sldId id="364" r:id="rId26"/>
    <p:sldId id="365" r:id="rId27"/>
    <p:sldId id="320" r:id="rId28"/>
    <p:sldId id="372" r:id="rId29"/>
    <p:sldId id="371" r:id="rId30"/>
    <p:sldId id="375" r:id="rId31"/>
    <p:sldId id="378" r:id="rId32"/>
    <p:sldId id="379" r:id="rId33"/>
    <p:sldId id="381" r:id="rId34"/>
    <p:sldId id="380" r:id="rId35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3399FF"/>
    <a:srgbClr val="00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6504" autoAdjust="0"/>
  </p:normalViewPr>
  <p:slideViewPr>
    <p:cSldViewPr>
      <p:cViewPr varScale="1">
        <p:scale>
          <a:sx n="66" d="100"/>
          <a:sy n="66" d="100"/>
        </p:scale>
        <p:origin x="-1276" y="-76"/>
      </p:cViewPr>
      <p:guideLst>
        <p:guide orient="horz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D3FDCA-91AA-4804-9A07-6F0DDB6CA845}" type="datetimeFigureOut">
              <a:rPr lang="en-US" smtClean="0"/>
              <a:t>7/6/2026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C9CE79-09F1-4C6E-A96F-5EE19B972FC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392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2531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276999"/>
          </a:xfrm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4579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276999"/>
          </a:xfrm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1"/>
          <p:cNvSpPr>
            <a:spLocks noGrp="1" noRot="1" noChangeAspect="1" noChangeArrowheads="1" noTextEdit="1"/>
          </p:cNvSpPr>
          <p:nvPr>
            <p:ph type="sldImg"/>
          </p:nvPr>
        </p:nvSpPr>
        <p:spPr>
          <a:ln>
            <a:solidFill>
              <a:srgbClr val="000000"/>
            </a:solidFill>
            <a:miter lim="800000"/>
            <a:headEnd/>
            <a:tailEnd/>
          </a:ln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0723" name="Text Box 2"/>
          <p:cNvSpPr txBox="1">
            <a:spLocks noGrp="1" noChangeArrowheads="1"/>
          </p:cNvSpPr>
          <p:nvPr>
            <p:ph type="body" idx="1"/>
          </p:nvPr>
        </p:nvSpPr>
        <p:spPr>
          <a:xfrm>
            <a:off x="685800" y="4343400"/>
            <a:ext cx="5486400" cy="276999"/>
          </a:xfrm>
          <a:noFill/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197685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0"/>
            <a:ext cx="9144000" cy="1179288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 Click to edit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95536" y="1508787"/>
            <a:ext cx="8496944" cy="61419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405880" y="2411015"/>
            <a:ext cx="8496944" cy="3994316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46943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9672" y="0"/>
            <a:ext cx="7524328" cy="1179288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 Click to edit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79712" y="1316766"/>
            <a:ext cx="6912768" cy="61419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1990056" y="2218994"/>
            <a:ext cx="6912768" cy="3994316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228082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28600"/>
            <a:ext cx="8153400" cy="990600"/>
          </a:xfrm>
          <a:prstGeom prst="rect">
            <a:avLst/>
          </a:prstGeo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609600" y="1589567"/>
            <a:ext cx="3886200" cy="4572000"/>
          </a:xfrm>
          <a:prstGeom prst="rect">
            <a:avLst/>
          </a:prstGeo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844901" y="1589567"/>
            <a:ext cx="3886200" cy="4572000"/>
          </a:xfrm>
          <a:prstGeom prst="rect">
            <a:avLst/>
          </a:prstGeo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5"/>
          </p:nvPr>
        </p:nvSpPr>
        <p:spPr>
          <a:xfrm>
            <a:off x="6096000" y="6248400"/>
            <a:ext cx="2667000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6"/>
          </p:nvPr>
        </p:nvSpPr>
        <p:spPr>
          <a:xfrm>
            <a:off x="0" y="1272223"/>
            <a:ext cx="533400" cy="244476"/>
          </a:xfrm>
          <a:prstGeom prst="rect">
            <a:avLst/>
          </a:prstGeom>
        </p:spPr>
        <p:txBody>
          <a:bodyPr rtlCol="0"/>
          <a:lstStyle/>
          <a:p>
            <a:fld id="{A0D09A74-B91A-40A4-90D1-93FE587BC1C3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7"/>
          </p:nvPr>
        </p:nvSpPr>
        <p:spPr>
          <a:xfrm>
            <a:off x="609603" y="6248208"/>
            <a:ext cx="5421083" cy="365125"/>
          </a:xfrm>
          <a:prstGeom prst="rect">
            <a:avLst/>
          </a:prstGeom>
        </p:spPr>
        <p:txBody>
          <a:bodyPr rtlCol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4100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7"/>
            <a:ext cx="76200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 rot="16200000">
            <a:off x="7551353" y="1645920"/>
            <a:ext cx="2438399" cy="365760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 rot="16200000">
            <a:off x="7586912" y="4048760"/>
            <a:ext cx="2367281" cy="365760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6808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27577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5073455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5073455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5073455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5073455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5073455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5073455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5073455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55073455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6205597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62055971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62055971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62055971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762055971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6701586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46701586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5136844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210550" y="282574"/>
            <a:ext cx="642097" cy="1600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23185" y="228600"/>
            <a:ext cx="260909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sz="3600" b="1">
                <a:solidFill>
                  <a:schemeClr val="accent1">
                    <a:lumMod val="60000"/>
                    <a:lumOff val="40000"/>
                  </a:schemeClr>
                </a:solidFill>
              </a:rPr>
              <a:t>+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68235" y="282574"/>
            <a:ext cx="91440" cy="1600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15136844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1485"/>
            <a:ext cx="7772400" cy="146896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5959501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133034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3133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185"/>
            <a:ext cx="7772400" cy="150071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0431105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4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43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802917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4584"/>
            <a:ext cx="4040188" cy="6413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5934"/>
            <a:ext cx="4040188" cy="39497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534584"/>
            <a:ext cx="4041775" cy="64134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2175934"/>
            <a:ext cx="4041775" cy="39497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79402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510990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3535400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73052"/>
            <a:ext cx="3008313" cy="1162049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0" cy="585258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435100"/>
            <a:ext cx="3008313" cy="46905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82494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726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3833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867"/>
            <a:ext cx="5486400" cy="8043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2440911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0871693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5167"/>
            <a:ext cx="2057400" cy="585046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5167"/>
            <a:ext cx="6019800" cy="585046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09125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01586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484094"/>
            <a:ext cx="7556313" cy="1116106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98474" y="1981200"/>
            <a:ext cx="7556313" cy="4144963"/>
          </a:xfrm>
          <a:prstGeom prst="rect">
            <a:avLst/>
          </a:prstGeom>
        </p:spPr>
        <p:txBody>
          <a:bodyPr/>
          <a:lstStyle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795247" y="6423585"/>
            <a:ext cx="2133600" cy="365125"/>
          </a:xfrm>
          <a:prstGeom prst="rect">
            <a:avLst/>
          </a:prstGeom>
        </p:spPr>
        <p:txBody>
          <a:bodyPr/>
          <a:lstStyle/>
          <a:p>
            <a:pPr eaLnBrk="1" latinLnBrk="0" hangingPunct="1"/>
            <a:fld id="{23A271A1-F6D6-438B-A432-4747EE7ECD40}" type="datetimeFigureOut">
              <a:rPr lang="en-US" smtClean="0"/>
              <a:pPr eaLnBrk="1" latinLnBrk="0" hangingPunct="1"/>
              <a:t>7/6/2026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01706" y="6423585"/>
            <a:ext cx="6122894" cy="365125"/>
          </a:xfrm>
          <a:prstGeom prst="rect">
            <a:avLst/>
          </a:prstGeom>
        </p:spPr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305800" y="242234"/>
            <a:ext cx="554038" cy="365125"/>
          </a:xfrm>
          <a:prstGeom prst="rect">
            <a:avLst/>
          </a:prstGeom>
        </p:spPr>
        <p:txBody>
          <a:bodyPr/>
          <a:lstStyle/>
          <a:p>
            <a:fld id="{F0C94032-CD4C-4C25-B0C2-CEC720522D92}" type="slidenum">
              <a:rPr kumimoji="0" lang="en-US" smtClean="0"/>
              <a:pPr eaLnBrk="1" latinLnBrk="0" hangingPunct="1"/>
              <a:t>‹#›</a:t>
            </a:fld>
            <a:endParaRPr kumimoji="0" lang="en-US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01586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9672" y="0"/>
            <a:ext cx="7524328" cy="1179288"/>
          </a:xfrm>
          <a:prstGeom prst="rect">
            <a:avLst/>
          </a:prstGeom>
        </p:spPr>
        <p:txBody>
          <a:bodyPr anchor="ctr"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altLang="ko-KR" dirty="0"/>
              <a:t> Click to edit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1979712" y="1316766"/>
            <a:ext cx="6912768" cy="614197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1990056" y="2218994"/>
            <a:ext cx="6912768" cy="3994316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63816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48.xml"/><Relationship Id="rId3" Type="http://schemas.openxmlformats.org/officeDocument/2006/relationships/slideLayout" Target="../slideLayouts/slideLayout38.xml"/><Relationship Id="rId7" Type="http://schemas.openxmlformats.org/officeDocument/2006/relationships/slideLayout" Target="../slideLayouts/slideLayout42.xml"/><Relationship Id="rId12" Type="http://schemas.openxmlformats.org/officeDocument/2006/relationships/slideLayout" Target="../slideLayouts/slideLayout47.xml"/><Relationship Id="rId2" Type="http://schemas.openxmlformats.org/officeDocument/2006/relationships/slideLayout" Target="../slideLayouts/slideLayout37.xml"/><Relationship Id="rId1" Type="http://schemas.openxmlformats.org/officeDocument/2006/relationships/slideLayout" Target="../slideLayouts/slideLayout36.xml"/><Relationship Id="rId6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46.xml"/><Relationship Id="rId5" Type="http://schemas.openxmlformats.org/officeDocument/2006/relationships/slideLayout" Target="../slideLayouts/slideLayout40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45.xml"/><Relationship Id="rId4" Type="http://schemas.openxmlformats.org/officeDocument/2006/relationships/slideLayout" Target="../slideLayouts/slideLayout39.xml"/><Relationship Id="rId9" Type="http://schemas.openxmlformats.org/officeDocument/2006/relationships/slideLayout" Target="../slideLayouts/slideLayout44.xml"/><Relationship Id="rId14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3917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73" r:id="rId4"/>
    <p:sldLayoutId id="2147483674" r:id="rId5"/>
    <p:sldLayoutId id="2147483677" r:id="rId6"/>
    <p:sldLayoutId id="2147483678" r:id="rId7"/>
    <p:sldLayoutId id="2147483679" r:id="rId8"/>
    <p:sldLayoutId id="2147483680" r:id="rId9"/>
    <p:sldLayoutId id="2147483681" r:id="rId10"/>
    <p:sldLayoutId id="2147483682" r:id="rId11"/>
    <p:sldLayoutId id="2147483683" r:id="rId12"/>
    <p:sldLayoutId id="2147483684" r:id="rId13"/>
    <p:sldLayoutId id="2147483685" r:id="rId14"/>
    <p:sldLayoutId id="2147483686" r:id="rId15"/>
    <p:sldLayoutId id="2147483687" r:id="rId16"/>
    <p:sldLayoutId id="2147483688" r:id="rId17"/>
    <p:sldLayoutId id="2147483689" r:id="rId18"/>
    <p:sldLayoutId id="2147483690" r:id="rId19"/>
    <p:sldLayoutId id="2147483691" r:id="rId20"/>
    <p:sldLayoutId id="2147483692" r:id="rId21"/>
    <p:sldLayoutId id="2147483693" r:id="rId22"/>
    <p:sldLayoutId id="2147483694" r:id="rId23"/>
    <p:sldLayoutId id="2147483695" r:id="rId24"/>
    <p:sldLayoutId id="2147483696" r:id="rId25"/>
    <p:sldLayoutId id="2147483697" r:id="rId26"/>
    <p:sldLayoutId id="2147483698" r:id="rId27"/>
    <p:sldLayoutId id="2147483699" r:id="rId28"/>
    <p:sldLayoutId id="2147483700" r:id="rId29"/>
    <p:sldLayoutId id="2147483701" r:id="rId30"/>
    <p:sldLayoutId id="2147483702" r:id="rId31"/>
    <p:sldLayoutId id="2147483710" r:id="rId32"/>
    <p:sldLayoutId id="2147483711" r:id="rId33"/>
    <p:sldLayoutId id="2147483715" r:id="rId34"/>
    <p:sldLayoutId id="2147483716" r:id="rId35"/>
  </p:sldLayoutIdLst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36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5167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1"/>
            <a:ext cx="8229600" cy="452543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1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1"/>
            <a:ext cx="2895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1"/>
            <a:ext cx="2133600" cy="36618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31DC1F-5561-484E-AB46-68C682854F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1239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712" r:id="rId12"/>
    <p:sldLayoutId id="2147483713" r:id="rId13"/>
    <p:sldLayoutId id="2147483714" r:id="rId1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3523454" y="3129354"/>
            <a:ext cx="5508104" cy="5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r"/>
            <a:r>
              <a:rPr lang="en-US" altLang="ko-KR" sz="32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Programming in Java</a:t>
            </a:r>
          </a:p>
        </p:txBody>
      </p:sp>
    </p:spTree>
    <p:extLst>
      <p:ext uri="{BB962C8B-B14F-4D97-AF65-F5344CB8AC3E}">
        <p14:creationId xmlns:p14="http://schemas.microsoft.com/office/powerpoint/2010/main" val="3034478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5"/>
          <p:cNvSpPr txBox="1">
            <a:spLocks/>
          </p:cNvSpPr>
          <p:nvPr/>
        </p:nvSpPr>
        <p:spPr>
          <a:xfrm>
            <a:off x="1547664" y="1628800"/>
            <a:ext cx="7524328" cy="324036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ctr" latinLnBrk="0">
              <a:spcAft>
                <a:spcPts val="1800"/>
              </a:spcAft>
            </a:pPr>
            <a:r>
              <a:rPr lang="en-US" dirty="0"/>
              <a:t/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Polymorphism</a:t>
            </a:r>
          </a:p>
        </p:txBody>
      </p:sp>
    </p:spTree>
    <p:extLst>
      <p:ext uri="{BB962C8B-B14F-4D97-AF65-F5344CB8AC3E}">
        <p14:creationId xmlns:p14="http://schemas.microsoft.com/office/powerpoint/2010/main" val="10111981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Arial" pitchFamily="34" charset="0"/>
                <a:cs typeface="Arial" pitchFamily="34" charset="0"/>
              </a:rPr>
              <a:t>Polymorphism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412776"/>
            <a:ext cx="8579296" cy="4525433"/>
          </a:xfrm>
        </p:spPr>
        <p:txBody>
          <a:bodyPr>
            <a:noAutofit/>
          </a:bodyPr>
          <a:lstStyle/>
          <a:p>
            <a:pPr algn="just"/>
            <a:r>
              <a:rPr lang="en-US" sz="2400" dirty="0">
                <a:latin typeface="Bookman Old Style" pitchFamily="18" charset="0"/>
              </a:rPr>
              <a:t>Polymorphism in Java is of two types: 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400" b="1" dirty="0">
                <a:latin typeface="Bookman Old Style" pitchFamily="18" charset="0"/>
              </a:rPr>
              <a:t>Run time polymorphism</a:t>
            </a:r>
            <a:endParaRPr lang="en-US" sz="2400" dirty="0">
              <a:latin typeface="Bookman Old Style" pitchFamily="18" charset="0"/>
            </a:endParaRPr>
          </a:p>
          <a:p>
            <a:pPr marL="1314450" lvl="2" indent="-457200" algn="just"/>
            <a:r>
              <a:rPr lang="en-US" sz="2200" dirty="0">
                <a:latin typeface="Bookman Old Style" pitchFamily="18" charset="0"/>
              </a:rPr>
              <a:t>Refers to a process in which a call to an overridden method is resolved at runtime rather than at compile-time.</a:t>
            </a:r>
          </a:p>
          <a:p>
            <a:pPr marL="1314450" lvl="2" indent="-457200" algn="just"/>
            <a:r>
              <a:rPr lang="en-US" sz="2200" dirty="0">
                <a:latin typeface="Bookman Old Style" pitchFamily="18" charset="0"/>
              </a:rPr>
              <a:t>Method overriding is an example of run time polymorphism.</a:t>
            </a:r>
          </a:p>
          <a:p>
            <a:pPr marL="914400" lvl="1" indent="-457200" algn="just">
              <a:buFont typeface="+mj-lt"/>
              <a:buAutoNum type="arabicPeriod"/>
            </a:pPr>
            <a:r>
              <a:rPr lang="en-US" sz="2400" b="1" dirty="0">
                <a:latin typeface="Bookman Old Style" pitchFamily="18" charset="0"/>
              </a:rPr>
              <a:t>Compile time polymorphism</a:t>
            </a:r>
          </a:p>
          <a:p>
            <a:pPr marL="1314450" lvl="2" indent="-457200" algn="just"/>
            <a:r>
              <a:rPr lang="en-US" sz="2200" dirty="0">
                <a:latin typeface="Bookman Old Style" pitchFamily="18" charset="0"/>
              </a:rPr>
              <a:t>Refers to a process in which a call to an overloaded method is resolved at compile time rather than at run time</a:t>
            </a:r>
          </a:p>
          <a:p>
            <a:pPr marL="1314450" lvl="2" indent="-457200" algn="just"/>
            <a:r>
              <a:rPr lang="en-US" sz="2200" dirty="0">
                <a:latin typeface="Bookman Old Style" pitchFamily="18" charset="0"/>
              </a:rPr>
              <a:t>Method overloading is an example of compile time polymorphism</a:t>
            </a:r>
          </a:p>
          <a:p>
            <a:pPr algn="just"/>
            <a:endParaRPr lang="en-US" sz="2400" dirty="0">
              <a:latin typeface="Bookman Old Style" pitchFamily="18" charset="0"/>
            </a:endParaRPr>
          </a:p>
          <a:p>
            <a:pPr algn="just"/>
            <a:endParaRPr lang="en-US" sz="2400" dirty="0">
              <a:latin typeface="Bookman Old Style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468" y="677880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2693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 Overriding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179512" y="1064747"/>
            <a:ext cx="4752528" cy="513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latinLnBrk="0">
              <a:lnSpc>
                <a:spcPct val="130000"/>
              </a:lnSpc>
              <a:buFont typeface="Wingdings" pitchFamily="2" charset="2"/>
              <a:buChar char="§"/>
            </a:pPr>
            <a:r>
              <a:rPr lang="en-US" dirty="0">
                <a:latin typeface="Bookman Old Style" pitchFamily="18" charset="0"/>
              </a:rPr>
              <a:t>Subclasses inherit all methods from their superclass</a:t>
            </a:r>
          </a:p>
          <a:p>
            <a:pPr marL="742950" lvl="1" indent="-285750" latinLnBrk="0">
              <a:lnSpc>
                <a:spcPct val="130000"/>
              </a:lnSpc>
              <a:buFont typeface="Wingdings" pitchFamily="2" charset="2"/>
              <a:buChar char="§"/>
            </a:pPr>
            <a:r>
              <a:rPr lang="en-US" dirty="0">
                <a:latin typeface="Bookman Old Style" pitchFamily="18" charset="0"/>
              </a:rPr>
              <a:t>Sometimes, the implementation of the method in the superclass does not provide the functionality required by the subclass.</a:t>
            </a:r>
          </a:p>
          <a:p>
            <a:pPr marL="742950" lvl="1" indent="-285750" latinLnBrk="0">
              <a:lnSpc>
                <a:spcPct val="130000"/>
              </a:lnSpc>
              <a:buFont typeface="Wingdings" pitchFamily="2" charset="2"/>
              <a:buChar char="§"/>
            </a:pPr>
            <a:r>
              <a:rPr lang="en-US" dirty="0">
                <a:latin typeface="Bookman Old Style" pitchFamily="18" charset="0"/>
              </a:rPr>
              <a:t>In these cases, the method must be overridden.</a:t>
            </a:r>
          </a:p>
          <a:p>
            <a:pPr marL="285750" indent="-285750" latinLnBrk="0">
              <a:lnSpc>
                <a:spcPct val="130000"/>
              </a:lnSpc>
              <a:buFont typeface="Wingdings" pitchFamily="2" charset="2"/>
              <a:buChar char="§"/>
            </a:pPr>
            <a:r>
              <a:rPr lang="en-US" dirty="0">
                <a:latin typeface="Bookman Old Style" pitchFamily="18" charset="0"/>
              </a:rPr>
              <a:t>To override a method, provide an implementation in the subclass.</a:t>
            </a:r>
          </a:p>
          <a:p>
            <a:pPr marL="742950" lvl="1" indent="-285750" latinLnBrk="0">
              <a:lnSpc>
                <a:spcPct val="130000"/>
              </a:lnSpc>
              <a:buFont typeface="Wingdings" pitchFamily="2" charset="2"/>
              <a:buChar char="§"/>
            </a:pPr>
            <a:r>
              <a:rPr lang="en-US" dirty="0">
                <a:latin typeface="Bookman Old Style" pitchFamily="18" charset="0"/>
              </a:rPr>
              <a:t>The method in the subclass MUST have the exact same signature as the method it is overriding.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425"/>
          <a:stretch/>
        </p:blipFill>
        <p:spPr bwMode="auto">
          <a:xfrm>
            <a:off x="5076056" y="1916832"/>
            <a:ext cx="3761656" cy="366797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5123592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188640"/>
            <a:ext cx="9036496" cy="1152128"/>
          </a:xfrm>
        </p:spPr>
        <p:txBody>
          <a:bodyPr/>
          <a:lstStyle/>
          <a:p>
            <a:pPr marL="0" indent="0" latinLnBrk="0">
              <a:buNone/>
            </a:pPr>
            <a:r>
              <a:rPr lang="en-US" sz="2000" b="1" dirty="0">
                <a:solidFill>
                  <a:srgbClr val="0000CC"/>
                </a:solidFill>
                <a:latin typeface="Bookman Old Style" pitchFamily="18" charset="0"/>
              </a:rPr>
              <a:t>Example 4.4</a:t>
            </a:r>
            <a:r>
              <a:rPr lang="en-US" sz="2000" dirty="0">
                <a:latin typeface="Bookman Old Style" pitchFamily="18" charset="0"/>
              </a:rPr>
              <a:t>: A program that demonstrates method overriding.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23528" y="620688"/>
            <a:ext cx="8208912" cy="60016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1600" dirty="0">
                <a:latin typeface="Bookman Old Style" pitchFamily="18" charset="0"/>
              </a:rPr>
              <a:t>class Parent</a:t>
            </a:r>
          </a:p>
          <a:p>
            <a:r>
              <a:rPr lang="en-US" sz="1600" dirty="0">
                <a:latin typeface="Bookman Old Style" pitchFamily="18" charset="0"/>
              </a:rPr>
              <a:t>{</a:t>
            </a:r>
          </a:p>
          <a:p>
            <a:r>
              <a:rPr lang="en-US" sz="1600" dirty="0">
                <a:latin typeface="Bookman Old Style" pitchFamily="18" charset="0"/>
              </a:rPr>
              <a:t>void </a:t>
            </a:r>
            <a:r>
              <a:rPr lang="en-US" sz="1600" b="1" dirty="0">
                <a:latin typeface="Bookman Old Style" pitchFamily="18" charset="0"/>
              </a:rPr>
              <a:t>show</a:t>
            </a:r>
            <a:r>
              <a:rPr lang="en-US" sz="1600" dirty="0">
                <a:latin typeface="Bookman Old Style" pitchFamily="18" charset="0"/>
              </a:rPr>
              <a:t>()</a:t>
            </a:r>
          </a:p>
          <a:p>
            <a:r>
              <a:rPr lang="en-US" sz="1600" dirty="0">
                <a:latin typeface="Bookman Old Style" pitchFamily="18" charset="0"/>
              </a:rPr>
              <a:t>{ </a:t>
            </a:r>
          </a:p>
          <a:p>
            <a:r>
              <a:rPr lang="en-US" sz="1600" dirty="0">
                <a:latin typeface="Bookman Old Style" pitchFamily="18" charset="0"/>
              </a:rPr>
              <a:t>	</a:t>
            </a:r>
            <a:r>
              <a:rPr lang="en-US" sz="1600" dirty="0" err="1">
                <a:latin typeface="Bookman Old Style" pitchFamily="18" charset="0"/>
              </a:rPr>
              <a:t>System.out.</a:t>
            </a:r>
            <a:r>
              <a:rPr lang="en-US" sz="1600" b="1" dirty="0" err="1">
                <a:latin typeface="Bookman Old Style" pitchFamily="18" charset="0"/>
              </a:rPr>
              <a:t>println</a:t>
            </a:r>
            <a:r>
              <a:rPr lang="en-US" sz="1600" dirty="0">
                <a:latin typeface="Bookman Old Style" pitchFamily="18" charset="0"/>
              </a:rPr>
              <a:t>("Parent's show()");</a:t>
            </a:r>
          </a:p>
          <a:p>
            <a:r>
              <a:rPr lang="en-US" sz="1600" dirty="0">
                <a:latin typeface="Bookman Old Style" pitchFamily="18" charset="0"/>
              </a:rPr>
              <a:t>}</a:t>
            </a:r>
          </a:p>
          <a:p>
            <a:r>
              <a:rPr lang="en-US" sz="1600" dirty="0">
                <a:latin typeface="Bookman Old Style" pitchFamily="18" charset="0"/>
              </a:rPr>
              <a:t>}</a:t>
            </a:r>
          </a:p>
          <a:p>
            <a:r>
              <a:rPr lang="en-US" sz="1600" dirty="0">
                <a:latin typeface="Bookman Old Style" pitchFamily="18" charset="0"/>
              </a:rPr>
              <a:t>class Child extends Parent</a:t>
            </a:r>
          </a:p>
          <a:p>
            <a:r>
              <a:rPr lang="en-US" sz="1600" dirty="0">
                <a:latin typeface="Bookman Old Style" pitchFamily="18" charset="0"/>
              </a:rPr>
              <a:t>{</a:t>
            </a:r>
          </a:p>
          <a:p>
            <a:r>
              <a:rPr lang="en-US" sz="1600" dirty="0">
                <a:latin typeface="Bookman Old Style" pitchFamily="18" charset="0"/>
              </a:rPr>
              <a:t>@Override</a:t>
            </a:r>
          </a:p>
          <a:p>
            <a:r>
              <a:rPr lang="en-US" sz="1600" dirty="0">
                <a:latin typeface="Bookman Old Style" pitchFamily="18" charset="0"/>
              </a:rPr>
              <a:t>void </a:t>
            </a:r>
            <a:r>
              <a:rPr lang="en-US" sz="1600" b="1" dirty="0">
                <a:latin typeface="Bookman Old Style" pitchFamily="18" charset="0"/>
              </a:rPr>
              <a:t>show</a:t>
            </a:r>
            <a:r>
              <a:rPr lang="en-US" sz="1600" dirty="0">
                <a:latin typeface="Bookman Old Style" pitchFamily="18" charset="0"/>
              </a:rPr>
              <a:t>() </a:t>
            </a:r>
          </a:p>
          <a:p>
            <a:r>
              <a:rPr lang="en-US" sz="1600" dirty="0">
                <a:latin typeface="Bookman Old Style" pitchFamily="18" charset="0"/>
              </a:rPr>
              <a:t>{ </a:t>
            </a:r>
          </a:p>
          <a:p>
            <a:r>
              <a:rPr lang="en-US" sz="1600" dirty="0">
                <a:latin typeface="Bookman Old Style" pitchFamily="18" charset="0"/>
              </a:rPr>
              <a:t>	</a:t>
            </a:r>
            <a:r>
              <a:rPr lang="en-US" sz="1600" dirty="0" err="1">
                <a:latin typeface="Bookman Old Style" pitchFamily="18" charset="0"/>
              </a:rPr>
              <a:t>System.out.</a:t>
            </a:r>
            <a:r>
              <a:rPr lang="en-US" sz="1600" b="1" dirty="0" err="1">
                <a:latin typeface="Bookman Old Style" pitchFamily="18" charset="0"/>
              </a:rPr>
              <a:t>println</a:t>
            </a:r>
            <a:r>
              <a:rPr lang="en-US" sz="1600" dirty="0">
                <a:latin typeface="Bookman Old Style" pitchFamily="18" charset="0"/>
              </a:rPr>
              <a:t>("Child's show()");</a:t>
            </a:r>
          </a:p>
          <a:p>
            <a:r>
              <a:rPr lang="en-US" sz="1600" dirty="0">
                <a:latin typeface="Bookman Old Style" pitchFamily="18" charset="0"/>
              </a:rPr>
              <a:t>} </a:t>
            </a:r>
          </a:p>
          <a:p>
            <a:r>
              <a:rPr lang="en-US" sz="1600" dirty="0">
                <a:latin typeface="Bookman Old Style" pitchFamily="18" charset="0"/>
              </a:rPr>
              <a:t>class Main</a:t>
            </a:r>
          </a:p>
          <a:p>
            <a:r>
              <a:rPr lang="en-US" sz="1600" dirty="0">
                <a:latin typeface="Bookman Old Style" pitchFamily="18" charset="0"/>
              </a:rPr>
              <a:t>{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public static void </a:t>
            </a:r>
            <a:r>
              <a:rPr lang="en-US" sz="1600" b="1" dirty="0">
                <a:latin typeface="Bookman Old Style" pitchFamily="18" charset="0"/>
              </a:rPr>
              <a:t>main</a:t>
            </a:r>
            <a:r>
              <a:rPr lang="en-US" sz="1600" dirty="0">
                <a:latin typeface="Bookman Old Style" pitchFamily="18" charset="0"/>
              </a:rPr>
              <a:t>(String[] </a:t>
            </a:r>
            <a:r>
              <a:rPr lang="en-US" sz="1600" dirty="0" err="1">
                <a:latin typeface="Bookman Old Style" pitchFamily="18" charset="0"/>
              </a:rPr>
              <a:t>args</a:t>
            </a:r>
            <a:r>
              <a:rPr lang="en-US" sz="1600" dirty="0">
                <a:latin typeface="Bookman Old Style" pitchFamily="18" charset="0"/>
              </a:rPr>
              <a:t>)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{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Parent obj1 = new </a:t>
            </a:r>
            <a:r>
              <a:rPr lang="en-US" sz="1600" b="1" dirty="0">
                <a:latin typeface="Bookman Old Style" pitchFamily="18" charset="0"/>
              </a:rPr>
              <a:t>Parent</a:t>
            </a:r>
            <a:r>
              <a:rPr lang="en-US" sz="1600" dirty="0">
                <a:latin typeface="Bookman Old Style" pitchFamily="18" charset="0"/>
              </a:rPr>
              <a:t>();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obj1.</a:t>
            </a:r>
            <a:r>
              <a:rPr lang="en-US" sz="1600" b="1" dirty="0">
                <a:latin typeface="Bookman Old Style" pitchFamily="18" charset="0"/>
              </a:rPr>
              <a:t>show</a:t>
            </a:r>
            <a:r>
              <a:rPr lang="en-US" sz="1600" dirty="0">
                <a:latin typeface="Bookman Old Style" pitchFamily="18" charset="0"/>
              </a:rPr>
              <a:t>();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Parent obj2 = new </a:t>
            </a:r>
            <a:r>
              <a:rPr lang="en-US" sz="1600" b="1" dirty="0">
                <a:latin typeface="Bookman Old Style" pitchFamily="18" charset="0"/>
              </a:rPr>
              <a:t>Child</a:t>
            </a:r>
            <a:r>
              <a:rPr lang="en-US" sz="1600" dirty="0">
                <a:latin typeface="Bookman Old Style" pitchFamily="18" charset="0"/>
              </a:rPr>
              <a:t>();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obj2.</a:t>
            </a:r>
            <a:r>
              <a:rPr lang="en-US" sz="1600" b="1" dirty="0">
                <a:latin typeface="Bookman Old Style" pitchFamily="18" charset="0"/>
              </a:rPr>
              <a:t>show</a:t>
            </a:r>
            <a:r>
              <a:rPr lang="en-US" sz="1600" dirty="0">
                <a:latin typeface="Bookman Old Style" pitchFamily="18" charset="0"/>
              </a:rPr>
              <a:t>();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}</a:t>
            </a:r>
          </a:p>
          <a:p>
            <a:r>
              <a:rPr lang="en-US" sz="1600" dirty="0">
                <a:latin typeface="Bookman Old Style" pitchFamily="18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3324897" y="2334366"/>
            <a:ext cx="1866217" cy="338554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sz="1600" dirty="0">
                <a:latin typeface="Bookman Old Style" pitchFamily="18" charset="0"/>
                <a:sym typeface="Wingdings" pitchFamily="2" charset="2"/>
              </a:rPr>
              <a:t></a:t>
            </a:r>
            <a:r>
              <a:rPr lang="en-US" sz="1600" dirty="0">
                <a:latin typeface="Bookman Old Style" pitchFamily="18" charset="0"/>
              </a:rPr>
              <a:t>Inherited class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619672" y="1124744"/>
            <a:ext cx="4358886" cy="338554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en-US" sz="1600" dirty="0">
                <a:latin typeface="Bookman Old Style" pitchFamily="18" charset="0"/>
                <a:sym typeface="Wingdings" pitchFamily="2" charset="2"/>
              </a:rPr>
              <a:t></a:t>
            </a:r>
            <a:r>
              <a:rPr lang="en-US" sz="1600" dirty="0">
                <a:latin typeface="Bookman Old Style" pitchFamily="18" charset="0"/>
              </a:rPr>
              <a:t> This method overrides show() of Parent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2267744" y="5148481"/>
            <a:ext cx="6516216" cy="584775"/>
            <a:chOff x="2267744" y="5076473"/>
            <a:chExt cx="6516216" cy="584775"/>
          </a:xfrm>
        </p:grpSpPr>
        <p:sp>
          <p:nvSpPr>
            <p:cNvPr id="13" name="Rectangle 12"/>
            <p:cNvSpPr/>
            <p:nvPr/>
          </p:nvSpPr>
          <p:spPr>
            <a:xfrm>
              <a:off x="4211960" y="5076473"/>
              <a:ext cx="4572000" cy="584775"/>
            </a:xfrm>
            <a:prstGeom prst="rect">
              <a:avLst/>
            </a:prstGeom>
            <a:solidFill>
              <a:srgbClr val="FFFF00"/>
            </a:solidFill>
          </p:spPr>
          <p:txBody>
            <a:bodyPr>
              <a:spAutoFit/>
            </a:bodyPr>
            <a:lstStyle/>
            <a:p>
              <a:pPr algn="just" latinLnBrk="0"/>
              <a:r>
                <a:rPr lang="en-US" sz="1600" dirty="0">
                  <a:latin typeface="Bookman Old Style" pitchFamily="18" charset="0"/>
                </a:rPr>
                <a:t>If a Parent type reference refers to a Parent object, then Parent's show is called</a:t>
              </a:r>
            </a:p>
          </p:txBody>
        </p:sp>
        <p:cxnSp>
          <p:nvCxnSpPr>
            <p:cNvPr id="16" name="Straight Arrow Connector 15"/>
            <p:cNvCxnSpPr/>
            <p:nvPr/>
          </p:nvCxnSpPr>
          <p:spPr>
            <a:xfrm flipH="1">
              <a:off x="2267744" y="5368860"/>
              <a:ext cx="194421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" name="Group 17"/>
          <p:cNvGrpSpPr/>
          <p:nvPr/>
        </p:nvGrpSpPr>
        <p:grpSpPr>
          <a:xfrm>
            <a:off x="2195736" y="5912544"/>
            <a:ext cx="6588224" cy="584775"/>
            <a:chOff x="2195736" y="5076473"/>
            <a:chExt cx="6588224" cy="584775"/>
          </a:xfrm>
        </p:grpSpPr>
        <p:sp>
          <p:nvSpPr>
            <p:cNvPr id="19" name="Rectangle 18"/>
            <p:cNvSpPr/>
            <p:nvPr/>
          </p:nvSpPr>
          <p:spPr>
            <a:xfrm>
              <a:off x="4211960" y="5076473"/>
              <a:ext cx="4572000" cy="584775"/>
            </a:xfrm>
            <a:prstGeom prst="rect">
              <a:avLst/>
            </a:prstGeom>
            <a:solidFill>
              <a:srgbClr val="FFFF00"/>
            </a:solidFill>
          </p:spPr>
          <p:txBody>
            <a:bodyPr>
              <a:spAutoFit/>
            </a:bodyPr>
            <a:lstStyle/>
            <a:p>
              <a:pPr algn="just" latinLnBrk="0"/>
              <a:r>
                <a:rPr lang="en-US" sz="1600" dirty="0">
                  <a:latin typeface="Bookman Old Style" pitchFamily="18" charset="0"/>
                </a:rPr>
                <a:t>If a Parent type reference refers a Child object Child's show() is called. </a:t>
              </a:r>
            </a:p>
          </p:txBody>
        </p:sp>
        <p:cxnSp>
          <p:nvCxnSpPr>
            <p:cNvPr id="20" name="Straight Arrow Connector 19"/>
            <p:cNvCxnSpPr/>
            <p:nvPr/>
          </p:nvCxnSpPr>
          <p:spPr>
            <a:xfrm flipH="1" flipV="1">
              <a:off x="2195736" y="5185217"/>
              <a:ext cx="2016224" cy="183643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314581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496" y="188640"/>
            <a:ext cx="9073008" cy="1143000"/>
          </a:xfrm>
        </p:spPr>
        <p:txBody>
          <a:bodyPr/>
          <a:lstStyle/>
          <a:p>
            <a:r>
              <a:rPr lang="en-US" dirty="0"/>
              <a:t>Rules for Method Overriding in Java</a:t>
            </a:r>
          </a:p>
        </p:txBody>
      </p:sp>
      <p:grpSp>
        <p:nvGrpSpPr>
          <p:cNvPr id="5" name="Group 4"/>
          <p:cNvGrpSpPr/>
          <p:nvPr/>
        </p:nvGrpSpPr>
        <p:grpSpPr>
          <a:xfrm>
            <a:off x="467544" y="3573016"/>
            <a:ext cx="8712968" cy="3096344"/>
            <a:chOff x="467544" y="3573016"/>
            <a:chExt cx="8712968" cy="3096344"/>
          </a:xfrm>
        </p:grpSpPr>
        <p:sp>
          <p:nvSpPr>
            <p:cNvPr id="4" name="Rectangle 3"/>
            <p:cNvSpPr/>
            <p:nvPr/>
          </p:nvSpPr>
          <p:spPr>
            <a:xfrm>
              <a:off x="467544" y="5805264"/>
              <a:ext cx="2232248" cy="8640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/>
            <p:cNvSpPr/>
            <p:nvPr/>
          </p:nvSpPr>
          <p:spPr>
            <a:xfrm>
              <a:off x="2771800" y="4437112"/>
              <a:ext cx="2592288" cy="8640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/>
            <p:cNvSpPr/>
            <p:nvPr/>
          </p:nvSpPr>
          <p:spPr>
            <a:xfrm>
              <a:off x="5137677" y="3573016"/>
              <a:ext cx="2232248" cy="8640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7406437" y="3933056"/>
              <a:ext cx="1774075" cy="8640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0" name="Rectangle 9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35496" y="1217374"/>
            <a:ext cx="9073008" cy="559600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latinLnBrk="0">
              <a:lnSpc>
                <a:spcPct val="20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  <a:cs typeface="Cambria"/>
              </a:rPr>
              <a:t>Final Methods cannot be Overridden Methods</a:t>
            </a:r>
          </a:p>
          <a:p>
            <a:pPr lvl="1" algn="just" latinLnBrk="0">
              <a:lnSpc>
                <a:spcPct val="20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1600" dirty="0">
                <a:latin typeface="Bookman Old Style" pitchFamily="18" charset="0"/>
                <a:cs typeface="Cambria"/>
              </a:rPr>
              <a:t>When we don’t want the method to be overridden we declare it as final.</a:t>
            </a:r>
          </a:p>
          <a:p>
            <a:pPr algn="just" latinLnBrk="0">
              <a:lnSpc>
                <a:spcPct val="20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  <a:cs typeface="Cambria"/>
              </a:rPr>
              <a:t>Static Methods cannot be Overridden</a:t>
            </a:r>
          </a:p>
          <a:p>
            <a:pPr algn="just" latinLnBrk="0">
              <a:lnSpc>
                <a:spcPct val="20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  <a:cs typeface="Cambria"/>
              </a:rPr>
              <a:t>Private Methods cannot be Overridden Method</a:t>
            </a:r>
          </a:p>
          <a:p>
            <a:pPr algn="just" latinLnBrk="0">
              <a:lnSpc>
                <a:spcPct val="20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  <a:cs typeface="Cambria"/>
              </a:rPr>
              <a:t>Overriding Method must have the same Return Type or Subtype</a:t>
            </a:r>
          </a:p>
          <a:p>
            <a:pPr algn="just" latinLnBrk="0">
              <a:lnSpc>
                <a:spcPct val="20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2000" dirty="0">
                <a:latin typeface="Bookman Old Style" pitchFamily="18" charset="0"/>
                <a:cs typeface="Cambria"/>
              </a:rPr>
              <a:t>Invoking Overridden Method from Sub-Class</a:t>
            </a:r>
          </a:p>
          <a:p>
            <a:pPr lvl="1" algn="just" latinLnBrk="0">
              <a:lnSpc>
                <a:spcPct val="20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1600" dirty="0">
                <a:latin typeface="Bookman Old Style" pitchFamily="18" charset="0"/>
                <a:cs typeface="Cambria"/>
              </a:rPr>
              <a:t>To call the parent class method during overriding we use the keyword super.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87896" y="1277145"/>
            <a:ext cx="9073008" cy="559600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latinLnBrk="0">
              <a:lnSpc>
                <a:spcPct val="92000"/>
              </a:lnSpc>
              <a:spcBef>
                <a:spcPts val="0"/>
              </a:spcBef>
              <a:buFont typeface="Wingdings" pitchFamily="2" charset="2"/>
              <a:buChar char="§"/>
            </a:pPr>
            <a:endParaRPr lang="en-US" sz="1700" dirty="0">
              <a:latin typeface="Bookman Old Style" pitchFamily="18" charset="0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9813221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424" y="188640"/>
            <a:ext cx="7620000" cy="1143000"/>
          </a:xfrm>
        </p:spPr>
        <p:txBody>
          <a:bodyPr/>
          <a:lstStyle/>
          <a:p>
            <a:r>
              <a:rPr lang="en-US" dirty="0"/>
              <a:t>Method Overloading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Content Placeholder 2"/>
          <p:cNvSpPr txBox="1">
            <a:spLocks/>
          </p:cNvSpPr>
          <p:nvPr/>
        </p:nvSpPr>
        <p:spPr>
          <a:xfrm>
            <a:off x="-252536" y="1289382"/>
            <a:ext cx="9001000" cy="559600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1" algn="just" latinLnBrk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2400" dirty="0">
                <a:latin typeface="Bookman Old Style" pitchFamily="18" charset="0"/>
                <a:cs typeface="Cambria"/>
              </a:rPr>
              <a:t>Overloading is the Java method which allows the methods to have a similar name but with the difference in signatures which is by input parameters</a:t>
            </a:r>
          </a:p>
          <a:p>
            <a:pPr lvl="1" algn="just" latinLnBrk="0">
              <a:lnSpc>
                <a:spcPct val="150000"/>
              </a:lnSpc>
              <a:spcBef>
                <a:spcPts val="0"/>
              </a:spcBef>
              <a:buFont typeface="Wingdings" pitchFamily="2" charset="2"/>
              <a:buChar char="§"/>
            </a:pPr>
            <a:r>
              <a:rPr lang="en-US" sz="2400" dirty="0">
                <a:latin typeface="Bookman Old Style" pitchFamily="18" charset="0"/>
                <a:cs typeface="Cambria"/>
              </a:rPr>
              <a:t>Overloading supports compile (static) polymorphism in Java</a:t>
            </a:r>
          </a:p>
        </p:txBody>
      </p:sp>
      <p:sp>
        <p:nvSpPr>
          <p:cNvPr id="15" name="Content Placeholder 2"/>
          <p:cNvSpPr txBox="1">
            <a:spLocks/>
          </p:cNvSpPr>
          <p:nvPr/>
        </p:nvSpPr>
        <p:spPr>
          <a:xfrm>
            <a:off x="187896" y="1277145"/>
            <a:ext cx="9073008" cy="5596002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latinLnBrk="0">
              <a:lnSpc>
                <a:spcPct val="92000"/>
              </a:lnSpc>
              <a:spcBef>
                <a:spcPts val="0"/>
              </a:spcBef>
              <a:buFont typeface="Wingdings" pitchFamily="2" charset="2"/>
              <a:buChar char="§"/>
            </a:pPr>
            <a:endParaRPr lang="en-US" sz="1700" dirty="0">
              <a:latin typeface="Bookman Old Style" pitchFamily="18" charset="0"/>
              <a:cs typeface="Cambria"/>
            </a:endParaRPr>
          </a:p>
        </p:txBody>
      </p:sp>
    </p:spTree>
    <p:extLst>
      <p:ext uri="{BB962C8B-B14F-4D97-AF65-F5344CB8AC3E}">
        <p14:creationId xmlns:p14="http://schemas.microsoft.com/office/powerpoint/2010/main" val="35159291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53752" y="183478"/>
            <a:ext cx="9036496" cy="1152128"/>
          </a:xfrm>
        </p:spPr>
        <p:txBody>
          <a:bodyPr/>
          <a:lstStyle/>
          <a:p>
            <a:pPr marL="0" indent="0" latinLnBrk="0">
              <a:buNone/>
            </a:pPr>
            <a:r>
              <a:rPr lang="en-US" sz="2000" b="1" dirty="0">
                <a:solidFill>
                  <a:srgbClr val="0000CC"/>
                </a:solidFill>
                <a:latin typeface="Bookman Old Style" pitchFamily="18" charset="0"/>
              </a:rPr>
              <a:t>Example 4.5</a:t>
            </a:r>
            <a:r>
              <a:rPr lang="en-US" sz="2000" dirty="0">
                <a:latin typeface="Bookman Old Style" pitchFamily="18" charset="0"/>
              </a:rPr>
              <a:t>: A program that demonstrates method overloading.</a:t>
            </a:r>
          </a:p>
        </p:txBody>
      </p:sp>
      <p:sp>
        <p:nvSpPr>
          <p:cNvPr id="2" name="Rectangle 1"/>
          <p:cNvSpPr/>
          <p:nvPr/>
        </p:nvSpPr>
        <p:spPr>
          <a:xfrm>
            <a:off x="251520" y="908720"/>
            <a:ext cx="806489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Bookman Old Style" pitchFamily="18" charset="0"/>
              </a:rPr>
              <a:t>public class Sum</a:t>
            </a:r>
          </a:p>
          <a:p>
            <a:r>
              <a:rPr lang="en-US" sz="1600" dirty="0">
                <a:latin typeface="Bookman Old Style" pitchFamily="18" charset="0"/>
              </a:rPr>
              <a:t>{</a:t>
            </a:r>
          </a:p>
          <a:p>
            <a:r>
              <a:rPr lang="en-US" sz="1600" dirty="0">
                <a:latin typeface="Bookman Old Style" pitchFamily="18" charset="0"/>
              </a:rPr>
              <a:t>public </a:t>
            </a:r>
            <a:r>
              <a:rPr lang="en-US" sz="1600" dirty="0" err="1">
                <a:latin typeface="Bookman Old Style" pitchFamily="18" charset="0"/>
              </a:rPr>
              <a:t>int</a:t>
            </a:r>
            <a:r>
              <a:rPr lang="en-US" sz="1600" dirty="0">
                <a:latin typeface="Bookman Old Style" pitchFamily="18" charset="0"/>
              </a:rPr>
              <a:t> </a:t>
            </a:r>
            <a:r>
              <a:rPr lang="en-US" sz="1600" b="1" dirty="0">
                <a:latin typeface="Bookman Old Style" pitchFamily="18" charset="0"/>
              </a:rPr>
              <a:t>sum</a:t>
            </a:r>
            <a:r>
              <a:rPr lang="en-US" sz="1600" dirty="0">
                <a:latin typeface="Bookman Old Style" pitchFamily="18" charset="0"/>
              </a:rPr>
              <a:t>(</a:t>
            </a:r>
            <a:r>
              <a:rPr lang="en-US" sz="1600" dirty="0" err="1">
                <a:latin typeface="Bookman Old Style" pitchFamily="18" charset="0"/>
              </a:rPr>
              <a:t>int</a:t>
            </a:r>
            <a:r>
              <a:rPr lang="en-US" sz="1600" dirty="0">
                <a:latin typeface="Bookman Old Style" pitchFamily="18" charset="0"/>
              </a:rPr>
              <a:t> x, </a:t>
            </a:r>
            <a:r>
              <a:rPr lang="en-US" sz="1600" dirty="0" err="1">
                <a:latin typeface="Bookman Old Style" pitchFamily="18" charset="0"/>
              </a:rPr>
              <a:t>int</a:t>
            </a:r>
            <a:r>
              <a:rPr lang="en-US" sz="1600" dirty="0">
                <a:latin typeface="Bookman Old Style" pitchFamily="18" charset="0"/>
              </a:rPr>
              <a:t> y)</a:t>
            </a:r>
          </a:p>
          <a:p>
            <a:r>
              <a:rPr lang="en-US" sz="1600" dirty="0">
                <a:latin typeface="Bookman Old Style" pitchFamily="18" charset="0"/>
              </a:rPr>
              <a:t>{</a:t>
            </a:r>
          </a:p>
          <a:p>
            <a:r>
              <a:rPr lang="en-US" sz="1600" b="1" dirty="0">
                <a:latin typeface="Bookman Old Style" pitchFamily="18" charset="0"/>
              </a:rPr>
              <a:t>return</a:t>
            </a:r>
            <a:r>
              <a:rPr lang="en-US" sz="1600" dirty="0">
                <a:latin typeface="Bookman Old Style" pitchFamily="18" charset="0"/>
              </a:rPr>
              <a:t> (x + y);</a:t>
            </a:r>
          </a:p>
          <a:p>
            <a:r>
              <a:rPr lang="en-US" sz="1600" dirty="0">
                <a:latin typeface="Bookman Old Style" pitchFamily="18" charset="0"/>
              </a:rPr>
              <a:t>}</a:t>
            </a:r>
          </a:p>
          <a:p>
            <a:r>
              <a:rPr lang="en-US" sz="1600" dirty="0">
                <a:latin typeface="Bookman Old Style" pitchFamily="18" charset="0"/>
              </a:rPr>
              <a:t>public </a:t>
            </a:r>
            <a:r>
              <a:rPr lang="en-US" sz="1600" dirty="0" err="1">
                <a:latin typeface="Bookman Old Style" pitchFamily="18" charset="0"/>
              </a:rPr>
              <a:t>int</a:t>
            </a:r>
            <a:r>
              <a:rPr lang="en-US" sz="1600" dirty="0">
                <a:latin typeface="Bookman Old Style" pitchFamily="18" charset="0"/>
              </a:rPr>
              <a:t> </a:t>
            </a:r>
            <a:r>
              <a:rPr lang="en-US" sz="1600" b="1" dirty="0">
                <a:latin typeface="Bookman Old Style" pitchFamily="18" charset="0"/>
              </a:rPr>
              <a:t>sum</a:t>
            </a:r>
            <a:r>
              <a:rPr lang="en-US" sz="1600" dirty="0">
                <a:latin typeface="Bookman Old Style" pitchFamily="18" charset="0"/>
              </a:rPr>
              <a:t>(</a:t>
            </a:r>
            <a:r>
              <a:rPr lang="en-US" sz="1600" dirty="0" err="1">
                <a:latin typeface="Bookman Old Style" pitchFamily="18" charset="0"/>
              </a:rPr>
              <a:t>int</a:t>
            </a:r>
            <a:r>
              <a:rPr lang="en-US" sz="1600" dirty="0">
                <a:latin typeface="Bookman Old Style" pitchFamily="18" charset="0"/>
              </a:rPr>
              <a:t> x, </a:t>
            </a:r>
            <a:r>
              <a:rPr lang="en-US" sz="1600" dirty="0" err="1">
                <a:latin typeface="Bookman Old Style" pitchFamily="18" charset="0"/>
              </a:rPr>
              <a:t>int</a:t>
            </a:r>
            <a:r>
              <a:rPr lang="en-US" sz="1600" dirty="0">
                <a:latin typeface="Bookman Old Style" pitchFamily="18" charset="0"/>
              </a:rPr>
              <a:t> y, </a:t>
            </a:r>
            <a:r>
              <a:rPr lang="en-US" sz="1600" dirty="0" err="1">
                <a:latin typeface="Bookman Old Style" pitchFamily="18" charset="0"/>
              </a:rPr>
              <a:t>int</a:t>
            </a:r>
            <a:r>
              <a:rPr lang="en-US" sz="1600" dirty="0">
                <a:latin typeface="Bookman Old Style" pitchFamily="18" charset="0"/>
              </a:rPr>
              <a:t> z)</a:t>
            </a:r>
          </a:p>
          <a:p>
            <a:r>
              <a:rPr lang="en-US" sz="1600" dirty="0">
                <a:latin typeface="Bookman Old Style" pitchFamily="18" charset="0"/>
              </a:rPr>
              <a:t>{</a:t>
            </a:r>
          </a:p>
          <a:p>
            <a:r>
              <a:rPr lang="en-US" sz="1600" b="1" dirty="0">
                <a:latin typeface="Bookman Old Style" pitchFamily="18" charset="0"/>
              </a:rPr>
              <a:t>return</a:t>
            </a:r>
            <a:r>
              <a:rPr lang="en-US" sz="1600" dirty="0">
                <a:latin typeface="Bookman Old Style" pitchFamily="18" charset="0"/>
              </a:rPr>
              <a:t> (x + y + z);</a:t>
            </a:r>
          </a:p>
          <a:p>
            <a:r>
              <a:rPr lang="en-US" sz="1600" dirty="0">
                <a:latin typeface="Bookman Old Style" pitchFamily="18" charset="0"/>
              </a:rPr>
              <a:t>}</a:t>
            </a:r>
          </a:p>
          <a:p>
            <a:r>
              <a:rPr lang="en-US" sz="1600" dirty="0">
                <a:latin typeface="Bookman Old Style" pitchFamily="18" charset="0"/>
              </a:rPr>
              <a:t>public double </a:t>
            </a:r>
            <a:r>
              <a:rPr lang="en-US" sz="1600" b="1" dirty="0">
                <a:latin typeface="Bookman Old Style" pitchFamily="18" charset="0"/>
              </a:rPr>
              <a:t>sum</a:t>
            </a:r>
            <a:r>
              <a:rPr lang="en-US" sz="1600" dirty="0">
                <a:latin typeface="Bookman Old Style" pitchFamily="18" charset="0"/>
              </a:rPr>
              <a:t>(double x, double y)</a:t>
            </a:r>
          </a:p>
          <a:p>
            <a:r>
              <a:rPr lang="en-US" sz="1600" dirty="0">
                <a:latin typeface="Bookman Old Style" pitchFamily="18" charset="0"/>
              </a:rPr>
              <a:t>{</a:t>
            </a:r>
          </a:p>
          <a:p>
            <a:r>
              <a:rPr lang="en-US" sz="1600" b="1" dirty="0">
                <a:latin typeface="Bookman Old Style" pitchFamily="18" charset="0"/>
              </a:rPr>
              <a:t>return</a:t>
            </a:r>
            <a:r>
              <a:rPr lang="en-US" sz="1600" dirty="0">
                <a:latin typeface="Bookman Old Style" pitchFamily="18" charset="0"/>
              </a:rPr>
              <a:t> (x + y);</a:t>
            </a:r>
          </a:p>
          <a:p>
            <a:r>
              <a:rPr lang="en-US" sz="1600" dirty="0">
                <a:latin typeface="Bookman Old Style" pitchFamily="18" charset="0"/>
              </a:rPr>
              <a:t>} </a:t>
            </a:r>
          </a:p>
          <a:p>
            <a:r>
              <a:rPr lang="en-US" sz="1600" dirty="0">
                <a:latin typeface="Bookman Old Style" pitchFamily="18" charset="0"/>
              </a:rPr>
              <a:t>public static void </a:t>
            </a:r>
            <a:r>
              <a:rPr lang="en-US" sz="1600" b="1" dirty="0">
                <a:latin typeface="Bookman Old Style" pitchFamily="18" charset="0"/>
              </a:rPr>
              <a:t>main</a:t>
            </a:r>
            <a:r>
              <a:rPr lang="en-US" sz="1600" dirty="0">
                <a:latin typeface="Bookman Old Style" pitchFamily="18" charset="0"/>
              </a:rPr>
              <a:t>(String </a:t>
            </a:r>
            <a:r>
              <a:rPr lang="en-US" sz="1600" dirty="0" err="1">
                <a:latin typeface="Bookman Old Style" pitchFamily="18" charset="0"/>
              </a:rPr>
              <a:t>args</a:t>
            </a:r>
            <a:r>
              <a:rPr lang="en-US" sz="1600" dirty="0">
                <a:latin typeface="Bookman Old Style" pitchFamily="18" charset="0"/>
              </a:rPr>
              <a:t>[])</a:t>
            </a:r>
          </a:p>
          <a:p>
            <a:r>
              <a:rPr lang="en-US" sz="1600" dirty="0">
                <a:latin typeface="Bookman Old Style" pitchFamily="18" charset="0"/>
              </a:rPr>
              <a:t>{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Sum s = new </a:t>
            </a:r>
            <a:r>
              <a:rPr lang="en-US" sz="1600" b="1" dirty="0">
                <a:latin typeface="Bookman Old Style" pitchFamily="18" charset="0"/>
              </a:rPr>
              <a:t>Sum</a:t>
            </a:r>
            <a:r>
              <a:rPr lang="en-US" sz="1600" dirty="0">
                <a:latin typeface="Bookman Old Style" pitchFamily="18" charset="0"/>
              </a:rPr>
              <a:t>();</a:t>
            </a:r>
          </a:p>
          <a:p>
            <a:pPr lvl="1"/>
            <a:r>
              <a:rPr lang="en-US" sz="1600" dirty="0" err="1">
                <a:latin typeface="Bookman Old Style" pitchFamily="18" charset="0"/>
              </a:rPr>
              <a:t>System.out.println</a:t>
            </a:r>
            <a:r>
              <a:rPr lang="en-US" sz="1600" dirty="0">
                <a:latin typeface="Bookman Old Style" pitchFamily="18" charset="0"/>
              </a:rPr>
              <a:t>(</a:t>
            </a:r>
            <a:r>
              <a:rPr lang="en-US" sz="1600" dirty="0" err="1">
                <a:latin typeface="Bookman Old Style" pitchFamily="18" charset="0"/>
              </a:rPr>
              <a:t>s.</a:t>
            </a:r>
            <a:r>
              <a:rPr lang="en-US" sz="1600" b="1" dirty="0" err="1">
                <a:latin typeface="Bookman Old Style" pitchFamily="18" charset="0"/>
              </a:rPr>
              <a:t>sum</a:t>
            </a:r>
            <a:r>
              <a:rPr lang="en-US" sz="1600" dirty="0">
                <a:latin typeface="Bookman Old Style" pitchFamily="18" charset="0"/>
              </a:rPr>
              <a:t>(10, 20));</a:t>
            </a:r>
          </a:p>
          <a:p>
            <a:pPr lvl="1"/>
            <a:r>
              <a:rPr lang="en-US" sz="1600" dirty="0" err="1">
                <a:latin typeface="Bookman Old Style" pitchFamily="18" charset="0"/>
              </a:rPr>
              <a:t>System.out.</a:t>
            </a:r>
            <a:r>
              <a:rPr lang="en-US" sz="1600" b="1" dirty="0" err="1">
                <a:latin typeface="Bookman Old Style" pitchFamily="18" charset="0"/>
              </a:rPr>
              <a:t>println</a:t>
            </a:r>
            <a:r>
              <a:rPr lang="en-US" sz="1600" dirty="0">
                <a:latin typeface="Bookman Old Style" pitchFamily="18" charset="0"/>
              </a:rPr>
              <a:t>(</a:t>
            </a:r>
            <a:r>
              <a:rPr lang="en-US" sz="1600" dirty="0" err="1">
                <a:latin typeface="Bookman Old Style" pitchFamily="18" charset="0"/>
              </a:rPr>
              <a:t>s.</a:t>
            </a:r>
            <a:r>
              <a:rPr lang="en-US" sz="1600" b="1" dirty="0" err="1">
                <a:latin typeface="Bookman Old Style" pitchFamily="18" charset="0"/>
              </a:rPr>
              <a:t>sum</a:t>
            </a:r>
            <a:r>
              <a:rPr lang="en-US" sz="1600" dirty="0">
                <a:latin typeface="Bookman Old Style" pitchFamily="18" charset="0"/>
              </a:rPr>
              <a:t>(10, 20, 30));</a:t>
            </a:r>
          </a:p>
          <a:p>
            <a:pPr lvl="1"/>
            <a:r>
              <a:rPr lang="en-US" sz="1600" dirty="0" err="1">
                <a:latin typeface="Bookman Old Style" pitchFamily="18" charset="0"/>
              </a:rPr>
              <a:t>System.out.println</a:t>
            </a:r>
            <a:r>
              <a:rPr lang="en-US" sz="1600" dirty="0">
                <a:latin typeface="Bookman Old Style" pitchFamily="18" charset="0"/>
              </a:rPr>
              <a:t>(</a:t>
            </a:r>
            <a:r>
              <a:rPr lang="en-US" sz="1600" dirty="0" err="1">
                <a:latin typeface="Bookman Old Style" pitchFamily="18" charset="0"/>
              </a:rPr>
              <a:t>s.sum</a:t>
            </a:r>
            <a:r>
              <a:rPr lang="en-US" sz="1600" dirty="0">
                <a:latin typeface="Bookman Old Style" pitchFamily="18" charset="0"/>
              </a:rPr>
              <a:t>(10.5, 20.5));</a:t>
            </a:r>
          </a:p>
          <a:p>
            <a:r>
              <a:rPr lang="en-US" sz="1600" dirty="0">
                <a:latin typeface="Bookman Old Style" pitchFamily="18" charset="0"/>
              </a:rPr>
              <a:t>}</a:t>
            </a:r>
          </a:p>
          <a:p>
            <a:r>
              <a:rPr lang="en-US" sz="1600" dirty="0">
                <a:latin typeface="Bookman Old Style" pitchFamily="18" charset="0"/>
              </a:rPr>
              <a:t>}</a:t>
            </a:r>
          </a:p>
        </p:txBody>
      </p:sp>
      <p:sp>
        <p:nvSpPr>
          <p:cNvPr id="3" name="Rectangle 2"/>
          <p:cNvSpPr/>
          <p:nvPr/>
        </p:nvSpPr>
        <p:spPr>
          <a:xfrm>
            <a:off x="4954442" y="1254808"/>
            <a:ext cx="4082054" cy="646331"/>
          </a:xfrm>
          <a:prstGeom prst="rect">
            <a:avLst/>
          </a:prstGeom>
          <a:solidFill>
            <a:srgbClr val="FFFF00"/>
          </a:solidFill>
        </p:spPr>
        <p:txBody>
          <a:bodyPr wrap="square">
            <a:spAutoFit/>
          </a:bodyPr>
          <a:lstStyle/>
          <a:p>
            <a:pPr algn="just" latinLnBrk="0"/>
            <a:r>
              <a:rPr lang="en-US" dirty="0">
                <a:latin typeface="Bookman Old Style" pitchFamily="18" charset="0"/>
              </a:rPr>
              <a:t>Overloaded sum(). This sum takes two </a:t>
            </a:r>
            <a:r>
              <a:rPr lang="en-US" dirty="0" err="1">
                <a:latin typeface="Bookman Old Style" pitchFamily="18" charset="0"/>
              </a:rPr>
              <a:t>int</a:t>
            </a:r>
            <a:r>
              <a:rPr lang="en-US" dirty="0">
                <a:latin typeface="Bookman Old Style" pitchFamily="18" charset="0"/>
              </a:rPr>
              <a:t> parameters</a:t>
            </a:r>
          </a:p>
        </p:txBody>
      </p:sp>
      <p:cxnSp>
        <p:nvCxnSpPr>
          <p:cNvPr id="12" name="Straight Arrow Connector 11"/>
          <p:cNvCxnSpPr/>
          <p:nvPr/>
        </p:nvCxnSpPr>
        <p:spPr>
          <a:xfrm flipH="1">
            <a:off x="3010226" y="1577973"/>
            <a:ext cx="1944216" cy="0"/>
          </a:xfrm>
          <a:prstGeom prst="straightConnector1">
            <a:avLst/>
          </a:prstGeom>
          <a:ln w="28575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" name="Group 14"/>
          <p:cNvGrpSpPr/>
          <p:nvPr/>
        </p:nvGrpSpPr>
        <p:grpSpPr>
          <a:xfrm>
            <a:off x="3635896" y="2204864"/>
            <a:ext cx="5364246" cy="646331"/>
            <a:chOff x="3824650" y="1407208"/>
            <a:chExt cx="5364246" cy="646331"/>
          </a:xfrm>
        </p:grpSpPr>
        <p:sp>
          <p:nvSpPr>
            <p:cNvPr id="13" name="Rectangle 12"/>
            <p:cNvSpPr/>
            <p:nvPr/>
          </p:nvSpPr>
          <p:spPr>
            <a:xfrm>
              <a:off x="5106842" y="1407208"/>
              <a:ext cx="4082054" cy="64633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ookman Old Style" pitchFamily="18" charset="0"/>
                </a:rPr>
                <a:t>Overloaded sum(). This sum takes three </a:t>
              </a:r>
              <a:r>
                <a:rPr lang="en-US" dirty="0" err="1">
                  <a:latin typeface="Bookman Old Style" pitchFamily="18" charset="0"/>
                </a:rPr>
                <a:t>int</a:t>
              </a:r>
              <a:r>
                <a:rPr lang="en-US" dirty="0">
                  <a:latin typeface="Bookman Old Style" pitchFamily="18" charset="0"/>
                </a:rPr>
                <a:t> parameters</a:t>
              </a:r>
            </a:p>
          </p:txBody>
        </p:sp>
        <p:cxnSp>
          <p:nvCxnSpPr>
            <p:cNvPr id="14" name="Straight Arrow Connector 13"/>
            <p:cNvCxnSpPr/>
            <p:nvPr/>
          </p:nvCxnSpPr>
          <p:spPr>
            <a:xfrm flipH="1">
              <a:off x="3824650" y="1730373"/>
              <a:ext cx="1282192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4276992" y="3212976"/>
            <a:ext cx="4723150" cy="646331"/>
            <a:chOff x="4465746" y="1407208"/>
            <a:chExt cx="4723150" cy="646331"/>
          </a:xfrm>
        </p:grpSpPr>
        <p:sp>
          <p:nvSpPr>
            <p:cNvPr id="18" name="Rectangle 17"/>
            <p:cNvSpPr/>
            <p:nvPr/>
          </p:nvSpPr>
          <p:spPr>
            <a:xfrm>
              <a:off x="5106842" y="1407208"/>
              <a:ext cx="4082054" cy="64633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>
              <a:spAutoFit/>
            </a:bodyPr>
            <a:lstStyle/>
            <a:p>
              <a:r>
                <a:rPr lang="en-US" dirty="0">
                  <a:latin typeface="Bookman Old Style" pitchFamily="18" charset="0"/>
                </a:rPr>
                <a:t>Overloaded sum(). This sum takes two double parameters</a:t>
              </a:r>
            </a:p>
          </p:txBody>
        </p:sp>
        <p:cxnSp>
          <p:nvCxnSpPr>
            <p:cNvPr id="19" name="Straight Arrow Connector 18"/>
            <p:cNvCxnSpPr/>
            <p:nvPr/>
          </p:nvCxnSpPr>
          <p:spPr>
            <a:xfrm flipH="1">
              <a:off x="4465746" y="1730373"/>
              <a:ext cx="641096" cy="0"/>
            </a:xfrm>
            <a:prstGeom prst="straightConnector1">
              <a:avLst/>
            </a:prstGeom>
            <a:ln w="28575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908855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8424" y="130280"/>
            <a:ext cx="7620000" cy="1143000"/>
          </a:xfrm>
        </p:spPr>
        <p:txBody>
          <a:bodyPr/>
          <a:lstStyle/>
          <a:p>
            <a:r>
              <a:rPr lang="en-US" sz="3200" b="0" dirty="0"/>
              <a:t>Different Methods of Method Overloading</a:t>
            </a:r>
            <a:endParaRPr lang="en-US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3349" y="1124744"/>
            <a:ext cx="8856984" cy="4800600"/>
          </a:xfrm>
        </p:spPr>
        <p:txBody>
          <a:bodyPr>
            <a:noAutofit/>
          </a:bodyPr>
          <a:lstStyle/>
          <a:p>
            <a:r>
              <a:rPr lang="en-US" sz="2400" dirty="0">
                <a:latin typeface="Bookman Old Style" pitchFamily="18" charset="0"/>
              </a:rPr>
              <a:t>By number of parameters in two methods</a:t>
            </a:r>
          </a:p>
          <a:p>
            <a:pPr lvl="1"/>
            <a:r>
              <a:rPr lang="en-US" sz="2000" dirty="0">
                <a:latin typeface="Bookman Old Style" pitchFamily="18" charset="0"/>
              </a:rPr>
              <a:t>public </a:t>
            </a:r>
            <a:r>
              <a:rPr lang="en-US" sz="2000" dirty="0" err="1">
                <a:latin typeface="Bookman Old Style" pitchFamily="18" charset="0"/>
              </a:rPr>
              <a:t>int</a:t>
            </a:r>
            <a:r>
              <a:rPr lang="en-US" sz="2000" dirty="0">
                <a:latin typeface="Bookman Old Style" pitchFamily="18" charset="0"/>
              </a:rPr>
              <a:t> add(</a:t>
            </a:r>
            <a:r>
              <a:rPr lang="en-US" sz="2000" dirty="0" err="1">
                <a:latin typeface="Bookman Old Style" pitchFamily="18" charset="0"/>
              </a:rPr>
              <a:t>int</a:t>
            </a:r>
            <a:r>
              <a:rPr lang="en-US" sz="2000" dirty="0">
                <a:latin typeface="Bookman Old Style" pitchFamily="18" charset="0"/>
              </a:rPr>
              <a:t> a, </a:t>
            </a:r>
            <a:r>
              <a:rPr lang="en-US" sz="2000" dirty="0" err="1">
                <a:latin typeface="Bookman Old Style" pitchFamily="18" charset="0"/>
              </a:rPr>
              <a:t>int</a:t>
            </a:r>
            <a:r>
              <a:rPr lang="en-US" sz="2000" dirty="0">
                <a:latin typeface="Bookman Old Style" pitchFamily="18" charset="0"/>
              </a:rPr>
              <a:t> b)</a:t>
            </a:r>
          </a:p>
          <a:p>
            <a:pPr lvl="1"/>
            <a:r>
              <a:rPr lang="en-US" sz="2000" dirty="0">
                <a:latin typeface="Bookman Old Style" pitchFamily="18" charset="0"/>
              </a:rPr>
              <a:t>public </a:t>
            </a:r>
            <a:r>
              <a:rPr lang="en-US" sz="2000" dirty="0" err="1">
                <a:latin typeface="Bookman Old Style" pitchFamily="18" charset="0"/>
              </a:rPr>
              <a:t>int</a:t>
            </a:r>
            <a:r>
              <a:rPr lang="en-US" sz="2000" dirty="0">
                <a:latin typeface="Bookman Old Style" pitchFamily="18" charset="0"/>
              </a:rPr>
              <a:t> add(</a:t>
            </a:r>
            <a:r>
              <a:rPr lang="en-US" sz="2000" dirty="0" err="1">
                <a:latin typeface="Bookman Old Style" pitchFamily="18" charset="0"/>
              </a:rPr>
              <a:t>int</a:t>
            </a:r>
            <a:r>
              <a:rPr lang="en-US" sz="2000" dirty="0">
                <a:latin typeface="Bookman Old Style" pitchFamily="18" charset="0"/>
              </a:rPr>
              <a:t> a, </a:t>
            </a:r>
            <a:r>
              <a:rPr lang="en-US" sz="2000" dirty="0" err="1">
                <a:latin typeface="Bookman Old Style" pitchFamily="18" charset="0"/>
              </a:rPr>
              <a:t>int</a:t>
            </a:r>
            <a:r>
              <a:rPr lang="en-US" sz="2000" dirty="0">
                <a:latin typeface="Bookman Old Style" pitchFamily="18" charset="0"/>
              </a:rPr>
              <a:t> b, </a:t>
            </a:r>
            <a:r>
              <a:rPr lang="en-US" sz="2000" dirty="0" err="1">
                <a:latin typeface="Bookman Old Style" pitchFamily="18" charset="0"/>
              </a:rPr>
              <a:t>int</a:t>
            </a:r>
            <a:r>
              <a:rPr lang="en-US" sz="2000" dirty="0">
                <a:latin typeface="Bookman Old Style" pitchFamily="18" charset="0"/>
              </a:rPr>
              <a:t> c)</a:t>
            </a:r>
          </a:p>
          <a:p>
            <a:r>
              <a:rPr lang="en-US" sz="2400" dirty="0">
                <a:latin typeface="Bookman Old Style" pitchFamily="18" charset="0"/>
              </a:rPr>
              <a:t>By data types of the parameters of methods</a:t>
            </a:r>
          </a:p>
          <a:p>
            <a:pPr lvl="1"/>
            <a:r>
              <a:rPr lang="en-US" sz="2000" dirty="0">
                <a:latin typeface="Bookman Old Style" pitchFamily="18" charset="0"/>
              </a:rPr>
              <a:t>public </a:t>
            </a:r>
            <a:r>
              <a:rPr lang="en-US" sz="2000" dirty="0" err="1">
                <a:latin typeface="Bookman Old Style" pitchFamily="18" charset="0"/>
              </a:rPr>
              <a:t>int</a:t>
            </a:r>
            <a:r>
              <a:rPr lang="en-US" sz="2000" dirty="0">
                <a:latin typeface="Bookman Old Style" pitchFamily="18" charset="0"/>
              </a:rPr>
              <a:t> add(</a:t>
            </a:r>
            <a:r>
              <a:rPr lang="en-US" sz="2000" dirty="0" err="1">
                <a:latin typeface="Bookman Old Style" pitchFamily="18" charset="0"/>
              </a:rPr>
              <a:t>int</a:t>
            </a:r>
            <a:r>
              <a:rPr lang="en-US" sz="2000" dirty="0">
                <a:latin typeface="Bookman Old Style" pitchFamily="18" charset="0"/>
              </a:rPr>
              <a:t> a, </a:t>
            </a:r>
            <a:r>
              <a:rPr lang="en-US" sz="2000" dirty="0" err="1">
                <a:latin typeface="Bookman Old Style" pitchFamily="18" charset="0"/>
              </a:rPr>
              <a:t>int</a:t>
            </a:r>
            <a:r>
              <a:rPr lang="en-US" sz="2000" dirty="0">
                <a:latin typeface="Bookman Old Style" pitchFamily="18" charset="0"/>
              </a:rPr>
              <a:t> b, </a:t>
            </a:r>
            <a:r>
              <a:rPr lang="en-US" sz="2000" dirty="0" err="1">
                <a:latin typeface="Bookman Old Style" pitchFamily="18" charset="0"/>
              </a:rPr>
              <a:t>int</a:t>
            </a:r>
            <a:r>
              <a:rPr lang="en-US" sz="2000" dirty="0">
                <a:latin typeface="Bookman Old Style" pitchFamily="18" charset="0"/>
              </a:rPr>
              <a:t> c)</a:t>
            </a:r>
          </a:p>
          <a:p>
            <a:pPr lvl="1"/>
            <a:r>
              <a:rPr lang="en-US" sz="2000" dirty="0">
                <a:latin typeface="Bookman Old Style" pitchFamily="18" charset="0"/>
              </a:rPr>
              <a:t>public double add(double a, double b, double c)</a:t>
            </a:r>
            <a:r>
              <a:rPr lang="en-US" sz="2400" dirty="0">
                <a:solidFill>
                  <a:schemeClr val="tx1"/>
                </a:solidFill>
                <a:latin typeface="Bookman Old Style" pitchFamily="18" charset="0"/>
                <a:cs typeface="Arial" pitchFamily="34" charset="0"/>
              </a:rPr>
              <a:t>	   </a:t>
            </a:r>
          </a:p>
          <a:p>
            <a:pPr algn="just" latinLnBrk="0">
              <a:lnSpc>
                <a:spcPct val="150000"/>
              </a:lnSpc>
              <a:spcBef>
                <a:spcPts val="0"/>
              </a:spcBef>
              <a:defRPr/>
            </a:pPr>
            <a:r>
              <a:rPr lang="en-US" sz="2400" dirty="0">
                <a:latin typeface="Bookman Old Style" pitchFamily="18" charset="0"/>
              </a:rPr>
              <a:t>By order of the parameters of methods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latin typeface="Bookman Old Style" pitchFamily="18" charset="0"/>
              </a:rPr>
              <a:t>public void display(String a, </a:t>
            </a:r>
            <a:r>
              <a:rPr lang="en-US" sz="2000" dirty="0" err="1">
                <a:latin typeface="Bookman Old Style" pitchFamily="18" charset="0"/>
              </a:rPr>
              <a:t>int</a:t>
            </a:r>
            <a:r>
              <a:rPr lang="en-US" sz="2000" dirty="0">
                <a:latin typeface="Bookman Old Style" pitchFamily="18" charset="0"/>
              </a:rPr>
              <a:t> b)</a:t>
            </a:r>
          </a:p>
          <a:p>
            <a:pPr lvl="1">
              <a:lnSpc>
                <a:spcPct val="150000"/>
              </a:lnSpc>
              <a:defRPr/>
            </a:pPr>
            <a:r>
              <a:rPr lang="en-US" sz="2000" dirty="0">
                <a:latin typeface="Bookman Old Style" pitchFamily="18" charset="0"/>
              </a:rPr>
              <a:t>public void display(</a:t>
            </a:r>
            <a:r>
              <a:rPr lang="en-US" sz="2000" dirty="0" err="1">
                <a:latin typeface="Bookman Old Style" pitchFamily="18" charset="0"/>
              </a:rPr>
              <a:t>int</a:t>
            </a:r>
            <a:r>
              <a:rPr lang="en-US" sz="2000" dirty="0">
                <a:latin typeface="Bookman Old Style" pitchFamily="18" charset="0"/>
              </a:rPr>
              <a:t> b, String a)</a:t>
            </a:r>
          </a:p>
          <a:p>
            <a:pPr lvl="1">
              <a:lnSpc>
                <a:spcPct val="150000"/>
              </a:lnSpc>
              <a:defRPr/>
            </a:pPr>
            <a:endParaRPr lang="en-US" sz="2400" dirty="0">
              <a:latin typeface="Bookman Old Style" pitchFamily="18" charset="0"/>
            </a:endParaRPr>
          </a:p>
          <a:p>
            <a:pPr marL="0" indent="0" algn="just" latinLnBrk="0">
              <a:lnSpc>
                <a:spcPct val="150000"/>
              </a:lnSpc>
              <a:spcBef>
                <a:spcPts val="0"/>
              </a:spcBef>
              <a:buNone/>
              <a:defRPr/>
            </a:pPr>
            <a:endParaRPr lang="en-US" sz="2400" dirty="0">
              <a:latin typeface="Bookman Old Style" pitchFamily="18" charset="0"/>
              <a:cs typeface="Arial" pitchFamily="34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0" y="-27384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69336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646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197768"/>
            <a:ext cx="8496944" cy="1143000"/>
          </a:xfrm>
        </p:spPr>
        <p:txBody>
          <a:bodyPr/>
          <a:lstStyle/>
          <a:p>
            <a:r>
              <a:rPr lang="en-US" dirty="0"/>
              <a:t>Method Overriding and Overloading</a:t>
            </a:r>
          </a:p>
        </p:txBody>
      </p:sp>
      <p:sp>
        <p:nvSpPr>
          <p:cNvPr id="4" name="Title 1"/>
          <p:cNvSpPr txBox="1">
            <a:spLocks/>
          </p:cNvSpPr>
          <p:nvPr/>
        </p:nvSpPr>
        <p:spPr>
          <a:xfrm>
            <a:off x="541522" y="208571"/>
            <a:ext cx="7556313" cy="11161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3600" b="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3200" dirty="0"/>
          </a:p>
        </p:txBody>
      </p:sp>
      <p:sp>
        <p:nvSpPr>
          <p:cNvPr id="5" name="Rectangle 4"/>
          <p:cNvSpPr/>
          <p:nvPr/>
        </p:nvSpPr>
        <p:spPr>
          <a:xfrm>
            <a:off x="2469745" y="3710183"/>
            <a:ext cx="18466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endParaRPr lang="en-US" dirty="0">
              <a:latin typeface="Bookman Old Style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6720747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2741989"/>
            <a:ext cx="8718883" cy="38152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719379" y="6266530"/>
            <a:ext cx="1603324" cy="40011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Bookman Old Style" pitchFamily="18" charset="0"/>
              </a:rPr>
              <a:t>Overriding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66813" y="6269250"/>
            <a:ext cx="1786066" cy="400110"/>
          </a:xfrm>
          <a:prstGeom prst="rect">
            <a:avLst/>
          </a:prstGeom>
          <a:solidFill>
            <a:schemeClr val="bg2"/>
          </a:solidFill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Bookman Old Style" pitchFamily="18" charset="0"/>
              </a:rPr>
              <a:t>Overloading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83744" y="1022156"/>
            <a:ext cx="8780743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 algn="just" latinLnBrk="0">
              <a:buFont typeface="Wingdings" pitchFamily="2" charset="2"/>
              <a:buChar char="§"/>
            </a:pPr>
            <a:r>
              <a:rPr lang="en-US" dirty="0">
                <a:latin typeface="Bookman Old Style" pitchFamily="18" charset="0"/>
              </a:rPr>
              <a:t>Overridden methods are in different classes related by inheritance; overloaded methods can be either in the same class or different classes related by inheritance.</a:t>
            </a:r>
          </a:p>
          <a:p>
            <a:pPr marL="285750" indent="-285750" algn="just" latinLnBrk="0">
              <a:buFont typeface="Wingdings" pitchFamily="2" charset="2"/>
              <a:buChar char="§"/>
            </a:pPr>
            <a:r>
              <a:rPr lang="en-US" dirty="0">
                <a:latin typeface="Bookman Old Style" pitchFamily="18" charset="0"/>
              </a:rPr>
              <a:t>Overridden methods have the same signature and return type; overloaded methods have the same name but a different parameter list.</a:t>
            </a:r>
          </a:p>
        </p:txBody>
      </p:sp>
    </p:spTree>
    <p:extLst>
      <p:ext uri="{BB962C8B-B14F-4D97-AF65-F5344CB8AC3E}">
        <p14:creationId xmlns:p14="http://schemas.microsoft.com/office/powerpoint/2010/main" val="2209565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504" y="286799"/>
            <a:ext cx="8874835" cy="6670593"/>
          </a:xfrm>
          <a:solidFill>
            <a:srgbClr val="FFFFFF"/>
          </a:solidFill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n-US" sz="1800" b="1" dirty="0">
                <a:solidFill>
                  <a:srgbClr val="0000CC"/>
                </a:solidFill>
                <a:latin typeface="Bookman Old Style" pitchFamily="18" charset="0"/>
              </a:rPr>
              <a:t>Exercise 4.1</a:t>
            </a:r>
            <a:r>
              <a:rPr lang="en-US" sz="1800" dirty="0">
                <a:latin typeface="Bookman Old Style" pitchFamily="18" charset="0"/>
              </a:rPr>
              <a:t>. Design a class named </a:t>
            </a:r>
            <a:r>
              <a:rPr lang="en-US" sz="1800" dirty="0" err="1">
                <a:latin typeface="Bookman Old Style" pitchFamily="18" charset="0"/>
              </a:rPr>
              <a:t>BankAccount</a:t>
            </a:r>
            <a:r>
              <a:rPr lang="en-US" sz="1800" dirty="0">
                <a:latin typeface="Bookman Old Style" pitchFamily="18" charset="0"/>
              </a:rPr>
              <a:t> and its subclass </a:t>
            </a:r>
            <a:r>
              <a:rPr lang="en-US" sz="1800" dirty="0" err="1">
                <a:latin typeface="Bookman Old Style" pitchFamily="18" charset="0"/>
              </a:rPr>
              <a:t>OverdraftAccount</a:t>
            </a:r>
            <a:r>
              <a:rPr lang="en-US" sz="1800" dirty="0">
                <a:latin typeface="Bookman Old Style" pitchFamily="18" charset="0"/>
              </a:rPr>
              <a:t>. </a:t>
            </a:r>
          </a:p>
          <a:p>
            <a:pPr algn="just">
              <a:buFont typeface="Wingdings" pitchFamily="2" charset="2"/>
              <a:buChar char="§"/>
            </a:pPr>
            <a:r>
              <a:rPr lang="en-US" sz="1800" dirty="0" err="1">
                <a:latin typeface="Bookman Old Style" pitchFamily="18" charset="0"/>
              </a:rPr>
              <a:t>BankAccount</a:t>
            </a:r>
            <a:r>
              <a:rPr lang="en-US" sz="1800" dirty="0">
                <a:latin typeface="Bookman Old Style" pitchFamily="18" charset="0"/>
              </a:rPr>
              <a:t> class has 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>
                <a:latin typeface="Bookman Old Style" pitchFamily="18" charset="0"/>
              </a:rPr>
              <a:t>instance variables: </a:t>
            </a:r>
            <a:r>
              <a:rPr lang="en-US" sz="1800" b="1" dirty="0" err="1">
                <a:latin typeface="Bookman Old Style" pitchFamily="18" charset="0"/>
              </a:rPr>
              <a:t>ownersName</a:t>
            </a:r>
            <a:r>
              <a:rPr lang="en-US" sz="1800" b="1" dirty="0">
                <a:latin typeface="Bookman Old Style" pitchFamily="18" charset="0"/>
              </a:rPr>
              <a:t>, </a:t>
            </a:r>
            <a:r>
              <a:rPr lang="en-US" sz="1800" b="1" dirty="0" err="1">
                <a:latin typeface="Bookman Old Style" pitchFamily="18" charset="0"/>
              </a:rPr>
              <a:t>accountNumber</a:t>
            </a:r>
            <a:r>
              <a:rPr lang="en-US" sz="1800" b="1" dirty="0">
                <a:latin typeface="Bookman Old Style" pitchFamily="18" charset="0"/>
              </a:rPr>
              <a:t>, balance</a:t>
            </a:r>
            <a:r>
              <a:rPr lang="en-US" sz="1800" dirty="0">
                <a:latin typeface="Bookman Old Style" pitchFamily="18" charset="0"/>
              </a:rPr>
              <a:t>,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>
                <a:latin typeface="Bookman Old Style" pitchFamily="18" charset="0"/>
              </a:rPr>
              <a:t>three argument constructor and 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>
                <a:latin typeface="Bookman Old Style" pitchFamily="18" charset="0"/>
              </a:rPr>
              <a:t>methods: deposit(double </a:t>
            </a:r>
            <a:r>
              <a:rPr lang="en-US" sz="1800" dirty="0" err="1">
                <a:latin typeface="Bookman Old Style" pitchFamily="18" charset="0"/>
              </a:rPr>
              <a:t>anAmount</a:t>
            </a:r>
            <a:r>
              <a:rPr lang="en-US" sz="1800" dirty="0">
                <a:latin typeface="Bookman Old Style" pitchFamily="18" charset="0"/>
              </a:rPr>
              <a:t>), withdraw(double </a:t>
            </a:r>
            <a:r>
              <a:rPr lang="en-US" sz="1800" dirty="0" err="1">
                <a:latin typeface="Bookman Old Style" pitchFamily="18" charset="0"/>
              </a:rPr>
              <a:t>anAmount</a:t>
            </a:r>
            <a:r>
              <a:rPr lang="en-US" sz="1800" dirty="0">
                <a:latin typeface="Bookman Old Style" pitchFamily="18" charset="0"/>
              </a:rPr>
              <a:t>) and </a:t>
            </a:r>
            <a:r>
              <a:rPr lang="en-US" sz="1800" dirty="0" err="1">
                <a:latin typeface="Bookman Old Style" pitchFamily="18" charset="0"/>
              </a:rPr>
              <a:t>getBalance</a:t>
            </a:r>
            <a:r>
              <a:rPr lang="en-US" sz="1800" dirty="0">
                <a:latin typeface="Bookman Old Style" pitchFamily="18" charset="0"/>
              </a:rPr>
              <a:t>() which returns the current balance. deposit method adds deposit amount(</a:t>
            </a:r>
            <a:r>
              <a:rPr lang="en-US" sz="1800" dirty="0" err="1">
                <a:latin typeface="Bookman Old Style" pitchFamily="18" charset="0"/>
              </a:rPr>
              <a:t>anAmount</a:t>
            </a:r>
            <a:r>
              <a:rPr lang="en-US" sz="1800" dirty="0">
                <a:latin typeface="Bookman Old Style" pitchFamily="18" charset="0"/>
              </a:rPr>
              <a:t>) to the current balance if deposit amount is above 0.0. withdraw method updates the current balance by subtracting withdraw amount(</a:t>
            </a:r>
            <a:r>
              <a:rPr lang="en-US" sz="1800" dirty="0" err="1">
                <a:latin typeface="Bookman Old Style" pitchFamily="18" charset="0"/>
              </a:rPr>
              <a:t>anAmount</a:t>
            </a:r>
            <a:r>
              <a:rPr lang="en-US" sz="1800" dirty="0">
                <a:latin typeface="Bookman Old Style" pitchFamily="18" charset="0"/>
              </a:rPr>
              <a:t>) from it if the withdraw amount does not exceeds the current balance. </a:t>
            </a:r>
          </a:p>
          <a:p>
            <a:pPr algn="just">
              <a:buFont typeface="Wingdings" pitchFamily="2" charset="2"/>
              <a:buChar char="§"/>
            </a:pPr>
            <a:r>
              <a:rPr lang="en-US" sz="1800" dirty="0">
                <a:latin typeface="Bookman Old Style" pitchFamily="18" charset="0"/>
              </a:rPr>
              <a:t>For </a:t>
            </a:r>
            <a:r>
              <a:rPr lang="en-US" sz="1800" dirty="0" err="1">
                <a:latin typeface="Bookman Old Style" pitchFamily="18" charset="0"/>
              </a:rPr>
              <a:t>OverdraftAccount</a:t>
            </a:r>
            <a:r>
              <a:rPr lang="en-US" sz="1800" dirty="0">
                <a:latin typeface="Bookman Old Style" pitchFamily="18" charset="0"/>
              </a:rPr>
              <a:t>, 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>
                <a:latin typeface="Bookman Old Style" pitchFamily="18" charset="0"/>
              </a:rPr>
              <a:t>there is one instance variable called limit which is used to limit the withdraw amount of </a:t>
            </a:r>
            <a:r>
              <a:rPr lang="en-US" sz="1800" dirty="0" err="1">
                <a:latin typeface="Bookman Old Style" pitchFamily="18" charset="0"/>
              </a:rPr>
              <a:t>OverdraftAccount</a:t>
            </a:r>
            <a:r>
              <a:rPr lang="en-US" sz="1800" dirty="0">
                <a:latin typeface="Bookman Old Style" pitchFamily="18" charset="0"/>
              </a:rPr>
              <a:t> holders. 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>
                <a:latin typeface="Bookman Old Style" pitchFamily="18" charset="0"/>
              </a:rPr>
              <a:t>Override the withdraw method of its superclass to add limit to the withdraw amount.</a:t>
            </a:r>
          </a:p>
          <a:p>
            <a:pPr lvl="1" algn="just">
              <a:buFont typeface="Wingdings" pitchFamily="2" charset="2"/>
              <a:buChar char="§"/>
            </a:pPr>
            <a:r>
              <a:rPr lang="en-US" sz="1800" dirty="0">
                <a:latin typeface="Bookman Old Style" pitchFamily="18" charset="0"/>
              </a:rPr>
              <a:t> Then, write a main method which creates one </a:t>
            </a:r>
            <a:r>
              <a:rPr lang="en-US" sz="1800" dirty="0" err="1">
                <a:latin typeface="Bookman Old Style" pitchFamily="18" charset="0"/>
              </a:rPr>
              <a:t>BankAccount</a:t>
            </a:r>
            <a:r>
              <a:rPr lang="en-US" sz="1800" dirty="0">
                <a:latin typeface="Bookman Old Style" pitchFamily="18" charset="0"/>
              </a:rPr>
              <a:t> object and </a:t>
            </a:r>
            <a:r>
              <a:rPr lang="en-US" sz="1800" dirty="0" err="1">
                <a:latin typeface="Bookman Old Style" pitchFamily="18" charset="0"/>
              </a:rPr>
              <a:t>OverdraftAccount</a:t>
            </a:r>
            <a:r>
              <a:rPr lang="en-US" sz="1800" dirty="0">
                <a:latin typeface="Bookman Old Style" pitchFamily="18" charset="0"/>
              </a:rPr>
              <a:t> object, do deposits and printout balance, and do withdraws and printout balance.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77880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86415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Box 5"/>
          <p:cNvSpPr txBox="1">
            <a:spLocks noChangeArrowheads="1"/>
          </p:cNvSpPr>
          <p:nvPr/>
        </p:nvSpPr>
        <p:spPr bwMode="auto">
          <a:xfrm>
            <a:off x="467544" y="260648"/>
            <a:ext cx="8208912" cy="6401753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 lvl="1"/>
            <a:r>
              <a:rPr lang="en-US" sz="1600" dirty="0">
                <a:latin typeface="Bookman Old Style" pitchFamily="18" charset="0"/>
              </a:rPr>
              <a:t>class </a:t>
            </a:r>
            <a:r>
              <a:rPr lang="en-US" sz="1600" dirty="0" err="1">
                <a:latin typeface="Bookman Old Style" pitchFamily="18" charset="0"/>
              </a:rPr>
              <a:t>BankAccount</a:t>
            </a:r>
            <a:endParaRPr lang="en-US" sz="1600" dirty="0">
              <a:latin typeface="Bookman Old Style" pitchFamily="18" charset="0"/>
            </a:endParaRPr>
          </a:p>
          <a:p>
            <a:pPr lvl="1"/>
            <a:r>
              <a:rPr lang="en-US" sz="1600" dirty="0">
                <a:latin typeface="Bookman Old Style" pitchFamily="18" charset="0"/>
              </a:rPr>
              <a:t>{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	</a:t>
            </a:r>
            <a:r>
              <a:rPr lang="en-US" sz="1600" b="1" dirty="0">
                <a:latin typeface="Bookman Old Style" pitchFamily="18" charset="0"/>
              </a:rPr>
              <a:t>private</a:t>
            </a:r>
            <a:r>
              <a:rPr lang="en-US" sz="1600" dirty="0">
                <a:latin typeface="Bookman Old Style" pitchFamily="18" charset="0"/>
              </a:rPr>
              <a:t> String </a:t>
            </a:r>
            <a:r>
              <a:rPr lang="en-US" sz="1600" u="sng" dirty="0" err="1">
                <a:latin typeface="Bookman Old Style" pitchFamily="18" charset="0"/>
              </a:rPr>
              <a:t>ownersName</a:t>
            </a:r>
            <a:r>
              <a:rPr lang="en-US" sz="1600" u="sng" dirty="0">
                <a:latin typeface="Bookman Old Style" pitchFamily="18" charset="0"/>
              </a:rPr>
              <a:t>;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	</a:t>
            </a:r>
            <a:r>
              <a:rPr lang="en-US" sz="1600" b="1" dirty="0">
                <a:latin typeface="Bookman Old Style" pitchFamily="18" charset="0"/>
              </a:rPr>
              <a:t>private</a:t>
            </a:r>
            <a:r>
              <a:rPr lang="en-US" sz="1600" dirty="0">
                <a:latin typeface="Bookman Old Style" pitchFamily="18" charset="0"/>
              </a:rPr>
              <a:t> </a:t>
            </a:r>
            <a:r>
              <a:rPr lang="en-US" sz="1600" dirty="0" err="1">
                <a:latin typeface="Bookman Old Style" pitchFamily="18" charset="0"/>
              </a:rPr>
              <a:t>int</a:t>
            </a:r>
            <a:r>
              <a:rPr lang="en-US" sz="1600" dirty="0">
                <a:latin typeface="Bookman Old Style" pitchFamily="18" charset="0"/>
              </a:rPr>
              <a:t> </a:t>
            </a:r>
            <a:r>
              <a:rPr lang="en-US" sz="1600" u="sng" dirty="0" err="1">
                <a:latin typeface="Bookman Old Style" pitchFamily="18" charset="0"/>
              </a:rPr>
              <a:t>accountNumber</a:t>
            </a:r>
            <a:r>
              <a:rPr lang="en-US" sz="1600" u="sng" dirty="0">
                <a:latin typeface="Bookman Old Style" pitchFamily="18" charset="0"/>
              </a:rPr>
              <a:t>;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	</a:t>
            </a:r>
            <a:r>
              <a:rPr lang="en-US" sz="1600" b="1" dirty="0">
                <a:latin typeface="Bookman Old Style" pitchFamily="18" charset="0"/>
              </a:rPr>
              <a:t>protected</a:t>
            </a:r>
            <a:r>
              <a:rPr lang="en-US" sz="1600" dirty="0">
                <a:latin typeface="Bookman Old Style" pitchFamily="18" charset="0"/>
              </a:rPr>
              <a:t> float balance;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	</a:t>
            </a:r>
            <a:r>
              <a:rPr lang="en-US" sz="1600" dirty="0" err="1">
                <a:latin typeface="Bookman Old Style" pitchFamily="18" charset="0"/>
              </a:rPr>
              <a:t>BankAccount</a:t>
            </a:r>
            <a:r>
              <a:rPr lang="en-US" sz="1600" dirty="0">
                <a:latin typeface="Bookman Old Style" pitchFamily="18" charset="0"/>
              </a:rPr>
              <a:t>(String </a:t>
            </a:r>
            <a:r>
              <a:rPr lang="en-US" sz="1600" dirty="0" err="1">
                <a:latin typeface="Bookman Old Style" pitchFamily="18" charset="0"/>
              </a:rPr>
              <a:t>oName,int</a:t>
            </a:r>
            <a:r>
              <a:rPr lang="en-US" sz="1600" dirty="0">
                <a:latin typeface="Bookman Old Style" pitchFamily="18" charset="0"/>
              </a:rPr>
              <a:t> </a:t>
            </a:r>
            <a:r>
              <a:rPr lang="en-US" sz="1600" dirty="0" err="1">
                <a:latin typeface="Bookman Old Style" pitchFamily="18" charset="0"/>
              </a:rPr>
              <a:t>accNumber</a:t>
            </a:r>
            <a:r>
              <a:rPr lang="en-US" sz="1600" dirty="0">
                <a:latin typeface="Bookman Old Style" pitchFamily="18" charset="0"/>
              </a:rPr>
              <a:t>,  double b)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	{</a:t>
            </a:r>
          </a:p>
          <a:p>
            <a:pPr lvl="1"/>
            <a:r>
              <a:rPr lang="pl-PL" sz="1600" dirty="0">
                <a:latin typeface="Bookman Old Style" pitchFamily="18" charset="0"/>
              </a:rPr>
              <a:t>		</a:t>
            </a:r>
            <a:r>
              <a:rPr lang="pl-PL" sz="1600" dirty="0" err="1">
                <a:latin typeface="Bookman Old Style" pitchFamily="18" charset="0"/>
              </a:rPr>
              <a:t>ownersName</a:t>
            </a:r>
            <a:r>
              <a:rPr lang="pl-PL" sz="1600" dirty="0">
                <a:latin typeface="Bookman Old Style" pitchFamily="18" charset="0"/>
              </a:rPr>
              <a:t>=</a:t>
            </a:r>
            <a:r>
              <a:rPr lang="pl-PL" sz="1600" dirty="0" err="1">
                <a:latin typeface="Bookman Old Style" pitchFamily="18" charset="0"/>
              </a:rPr>
              <a:t>oName</a:t>
            </a:r>
            <a:r>
              <a:rPr lang="pl-PL" sz="1600" dirty="0">
                <a:latin typeface="Bookman Old Style" pitchFamily="18" charset="0"/>
              </a:rPr>
              <a:t>;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		</a:t>
            </a:r>
            <a:r>
              <a:rPr lang="en-US" sz="1600" dirty="0" err="1">
                <a:latin typeface="Bookman Old Style" pitchFamily="18" charset="0"/>
              </a:rPr>
              <a:t>accountNumber</a:t>
            </a:r>
            <a:r>
              <a:rPr lang="en-US" sz="1600" dirty="0">
                <a:latin typeface="Bookman Old Style" pitchFamily="18" charset="0"/>
              </a:rPr>
              <a:t>=</a:t>
            </a:r>
            <a:r>
              <a:rPr lang="en-US" sz="1600" dirty="0" err="1">
                <a:latin typeface="Bookman Old Style" pitchFamily="18" charset="0"/>
              </a:rPr>
              <a:t>accNumber</a:t>
            </a:r>
            <a:r>
              <a:rPr lang="en-US" sz="1600" dirty="0">
                <a:latin typeface="Bookman Old Style" pitchFamily="18" charset="0"/>
              </a:rPr>
              <a:t>;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		balance=b;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	}</a:t>
            </a:r>
          </a:p>
          <a:p>
            <a:pPr lvl="1"/>
            <a:r>
              <a:rPr lang="fi-FI" sz="1600" dirty="0">
                <a:latin typeface="Bookman Old Style" pitchFamily="18" charset="0"/>
              </a:rPr>
              <a:t>	</a:t>
            </a:r>
            <a:r>
              <a:rPr lang="fi-FI" sz="1600" dirty="0" err="1">
                <a:latin typeface="Bookman Old Style" pitchFamily="18" charset="0"/>
              </a:rPr>
              <a:t>public</a:t>
            </a:r>
            <a:r>
              <a:rPr lang="fi-FI" sz="1600" dirty="0">
                <a:latin typeface="Bookman Old Style" pitchFamily="18" charset="0"/>
              </a:rPr>
              <a:t> </a:t>
            </a:r>
            <a:r>
              <a:rPr lang="fi-FI" sz="1600" dirty="0" err="1">
                <a:latin typeface="Bookman Old Style" pitchFamily="18" charset="0"/>
              </a:rPr>
              <a:t>void</a:t>
            </a:r>
            <a:r>
              <a:rPr lang="fi-FI" sz="1600" dirty="0">
                <a:latin typeface="Bookman Old Style" pitchFamily="18" charset="0"/>
              </a:rPr>
              <a:t> </a:t>
            </a:r>
            <a:r>
              <a:rPr lang="fi-FI" sz="1600" b="1" dirty="0" err="1">
                <a:latin typeface="Bookman Old Style" pitchFamily="18" charset="0"/>
              </a:rPr>
              <a:t>deposit</a:t>
            </a:r>
            <a:r>
              <a:rPr lang="fi-FI" sz="1600" dirty="0" err="1">
                <a:latin typeface="Bookman Old Style" pitchFamily="18" charset="0"/>
              </a:rPr>
              <a:t>(float</a:t>
            </a:r>
            <a:r>
              <a:rPr lang="fi-FI" sz="1600" dirty="0">
                <a:latin typeface="Bookman Old Style" pitchFamily="18" charset="0"/>
              </a:rPr>
              <a:t> </a:t>
            </a:r>
            <a:r>
              <a:rPr lang="fi-FI" sz="1600" dirty="0" err="1">
                <a:latin typeface="Bookman Old Style" pitchFamily="18" charset="0"/>
              </a:rPr>
              <a:t>anAmount</a:t>
            </a:r>
            <a:r>
              <a:rPr lang="fi-FI" sz="1600" dirty="0">
                <a:latin typeface="Bookman Old Style" pitchFamily="18" charset="0"/>
              </a:rPr>
              <a:t>)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	{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		if (</a:t>
            </a:r>
            <a:r>
              <a:rPr lang="en-US" sz="1600" dirty="0" err="1">
                <a:latin typeface="Bookman Old Style" pitchFamily="18" charset="0"/>
              </a:rPr>
              <a:t>anAmount</a:t>
            </a:r>
            <a:r>
              <a:rPr lang="en-US" sz="1600" dirty="0">
                <a:latin typeface="Bookman Old Style" pitchFamily="18" charset="0"/>
              </a:rPr>
              <a:t>&gt;0.0)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			balance = balance + </a:t>
            </a:r>
            <a:r>
              <a:rPr lang="en-US" sz="1600" dirty="0" err="1">
                <a:latin typeface="Bookman Old Style" pitchFamily="18" charset="0"/>
              </a:rPr>
              <a:t>anAmount</a:t>
            </a:r>
            <a:r>
              <a:rPr lang="en-US" sz="1600" dirty="0">
                <a:latin typeface="Bookman Old Style" pitchFamily="18" charset="0"/>
              </a:rPr>
              <a:t>;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	}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	public void </a:t>
            </a:r>
            <a:r>
              <a:rPr lang="en-US" sz="1600" b="1" dirty="0">
                <a:latin typeface="Bookman Old Style" pitchFamily="18" charset="0"/>
              </a:rPr>
              <a:t>withdraw</a:t>
            </a:r>
            <a:r>
              <a:rPr lang="en-US" sz="1600" dirty="0">
                <a:latin typeface="Bookman Old Style" pitchFamily="18" charset="0"/>
              </a:rPr>
              <a:t>(double </a:t>
            </a:r>
            <a:r>
              <a:rPr lang="en-US" sz="1600" dirty="0" err="1">
                <a:latin typeface="Bookman Old Style" pitchFamily="18" charset="0"/>
              </a:rPr>
              <a:t>anAmount</a:t>
            </a:r>
            <a:r>
              <a:rPr lang="en-US" sz="1600" dirty="0">
                <a:latin typeface="Bookman Old Style" pitchFamily="18" charset="0"/>
              </a:rPr>
              <a:t>)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	{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		if ((</a:t>
            </a:r>
            <a:r>
              <a:rPr lang="en-US" sz="1600" dirty="0" err="1">
                <a:latin typeface="Bookman Old Style" pitchFamily="18" charset="0"/>
              </a:rPr>
              <a:t>anAmount</a:t>
            </a:r>
            <a:r>
              <a:rPr lang="en-US" sz="1600" dirty="0">
                <a:latin typeface="Bookman Old Style" pitchFamily="18" charset="0"/>
              </a:rPr>
              <a:t>&gt;0.0) &amp;&amp; (balance&gt;</a:t>
            </a:r>
            <a:r>
              <a:rPr lang="en-US" sz="1600" dirty="0" err="1">
                <a:latin typeface="Bookman Old Style" pitchFamily="18" charset="0"/>
              </a:rPr>
              <a:t>anAmount</a:t>
            </a:r>
            <a:r>
              <a:rPr lang="en-US" sz="1600" dirty="0">
                <a:latin typeface="Bookman Old Style" pitchFamily="18" charset="0"/>
              </a:rPr>
              <a:t>))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			balance = balance - </a:t>
            </a:r>
            <a:r>
              <a:rPr lang="en-US" sz="1600" dirty="0" err="1">
                <a:latin typeface="Bookman Old Style" pitchFamily="18" charset="0"/>
              </a:rPr>
              <a:t>anAmount</a:t>
            </a:r>
            <a:r>
              <a:rPr lang="en-US" sz="1600" dirty="0">
                <a:latin typeface="Bookman Old Style" pitchFamily="18" charset="0"/>
              </a:rPr>
              <a:t>;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	}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	public float </a:t>
            </a:r>
            <a:r>
              <a:rPr lang="en-US" sz="1600" b="1" dirty="0" err="1">
                <a:latin typeface="Bookman Old Style" pitchFamily="18" charset="0"/>
              </a:rPr>
              <a:t>getBalance</a:t>
            </a:r>
            <a:r>
              <a:rPr lang="en-US" sz="1600" dirty="0">
                <a:latin typeface="Bookman Old Style" pitchFamily="18" charset="0"/>
              </a:rPr>
              <a:t>()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	{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		return balance;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	}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}</a:t>
            </a:r>
            <a:endParaRPr lang="en-GB" sz="1600" dirty="0">
              <a:latin typeface="Bookman Old Style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0" y="677880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14598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6" name="Text Box 4"/>
          <p:cNvSpPr txBox="1">
            <a:spLocks noChangeArrowheads="1"/>
          </p:cNvSpPr>
          <p:nvPr/>
        </p:nvSpPr>
        <p:spPr bwMode="auto">
          <a:xfrm>
            <a:off x="179512" y="260648"/>
            <a:ext cx="8784976" cy="66941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r>
              <a:rPr lang="en-US" sz="1500" dirty="0">
                <a:latin typeface="Bookman Old Style" pitchFamily="18" charset="0"/>
              </a:rPr>
              <a:t>public class </a:t>
            </a:r>
            <a:r>
              <a:rPr lang="en-US" sz="1500" dirty="0" err="1">
                <a:latin typeface="Bookman Old Style" pitchFamily="18" charset="0"/>
              </a:rPr>
              <a:t>OverdraftAccount</a:t>
            </a:r>
            <a:r>
              <a:rPr lang="en-US" sz="1500" dirty="0">
                <a:latin typeface="Bookman Old Style" pitchFamily="18" charset="0"/>
              </a:rPr>
              <a:t> extends </a:t>
            </a:r>
            <a:r>
              <a:rPr lang="en-US" sz="1500" dirty="0" err="1">
                <a:latin typeface="Bookman Old Style" pitchFamily="18" charset="0"/>
              </a:rPr>
              <a:t>BankAccount</a:t>
            </a:r>
            <a:endParaRPr lang="en-US" sz="1500" dirty="0">
              <a:latin typeface="Bookman Old Style" pitchFamily="18" charset="0"/>
            </a:endParaRPr>
          </a:p>
          <a:p>
            <a:r>
              <a:rPr lang="en-US" sz="1500" dirty="0">
                <a:latin typeface="Bookman Old Style" pitchFamily="18" charset="0"/>
              </a:rPr>
              <a:t>{</a:t>
            </a:r>
          </a:p>
          <a:p>
            <a:r>
              <a:rPr lang="ro-RO" sz="1500" dirty="0">
                <a:latin typeface="Bookman Old Style" pitchFamily="18" charset="0"/>
              </a:rPr>
              <a:t>	private double limit;</a:t>
            </a:r>
          </a:p>
          <a:p>
            <a:r>
              <a:rPr lang="en-US" sz="1500" dirty="0">
                <a:latin typeface="Bookman Old Style" pitchFamily="18" charset="0"/>
              </a:rPr>
              <a:t>	</a:t>
            </a:r>
            <a:r>
              <a:rPr lang="en-US" sz="1500" dirty="0" err="1">
                <a:latin typeface="Bookman Old Style" pitchFamily="18" charset="0"/>
              </a:rPr>
              <a:t>OverdraftAccount</a:t>
            </a:r>
            <a:r>
              <a:rPr lang="en-US" sz="1500" dirty="0">
                <a:latin typeface="Bookman Old Style" pitchFamily="18" charset="0"/>
              </a:rPr>
              <a:t>(String </a:t>
            </a:r>
            <a:r>
              <a:rPr lang="en-US" sz="1500" dirty="0" err="1">
                <a:latin typeface="Bookman Old Style" pitchFamily="18" charset="0"/>
              </a:rPr>
              <a:t>oName,int</a:t>
            </a:r>
            <a:r>
              <a:rPr lang="en-US" sz="1500" dirty="0">
                <a:latin typeface="Bookman Old Style" pitchFamily="18" charset="0"/>
              </a:rPr>
              <a:t> </a:t>
            </a:r>
            <a:r>
              <a:rPr lang="en-US" sz="1500" dirty="0" err="1">
                <a:latin typeface="Bookman Old Style" pitchFamily="18" charset="0"/>
              </a:rPr>
              <a:t>accNumber,double</a:t>
            </a:r>
            <a:r>
              <a:rPr lang="en-US" sz="1500" dirty="0">
                <a:latin typeface="Bookman Old Style" pitchFamily="18" charset="0"/>
              </a:rPr>
              <a:t> </a:t>
            </a:r>
            <a:r>
              <a:rPr lang="en-US" sz="1500" dirty="0" err="1">
                <a:latin typeface="Bookman Old Style" pitchFamily="18" charset="0"/>
              </a:rPr>
              <a:t>b,double</a:t>
            </a:r>
            <a:r>
              <a:rPr lang="en-US" sz="1500" dirty="0">
                <a:latin typeface="Bookman Old Style" pitchFamily="18" charset="0"/>
              </a:rPr>
              <a:t> l)</a:t>
            </a:r>
          </a:p>
          <a:p>
            <a:r>
              <a:rPr lang="en-US" sz="1500" dirty="0">
                <a:latin typeface="Bookman Old Style" pitchFamily="18" charset="0"/>
              </a:rPr>
              <a:t>	{</a:t>
            </a:r>
          </a:p>
          <a:p>
            <a:r>
              <a:rPr lang="en-US" sz="1500" dirty="0">
                <a:latin typeface="Bookman Old Style" pitchFamily="18" charset="0"/>
              </a:rPr>
              <a:t>		super(</a:t>
            </a:r>
            <a:r>
              <a:rPr lang="en-US" sz="1500" dirty="0" err="1">
                <a:latin typeface="Bookman Old Style" pitchFamily="18" charset="0"/>
              </a:rPr>
              <a:t>oName,accNumber,b</a:t>
            </a:r>
            <a:r>
              <a:rPr lang="en-US" sz="1500" dirty="0">
                <a:latin typeface="Bookman Old Style" pitchFamily="18" charset="0"/>
              </a:rPr>
              <a:t>);</a:t>
            </a:r>
          </a:p>
          <a:p>
            <a:r>
              <a:rPr lang="en-US" sz="1500" dirty="0">
                <a:latin typeface="Bookman Old Style" pitchFamily="18" charset="0"/>
              </a:rPr>
              <a:t>		limit=l;</a:t>
            </a:r>
          </a:p>
          <a:p>
            <a:r>
              <a:rPr lang="en-US" sz="1500" dirty="0">
                <a:latin typeface="Bookman Old Style" pitchFamily="18" charset="0"/>
              </a:rPr>
              <a:t>	}</a:t>
            </a:r>
          </a:p>
          <a:p>
            <a:r>
              <a:rPr lang="en-US" sz="1500" b="1" dirty="0">
                <a:latin typeface="Bookman Old Style" pitchFamily="18" charset="0"/>
              </a:rPr>
              <a:t>    @Override</a:t>
            </a:r>
          </a:p>
          <a:p>
            <a:r>
              <a:rPr lang="en-US" sz="1500" dirty="0">
                <a:latin typeface="Bookman Old Style" pitchFamily="18" charset="0"/>
              </a:rPr>
              <a:t>	public void withdraw(double </a:t>
            </a:r>
            <a:r>
              <a:rPr lang="en-US" sz="1500" dirty="0" err="1">
                <a:latin typeface="Bookman Old Style" pitchFamily="18" charset="0"/>
              </a:rPr>
              <a:t>anAmount</a:t>
            </a:r>
            <a:r>
              <a:rPr lang="en-US" sz="1500" dirty="0">
                <a:latin typeface="Bookman Old Style" pitchFamily="18" charset="0"/>
              </a:rPr>
              <a:t>)</a:t>
            </a:r>
          </a:p>
          <a:p>
            <a:r>
              <a:rPr lang="en-US" sz="1500" dirty="0">
                <a:latin typeface="Bookman Old Style" pitchFamily="18" charset="0"/>
              </a:rPr>
              <a:t>	{</a:t>
            </a:r>
          </a:p>
          <a:p>
            <a:r>
              <a:rPr lang="en-US" sz="1500" dirty="0">
                <a:latin typeface="Bookman Old Style" pitchFamily="18" charset="0"/>
              </a:rPr>
              <a:t>		if ((</a:t>
            </a:r>
            <a:r>
              <a:rPr lang="en-US" sz="1500" dirty="0" err="1">
                <a:latin typeface="Bookman Old Style" pitchFamily="18" charset="0"/>
              </a:rPr>
              <a:t>anAmount</a:t>
            </a:r>
            <a:r>
              <a:rPr lang="en-US" sz="1500" dirty="0">
                <a:latin typeface="Bookman Old Style" pitchFamily="18" charset="0"/>
              </a:rPr>
              <a:t>&gt;0.0) &amp;&amp; (</a:t>
            </a:r>
            <a:r>
              <a:rPr lang="en-US" sz="1500" dirty="0" err="1">
                <a:latin typeface="Bookman Old Style" pitchFamily="18" charset="0"/>
              </a:rPr>
              <a:t>getBalance</a:t>
            </a:r>
            <a:r>
              <a:rPr lang="en-US" sz="1500" dirty="0">
                <a:latin typeface="Bookman Old Style" pitchFamily="18" charset="0"/>
              </a:rPr>
              <a:t>()&gt;</a:t>
            </a:r>
            <a:r>
              <a:rPr lang="en-US" sz="1500" dirty="0" err="1">
                <a:latin typeface="Bookman Old Style" pitchFamily="18" charset="0"/>
              </a:rPr>
              <a:t>anAmount</a:t>
            </a:r>
            <a:r>
              <a:rPr lang="en-US" sz="1500" dirty="0">
                <a:latin typeface="Bookman Old Style" pitchFamily="18" charset="0"/>
              </a:rPr>
              <a:t>) &amp;&amp; </a:t>
            </a:r>
            <a:r>
              <a:rPr lang="en-US" sz="1500" dirty="0" err="1">
                <a:latin typeface="Bookman Old Style" pitchFamily="18" charset="0"/>
              </a:rPr>
              <a:t>anAmount</a:t>
            </a:r>
            <a:r>
              <a:rPr lang="en-US" sz="1500" dirty="0">
                <a:latin typeface="Bookman Old Style" pitchFamily="18" charset="0"/>
              </a:rPr>
              <a:t>&lt;limit)</a:t>
            </a:r>
          </a:p>
          <a:p>
            <a:r>
              <a:rPr lang="en-US" sz="1500" dirty="0">
                <a:latin typeface="Bookman Old Style" pitchFamily="18" charset="0"/>
              </a:rPr>
              <a:t>			balance = balance - </a:t>
            </a:r>
            <a:r>
              <a:rPr lang="en-US" sz="1500" dirty="0" err="1">
                <a:latin typeface="Bookman Old Style" pitchFamily="18" charset="0"/>
              </a:rPr>
              <a:t>anAmount</a:t>
            </a:r>
            <a:r>
              <a:rPr lang="en-US" sz="1500" dirty="0">
                <a:latin typeface="Bookman Old Style" pitchFamily="18" charset="0"/>
              </a:rPr>
              <a:t>;</a:t>
            </a:r>
          </a:p>
          <a:p>
            <a:r>
              <a:rPr lang="en-US" sz="1500" dirty="0">
                <a:latin typeface="Bookman Old Style" pitchFamily="18" charset="0"/>
              </a:rPr>
              <a:t>	}</a:t>
            </a:r>
          </a:p>
          <a:p>
            <a:r>
              <a:rPr lang="fi-FI" sz="1500" dirty="0">
                <a:latin typeface="Bookman Old Style" pitchFamily="18" charset="0"/>
              </a:rPr>
              <a:t>	</a:t>
            </a:r>
            <a:r>
              <a:rPr lang="fi-FI" sz="1500" dirty="0" err="1">
                <a:latin typeface="Bookman Old Style" pitchFamily="18" charset="0"/>
              </a:rPr>
              <a:t>public</a:t>
            </a:r>
            <a:r>
              <a:rPr lang="fi-FI" sz="1500" dirty="0">
                <a:latin typeface="Bookman Old Style" pitchFamily="18" charset="0"/>
              </a:rPr>
              <a:t> </a:t>
            </a:r>
            <a:r>
              <a:rPr lang="fi-FI" sz="1500" dirty="0" err="1">
                <a:latin typeface="Bookman Old Style" pitchFamily="18" charset="0"/>
              </a:rPr>
              <a:t>static</a:t>
            </a:r>
            <a:r>
              <a:rPr lang="fi-FI" sz="1500" dirty="0">
                <a:latin typeface="Bookman Old Style" pitchFamily="18" charset="0"/>
              </a:rPr>
              <a:t> </a:t>
            </a:r>
            <a:r>
              <a:rPr lang="fi-FI" sz="1500" dirty="0" err="1">
                <a:latin typeface="Bookman Old Style" pitchFamily="18" charset="0"/>
              </a:rPr>
              <a:t>void</a:t>
            </a:r>
            <a:r>
              <a:rPr lang="fi-FI" sz="1500" dirty="0">
                <a:latin typeface="Bookman Old Style" pitchFamily="18" charset="0"/>
              </a:rPr>
              <a:t> </a:t>
            </a:r>
            <a:r>
              <a:rPr lang="fi-FI" sz="1500" dirty="0" err="1">
                <a:latin typeface="Bookman Old Style" pitchFamily="18" charset="0"/>
              </a:rPr>
              <a:t>main(String</a:t>
            </a:r>
            <a:r>
              <a:rPr lang="fi-FI" sz="1500" dirty="0">
                <a:latin typeface="Bookman Old Style" pitchFamily="18" charset="0"/>
              </a:rPr>
              <a:t> </a:t>
            </a:r>
            <a:r>
              <a:rPr lang="fi-FI" sz="1500" dirty="0" err="1">
                <a:latin typeface="Bookman Old Style" pitchFamily="18" charset="0"/>
              </a:rPr>
              <a:t>args</a:t>
            </a:r>
            <a:r>
              <a:rPr lang="fi-FI" sz="1500" dirty="0">
                <a:latin typeface="Bookman Old Style" pitchFamily="18" charset="0"/>
              </a:rPr>
              <a:t>[])</a:t>
            </a:r>
          </a:p>
          <a:p>
            <a:r>
              <a:rPr lang="en-US" sz="1500" dirty="0">
                <a:latin typeface="Bookman Old Style" pitchFamily="18" charset="0"/>
              </a:rPr>
              <a:t>	{</a:t>
            </a:r>
          </a:p>
          <a:p>
            <a:r>
              <a:rPr lang="en-US" sz="1500" dirty="0">
                <a:latin typeface="Bookman Old Style" pitchFamily="18" charset="0"/>
              </a:rPr>
              <a:t>		</a:t>
            </a:r>
            <a:r>
              <a:rPr lang="en-US" sz="1500" dirty="0" err="1">
                <a:latin typeface="Bookman Old Style" pitchFamily="18" charset="0"/>
              </a:rPr>
              <a:t>BankAccount</a:t>
            </a:r>
            <a:r>
              <a:rPr lang="en-US" sz="1500" dirty="0">
                <a:latin typeface="Bookman Old Style" pitchFamily="18" charset="0"/>
              </a:rPr>
              <a:t> </a:t>
            </a:r>
            <a:r>
              <a:rPr lang="en-US" sz="1500" dirty="0" err="1">
                <a:latin typeface="Bookman Old Style" pitchFamily="18" charset="0"/>
              </a:rPr>
              <a:t>ba</a:t>
            </a:r>
            <a:r>
              <a:rPr lang="en-US" sz="1500" dirty="0">
                <a:latin typeface="Bookman Old Style" pitchFamily="18" charset="0"/>
              </a:rPr>
              <a:t>=new </a:t>
            </a:r>
            <a:r>
              <a:rPr lang="en-US" sz="1500" dirty="0" err="1">
                <a:latin typeface="Bookman Old Style" pitchFamily="18" charset="0"/>
              </a:rPr>
              <a:t>BankAccount</a:t>
            </a:r>
            <a:r>
              <a:rPr lang="en-US" sz="1500" dirty="0">
                <a:latin typeface="Bookman Old Style" pitchFamily="18" charset="0"/>
              </a:rPr>
              <a:t>("</a:t>
            </a:r>
            <a:r>
              <a:rPr lang="en-US" sz="1500" dirty="0" err="1">
                <a:latin typeface="Bookman Old Style" pitchFamily="18" charset="0"/>
              </a:rPr>
              <a:t>Hla</a:t>
            </a:r>
            <a:r>
              <a:rPr lang="en-US" sz="1500" dirty="0">
                <a:latin typeface="Bookman Old Style" pitchFamily="18" charset="0"/>
              </a:rPr>
              <a:t> </a:t>
            </a:r>
            <a:r>
              <a:rPr lang="en-US" sz="1500" dirty="0" err="1">
                <a:latin typeface="Bookman Old Style" pitchFamily="18" charset="0"/>
              </a:rPr>
              <a:t>Hla</a:t>
            </a:r>
            <a:r>
              <a:rPr lang="en-US" sz="1500" dirty="0">
                <a:latin typeface="Bookman Old Style" pitchFamily="18" charset="0"/>
              </a:rPr>
              <a:t>", 123, 600);</a:t>
            </a:r>
          </a:p>
          <a:p>
            <a:r>
              <a:rPr lang="en-US" sz="1500" dirty="0">
                <a:latin typeface="Bookman Old Style" pitchFamily="18" charset="0"/>
              </a:rPr>
              <a:t>		</a:t>
            </a:r>
            <a:r>
              <a:rPr lang="en-US" sz="1500" dirty="0" err="1">
                <a:latin typeface="Bookman Old Style" pitchFamily="18" charset="0"/>
              </a:rPr>
              <a:t>OverdraftAccount</a:t>
            </a:r>
            <a:r>
              <a:rPr lang="en-US" sz="1500" dirty="0">
                <a:latin typeface="Bookman Old Style" pitchFamily="18" charset="0"/>
              </a:rPr>
              <a:t> </a:t>
            </a:r>
            <a:r>
              <a:rPr lang="en-US" sz="1500" dirty="0" err="1">
                <a:latin typeface="Bookman Old Style" pitchFamily="18" charset="0"/>
              </a:rPr>
              <a:t>oa</a:t>
            </a:r>
            <a:r>
              <a:rPr lang="en-US" sz="1500" dirty="0">
                <a:latin typeface="Bookman Old Style" pitchFamily="18" charset="0"/>
              </a:rPr>
              <a:t>=new </a:t>
            </a:r>
            <a:r>
              <a:rPr lang="en-US" sz="1500" dirty="0" err="1">
                <a:latin typeface="Bookman Old Style" pitchFamily="18" charset="0"/>
              </a:rPr>
              <a:t>OverdraftAccount</a:t>
            </a:r>
            <a:r>
              <a:rPr lang="en-US" sz="1500" dirty="0">
                <a:latin typeface="Bookman Old Style" pitchFamily="18" charset="0"/>
              </a:rPr>
              <a:t>("</a:t>
            </a:r>
            <a:r>
              <a:rPr lang="en-US" sz="1500" dirty="0" err="1">
                <a:latin typeface="Bookman Old Style" pitchFamily="18" charset="0"/>
              </a:rPr>
              <a:t>Mya</a:t>
            </a:r>
            <a:r>
              <a:rPr lang="en-US" sz="1500" dirty="0">
                <a:latin typeface="Bookman Old Style" pitchFamily="18" charset="0"/>
              </a:rPr>
              <a:t> </a:t>
            </a:r>
            <a:r>
              <a:rPr lang="en-US" sz="1500" dirty="0" err="1">
                <a:latin typeface="Bookman Old Style" pitchFamily="18" charset="0"/>
              </a:rPr>
              <a:t>Mya</a:t>
            </a:r>
            <a:r>
              <a:rPr lang="en-US" sz="1500" dirty="0">
                <a:latin typeface="Bookman Old Style" pitchFamily="18" charset="0"/>
              </a:rPr>
              <a:t>", 456, 6000, 1000);</a:t>
            </a:r>
          </a:p>
          <a:p>
            <a:r>
              <a:rPr lang="cs-CZ" sz="1500" dirty="0">
                <a:latin typeface="Bookman Old Style" pitchFamily="18" charset="0"/>
              </a:rPr>
              <a:t>		</a:t>
            </a:r>
            <a:r>
              <a:rPr lang="cs-CZ" sz="1500" dirty="0" err="1">
                <a:latin typeface="Bookman Old Style" pitchFamily="18" charset="0"/>
              </a:rPr>
              <a:t>ba.deposit</a:t>
            </a:r>
            <a:r>
              <a:rPr lang="cs-CZ" sz="1500" dirty="0">
                <a:latin typeface="Bookman Old Style" pitchFamily="18" charset="0"/>
              </a:rPr>
              <a:t>(300000);</a:t>
            </a:r>
          </a:p>
          <a:p>
            <a:r>
              <a:rPr lang="fi-FI" sz="1500" dirty="0">
                <a:latin typeface="Bookman Old Style" pitchFamily="18" charset="0"/>
              </a:rPr>
              <a:t>		oa.deposit(600000);</a:t>
            </a:r>
          </a:p>
          <a:p>
            <a:r>
              <a:rPr lang="en-US" sz="1500" dirty="0">
                <a:latin typeface="Bookman Old Style" pitchFamily="18" charset="0"/>
              </a:rPr>
              <a:t>		</a:t>
            </a:r>
            <a:r>
              <a:rPr lang="en-US" sz="1500" dirty="0" err="1">
                <a:latin typeface="Bookman Old Style" pitchFamily="18" charset="0"/>
              </a:rPr>
              <a:t>System.</a:t>
            </a:r>
            <a:r>
              <a:rPr lang="en-US" sz="1500" i="1" dirty="0" err="1">
                <a:latin typeface="Bookman Old Style" pitchFamily="18" charset="0"/>
              </a:rPr>
              <a:t>out.println</a:t>
            </a:r>
            <a:r>
              <a:rPr lang="en-US" sz="1500" i="1" dirty="0">
                <a:latin typeface="Bookman Old Style" pitchFamily="18" charset="0"/>
              </a:rPr>
              <a:t>("Current balance of first account is "+ </a:t>
            </a:r>
            <a:r>
              <a:rPr lang="en-US" sz="1500" i="1" dirty="0" err="1">
                <a:latin typeface="Bookman Old Style" pitchFamily="18" charset="0"/>
              </a:rPr>
              <a:t>ba.getBalance</a:t>
            </a:r>
            <a:r>
              <a:rPr lang="en-US" sz="1500" i="1" dirty="0">
                <a:latin typeface="Bookman Old Style" pitchFamily="18" charset="0"/>
              </a:rPr>
              <a:t>());</a:t>
            </a:r>
          </a:p>
          <a:p>
            <a:r>
              <a:rPr lang="en-US" sz="1500" dirty="0">
                <a:latin typeface="Bookman Old Style" pitchFamily="18" charset="0"/>
              </a:rPr>
              <a:t>		</a:t>
            </a:r>
            <a:r>
              <a:rPr lang="en-US" sz="1500" dirty="0" err="1">
                <a:latin typeface="Bookman Old Style" pitchFamily="18" charset="0"/>
              </a:rPr>
              <a:t>System.</a:t>
            </a:r>
            <a:r>
              <a:rPr lang="en-US" sz="1500" i="1" dirty="0" err="1">
                <a:latin typeface="Bookman Old Style" pitchFamily="18" charset="0"/>
              </a:rPr>
              <a:t>out.println</a:t>
            </a:r>
            <a:r>
              <a:rPr lang="en-US" sz="1500" i="1" dirty="0">
                <a:latin typeface="Bookman Old Style" pitchFamily="18" charset="0"/>
              </a:rPr>
              <a:t>("Current balance of first account is "+ </a:t>
            </a:r>
            <a:r>
              <a:rPr lang="en-US" sz="1500" i="1" dirty="0" err="1">
                <a:latin typeface="Bookman Old Style" pitchFamily="18" charset="0"/>
              </a:rPr>
              <a:t>oa.getBalance</a:t>
            </a:r>
            <a:r>
              <a:rPr lang="en-US" sz="1500" i="1" dirty="0">
                <a:latin typeface="Bookman Old Style" pitchFamily="18" charset="0"/>
              </a:rPr>
              <a:t>());</a:t>
            </a:r>
          </a:p>
          <a:p>
            <a:r>
              <a:rPr lang="en-US" sz="1500" dirty="0">
                <a:latin typeface="Bookman Old Style" pitchFamily="18" charset="0"/>
              </a:rPr>
              <a:t>		</a:t>
            </a:r>
            <a:r>
              <a:rPr lang="en-US" sz="1500" dirty="0" err="1">
                <a:latin typeface="Bookman Old Style" pitchFamily="18" charset="0"/>
              </a:rPr>
              <a:t>ba.withdraw</a:t>
            </a:r>
            <a:r>
              <a:rPr lang="en-US" sz="1500" dirty="0">
                <a:latin typeface="Bookman Old Style" pitchFamily="18" charset="0"/>
              </a:rPr>
              <a:t>(300000);</a:t>
            </a:r>
          </a:p>
          <a:p>
            <a:r>
              <a:rPr lang="en-US" sz="1500" dirty="0">
                <a:latin typeface="Bookman Old Style" pitchFamily="18" charset="0"/>
              </a:rPr>
              <a:t>		</a:t>
            </a:r>
            <a:r>
              <a:rPr lang="en-US" sz="1500" dirty="0" err="1">
                <a:latin typeface="Bookman Old Style" pitchFamily="18" charset="0"/>
              </a:rPr>
              <a:t>oa.withdraw</a:t>
            </a:r>
            <a:r>
              <a:rPr lang="en-US" sz="1500" dirty="0">
                <a:latin typeface="Bookman Old Style" pitchFamily="18" charset="0"/>
              </a:rPr>
              <a:t>(600000);</a:t>
            </a:r>
          </a:p>
          <a:p>
            <a:r>
              <a:rPr lang="en-US" sz="1500" dirty="0">
                <a:latin typeface="Bookman Old Style" pitchFamily="18" charset="0"/>
              </a:rPr>
              <a:t>		</a:t>
            </a:r>
            <a:r>
              <a:rPr lang="en-US" sz="1500" dirty="0" err="1">
                <a:latin typeface="Bookman Old Style" pitchFamily="18" charset="0"/>
              </a:rPr>
              <a:t>System.</a:t>
            </a:r>
            <a:r>
              <a:rPr lang="en-US" sz="1500" i="1" dirty="0" err="1">
                <a:latin typeface="Bookman Old Style" pitchFamily="18" charset="0"/>
              </a:rPr>
              <a:t>out.println</a:t>
            </a:r>
            <a:r>
              <a:rPr lang="en-US" sz="1500" i="1" dirty="0">
                <a:latin typeface="Bookman Old Style" pitchFamily="18" charset="0"/>
              </a:rPr>
              <a:t>("Current balance of first account is "+ </a:t>
            </a:r>
            <a:r>
              <a:rPr lang="en-US" sz="1500" i="1" dirty="0" err="1">
                <a:latin typeface="Bookman Old Style" pitchFamily="18" charset="0"/>
              </a:rPr>
              <a:t>ba.getBalance</a:t>
            </a:r>
            <a:r>
              <a:rPr lang="en-US" sz="1500" i="1" dirty="0">
                <a:latin typeface="Bookman Old Style" pitchFamily="18" charset="0"/>
              </a:rPr>
              <a:t>());</a:t>
            </a:r>
          </a:p>
          <a:p>
            <a:r>
              <a:rPr lang="en-US" sz="1500" dirty="0">
                <a:latin typeface="Bookman Old Style" pitchFamily="18" charset="0"/>
              </a:rPr>
              <a:t>		</a:t>
            </a:r>
            <a:r>
              <a:rPr lang="en-US" sz="1500" dirty="0" err="1">
                <a:latin typeface="Bookman Old Style" pitchFamily="18" charset="0"/>
              </a:rPr>
              <a:t>System.</a:t>
            </a:r>
            <a:r>
              <a:rPr lang="en-US" sz="1500" i="1" dirty="0" err="1">
                <a:latin typeface="Bookman Old Style" pitchFamily="18" charset="0"/>
              </a:rPr>
              <a:t>out.println</a:t>
            </a:r>
            <a:r>
              <a:rPr lang="en-US" sz="1500" i="1" dirty="0">
                <a:latin typeface="Bookman Old Style" pitchFamily="18" charset="0"/>
              </a:rPr>
              <a:t>("Current balance of first account is "+ </a:t>
            </a:r>
            <a:r>
              <a:rPr lang="en-US" sz="1500" i="1" dirty="0" err="1">
                <a:latin typeface="Bookman Old Style" pitchFamily="18" charset="0"/>
              </a:rPr>
              <a:t>oa.getBalance</a:t>
            </a:r>
            <a:r>
              <a:rPr lang="en-US" sz="1500" i="1" dirty="0">
                <a:latin typeface="Bookman Old Style" pitchFamily="18" charset="0"/>
              </a:rPr>
              <a:t>());</a:t>
            </a:r>
          </a:p>
          <a:p>
            <a:r>
              <a:rPr lang="en-US" sz="1500" dirty="0">
                <a:latin typeface="Bookman Old Style" pitchFamily="18" charset="0"/>
              </a:rPr>
              <a:t>		</a:t>
            </a:r>
          </a:p>
          <a:p>
            <a:r>
              <a:rPr lang="en-US" sz="1500" dirty="0">
                <a:latin typeface="Bookman Old Style" pitchFamily="18" charset="0"/>
              </a:rPr>
              <a:t>	}}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77880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7106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5"/>
          <p:cNvSpPr txBox="1">
            <a:spLocks/>
          </p:cNvSpPr>
          <p:nvPr/>
        </p:nvSpPr>
        <p:spPr>
          <a:xfrm>
            <a:off x="1547664" y="1628800"/>
            <a:ext cx="7524328" cy="324036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ctr" latinLnBrk="0">
              <a:spcAft>
                <a:spcPts val="1800"/>
              </a:spcAft>
            </a:pPr>
            <a:r>
              <a:rPr lang="en-US" dirty="0"/>
              <a:t>Topic 3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Abstraction</a:t>
            </a:r>
          </a:p>
        </p:txBody>
      </p:sp>
    </p:spTree>
    <p:extLst>
      <p:ext uri="{BB962C8B-B14F-4D97-AF65-F5344CB8AC3E}">
        <p14:creationId xmlns:p14="http://schemas.microsoft.com/office/powerpoint/2010/main" val="101119816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16632"/>
            <a:ext cx="7556313" cy="1116106"/>
          </a:xfrm>
        </p:spPr>
        <p:txBody>
          <a:bodyPr/>
          <a:lstStyle/>
          <a:p>
            <a:r>
              <a:rPr lang="en-US" dirty="0">
                <a:latin typeface="Arial" pitchFamily="34" charset="0"/>
                <a:cs typeface="Arial" pitchFamily="34" charset="0"/>
              </a:rPr>
              <a:t>Using Abstract Classes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8712967" cy="5472608"/>
          </a:xfrm>
        </p:spPr>
        <p:txBody>
          <a:bodyPr>
            <a:normAutofit/>
          </a:bodyPr>
          <a:lstStyle/>
          <a:p>
            <a:pPr algn="just"/>
            <a:r>
              <a:rPr lang="en-US" sz="2000" dirty="0">
                <a:latin typeface="Bookman Old Style" pitchFamily="18" charset="0"/>
              </a:rPr>
              <a:t>Define generalized form that will be shared by all of its subclasses, leaving it to each subclass to fill in the details</a:t>
            </a:r>
          </a:p>
          <a:p>
            <a:pPr algn="just"/>
            <a:r>
              <a:rPr lang="en-US" sz="2000" dirty="0">
                <a:latin typeface="Bookman Old Style" pitchFamily="18" charset="0"/>
              </a:rPr>
              <a:t>Determine the nature of the methods that the subclasses must implement</a:t>
            </a:r>
          </a:p>
          <a:p>
            <a:pPr algn="just"/>
            <a:r>
              <a:rPr lang="en-US" sz="2000" dirty="0">
                <a:latin typeface="Bookman Old Style" pitchFamily="18" charset="0"/>
              </a:rPr>
              <a:t>Java Abstract class is used for abstraction in Java</a:t>
            </a:r>
          </a:p>
          <a:p>
            <a:pPr algn="just"/>
            <a:r>
              <a:rPr lang="en-US" sz="2000" dirty="0">
                <a:latin typeface="Bookman Old Style" pitchFamily="18" charset="0"/>
              </a:rPr>
              <a:t>They are meant to hide the internal implementation and only showing the functionality to the users, i.e. showing what is works and hiding how it works.</a:t>
            </a:r>
          </a:p>
          <a:p>
            <a:pPr algn="just"/>
            <a:endParaRPr lang="en-US" sz="2000" dirty="0">
              <a:latin typeface="Bookman Old Style" pitchFamily="18" charset="0"/>
            </a:endParaRPr>
          </a:p>
          <a:p>
            <a:pPr algn="just"/>
            <a:endParaRPr lang="en-US" sz="2000" dirty="0">
              <a:latin typeface="Bookman Old Style" pitchFamily="18" charset="0"/>
            </a:endParaRPr>
          </a:p>
          <a:p>
            <a:r>
              <a:rPr lang="en-US" sz="2000" dirty="0">
                <a:latin typeface="Bookman Old Style" pitchFamily="18" charset="0"/>
              </a:rPr>
              <a:t>When to use?</a:t>
            </a:r>
          </a:p>
          <a:p>
            <a:pPr lvl="1"/>
            <a:r>
              <a:rPr lang="en-US" sz="2000" dirty="0">
                <a:latin typeface="Bookman Old Style" pitchFamily="18" charset="0"/>
              </a:rPr>
              <a:t>When some classes need to share some codes then we put these classes in abstract classes.</a:t>
            </a:r>
          </a:p>
          <a:p>
            <a:pPr lvl="1"/>
            <a:r>
              <a:rPr lang="en-US" sz="2000" dirty="0">
                <a:latin typeface="Bookman Old Style" pitchFamily="18" charset="0"/>
              </a:rPr>
              <a:t>When a state of an object is to define because we need to define a non-static or non-final fields.               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7880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2043403" y="4037002"/>
            <a:ext cx="5400600" cy="400110"/>
          </a:xfrm>
          <a:prstGeom prst="rect">
            <a:avLst/>
          </a:prstGeom>
          <a:ln>
            <a:solidFill>
              <a:srgbClr val="FF0000"/>
            </a:solidFill>
          </a:ln>
        </p:spPr>
        <p:txBody>
          <a:bodyPr wrap="square">
            <a:spAutoFit/>
          </a:bodyPr>
          <a:lstStyle/>
          <a:p>
            <a:pPr marL="228600" lvl="1" indent="0" algn="just">
              <a:buNone/>
            </a:pPr>
            <a:r>
              <a:rPr lang="en-US" sz="2000" dirty="0">
                <a:latin typeface="Bookman Old Style" pitchFamily="18" charset="0"/>
              </a:rPr>
              <a:t>abstract </a:t>
            </a:r>
            <a:r>
              <a:rPr lang="en-US" sz="2000" i="1" dirty="0">
                <a:solidFill>
                  <a:srgbClr val="FF0000"/>
                </a:solidFill>
                <a:latin typeface="Bookman Old Style" pitchFamily="18" charset="0"/>
              </a:rPr>
              <a:t>type</a:t>
            </a:r>
            <a:r>
              <a:rPr lang="en-US" sz="2000" dirty="0">
                <a:latin typeface="Bookman Old Style" pitchFamily="18" charset="0"/>
              </a:rPr>
              <a:t> name (parameter-list)</a:t>
            </a:r>
          </a:p>
        </p:txBody>
      </p:sp>
    </p:spTree>
    <p:extLst>
      <p:ext uri="{BB962C8B-B14F-4D97-AF65-F5344CB8AC3E}">
        <p14:creationId xmlns:p14="http://schemas.microsoft.com/office/powerpoint/2010/main" val="253120360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2"/>
          <p:cNvSpPr txBox="1">
            <a:spLocks/>
          </p:cNvSpPr>
          <p:nvPr/>
        </p:nvSpPr>
        <p:spPr>
          <a:xfrm>
            <a:off x="53752" y="183478"/>
            <a:ext cx="9036496" cy="1152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itchFamily="34" charset="0"/>
              <a:buNone/>
            </a:pPr>
            <a:r>
              <a:rPr lang="en-US" sz="2000" b="1" dirty="0">
                <a:solidFill>
                  <a:srgbClr val="0000CC"/>
                </a:solidFill>
                <a:latin typeface="Bookman Old Style" pitchFamily="18" charset="0"/>
              </a:rPr>
              <a:t>Example 4.6</a:t>
            </a:r>
            <a:r>
              <a:rPr lang="en-US" sz="2000" dirty="0">
                <a:latin typeface="Bookman Old Style" pitchFamily="18" charset="0"/>
              </a:rPr>
              <a:t>: A program that demonstrates using Abstract class and methods.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0" y="677880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323528" y="1052736"/>
            <a:ext cx="8352928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Bookman Old Style" pitchFamily="18" charset="0"/>
              </a:rPr>
              <a:t>// Using abstract methods and classes.</a:t>
            </a:r>
          </a:p>
          <a:p>
            <a:r>
              <a:rPr lang="en-US" sz="1600" dirty="0">
                <a:latin typeface="Bookman Old Style" pitchFamily="18" charset="0"/>
              </a:rPr>
              <a:t>abstract class Figure {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double dim1;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double dim2;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Figure(double a, double b) {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dim1 = a;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dim2 = b;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}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  <a:latin typeface="Bookman Old Style" pitchFamily="18" charset="0"/>
              </a:rPr>
              <a:t>// area is now an abstract method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abstract double area();</a:t>
            </a:r>
          </a:p>
          <a:p>
            <a:r>
              <a:rPr lang="en-US" sz="1600" dirty="0">
                <a:latin typeface="Bookman Old Style" pitchFamily="18" charset="0"/>
              </a:rPr>
              <a:t>}</a:t>
            </a:r>
          </a:p>
          <a:p>
            <a:r>
              <a:rPr lang="en-US" sz="1600" dirty="0">
                <a:latin typeface="Bookman Old Style" pitchFamily="18" charset="0"/>
              </a:rPr>
              <a:t>class Rectangle extends Figure {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Rectangle(double a, double b) {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super(a, b);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}</a:t>
            </a:r>
          </a:p>
          <a:p>
            <a:pPr lvl="1"/>
            <a:r>
              <a:rPr lang="en-US" sz="1600" dirty="0">
                <a:solidFill>
                  <a:srgbClr val="FF0000"/>
                </a:solidFill>
                <a:latin typeface="Bookman Old Style" pitchFamily="18" charset="0"/>
              </a:rPr>
              <a:t>// override area for rectangle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double area() {</a:t>
            </a:r>
          </a:p>
          <a:p>
            <a:pPr lvl="1"/>
            <a:r>
              <a:rPr lang="en-US" sz="1600" dirty="0" err="1">
                <a:latin typeface="Bookman Old Style" pitchFamily="18" charset="0"/>
              </a:rPr>
              <a:t>System.out.println</a:t>
            </a:r>
            <a:r>
              <a:rPr lang="en-US" sz="1600" dirty="0">
                <a:latin typeface="Bookman Old Style" pitchFamily="18" charset="0"/>
              </a:rPr>
              <a:t>("Inside Area for Rectangle.");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return dim1 * dim2;</a:t>
            </a:r>
          </a:p>
          <a:p>
            <a:pPr lvl="1"/>
            <a:r>
              <a:rPr lang="en-US" sz="1600" dirty="0">
                <a:latin typeface="Bookman Old Style" pitchFamily="18" charset="0"/>
              </a:rPr>
              <a:t>}</a:t>
            </a:r>
          </a:p>
          <a:p>
            <a:r>
              <a:rPr lang="en-US" sz="1600" dirty="0">
                <a:latin typeface="Bookman Old Style" pitchFamily="18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4577638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51520" y="332656"/>
            <a:ext cx="8064896" cy="61863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latin typeface="Bookman Old Style" pitchFamily="18" charset="0"/>
              </a:rPr>
              <a:t>class Triangle extends Figure {</a:t>
            </a:r>
          </a:p>
          <a:p>
            <a:pPr lvl="1"/>
            <a:r>
              <a:rPr lang="en-US" dirty="0">
                <a:latin typeface="Bookman Old Style" pitchFamily="18" charset="0"/>
              </a:rPr>
              <a:t>Triangle(double a, double b) {</a:t>
            </a:r>
          </a:p>
          <a:p>
            <a:pPr lvl="1"/>
            <a:r>
              <a:rPr lang="en-US" dirty="0">
                <a:latin typeface="Bookman Old Style" pitchFamily="18" charset="0"/>
              </a:rPr>
              <a:t>super(a, b);</a:t>
            </a:r>
          </a:p>
          <a:p>
            <a:r>
              <a:rPr lang="en-US" dirty="0">
                <a:latin typeface="Bookman Old Style" pitchFamily="18" charset="0"/>
              </a:rPr>
              <a:t>}</a:t>
            </a:r>
          </a:p>
          <a:p>
            <a:pPr lvl="1"/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// override area for right triangle</a:t>
            </a:r>
          </a:p>
          <a:p>
            <a:pPr lvl="1"/>
            <a:r>
              <a:rPr lang="en-US" dirty="0">
                <a:latin typeface="Bookman Old Style" pitchFamily="18" charset="0"/>
              </a:rPr>
              <a:t>double area() {</a:t>
            </a:r>
          </a:p>
          <a:p>
            <a:pPr lvl="1"/>
            <a:r>
              <a:rPr lang="en-US" dirty="0" err="1">
                <a:latin typeface="Bookman Old Style" pitchFamily="18" charset="0"/>
              </a:rPr>
              <a:t>System.out.println</a:t>
            </a:r>
            <a:r>
              <a:rPr lang="en-US" dirty="0">
                <a:latin typeface="Bookman Old Style" pitchFamily="18" charset="0"/>
              </a:rPr>
              <a:t>("Inside Area for Triangle.");</a:t>
            </a:r>
          </a:p>
          <a:p>
            <a:pPr lvl="1"/>
            <a:r>
              <a:rPr lang="en-US" dirty="0">
                <a:latin typeface="Bookman Old Style" pitchFamily="18" charset="0"/>
              </a:rPr>
              <a:t>return dim1 * dim2 / 2;</a:t>
            </a:r>
          </a:p>
          <a:p>
            <a:pPr lvl="1"/>
            <a:r>
              <a:rPr lang="en-US" dirty="0">
                <a:latin typeface="Bookman Old Style" pitchFamily="18" charset="0"/>
              </a:rPr>
              <a:t>}</a:t>
            </a:r>
          </a:p>
          <a:p>
            <a:r>
              <a:rPr lang="en-US" dirty="0">
                <a:latin typeface="Bookman Old Style" pitchFamily="18" charset="0"/>
              </a:rPr>
              <a:t>}</a:t>
            </a:r>
          </a:p>
          <a:p>
            <a:r>
              <a:rPr lang="en-US" dirty="0">
                <a:latin typeface="Bookman Old Style" pitchFamily="18" charset="0"/>
              </a:rPr>
              <a:t>class </a:t>
            </a:r>
            <a:r>
              <a:rPr lang="en-US" dirty="0" err="1">
                <a:latin typeface="Bookman Old Style" pitchFamily="18" charset="0"/>
              </a:rPr>
              <a:t>AbstractAreas</a:t>
            </a:r>
            <a:r>
              <a:rPr lang="en-US" dirty="0">
                <a:latin typeface="Bookman Old Style" pitchFamily="18" charset="0"/>
              </a:rPr>
              <a:t> {</a:t>
            </a:r>
          </a:p>
          <a:p>
            <a:pPr lvl="1"/>
            <a:r>
              <a:rPr lang="en-US" dirty="0">
                <a:latin typeface="Bookman Old Style" pitchFamily="18" charset="0"/>
              </a:rPr>
              <a:t>public static void main(String </a:t>
            </a:r>
            <a:r>
              <a:rPr lang="en-US" dirty="0" err="1">
                <a:latin typeface="Bookman Old Style" pitchFamily="18" charset="0"/>
              </a:rPr>
              <a:t>args</a:t>
            </a:r>
            <a:r>
              <a:rPr lang="en-US" dirty="0">
                <a:latin typeface="Bookman Old Style" pitchFamily="18" charset="0"/>
              </a:rPr>
              <a:t>[]) {</a:t>
            </a:r>
          </a:p>
          <a:p>
            <a:pPr lvl="2"/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// Figure f = new Figure(10, 10); // illegal now</a:t>
            </a:r>
          </a:p>
          <a:p>
            <a:pPr lvl="2"/>
            <a:r>
              <a:rPr lang="en-US" dirty="0">
                <a:latin typeface="Bookman Old Style" pitchFamily="18" charset="0"/>
              </a:rPr>
              <a:t>Rectangle r = new Rectangle(9, 5);</a:t>
            </a:r>
          </a:p>
          <a:p>
            <a:pPr lvl="2"/>
            <a:r>
              <a:rPr lang="en-US" dirty="0">
                <a:latin typeface="Bookman Old Style" pitchFamily="18" charset="0"/>
              </a:rPr>
              <a:t>Triangle t = new Triangle(10, 8);</a:t>
            </a:r>
          </a:p>
          <a:p>
            <a:pPr lvl="2"/>
            <a:r>
              <a:rPr lang="en-US" dirty="0">
                <a:latin typeface="Bookman Old Style" pitchFamily="18" charset="0"/>
              </a:rPr>
              <a:t>Figure </a:t>
            </a:r>
            <a:r>
              <a:rPr lang="en-US" dirty="0" err="1">
                <a:latin typeface="Bookman Old Style" pitchFamily="18" charset="0"/>
              </a:rPr>
              <a:t>figref</a:t>
            </a:r>
            <a:r>
              <a:rPr lang="en-US" dirty="0">
                <a:latin typeface="Bookman Old Style" pitchFamily="18" charset="0"/>
              </a:rPr>
              <a:t>; // this is OK, no object is created</a:t>
            </a:r>
          </a:p>
          <a:p>
            <a:pPr lvl="2"/>
            <a:r>
              <a:rPr lang="en-US" dirty="0" err="1">
                <a:latin typeface="Bookman Old Style" pitchFamily="18" charset="0"/>
              </a:rPr>
              <a:t>figref</a:t>
            </a:r>
            <a:r>
              <a:rPr lang="en-US" dirty="0">
                <a:latin typeface="Bookman Old Style" pitchFamily="18" charset="0"/>
              </a:rPr>
              <a:t> = r;</a:t>
            </a:r>
          </a:p>
          <a:p>
            <a:pPr lvl="2"/>
            <a:r>
              <a:rPr lang="en-US" dirty="0" err="1">
                <a:latin typeface="Bookman Old Style" pitchFamily="18" charset="0"/>
              </a:rPr>
              <a:t>System.out.println</a:t>
            </a:r>
            <a:r>
              <a:rPr lang="en-US" dirty="0">
                <a:latin typeface="Bookman Old Style" pitchFamily="18" charset="0"/>
              </a:rPr>
              <a:t>("Area is " + </a:t>
            </a:r>
            <a:r>
              <a:rPr lang="en-US" dirty="0" err="1">
                <a:latin typeface="Bookman Old Style" pitchFamily="18" charset="0"/>
              </a:rPr>
              <a:t>figref.area</a:t>
            </a:r>
            <a:r>
              <a:rPr lang="en-US" dirty="0">
                <a:latin typeface="Bookman Old Style" pitchFamily="18" charset="0"/>
              </a:rPr>
              <a:t>());</a:t>
            </a:r>
          </a:p>
          <a:p>
            <a:pPr lvl="2"/>
            <a:r>
              <a:rPr lang="en-US" dirty="0" err="1">
                <a:latin typeface="Bookman Old Style" pitchFamily="18" charset="0"/>
              </a:rPr>
              <a:t>figref</a:t>
            </a:r>
            <a:r>
              <a:rPr lang="en-US" dirty="0">
                <a:latin typeface="Bookman Old Style" pitchFamily="18" charset="0"/>
              </a:rPr>
              <a:t> = t;</a:t>
            </a:r>
          </a:p>
          <a:p>
            <a:pPr lvl="2"/>
            <a:r>
              <a:rPr lang="en-US" dirty="0" err="1">
                <a:latin typeface="Bookman Old Style" pitchFamily="18" charset="0"/>
              </a:rPr>
              <a:t>System.out.println</a:t>
            </a:r>
            <a:r>
              <a:rPr lang="en-US" dirty="0">
                <a:latin typeface="Bookman Old Style" pitchFamily="18" charset="0"/>
              </a:rPr>
              <a:t>("Area is " + </a:t>
            </a:r>
            <a:r>
              <a:rPr lang="en-US" dirty="0" err="1">
                <a:latin typeface="Bookman Old Style" pitchFamily="18" charset="0"/>
              </a:rPr>
              <a:t>figref.area</a:t>
            </a:r>
            <a:r>
              <a:rPr lang="en-US" dirty="0">
                <a:latin typeface="Bookman Old Style" pitchFamily="18" charset="0"/>
              </a:rPr>
              <a:t>());</a:t>
            </a:r>
          </a:p>
          <a:p>
            <a:pPr lvl="1"/>
            <a:r>
              <a:rPr lang="en-US" dirty="0">
                <a:latin typeface="Bookman Old Style" pitchFamily="18" charset="0"/>
              </a:rPr>
              <a:t>}</a:t>
            </a:r>
          </a:p>
          <a:p>
            <a:r>
              <a:rPr lang="en-US" dirty="0">
                <a:latin typeface="Bookman Old Style" pitchFamily="18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7880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2691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9" name="Text Box 3"/>
          <p:cNvSpPr txBox="1">
            <a:spLocks noChangeArrowheads="1"/>
          </p:cNvSpPr>
          <p:nvPr/>
        </p:nvSpPr>
        <p:spPr bwMode="auto">
          <a:xfrm>
            <a:off x="613441" y="1228450"/>
            <a:ext cx="7768800" cy="12961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318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249"/>
              </a:spcBef>
              <a:buClr>
                <a:srgbClr val="000000"/>
              </a:buClr>
              <a:buSzPct val="59000"/>
              <a:buBlip>
                <a:blip r:embed="rId3"/>
              </a:buBlip>
            </a:pPr>
            <a:r>
              <a:rPr lang="en-GB" dirty="0">
                <a:latin typeface="Bookman Old Style" pitchFamily="18" charset="0"/>
                <a:ea typeface="NSimSun" pitchFamily="49" charset="-122"/>
                <a:cs typeface="Rockwell"/>
              </a:rPr>
              <a:t>To prevent Overriding</a:t>
            </a:r>
          </a:p>
          <a:p>
            <a:pPr lvl="1">
              <a:spcBef>
                <a:spcPts val="249"/>
              </a:spcBef>
              <a:buClr>
                <a:srgbClr val="000000"/>
              </a:buClr>
              <a:buSzPct val="85000"/>
              <a:buBlip>
                <a:blip r:embed="rId3"/>
              </a:buBlip>
            </a:pPr>
            <a:r>
              <a:rPr lang="en-GB" sz="1800" dirty="0">
                <a:latin typeface="Bookman Old Style" pitchFamily="18" charset="0"/>
                <a:ea typeface="NSimSun" pitchFamily="49" charset="-122"/>
                <a:cs typeface="Rockwell"/>
              </a:rPr>
              <a:t>Methods can be qualified with the final modifier</a:t>
            </a:r>
          </a:p>
          <a:p>
            <a:pPr lvl="1">
              <a:spcBef>
                <a:spcPts val="249"/>
              </a:spcBef>
              <a:buClr>
                <a:srgbClr val="000000"/>
              </a:buClr>
              <a:buSzPct val="85000"/>
              <a:buBlip>
                <a:blip r:embed="rId3"/>
              </a:buBlip>
            </a:pPr>
            <a:r>
              <a:rPr lang="en-GB" sz="1800" dirty="0">
                <a:latin typeface="Bookman Old Style" pitchFamily="18" charset="0"/>
                <a:ea typeface="NSimSun" pitchFamily="49" charset="-122"/>
                <a:cs typeface="Rockwell"/>
              </a:rPr>
              <a:t>Final methods cannot be overridden.</a:t>
            </a:r>
          </a:p>
          <a:p>
            <a:pPr lvl="1">
              <a:spcBef>
                <a:spcPts val="249"/>
              </a:spcBef>
              <a:buClr>
                <a:srgbClr val="000000"/>
              </a:buClr>
              <a:buSzPct val="85000"/>
              <a:buBlip>
                <a:blip r:embed="rId3"/>
              </a:buBlip>
            </a:pPr>
            <a:r>
              <a:rPr lang="en-GB" sz="1800" dirty="0">
                <a:latin typeface="Bookman Old Style" pitchFamily="18" charset="0"/>
                <a:ea typeface="NSimSun" pitchFamily="49" charset="-122"/>
                <a:cs typeface="Rockwell"/>
              </a:rPr>
              <a:t>This can be useful for security purposes.</a:t>
            </a:r>
          </a:p>
        </p:txBody>
      </p:sp>
      <p:grpSp>
        <p:nvGrpSpPr>
          <p:cNvPr id="29700" name="Group 4"/>
          <p:cNvGrpSpPr>
            <a:grpSpLocks/>
          </p:cNvGrpSpPr>
          <p:nvPr/>
        </p:nvGrpSpPr>
        <p:grpSpPr bwMode="auto">
          <a:xfrm>
            <a:off x="612000" y="2780665"/>
            <a:ext cx="7770240" cy="1081554"/>
            <a:chOff x="425" y="1654"/>
            <a:chExt cx="5396" cy="751"/>
          </a:xfrm>
        </p:grpSpPr>
        <p:sp>
          <p:nvSpPr>
            <p:cNvPr id="29704" name="AutoShape 5"/>
            <p:cNvSpPr>
              <a:spLocks noChangeArrowheads="1"/>
            </p:cNvSpPr>
            <p:nvPr/>
          </p:nvSpPr>
          <p:spPr bwMode="auto">
            <a:xfrm>
              <a:off x="425" y="1654"/>
              <a:ext cx="5299" cy="751"/>
            </a:xfrm>
            <a:prstGeom prst="roundRect">
              <a:avLst>
                <a:gd name="adj" fmla="val 162"/>
              </a:avLst>
            </a:prstGeom>
            <a:solidFill>
              <a:srgbClr val="FFFFCC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705" name="Text Box 6"/>
            <p:cNvSpPr txBox="1">
              <a:spLocks noChangeArrowheads="1"/>
            </p:cNvSpPr>
            <p:nvPr/>
          </p:nvSpPr>
          <p:spPr bwMode="auto">
            <a:xfrm>
              <a:off x="625" y="1756"/>
              <a:ext cx="5196" cy="5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lIns="0" tIns="0" rIns="0" bIns="0">
              <a:spAutoFit/>
            </a:bodyPr>
            <a:lstStyle>
              <a:lvl1pPr marL="211138" indent="-211138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  <a:tab pos="6515100" algn="l"/>
                  <a:tab pos="7239000" algn="l"/>
                </a:tabLs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  <a:cs typeface="ＭＳ Ｐゴシック" charset="0"/>
                </a:defRPr>
              </a:lvl1pPr>
              <a:lvl2pPr marL="742950" indent="-28575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  <a:tab pos="6515100" algn="l"/>
                  <a:tab pos="7239000" algn="l"/>
                </a:tabLs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2pPr>
              <a:lvl3pPr marL="1143000" indent="-22860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  <a:tab pos="6515100" algn="l"/>
                  <a:tab pos="7239000" algn="l"/>
                </a:tabLs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3pPr>
              <a:lvl4pPr marL="1600200" indent="-22860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  <a:tab pos="6515100" algn="l"/>
                  <a:tab pos="7239000" algn="l"/>
                </a:tabLs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4pPr>
              <a:lvl5pPr marL="2057400" indent="-228600"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  <a:tab pos="6515100" algn="l"/>
                  <a:tab pos="7239000" algn="l"/>
                </a:tabLs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  <a:tab pos="6515100" algn="l"/>
                  <a:tab pos="7239000" algn="l"/>
                </a:tabLs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  <a:tab pos="6515100" algn="l"/>
                  <a:tab pos="7239000" algn="l"/>
                </a:tabLs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  <a:tab pos="6515100" algn="l"/>
                  <a:tab pos="7239000" algn="l"/>
                </a:tabLs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tabLst>
                  <a:tab pos="723900" algn="l"/>
                  <a:tab pos="1447800" algn="l"/>
                  <a:tab pos="2171700" algn="l"/>
                  <a:tab pos="2895600" algn="l"/>
                  <a:tab pos="3619500" algn="l"/>
                  <a:tab pos="4343400" algn="l"/>
                  <a:tab pos="5067300" algn="l"/>
                  <a:tab pos="5791200" algn="l"/>
                  <a:tab pos="6515100" algn="l"/>
                  <a:tab pos="7239000" algn="l"/>
                </a:tabLst>
                <a:defRPr sz="2400">
                  <a:solidFill>
                    <a:schemeClr val="tx1"/>
                  </a:solidFill>
                  <a:latin typeface="Times New Roman" charset="0"/>
                  <a:ea typeface="ＭＳ Ｐゴシック" charset="0"/>
                </a:defRPr>
              </a:lvl9pPr>
            </a:lstStyle>
            <a:p>
              <a:pPr>
                <a:spcBef>
                  <a:spcPts val="249"/>
                </a:spcBef>
                <a:buClr>
                  <a:srgbClr val="000000"/>
                </a:buClr>
                <a:buSzPct val="174000"/>
              </a:pPr>
              <a:r>
                <a:rPr lang="en-GB" sz="1600" dirty="0">
                  <a:latin typeface="Bookman Old Style" pitchFamily="18" charset="0"/>
                </a:rPr>
                <a:t>public final </a:t>
              </a:r>
              <a:r>
                <a:rPr lang="en-GB" sz="1600" dirty="0" err="1">
                  <a:latin typeface="Bookman Old Style" pitchFamily="18" charset="0"/>
                </a:rPr>
                <a:t>boolean</a:t>
              </a:r>
              <a:r>
                <a:rPr lang="en-GB" sz="1600" dirty="0">
                  <a:latin typeface="Bookman Old Style" pitchFamily="18" charset="0"/>
                </a:rPr>
                <a:t> </a:t>
              </a:r>
              <a:r>
                <a:rPr lang="en-GB" sz="1600" dirty="0" err="1">
                  <a:latin typeface="Bookman Old Style" pitchFamily="18" charset="0"/>
                </a:rPr>
                <a:t>validatePassword</a:t>
              </a:r>
              <a:r>
                <a:rPr lang="en-GB" sz="1600" dirty="0">
                  <a:latin typeface="Bookman Old Style" pitchFamily="18" charset="0"/>
                </a:rPr>
                <a:t>(String username, String Password)</a:t>
              </a:r>
            </a:p>
            <a:p>
              <a:pPr>
                <a:spcBef>
                  <a:spcPts val="249"/>
                </a:spcBef>
                <a:buClr>
                  <a:srgbClr val="000000"/>
                </a:buClr>
                <a:buSzPct val="174000"/>
              </a:pPr>
              <a:r>
                <a:rPr lang="en-GB" sz="1600" dirty="0">
                  <a:latin typeface="Bookman Old Style" pitchFamily="18" charset="0"/>
                </a:rPr>
                <a:t>{</a:t>
              </a:r>
            </a:p>
            <a:p>
              <a:pPr>
                <a:spcBef>
                  <a:spcPts val="249"/>
                </a:spcBef>
                <a:buClr>
                  <a:srgbClr val="000000"/>
                </a:buClr>
                <a:buSzPct val="174000"/>
              </a:pPr>
              <a:r>
                <a:rPr lang="en-GB" sz="1600" dirty="0">
                  <a:latin typeface="Bookman Old Style" pitchFamily="18" charset="0"/>
                </a:rPr>
                <a:t>	[...]</a:t>
              </a:r>
            </a:p>
          </p:txBody>
        </p:sp>
      </p:grpSp>
      <p:sp>
        <p:nvSpPr>
          <p:cNvPr id="29701" name="Text Box 7"/>
          <p:cNvSpPr txBox="1">
            <a:spLocks noChangeArrowheads="1"/>
          </p:cNvSpPr>
          <p:nvPr/>
        </p:nvSpPr>
        <p:spPr bwMode="auto">
          <a:xfrm>
            <a:off x="613441" y="3284984"/>
            <a:ext cx="7768800" cy="20986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431800" indent="-2159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  <a:tab pos="3619500" algn="l"/>
                <a:tab pos="4343400" algn="l"/>
                <a:tab pos="5067300" algn="l"/>
                <a:tab pos="5791200" algn="l"/>
                <a:tab pos="6515100" algn="l"/>
                <a:tab pos="7239000" algn="l"/>
                <a:tab pos="79629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249"/>
              </a:spcBef>
              <a:buClr>
                <a:srgbClr val="000000"/>
              </a:buClr>
              <a:buSzPct val="59000"/>
              <a:buBlip>
                <a:blip r:embed="rId3"/>
              </a:buBlip>
            </a:pPr>
            <a:endParaRPr lang="en-GB" dirty="0">
              <a:latin typeface="Bookman Old Style" pitchFamily="18" charset="0"/>
              <a:cs typeface="Rockwell"/>
            </a:endParaRPr>
          </a:p>
          <a:p>
            <a:pPr>
              <a:spcBef>
                <a:spcPts val="249"/>
              </a:spcBef>
              <a:buClr>
                <a:srgbClr val="000000"/>
              </a:buClr>
              <a:buSzPct val="59000"/>
              <a:buBlip>
                <a:blip r:embed="rId3"/>
              </a:buBlip>
            </a:pPr>
            <a:endParaRPr lang="en-GB" dirty="0">
              <a:latin typeface="Bookman Old Style" pitchFamily="18" charset="0"/>
              <a:cs typeface="Rockwell"/>
            </a:endParaRPr>
          </a:p>
          <a:p>
            <a:pPr>
              <a:spcBef>
                <a:spcPts val="249"/>
              </a:spcBef>
              <a:buClr>
                <a:srgbClr val="000000"/>
              </a:buClr>
              <a:buSzPct val="59000"/>
              <a:buBlip>
                <a:blip r:embed="rId3"/>
              </a:buBlip>
            </a:pPr>
            <a:r>
              <a:rPr lang="en-GB" dirty="0">
                <a:latin typeface="Bookman Old Style" pitchFamily="18" charset="0"/>
                <a:cs typeface="Rockwell"/>
              </a:rPr>
              <a:t>To prevent Inheritance</a:t>
            </a:r>
          </a:p>
          <a:p>
            <a:pPr lvl="1">
              <a:spcBef>
                <a:spcPts val="249"/>
              </a:spcBef>
              <a:buClr>
                <a:srgbClr val="000000"/>
              </a:buClr>
              <a:buSzPct val="85000"/>
              <a:buBlip>
                <a:blip r:embed="rId3"/>
              </a:buBlip>
            </a:pPr>
            <a:r>
              <a:rPr lang="en-GB" sz="1800" dirty="0">
                <a:latin typeface="Bookman Old Style" pitchFamily="18" charset="0"/>
                <a:cs typeface="Rockwell"/>
              </a:rPr>
              <a:t>Classes can be qualified with the final modifier</a:t>
            </a:r>
          </a:p>
          <a:p>
            <a:pPr lvl="1">
              <a:spcBef>
                <a:spcPts val="249"/>
              </a:spcBef>
              <a:buClr>
                <a:srgbClr val="000000"/>
              </a:buClr>
              <a:buSzPct val="85000"/>
              <a:buBlip>
                <a:blip r:embed="rId3"/>
              </a:buBlip>
            </a:pPr>
            <a:r>
              <a:rPr lang="en-GB" sz="1800" dirty="0">
                <a:latin typeface="Bookman Old Style" pitchFamily="18" charset="0"/>
                <a:cs typeface="Rockwell"/>
              </a:rPr>
              <a:t>The class cannot be extended</a:t>
            </a:r>
          </a:p>
          <a:p>
            <a:pPr lvl="1">
              <a:spcBef>
                <a:spcPts val="249"/>
              </a:spcBef>
              <a:buClr>
                <a:srgbClr val="000000"/>
              </a:buClr>
              <a:buSzPct val="85000"/>
              <a:buBlip>
                <a:blip r:embed="rId3"/>
              </a:buBlip>
            </a:pPr>
            <a:r>
              <a:rPr lang="en-GB" sz="1800" dirty="0">
                <a:latin typeface="Bookman Old Style" pitchFamily="18" charset="0"/>
                <a:cs typeface="Rockwell"/>
              </a:rPr>
              <a:t>This can be used to improve performance.  </a:t>
            </a:r>
          </a:p>
        </p:txBody>
      </p:sp>
      <p:sp>
        <p:nvSpPr>
          <p:cNvPr id="29702" name="AutoShape 8"/>
          <p:cNvSpPr>
            <a:spLocks noChangeArrowheads="1"/>
          </p:cNvSpPr>
          <p:nvPr/>
        </p:nvSpPr>
        <p:spPr bwMode="auto">
          <a:xfrm>
            <a:off x="2951312" y="5661249"/>
            <a:ext cx="3698466" cy="1029228"/>
          </a:xfrm>
          <a:prstGeom prst="roundRect">
            <a:avLst>
              <a:gd name="adj" fmla="val 162"/>
            </a:avLst>
          </a:prstGeom>
          <a:solidFill>
            <a:srgbClr val="FFFFCC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lIns="82945" tIns="41473" rIns="82945" bIns="41473" anchor="ctr"/>
          <a:lstStyle/>
          <a:p>
            <a:endParaRPr lang="en-US" sz="2000" dirty="0"/>
          </a:p>
        </p:txBody>
      </p:sp>
      <p:sp>
        <p:nvSpPr>
          <p:cNvPr id="29703" name="Text Box 9"/>
          <p:cNvSpPr txBox="1">
            <a:spLocks noChangeArrowheads="1"/>
          </p:cNvSpPr>
          <p:nvPr/>
        </p:nvSpPr>
        <p:spPr bwMode="auto">
          <a:xfrm>
            <a:off x="3455930" y="5805826"/>
            <a:ext cx="2640960" cy="7899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 marL="211138" indent="-211138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  <a:cs typeface="ＭＳ Ｐゴシック" charset="0"/>
              </a:defRPr>
            </a:lvl1pPr>
            <a:lvl2pPr marL="742950" indent="-28575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2pPr>
            <a:lvl3pPr marL="1143000" indent="-22860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3pPr>
            <a:lvl4pPr marL="1600200" indent="-22860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4pPr>
            <a:lvl5pPr marL="2057400" indent="-228600"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tabLst>
                <a:tab pos="723900" algn="l"/>
                <a:tab pos="1447800" algn="l"/>
                <a:tab pos="2171700" algn="l"/>
                <a:tab pos="2895600" algn="l"/>
              </a:tabLst>
              <a:defRPr sz="2400">
                <a:solidFill>
                  <a:schemeClr val="tx1"/>
                </a:solidFill>
                <a:latin typeface="Times New Roman" charset="0"/>
                <a:ea typeface="ＭＳ Ｐゴシック" charset="0"/>
              </a:defRPr>
            </a:lvl9pPr>
          </a:lstStyle>
          <a:p>
            <a:pPr>
              <a:spcBef>
                <a:spcPts val="249"/>
              </a:spcBef>
              <a:buClr>
                <a:srgbClr val="000000"/>
              </a:buClr>
              <a:buSzPct val="174000"/>
            </a:pPr>
            <a:r>
              <a:rPr lang="en-GB" sz="1600" dirty="0">
                <a:latin typeface="Bookman Old Style" pitchFamily="18" charset="0"/>
              </a:rPr>
              <a:t>public final class </a:t>
            </a:r>
            <a:r>
              <a:rPr lang="en-GB" sz="1600" dirty="0" err="1">
                <a:latin typeface="Bookman Old Style" pitchFamily="18" charset="0"/>
              </a:rPr>
              <a:t>Color</a:t>
            </a:r>
            <a:endParaRPr lang="en-GB" sz="1600" dirty="0">
              <a:latin typeface="Bookman Old Style" pitchFamily="18" charset="0"/>
            </a:endParaRPr>
          </a:p>
          <a:p>
            <a:pPr>
              <a:spcBef>
                <a:spcPts val="249"/>
              </a:spcBef>
              <a:buClr>
                <a:srgbClr val="000000"/>
              </a:buClr>
              <a:buSzPct val="174000"/>
            </a:pPr>
            <a:r>
              <a:rPr lang="en-GB" sz="1600" dirty="0">
                <a:latin typeface="Bookman Old Style" pitchFamily="18" charset="0"/>
              </a:rPr>
              <a:t>{</a:t>
            </a:r>
          </a:p>
          <a:p>
            <a:pPr>
              <a:spcBef>
                <a:spcPts val="249"/>
              </a:spcBef>
              <a:buClr>
                <a:srgbClr val="000000"/>
              </a:buClr>
              <a:buSzPct val="174000"/>
            </a:pPr>
            <a:r>
              <a:rPr lang="en-GB" sz="1600" dirty="0">
                <a:latin typeface="Bookman Old Style" pitchFamily="18" charset="0"/>
              </a:rPr>
              <a:t>	[...]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263" y="116632"/>
            <a:ext cx="7556313" cy="1116106"/>
          </a:xfrm>
        </p:spPr>
        <p:txBody>
          <a:bodyPr>
            <a:normAutofit/>
          </a:bodyPr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Using final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6468" y="677880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5466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Title 5"/>
          <p:cNvSpPr txBox="1">
            <a:spLocks/>
          </p:cNvSpPr>
          <p:nvPr/>
        </p:nvSpPr>
        <p:spPr>
          <a:xfrm>
            <a:off x="1547664" y="1628800"/>
            <a:ext cx="7524328" cy="3240360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1" hangingPunct="1">
              <a:spcBef>
                <a:spcPct val="0"/>
              </a:spcBef>
              <a:buNone/>
              <a:defRPr sz="3600" b="1" kern="12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algn="ctr" latinLnBrk="0">
              <a:spcAft>
                <a:spcPts val="1800"/>
              </a:spcAft>
            </a:pPr>
            <a:r>
              <a:rPr lang="en-US" dirty="0"/>
              <a:t>Topic 4</a:t>
            </a:r>
            <a:br>
              <a:rPr lang="en-US" dirty="0"/>
            </a:br>
            <a:r>
              <a:rPr lang="en-US" dirty="0"/>
              <a:t/>
            </a:r>
            <a:br>
              <a:rPr lang="en-US" dirty="0"/>
            </a:br>
            <a:r>
              <a:rPr lang="en-US" dirty="0"/>
              <a:t>Encapsulation</a:t>
            </a:r>
          </a:p>
        </p:txBody>
      </p:sp>
    </p:spTree>
    <p:extLst>
      <p:ext uri="{BB962C8B-B14F-4D97-AF65-F5344CB8AC3E}">
        <p14:creationId xmlns:p14="http://schemas.microsoft.com/office/powerpoint/2010/main" val="10111981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8474" y="116632"/>
            <a:ext cx="7556313" cy="1116106"/>
          </a:xfrm>
        </p:spPr>
        <p:txBody>
          <a:bodyPr/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196752"/>
            <a:ext cx="8712967" cy="5472608"/>
          </a:xfrm>
        </p:spPr>
        <p:txBody>
          <a:bodyPr>
            <a:normAutofit/>
          </a:bodyPr>
          <a:lstStyle/>
          <a:p>
            <a:pPr algn="just">
              <a:lnSpc>
                <a:spcPct val="150000"/>
              </a:lnSpc>
            </a:pPr>
            <a:r>
              <a:rPr lang="en-US" sz="2000" dirty="0">
                <a:latin typeface="Bookman Old Style" pitchFamily="18" charset="0"/>
              </a:rPr>
              <a:t>The process in which we wrap the data into a single unit.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Bookman Old Style" pitchFamily="18" charset="0"/>
              </a:rPr>
              <a:t>Encapsulation binds the data and code. 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Bookman Old Style" pitchFamily="18" charset="0"/>
              </a:rPr>
              <a:t>It basically creates a shield and code cannot be accessed outside the shield or by any code outside the shield</a:t>
            </a:r>
          </a:p>
          <a:p>
            <a:pPr algn="just">
              <a:lnSpc>
                <a:spcPct val="150000"/>
              </a:lnSpc>
            </a:pPr>
            <a:r>
              <a:rPr lang="en-US" sz="2000" dirty="0">
                <a:latin typeface="Bookman Old Style" pitchFamily="18" charset="0"/>
              </a:rPr>
              <a:t>We can achieve encapsulation in Java by: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Bookman Old Style" pitchFamily="18" charset="0"/>
              </a:rPr>
              <a:t>Declaring the variables of a class as private.</a:t>
            </a:r>
          </a:p>
          <a:p>
            <a:pPr lvl="1" algn="just">
              <a:lnSpc>
                <a:spcPct val="150000"/>
              </a:lnSpc>
            </a:pPr>
            <a:r>
              <a:rPr lang="en-US" sz="2000" dirty="0">
                <a:latin typeface="Bookman Old Style" pitchFamily="18" charset="0"/>
              </a:rPr>
              <a:t>Providing public setter and getter methods to modify and view the variables values.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7880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73279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2111" y="80646"/>
            <a:ext cx="7556313" cy="1116106"/>
          </a:xfrm>
        </p:spPr>
        <p:txBody>
          <a:bodyPr/>
          <a:lstStyle/>
          <a:p>
            <a:r>
              <a:rPr lang="en-US" b="1" dirty="0">
                <a:latin typeface="Arial" pitchFamily="34" charset="0"/>
                <a:cs typeface="Arial" pitchFamily="34" charset="0"/>
              </a:rPr>
              <a:t>Data Field Encapsulation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484784"/>
            <a:ext cx="8640960" cy="5136561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en-US" sz="3800" b="1" dirty="0" err="1">
                <a:latin typeface="Bookman Old Style" pitchFamily="18" charset="0"/>
              </a:rPr>
              <a:t>Accessor</a:t>
            </a:r>
            <a:r>
              <a:rPr lang="en-US" sz="3800" b="1" dirty="0">
                <a:latin typeface="Bookman Old Style" pitchFamily="18" charset="0"/>
              </a:rPr>
              <a:t> and </a:t>
            </a:r>
            <a:r>
              <a:rPr lang="en-US" sz="3800" b="1" dirty="0" err="1">
                <a:latin typeface="Bookman Old Style" pitchFamily="18" charset="0"/>
              </a:rPr>
              <a:t>Mutator</a:t>
            </a:r>
            <a:endParaRPr lang="en-US" sz="3800" b="1" dirty="0">
              <a:latin typeface="Bookman Old Style" pitchFamily="18" charset="0"/>
            </a:endParaRPr>
          </a:p>
          <a:p>
            <a:pPr lvl="1" algn="just">
              <a:lnSpc>
                <a:spcPct val="134000"/>
              </a:lnSpc>
            </a:pPr>
            <a:r>
              <a:rPr lang="en-US" dirty="0">
                <a:latin typeface="Bookman Old Style" pitchFamily="18" charset="0"/>
              </a:rPr>
              <a:t>To make a private data field accessible, provide a get method (</a:t>
            </a:r>
            <a:r>
              <a:rPr lang="en-US" dirty="0" err="1">
                <a:latin typeface="Bookman Old Style" pitchFamily="18" charset="0"/>
              </a:rPr>
              <a:t>accessor</a:t>
            </a:r>
            <a:r>
              <a:rPr lang="en-US" dirty="0">
                <a:latin typeface="Bookman Old Style" pitchFamily="18" charset="0"/>
              </a:rPr>
              <a:t>) to return the value of the data field. </a:t>
            </a:r>
          </a:p>
          <a:p>
            <a:pPr lvl="1" algn="just">
              <a:lnSpc>
                <a:spcPct val="134000"/>
              </a:lnSpc>
            </a:pPr>
            <a:r>
              <a:rPr lang="en-US" dirty="0">
                <a:latin typeface="Bookman Old Style" pitchFamily="18" charset="0"/>
              </a:rPr>
              <a:t>To enable a private data field to be updated, provide a set method (</a:t>
            </a:r>
            <a:r>
              <a:rPr lang="en-US" dirty="0" err="1">
                <a:latin typeface="Bookman Old Style" pitchFamily="18" charset="0"/>
              </a:rPr>
              <a:t>mutator</a:t>
            </a:r>
            <a:r>
              <a:rPr lang="en-US" dirty="0">
                <a:latin typeface="Bookman Old Style" pitchFamily="18" charset="0"/>
              </a:rPr>
              <a:t>) to set a new value.</a:t>
            </a:r>
          </a:p>
          <a:p>
            <a:pPr lvl="1" algn="just">
              <a:lnSpc>
                <a:spcPct val="134000"/>
              </a:lnSpc>
            </a:pPr>
            <a:r>
              <a:rPr lang="en-US" dirty="0">
                <a:latin typeface="Bookman Old Style" pitchFamily="18" charset="0"/>
              </a:rPr>
              <a:t>A get method is referred to as a </a:t>
            </a:r>
            <a:r>
              <a:rPr lang="en-US" b="1" dirty="0">
                <a:latin typeface="Bookman Old Style" pitchFamily="18" charset="0"/>
              </a:rPr>
              <a:t>getter</a:t>
            </a:r>
            <a:r>
              <a:rPr lang="en-US" dirty="0">
                <a:latin typeface="Bookman Old Style" pitchFamily="18" charset="0"/>
              </a:rPr>
              <a:t> (or </a:t>
            </a:r>
            <a:r>
              <a:rPr lang="en-US" dirty="0" err="1">
                <a:latin typeface="Bookman Old Style" pitchFamily="18" charset="0"/>
              </a:rPr>
              <a:t>accessor</a:t>
            </a:r>
            <a:r>
              <a:rPr lang="en-US" dirty="0">
                <a:latin typeface="Bookman Old Style" pitchFamily="18" charset="0"/>
              </a:rPr>
              <a:t>), and a set method is referred to as a </a:t>
            </a:r>
            <a:r>
              <a:rPr lang="en-US" b="1" dirty="0">
                <a:latin typeface="Bookman Old Style" pitchFamily="18" charset="0"/>
              </a:rPr>
              <a:t>setter</a:t>
            </a:r>
            <a:r>
              <a:rPr lang="en-US" dirty="0">
                <a:latin typeface="Bookman Old Style" pitchFamily="18" charset="0"/>
              </a:rPr>
              <a:t> (or </a:t>
            </a:r>
            <a:r>
              <a:rPr lang="en-US" dirty="0" err="1">
                <a:latin typeface="Bookman Old Style" pitchFamily="18" charset="0"/>
              </a:rPr>
              <a:t>mutator</a:t>
            </a:r>
            <a:r>
              <a:rPr lang="en-US" dirty="0">
                <a:latin typeface="Bookman Old Style" pitchFamily="18" charset="0"/>
              </a:rPr>
              <a:t>).</a:t>
            </a:r>
          </a:p>
          <a:p>
            <a:pPr lvl="1" algn="just">
              <a:lnSpc>
                <a:spcPct val="134000"/>
              </a:lnSpc>
            </a:pPr>
            <a:r>
              <a:rPr lang="en-US" dirty="0">
                <a:latin typeface="Bookman Old Style" pitchFamily="18" charset="0"/>
              </a:rPr>
              <a:t>A get method has the following signature:</a:t>
            </a:r>
          </a:p>
          <a:p>
            <a:pPr marL="400050" lvl="1" indent="0" algn="just">
              <a:lnSpc>
                <a:spcPct val="134000"/>
              </a:lnSpc>
              <a:buNone/>
            </a:pPr>
            <a:r>
              <a:rPr lang="en-US" dirty="0">
                <a:latin typeface="Bookman Old Style" pitchFamily="18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public </a:t>
            </a:r>
            <a:r>
              <a:rPr lang="en-US" dirty="0" err="1">
                <a:solidFill>
                  <a:srgbClr val="FF0000"/>
                </a:solidFill>
                <a:latin typeface="Bookman Old Style" pitchFamily="18" charset="0"/>
              </a:rPr>
              <a:t>returnType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Bookman Old Style" pitchFamily="18" charset="0"/>
              </a:rPr>
              <a:t>getPropertyName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()</a:t>
            </a:r>
          </a:p>
          <a:p>
            <a:pPr lvl="1" algn="just">
              <a:lnSpc>
                <a:spcPct val="134000"/>
              </a:lnSpc>
            </a:pPr>
            <a:r>
              <a:rPr lang="en-US" dirty="0">
                <a:latin typeface="Bookman Old Style" pitchFamily="18" charset="0"/>
              </a:rPr>
              <a:t>If the </a:t>
            </a:r>
            <a:r>
              <a:rPr lang="en-US" dirty="0" err="1">
                <a:latin typeface="Bookman Old Style" pitchFamily="18" charset="0"/>
              </a:rPr>
              <a:t>returnType</a:t>
            </a:r>
            <a:r>
              <a:rPr lang="en-US" dirty="0">
                <a:latin typeface="Bookman Old Style" pitchFamily="18" charset="0"/>
              </a:rPr>
              <a:t> is </a:t>
            </a:r>
            <a:r>
              <a:rPr lang="en-US" dirty="0" err="1">
                <a:latin typeface="Bookman Old Style" pitchFamily="18" charset="0"/>
              </a:rPr>
              <a:t>boolean</a:t>
            </a:r>
            <a:r>
              <a:rPr lang="en-US" dirty="0">
                <a:latin typeface="Bookman Old Style" pitchFamily="18" charset="0"/>
              </a:rPr>
              <a:t>, the get method should be defined as follows by convention:</a:t>
            </a:r>
          </a:p>
          <a:p>
            <a:pPr marL="400050" lvl="1" indent="0" algn="just">
              <a:lnSpc>
                <a:spcPct val="134000"/>
              </a:lnSpc>
              <a:buNone/>
            </a:pPr>
            <a:r>
              <a:rPr lang="en-US" dirty="0">
                <a:latin typeface="Bookman Old Style" pitchFamily="18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public </a:t>
            </a:r>
            <a:r>
              <a:rPr lang="en-US" dirty="0" err="1">
                <a:solidFill>
                  <a:srgbClr val="FF0000"/>
                </a:solidFill>
                <a:latin typeface="Bookman Old Style" pitchFamily="18" charset="0"/>
              </a:rPr>
              <a:t>boolean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Bookman Old Style" pitchFamily="18" charset="0"/>
              </a:rPr>
              <a:t>isPropertyName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()</a:t>
            </a:r>
          </a:p>
          <a:p>
            <a:pPr lvl="1" algn="just">
              <a:lnSpc>
                <a:spcPct val="134000"/>
              </a:lnSpc>
            </a:pPr>
            <a:r>
              <a:rPr lang="en-US" dirty="0">
                <a:latin typeface="Bookman Old Style" pitchFamily="18" charset="0"/>
              </a:rPr>
              <a:t>A set method has the following signature:</a:t>
            </a:r>
          </a:p>
          <a:p>
            <a:pPr marL="400050" lvl="1" indent="0" algn="just">
              <a:lnSpc>
                <a:spcPct val="134000"/>
              </a:lnSpc>
              <a:buNone/>
            </a:pPr>
            <a:r>
              <a:rPr lang="en-US" dirty="0">
                <a:latin typeface="Bookman Old Style" pitchFamily="18" charset="0"/>
              </a:rPr>
              <a:t>	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public void </a:t>
            </a:r>
            <a:r>
              <a:rPr lang="en-US" dirty="0" err="1">
                <a:solidFill>
                  <a:srgbClr val="FF0000"/>
                </a:solidFill>
                <a:latin typeface="Bookman Old Style" pitchFamily="18" charset="0"/>
              </a:rPr>
              <a:t>setPropertyName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(</a:t>
            </a:r>
            <a:r>
              <a:rPr lang="en-US" dirty="0" err="1">
                <a:solidFill>
                  <a:srgbClr val="FF0000"/>
                </a:solidFill>
                <a:latin typeface="Bookman Old Style" pitchFamily="18" charset="0"/>
              </a:rPr>
              <a:t>dataType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 </a:t>
            </a:r>
            <a:r>
              <a:rPr lang="en-US" dirty="0" err="1">
                <a:solidFill>
                  <a:srgbClr val="FF0000"/>
                </a:solidFill>
                <a:latin typeface="Bookman Old Style" pitchFamily="18" charset="0"/>
              </a:rPr>
              <a:t>propertyValue</a:t>
            </a:r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)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0" y="677880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06221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95198" y="404664"/>
            <a:ext cx="849694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latinLnBrk="0"/>
            <a:r>
              <a:rPr lang="en-US" sz="2000" b="1" dirty="0">
                <a:solidFill>
                  <a:srgbClr val="0000CC"/>
                </a:solidFill>
                <a:latin typeface="Bookman Old Style" pitchFamily="18" charset="0"/>
                <a:cs typeface="Rockwell"/>
              </a:rPr>
              <a:t>Exercise 3.2</a:t>
            </a:r>
            <a:r>
              <a:rPr lang="en-US" sz="2000" dirty="0">
                <a:latin typeface="Bookman Old Style" pitchFamily="18" charset="0"/>
                <a:cs typeface="Rockwell"/>
              </a:rPr>
              <a:t>. Create </a:t>
            </a:r>
            <a:r>
              <a:rPr lang="en-US" sz="2000" dirty="0">
                <a:latin typeface="Bookman Old Style" pitchFamily="18" charset="0"/>
              </a:rPr>
              <a:t>a new circle class with a private data-field radius, </a:t>
            </a:r>
            <a:r>
              <a:rPr lang="en-US" sz="2000" dirty="0" err="1">
                <a:latin typeface="Bookman Old Style" pitchFamily="18" charset="0"/>
              </a:rPr>
              <a:t>numberOfObjects</a:t>
            </a:r>
            <a:r>
              <a:rPr lang="en-US" sz="2000" dirty="0">
                <a:latin typeface="Bookman Old Style" pitchFamily="18" charset="0"/>
              </a:rPr>
              <a:t> and its associated </a:t>
            </a:r>
            <a:r>
              <a:rPr lang="en-US" sz="2000" dirty="0" err="1">
                <a:latin typeface="Bookman Old Style" pitchFamily="18" charset="0"/>
              </a:rPr>
              <a:t>accessor</a:t>
            </a:r>
            <a:r>
              <a:rPr lang="en-US" sz="2000" dirty="0">
                <a:latin typeface="Bookman Old Style" pitchFamily="18" charset="0"/>
              </a:rPr>
              <a:t> and </a:t>
            </a:r>
            <a:r>
              <a:rPr lang="en-US" sz="2000" dirty="0" err="1">
                <a:latin typeface="Bookman Old Style" pitchFamily="18" charset="0"/>
              </a:rPr>
              <a:t>mutator</a:t>
            </a:r>
            <a:r>
              <a:rPr lang="en-US" sz="2000" dirty="0">
                <a:latin typeface="Bookman Old Style" pitchFamily="18" charset="0"/>
              </a:rPr>
              <a:t> methods for the class diagram  shown in Figure</a:t>
            </a:r>
            <a:r>
              <a:rPr lang="en-US" sz="2400" dirty="0"/>
              <a:t>.</a:t>
            </a:r>
            <a:endParaRPr lang="en-US" sz="2400" dirty="0">
              <a:latin typeface="Rockwell"/>
              <a:cs typeface="Rockwell"/>
            </a:endParaRPr>
          </a:p>
        </p:txBody>
      </p:sp>
      <p:pic>
        <p:nvPicPr>
          <p:cNvPr id="266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776" y="2060848"/>
            <a:ext cx="3777580" cy="28618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Rectangle 5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0" y="677880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36355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395536" y="692696"/>
            <a:ext cx="8321376" cy="532453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sz="2000" dirty="0">
                <a:latin typeface="Bookman Old Style" pitchFamily="18" charset="0"/>
              </a:rPr>
              <a:t>public class </a:t>
            </a:r>
            <a:r>
              <a:rPr lang="en-US" sz="2000" dirty="0" err="1">
                <a:latin typeface="Bookman Old Style" pitchFamily="18" charset="0"/>
              </a:rPr>
              <a:t>CircleWithPrivateDataFields</a:t>
            </a:r>
            <a:r>
              <a:rPr lang="en-US" sz="2000" dirty="0">
                <a:latin typeface="Bookman Old Style" pitchFamily="18" charset="0"/>
              </a:rPr>
              <a:t> {</a:t>
            </a:r>
          </a:p>
          <a:p>
            <a:r>
              <a:rPr lang="en-US" sz="2000" dirty="0">
                <a:latin typeface="Bookman Old Style" pitchFamily="18" charset="0"/>
              </a:rPr>
              <a:t>  /** The radius of the circle */</a:t>
            </a:r>
          </a:p>
          <a:p>
            <a:r>
              <a:rPr lang="en-US" sz="2000" dirty="0">
                <a:latin typeface="Bookman Old Style" pitchFamily="18" charset="0"/>
              </a:rPr>
              <a:t>  </a:t>
            </a:r>
            <a:r>
              <a:rPr lang="en-US" sz="2000" b="1" dirty="0">
                <a:latin typeface="Bookman Old Style" pitchFamily="18" charset="0"/>
              </a:rPr>
              <a:t>private</a:t>
            </a:r>
            <a:r>
              <a:rPr lang="en-US" sz="2000" dirty="0">
                <a:latin typeface="Bookman Old Style" pitchFamily="18" charset="0"/>
              </a:rPr>
              <a:t> double radius = 1;</a:t>
            </a:r>
          </a:p>
          <a:p>
            <a:endParaRPr lang="en-US" sz="2000" dirty="0">
              <a:latin typeface="Bookman Old Style" pitchFamily="18" charset="0"/>
            </a:endParaRPr>
          </a:p>
          <a:p>
            <a:r>
              <a:rPr lang="en-US" sz="2000" dirty="0">
                <a:latin typeface="Bookman Old Style" pitchFamily="18" charset="0"/>
              </a:rPr>
              <a:t>  /** The number of the objects created */</a:t>
            </a:r>
          </a:p>
          <a:p>
            <a:r>
              <a:rPr lang="en-US" sz="2000" dirty="0">
                <a:latin typeface="Bookman Old Style" pitchFamily="18" charset="0"/>
              </a:rPr>
              <a:t>  </a:t>
            </a:r>
            <a:r>
              <a:rPr lang="en-US" sz="2000" b="1" dirty="0">
                <a:latin typeface="Bookman Old Style" pitchFamily="18" charset="0"/>
              </a:rPr>
              <a:t>private</a:t>
            </a:r>
            <a:r>
              <a:rPr lang="en-US" sz="2000" dirty="0">
                <a:latin typeface="Bookman Old Style" pitchFamily="18" charset="0"/>
              </a:rPr>
              <a:t> static </a:t>
            </a:r>
            <a:r>
              <a:rPr lang="en-US" sz="2000" dirty="0" err="1">
                <a:latin typeface="Bookman Old Style" pitchFamily="18" charset="0"/>
              </a:rPr>
              <a:t>int</a:t>
            </a:r>
            <a:r>
              <a:rPr lang="en-US" sz="2000" dirty="0">
                <a:latin typeface="Bookman Old Style" pitchFamily="18" charset="0"/>
              </a:rPr>
              <a:t> </a:t>
            </a:r>
            <a:r>
              <a:rPr lang="en-US" sz="2000" dirty="0" err="1">
                <a:latin typeface="Bookman Old Style" pitchFamily="18" charset="0"/>
              </a:rPr>
              <a:t>numberOfObjects</a:t>
            </a:r>
            <a:r>
              <a:rPr lang="en-US" sz="2000" dirty="0">
                <a:latin typeface="Bookman Old Style" pitchFamily="18" charset="0"/>
              </a:rPr>
              <a:t> = 0;</a:t>
            </a:r>
          </a:p>
          <a:p>
            <a:endParaRPr lang="en-US" sz="2000" dirty="0">
              <a:latin typeface="Bookman Old Style" pitchFamily="18" charset="0"/>
            </a:endParaRPr>
          </a:p>
          <a:p>
            <a:r>
              <a:rPr lang="en-US" sz="2000" dirty="0">
                <a:latin typeface="Bookman Old Style" pitchFamily="18" charset="0"/>
              </a:rPr>
              <a:t>  /** Construct a circle with radius 1 */</a:t>
            </a:r>
          </a:p>
          <a:p>
            <a:r>
              <a:rPr lang="en-US" sz="2000" dirty="0">
                <a:latin typeface="Bookman Old Style" pitchFamily="18" charset="0"/>
              </a:rPr>
              <a:t>  public </a:t>
            </a:r>
            <a:r>
              <a:rPr lang="en-US" sz="2000" dirty="0" err="1">
                <a:latin typeface="Bookman Old Style" pitchFamily="18" charset="0"/>
              </a:rPr>
              <a:t>CircleWithPrivateDataFields</a:t>
            </a:r>
            <a:r>
              <a:rPr lang="en-US" sz="2000" dirty="0">
                <a:latin typeface="Bookman Old Style" pitchFamily="18" charset="0"/>
              </a:rPr>
              <a:t>() {</a:t>
            </a:r>
          </a:p>
          <a:p>
            <a:r>
              <a:rPr lang="en-US" sz="2000" dirty="0">
                <a:latin typeface="Bookman Old Style" pitchFamily="18" charset="0"/>
              </a:rPr>
              <a:t>    </a:t>
            </a:r>
            <a:r>
              <a:rPr lang="en-US" sz="2000" dirty="0" err="1">
                <a:latin typeface="Bookman Old Style" pitchFamily="18" charset="0"/>
              </a:rPr>
              <a:t>numberOfObjects</a:t>
            </a:r>
            <a:r>
              <a:rPr lang="en-US" sz="2000" dirty="0">
                <a:latin typeface="Bookman Old Style" pitchFamily="18" charset="0"/>
              </a:rPr>
              <a:t>++;</a:t>
            </a:r>
          </a:p>
          <a:p>
            <a:r>
              <a:rPr lang="en-US" sz="2000" dirty="0">
                <a:latin typeface="Bookman Old Style" pitchFamily="18" charset="0"/>
              </a:rPr>
              <a:t>  }</a:t>
            </a:r>
          </a:p>
          <a:p>
            <a:endParaRPr lang="en-US" sz="2000" dirty="0">
              <a:latin typeface="Bookman Old Style" pitchFamily="18" charset="0"/>
            </a:endParaRPr>
          </a:p>
          <a:p>
            <a:r>
              <a:rPr lang="en-US" sz="2000" dirty="0">
                <a:latin typeface="Bookman Old Style" pitchFamily="18" charset="0"/>
              </a:rPr>
              <a:t>  /** Construct a circle with a specified radius */</a:t>
            </a:r>
          </a:p>
          <a:p>
            <a:r>
              <a:rPr lang="en-US" sz="2000" dirty="0">
                <a:latin typeface="Bookman Old Style" pitchFamily="18" charset="0"/>
              </a:rPr>
              <a:t>  public </a:t>
            </a:r>
            <a:r>
              <a:rPr lang="en-US" sz="2000" dirty="0" err="1">
                <a:latin typeface="Bookman Old Style" pitchFamily="18" charset="0"/>
              </a:rPr>
              <a:t>CircleWithPrivateDataFields</a:t>
            </a:r>
            <a:r>
              <a:rPr lang="en-US" sz="2000" dirty="0">
                <a:latin typeface="Bookman Old Style" pitchFamily="18" charset="0"/>
              </a:rPr>
              <a:t>(double </a:t>
            </a:r>
            <a:r>
              <a:rPr lang="en-US" sz="2000" dirty="0" err="1">
                <a:latin typeface="Bookman Old Style" pitchFamily="18" charset="0"/>
              </a:rPr>
              <a:t>newRadius</a:t>
            </a:r>
            <a:r>
              <a:rPr lang="en-US" sz="2000" dirty="0">
                <a:latin typeface="Bookman Old Style" pitchFamily="18" charset="0"/>
              </a:rPr>
              <a:t>) {</a:t>
            </a:r>
          </a:p>
          <a:p>
            <a:r>
              <a:rPr lang="en-US" sz="2000" dirty="0">
                <a:latin typeface="Bookman Old Style" pitchFamily="18" charset="0"/>
              </a:rPr>
              <a:t>    radius = </a:t>
            </a:r>
            <a:r>
              <a:rPr lang="en-US" sz="2000" dirty="0" err="1">
                <a:latin typeface="Bookman Old Style" pitchFamily="18" charset="0"/>
              </a:rPr>
              <a:t>newRadius</a:t>
            </a:r>
            <a:r>
              <a:rPr lang="en-US" sz="2000" dirty="0">
                <a:latin typeface="Bookman Old Style" pitchFamily="18" charset="0"/>
              </a:rPr>
              <a:t>;</a:t>
            </a:r>
          </a:p>
          <a:p>
            <a:r>
              <a:rPr lang="en-US" sz="2000" dirty="0">
                <a:latin typeface="Bookman Old Style" pitchFamily="18" charset="0"/>
              </a:rPr>
              <a:t>    </a:t>
            </a:r>
            <a:r>
              <a:rPr lang="en-US" sz="2000" dirty="0" err="1">
                <a:latin typeface="Bookman Old Style" pitchFamily="18" charset="0"/>
              </a:rPr>
              <a:t>numberOfObjects</a:t>
            </a:r>
            <a:r>
              <a:rPr lang="en-US" sz="2000" dirty="0">
                <a:latin typeface="Bookman Old Style" pitchFamily="18" charset="0"/>
              </a:rPr>
              <a:t>++;</a:t>
            </a:r>
          </a:p>
          <a:p>
            <a:r>
              <a:rPr lang="en-US" sz="2000" dirty="0">
                <a:latin typeface="Bookman Old Style" pitchFamily="18" charset="0"/>
              </a:rPr>
              <a:t>  }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7880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/>
          <p:cNvSpPr txBox="1"/>
          <p:nvPr/>
        </p:nvSpPr>
        <p:spPr>
          <a:xfrm>
            <a:off x="6268640" y="1700808"/>
            <a:ext cx="2318263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>
                <a:latin typeface="Bookman Old Style" pitchFamily="18" charset="0"/>
              </a:rPr>
              <a:t>Private Data Fields</a:t>
            </a:r>
          </a:p>
        </p:txBody>
      </p:sp>
      <p:cxnSp>
        <p:nvCxnSpPr>
          <p:cNvPr id="9" name="Straight Arrow Connector 8"/>
          <p:cNvCxnSpPr>
            <a:stCxn id="7" idx="1"/>
          </p:cNvCxnSpPr>
          <p:nvPr/>
        </p:nvCxnSpPr>
        <p:spPr>
          <a:xfrm flipH="1" flipV="1">
            <a:off x="4252416" y="1556792"/>
            <a:ext cx="2016224" cy="328682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flipH="1">
            <a:off x="5764584" y="1885474"/>
            <a:ext cx="504056" cy="535414"/>
          </a:xfrm>
          <a:prstGeom prst="straightConnector1">
            <a:avLst/>
          </a:prstGeom>
          <a:ln w="28575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694436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395536" y="616034"/>
            <a:ext cx="8223134" cy="59093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r>
              <a:rPr lang="en-US" dirty="0">
                <a:latin typeface="Bookman Old Style" pitchFamily="18" charset="0"/>
              </a:rPr>
              <a:t>  /** Return radius */</a:t>
            </a:r>
          </a:p>
          <a:p>
            <a:r>
              <a:rPr lang="en-US" dirty="0">
                <a:latin typeface="Bookman Old Style" pitchFamily="18" charset="0"/>
              </a:rPr>
              <a:t>  public double </a:t>
            </a:r>
            <a:r>
              <a:rPr lang="en-US" dirty="0" err="1">
                <a:latin typeface="Bookman Old Style" pitchFamily="18" charset="0"/>
              </a:rPr>
              <a:t>getRadius</a:t>
            </a:r>
            <a:r>
              <a:rPr lang="en-US" dirty="0">
                <a:latin typeface="Bookman Old Style" pitchFamily="18" charset="0"/>
              </a:rPr>
              <a:t>() {</a:t>
            </a:r>
          </a:p>
          <a:p>
            <a:r>
              <a:rPr lang="en-US" dirty="0">
                <a:latin typeface="Bookman Old Style" pitchFamily="18" charset="0"/>
              </a:rPr>
              <a:t>    return radius;</a:t>
            </a:r>
          </a:p>
          <a:p>
            <a:r>
              <a:rPr lang="en-US" dirty="0">
                <a:latin typeface="Bookman Old Style" pitchFamily="18" charset="0"/>
              </a:rPr>
              <a:t>  }</a:t>
            </a:r>
          </a:p>
          <a:p>
            <a:endParaRPr lang="en-US" dirty="0">
              <a:latin typeface="Bookman Old Style" pitchFamily="18" charset="0"/>
            </a:endParaRPr>
          </a:p>
          <a:p>
            <a:r>
              <a:rPr lang="en-US" dirty="0">
                <a:latin typeface="Bookman Old Style" pitchFamily="18" charset="0"/>
              </a:rPr>
              <a:t>  /** Set a new radius */</a:t>
            </a:r>
          </a:p>
          <a:p>
            <a:r>
              <a:rPr lang="en-US" dirty="0">
                <a:latin typeface="Bookman Old Style" pitchFamily="18" charset="0"/>
              </a:rPr>
              <a:t>  public void </a:t>
            </a:r>
            <a:r>
              <a:rPr lang="en-US" dirty="0" err="1">
                <a:latin typeface="Bookman Old Style" pitchFamily="18" charset="0"/>
              </a:rPr>
              <a:t>setRadius</a:t>
            </a:r>
            <a:r>
              <a:rPr lang="en-US" dirty="0">
                <a:latin typeface="Bookman Old Style" pitchFamily="18" charset="0"/>
              </a:rPr>
              <a:t>(double </a:t>
            </a:r>
            <a:r>
              <a:rPr lang="en-US" dirty="0" err="1">
                <a:latin typeface="Bookman Old Style" pitchFamily="18" charset="0"/>
              </a:rPr>
              <a:t>newRadius</a:t>
            </a:r>
            <a:r>
              <a:rPr lang="en-US" dirty="0">
                <a:latin typeface="Bookman Old Style" pitchFamily="18" charset="0"/>
              </a:rPr>
              <a:t>) {</a:t>
            </a:r>
          </a:p>
          <a:p>
            <a:r>
              <a:rPr lang="sv-SE" dirty="0">
                <a:latin typeface="Bookman Old Style" pitchFamily="18" charset="0"/>
              </a:rPr>
              <a:t>    radius = (newRadius &gt;= 0) ? newRadius : 0;</a:t>
            </a:r>
          </a:p>
          <a:p>
            <a:r>
              <a:rPr lang="en-US" dirty="0">
                <a:latin typeface="Bookman Old Style" pitchFamily="18" charset="0"/>
              </a:rPr>
              <a:t>  }</a:t>
            </a:r>
          </a:p>
          <a:p>
            <a:endParaRPr lang="en-US" dirty="0">
              <a:latin typeface="Bookman Old Style" pitchFamily="18" charset="0"/>
            </a:endParaRPr>
          </a:p>
          <a:p>
            <a:r>
              <a:rPr lang="en-US" dirty="0">
                <a:latin typeface="Bookman Old Style" pitchFamily="18" charset="0"/>
              </a:rPr>
              <a:t>  /** Return </a:t>
            </a:r>
            <a:r>
              <a:rPr lang="en-US" dirty="0" err="1">
                <a:latin typeface="Bookman Old Style" pitchFamily="18" charset="0"/>
              </a:rPr>
              <a:t>numberOfObjects</a:t>
            </a:r>
            <a:r>
              <a:rPr lang="en-US" dirty="0">
                <a:latin typeface="Bookman Old Style" pitchFamily="18" charset="0"/>
              </a:rPr>
              <a:t> */</a:t>
            </a:r>
          </a:p>
          <a:p>
            <a:r>
              <a:rPr lang="en-US" dirty="0">
                <a:latin typeface="Bookman Old Style" pitchFamily="18" charset="0"/>
              </a:rPr>
              <a:t>  public static </a:t>
            </a:r>
            <a:r>
              <a:rPr lang="en-US" dirty="0" err="1">
                <a:latin typeface="Bookman Old Style" pitchFamily="18" charset="0"/>
              </a:rPr>
              <a:t>int</a:t>
            </a:r>
            <a:r>
              <a:rPr lang="en-US" dirty="0">
                <a:latin typeface="Bookman Old Style" pitchFamily="18" charset="0"/>
              </a:rPr>
              <a:t> </a:t>
            </a:r>
            <a:r>
              <a:rPr lang="en-US" dirty="0" err="1">
                <a:latin typeface="Bookman Old Style" pitchFamily="18" charset="0"/>
              </a:rPr>
              <a:t>getNumberOfObjects</a:t>
            </a:r>
            <a:r>
              <a:rPr lang="en-US" dirty="0">
                <a:latin typeface="Bookman Old Style" pitchFamily="18" charset="0"/>
              </a:rPr>
              <a:t>() {</a:t>
            </a:r>
          </a:p>
          <a:p>
            <a:r>
              <a:rPr lang="en-US" dirty="0">
                <a:latin typeface="Bookman Old Style" pitchFamily="18" charset="0"/>
              </a:rPr>
              <a:t>    return </a:t>
            </a:r>
            <a:r>
              <a:rPr lang="en-US" dirty="0" err="1">
                <a:latin typeface="Bookman Old Style" pitchFamily="18" charset="0"/>
              </a:rPr>
              <a:t>numberOfObjects</a:t>
            </a:r>
            <a:r>
              <a:rPr lang="en-US" dirty="0">
                <a:latin typeface="Bookman Old Style" pitchFamily="18" charset="0"/>
              </a:rPr>
              <a:t>;</a:t>
            </a:r>
          </a:p>
          <a:p>
            <a:r>
              <a:rPr lang="en-US" dirty="0">
                <a:latin typeface="Bookman Old Style" pitchFamily="18" charset="0"/>
              </a:rPr>
              <a:t>  }</a:t>
            </a:r>
          </a:p>
          <a:p>
            <a:endParaRPr lang="en-US" dirty="0">
              <a:latin typeface="Bookman Old Style" pitchFamily="18" charset="0"/>
            </a:endParaRPr>
          </a:p>
          <a:p>
            <a:r>
              <a:rPr lang="en-US" dirty="0">
                <a:latin typeface="Bookman Old Style" pitchFamily="18" charset="0"/>
              </a:rPr>
              <a:t>  /** Return the area of this circle */</a:t>
            </a:r>
          </a:p>
          <a:p>
            <a:r>
              <a:rPr lang="en-US" dirty="0">
                <a:latin typeface="Bookman Old Style" pitchFamily="18" charset="0"/>
              </a:rPr>
              <a:t>  public double </a:t>
            </a:r>
            <a:r>
              <a:rPr lang="en-US" dirty="0" err="1">
                <a:latin typeface="Bookman Old Style" pitchFamily="18" charset="0"/>
              </a:rPr>
              <a:t>getArea</a:t>
            </a:r>
            <a:r>
              <a:rPr lang="en-US" dirty="0">
                <a:latin typeface="Bookman Old Style" pitchFamily="18" charset="0"/>
              </a:rPr>
              <a:t>() {</a:t>
            </a:r>
          </a:p>
          <a:p>
            <a:r>
              <a:rPr lang="en-US" dirty="0">
                <a:latin typeface="Bookman Old Style" pitchFamily="18" charset="0"/>
              </a:rPr>
              <a:t>    return radius * radius * </a:t>
            </a:r>
            <a:r>
              <a:rPr lang="en-US" dirty="0" err="1">
                <a:latin typeface="Bookman Old Style" pitchFamily="18" charset="0"/>
              </a:rPr>
              <a:t>Math.PI</a:t>
            </a:r>
            <a:r>
              <a:rPr lang="en-US" dirty="0">
                <a:latin typeface="Bookman Old Style" pitchFamily="18" charset="0"/>
              </a:rPr>
              <a:t>;</a:t>
            </a:r>
          </a:p>
          <a:p>
            <a:r>
              <a:rPr lang="en-US" dirty="0">
                <a:latin typeface="Bookman Old Style" pitchFamily="18" charset="0"/>
              </a:rPr>
              <a:t>  }</a:t>
            </a:r>
          </a:p>
          <a:p>
            <a:r>
              <a:rPr lang="en-US" dirty="0">
                <a:latin typeface="Bookman Old Style" pitchFamily="18" charset="0"/>
              </a:rPr>
              <a:t>}</a:t>
            </a:r>
          </a:p>
          <a:p>
            <a:endParaRPr lang="en-US" dirty="0">
              <a:latin typeface="Bookman Old Style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7880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52400" y="693120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7063447" y="868070"/>
            <a:ext cx="117371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Bookman Old Style" pitchFamily="18" charset="0"/>
              </a:rPr>
              <a:t>Accessor</a:t>
            </a:r>
            <a:endParaRPr lang="en-US" dirty="0">
              <a:latin typeface="Bookman Old Style" pitchFamily="18" charset="0"/>
            </a:endParaRPr>
          </a:p>
        </p:txBody>
      </p:sp>
      <p:cxnSp>
        <p:nvCxnSpPr>
          <p:cNvPr id="12" name="Straight Arrow Connector 11"/>
          <p:cNvCxnSpPr>
            <a:stCxn id="9" idx="1"/>
          </p:cNvCxnSpPr>
          <p:nvPr/>
        </p:nvCxnSpPr>
        <p:spPr>
          <a:xfrm flipH="1">
            <a:off x="4572001" y="1052736"/>
            <a:ext cx="2491446" cy="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063447" y="3676382"/>
            <a:ext cx="117371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Bookman Old Style" pitchFamily="18" charset="0"/>
              </a:rPr>
              <a:t>Accessor</a:t>
            </a:r>
            <a:endParaRPr lang="en-US" dirty="0">
              <a:latin typeface="Bookman Old Style" pitchFamily="18" charset="0"/>
            </a:endParaRPr>
          </a:p>
        </p:txBody>
      </p:sp>
      <p:cxnSp>
        <p:nvCxnSpPr>
          <p:cNvPr id="16" name="Straight Arrow Connector 15"/>
          <p:cNvCxnSpPr>
            <a:stCxn id="15" idx="1"/>
          </p:cNvCxnSpPr>
          <p:nvPr/>
        </p:nvCxnSpPr>
        <p:spPr>
          <a:xfrm flipH="1">
            <a:off x="5220072" y="3861048"/>
            <a:ext cx="1843375" cy="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063446" y="4997538"/>
            <a:ext cx="1173719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Bookman Old Style" pitchFamily="18" charset="0"/>
              </a:rPr>
              <a:t>Accessor</a:t>
            </a:r>
            <a:endParaRPr lang="en-US" dirty="0">
              <a:latin typeface="Bookman Old Style" pitchFamily="18" charset="0"/>
            </a:endParaRPr>
          </a:p>
        </p:txBody>
      </p:sp>
      <p:cxnSp>
        <p:nvCxnSpPr>
          <p:cNvPr id="19" name="Straight Arrow Connector 18"/>
          <p:cNvCxnSpPr>
            <a:stCxn id="18" idx="1"/>
          </p:cNvCxnSpPr>
          <p:nvPr/>
        </p:nvCxnSpPr>
        <p:spPr>
          <a:xfrm flipH="1">
            <a:off x="5220071" y="5182204"/>
            <a:ext cx="1843375" cy="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7063447" y="2267580"/>
            <a:ext cx="1095172" cy="369332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en-US" dirty="0" err="1">
                <a:latin typeface="Bookman Old Style" pitchFamily="18" charset="0"/>
              </a:rPr>
              <a:t>Mutator</a:t>
            </a:r>
            <a:endParaRPr lang="en-US" dirty="0">
              <a:latin typeface="Bookman Old Style" pitchFamily="18" charset="0"/>
            </a:endParaRPr>
          </a:p>
        </p:txBody>
      </p:sp>
      <p:cxnSp>
        <p:nvCxnSpPr>
          <p:cNvPr id="21" name="Straight Arrow Connector 20"/>
          <p:cNvCxnSpPr>
            <a:stCxn id="20" idx="1"/>
          </p:cNvCxnSpPr>
          <p:nvPr/>
        </p:nvCxnSpPr>
        <p:spPr>
          <a:xfrm flipH="1">
            <a:off x="5580113" y="2452246"/>
            <a:ext cx="1483334" cy="0"/>
          </a:xfrm>
          <a:prstGeom prst="straightConnector1">
            <a:avLst/>
          </a:prstGeom>
          <a:ln w="28575"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2678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18" grpId="0" animBg="1"/>
      <p:bldP spid="2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23528" y="289093"/>
            <a:ext cx="7704856" cy="674030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dirty="0">
                <a:latin typeface="Bookman Old Style" pitchFamily="18" charset="0"/>
              </a:rPr>
              <a:t>public class </a:t>
            </a:r>
            <a:r>
              <a:rPr lang="en-US" dirty="0" err="1">
                <a:latin typeface="Bookman Old Style" pitchFamily="18" charset="0"/>
              </a:rPr>
              <a:t>TestCircleWithPrivateDataFields</a:t>
            </a:r>
            <a:r>
              <a:rPr lang="en-US" dirty="0">
                <a:latin typeface="Bookman Old Style" pitchFamily="18" charset="0"/>
              </a:rPr>
              <a:t> {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itchFamily="18" charset="0"/>
              </a:rPr>
              <a:t>  /** Main method */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itchFamily="18" charset="0"/>
              </a:rPr>
              <a:t>  public static void main(String[] </a:t>
            </a:r>
            <a:r>
              <a:rPr lang="en-US" dirty="0" err="1">
                <a:latin typeface="Bookman Old Style" pitchFamily="18" charset="0"/>
              </a:rPr>
              <a:t>args</a:t>
            </a:r>
            <a:r>
              <a:rPr lang="en-US" dirty="0">
                <a:latin typeface="Bookman Old Style" pitchFamily="18" charset="0"/>
              </a:rPr>
              <a:t>) {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itchFamily="18" charset="0"/>
              </a:rPr>
              <a:t>    // Create a Circle with radius 5.0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itchFamily="18" charset="0"/>
              </a:rPr>
              <a:t>    </a:t>
            </a:r>
            <a:r>
              <a:rPr lang="en-US" dirty="0" err="1">
                <a:latin typeface="Bookman Old Style" pitchFamily="18" charset="0"/>
              </a:rPr>
              <a:t>CircleWithPrivateDataFields</a:t>
            </a:r>
            <a:r>
              <a:rPr lang="en-US" dirty="0">
                <a:latin typeface="Bookman Old Style" pitchFamily="18" charset="0"/>
              </a:rPr>
              <a:t> </a:t>
            </a:r>
            <a:r>
              <a:rPr lang="en-US" dirty="0" err="1">
                <a:latin typeface="Bookman Old Style" pitchFamily="18" charset="0"/>
              </a:rPr>
              <a:t>myCircle</a:t>
            </a:r>
            <a:r>
              <a:rPr lang="en-US" dirty="0">
                <a:latin typeface="Bookman Old Style" pitchFamily="18" charset="0"/>
              </a:rPr>
              <a:t> = 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itchFamily="18" charset="0"/>
              </a:rPr>
              <a:t>      new </a:t>
            </a:r>
            <a:r>
              <a:rPr lang="en-US" dirty="0" err="1">
                <a:latin typeface="Bookman Old Style" pitchFamily="18" charset="0"/>
              </a:rPr>
              <a:t>CircleWithPrivateDataFields</a:t>
            </a:r>
            <a:r>
              <a:rPr lang="en-US" dirty="0">
                <a:latin typeface="Bookman Old Style" pitchFamily="18" charset="0"/>
              </a:rPr>
              <a:t>(5.0);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itchFamily="18" charset="0"/>
              </a:rPr>
              <a:t>    </a:t>
            </a:r>
            <a:r>
              <a:rPr lang="en-US" dirty="0" err="1">
                <a:latin typeface="Bookman Old Style" pitchFamily="18" charset="0"/>
              </a:rPr>
              <a:t>System.out.println</a:t>
            </a:r>
            <a:r>
              <a:rPr lang="en-US" dirty="0">
                <a:latin typeface="Bookman Old Style" pitchFamily="18" charset="0"/>
              </a:rPr>
              <a:t>("The area of the circle of radius "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itchFamily="18" charset="0"/>
              </a:rPr>
              <a:t>      + </a:t>
            </a:r>
            <a:r>
              <a:rPr lang="en-US" dirty="0" err="1">
                <a:latin typeface="Bookman Old Style" pitchFamily="18" charset="0"/>
              </a:rPr>
              <a:t>myCircle.</a:t>
            </a:r>
            <a:r>
              <a:rPr lang="en-US" b="1" dirty="0" err="1">
                <a:latin typeface="Bookman Old Style" pitchFamily="18" charset="0"/>
              </a:rPr>
              <a:t>getRadius</a:t>
            </a:r>
            <a:r>
              <a:rPr lang="en-US" dirty="0">
                <a:latin typeface="Bookman Old Style" pitchFamily="18" charset="0"/>
              </a:rPr>
              <a:t>() + " is " + </a:t>
            </a:r>
            <a:r>
              <a:rPr lang="en-US" dirty="0" err="1">
                <a:latin typeface="Bookman Old Style" pitchFamily="18" charset="0"/>
              </a:rPr>
              <a:t>myCircle.</a:t>
            </a:r>
            <a:r>
              <a:rPr lang="en-US" b="1" dirty="0" err="1">
                <a:latin typeface="Bookman Old Style" pitchFamily="18" charset="0"/>
              </a:rPr>
              <a:t>getArea</a:t>
            </a:r>
            <a:r>
              <a:rPr lang="en-US" dirty="0">
                <a:latin typeface="Bookman Old Style" pitchFamily="18" charset="0"/>
              </a:rPr>
              <a:t>());</a:t>
            </a:r>
          </a:p>
          <a:p>
            <a:pPr>
              <a:lnSpc>
                <a:spcPct val="150000"/>
              </a:lnSpc>
            </a:pPr>
            <a:endParaRPr lang="en-US" dirty="0">
              <a:latin typeface="Bookman Old Style" pitchFamily="18" charset="0"/>
            </a:endParaRP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itchFamily="18" charset="0"/>
              </a:rPr>
              <a:t>    // Increase </a:t>
            </a:r>
            <a:r>
              <a:rPr lang="en-US" dirty="0" err="1">
                <a:latin typeface="Bookman Old Style" pitchFamily="18" charset="0"/>
              </a:rPr>
              <a:t>myCircle's</a:t>
            </a:r>
            <a:r>
              <a:rPr lang="en-US" dirty="0">
                <a:latin typeface="Bookman Old Style" pitchFamily="18" charset="0"/>
              </a:rPr>
              <a:t> radius by 10%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itchFamily="18" charset="0"/>
              </a:rPr>
              <a:t>    </a:t>
            </a:r>
            <a:r>
              <a:rPr lang="en-US" dirty="0" err="1">
                <a:latin typeface="Bookman Old Style" pitchFamily="18" charset="0"/>
              </a:rPr>
              <a:t>myCircle.setRadius</a:t>
            </a:r>
            <a:r>
              <a:rPr lang="en-US" dirty="0">
                <a:latin typeface="Bookman Old Style" pitchFamily="18" charset="0"/>
              </a:rPr>
              <a:t>(</a:t>
            </a:r>
            <a:r>
              <a:rPr lang="en-US" dirty="0" err="1">
                <a:latin typeface="Bookman Old Style" pitchFamily="18" charset="0"/>
              </a:rPr>
              <a:t>myCircle.g</a:t>
            </a:r>
            <a:r>
              <a:rPr lang="en-US" b="1" dirty="0" err="1">
                <a:latin typeface="Bookman Old Style" pitchFamily="18" charset="0"/>
              </a:rPr>
              <a:t>etRadius</a:t>
            </a:r>
            <a:r>
              <a:rPr lang="en-US" dirty="0">
                <a:latin typeface="Bookman Old Style" pitchFamily="18" charset="0"/>
              </a:rPr>
              <a:t>() * 1.1);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itchFamily="18" charset="0"/>
              </a:rPr>
              <a:t>    </a:t>
            </a:r>
            <a:r>
              <a:rPr lang="en-US" dirty="0" err="1">
                <a:latin typeface="Bookman Old Style" pitchFamily="18" charset="0"/>
              </a:rPr>
              <a:t>System.out.println</a:t>
            </a:r>
            <a:r>
              <a:rPr lang="en-US" dirty="0">
                <a:latin typeface="Bookman Old Style" pitchFamily="18" charset="0"/>
              </a:rPr>
              <a:t>("The area of the circle of radius "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itchFamily="18" charset="0"/>
              </a:rPr>
              <a:t>      + </a:t>
            </a:r>
            <a:r>
              <a:rPr lang="en-US" dirty="0" err="1">
                <a:latin typeface="Bookman Old Style" pitchFamily="18" charset="0"/>
              </a:rPr>
              <a:t>myCircle.</a:t>
            </a:r>
            <a:r>
              <a:rPr lang="en-US" b="1" dirty="0" err="1">
                <a:latin typeface="Bookman Old Style" pitchFamily="18" charset="0"/>
              </a:rPr>
              <a:t>getRadius</a:t>
            </a:r>
            <a:r>
              <a:rPr lang="en-US" dirty="0">
                <a:latin typeface="Bookman Old Style" pitchFamily="18" charset="0"/>
              </a:rPr>
              <a:t>() + " is " + </a:t>
            </a:r>
            <a:r>
              <a:rPr lang="en-US" dirty="0" err="1">
                <a:latin typeface="Bookman Old Style" pitchFamily="18" charset="0"/>
              </a:rPr>
              <a:t>myCircle.</a:t>
            </a:r>
            <a:r>
              <a:rPr lang="en-US" b="1" dirty="0" err="1">
                <a:latin typeface="Bookman Old Style" pitchFamily="18" charset="0"/>
              </a:rPr>
              <a:t>getArea</a:t>
            </a:r>
            <a:r>
              <a:rPr lang="en-US" dirty="0">
                <a:latin typeface="Bookman Old Style" pitchFamily="18" charset="0"/>
              </a:rPr>
              <a:t>());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itchFamily="18" charset="0"/>
              </a:rPr>
              <a:t>  }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Bookman Old Style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endParaRPr lang="en-US" dirty="0">
              <a:latin typeface="Bookman Old Style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0" y="677880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7321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/>
              <a:t>Quiz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01932" y="1052736"/>
            <a:ext cx="8707593" cy="5328592"/>
          </a:xfrm>
        </p:spPr>
        <p:txBody>
          <a:bodyPr>
            <a:normAutofit lnSpcReduction="10000"/>
          </a:bodyPr>
          <a:lstStyle/>
          <a:p>
            <a:pPr marL="457200" indent="-457200" algn="just" latinLnBrk="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Bookman Old Style" pitchFamily="18" charset="0"/>
              </a:rPr>
              <a:t>What keyword do you use to define a subclass?</a:t>
            </a:r>
          </a:p>
          <a:p>
            <a:pPr marL="457200" indent="-457200" algn="just" latinLnBrk="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Bookman Old Style" pitchFamily="18" charset="0"/>
              </a:rPr>
              <a:t>What is single inheritance? What is multiple inheritance? Does Java support multiple inheritance? </a:t>
            </a:r>
          </a:p>
          <a:p>
            <a:pPr marL="457200" indent="-457200" algn="just" latinLnBrk="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Bookman Old Style" pitchFamily="18" charset="0"/>
            </a:endParaRPr>
          </a:p>
          <a:p>
            <a:pPr marL="457200" indent="-457200" algn="just" latinLnBrk="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latin typeface="Bookman Old Style" pitchFamily="18" charset="0"/>
            </a:endParaRPr>
          </a:p>
          <a:p>
            <a:pPr marL="457200" indent="-457200" algn="just" latinLnBrk="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Bookman Old Style" pitchFamily="18" charset="0"/>
              </a:rPr>
              <a:t>True or false? You can override a private method defined in a superclass.</a:t>
            </a:r>
          </a:p>
          <a:p>
            <a:pPr marL="457200" indent="-457200" algn="just" latinLnBrk="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Bookman Old Style" pitchFamily="18" charset="0"/>
              </a:rPr>
              <a:t>True or false? You can override a static method defined in a superclass.</a:t>
            </a:r>
          </a:p>
          <a:p>
            <a:pPr marL="457200" indent="-457200" algn="just" latinLnBrk="0">
              <a:lnSpc>
                <a:spcPct val="150000"/>
              </a:lnSpc>
              <a:buFont typeface="+mj-lt"/>
              <a:buAutoNum type="arabicPeriod"/>
            </a:pPr>
            <a:r>
              <a:rPr lang="en-US" sz="2000" dirty="0">
                <a:latin typeface="Bookman Old Style" pitchFamily="18" charset="0"/>
              </a:rPr>
              <a:t>How do you explicitly invoke a superclass’s constructor from a subclass?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-27384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0" y="669336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6804248" y="1147119"/>
            <a:ext cx="9890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Book Antiqua" pitchFamily="18" charset="0"/>
              </a:rPr>
              <a:t>extends</a:t>
            </a:r>
          </a:p>
        </p:txBody>
      </p:sp>
      <p:sp>
        <p:nvSpPr>
          <p:cNvPr id="5" name="Rectangle 4"/>
          <p:cNvSpPr/>
          <p:nvPr/>
        </p:nvSpPr>
        <p:spPr>
          <a:xfrm>
            <a:off x="683568" y="2492896"/>
            <a:ext cx="8136904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Book Antiqua" pitchFamily="18" charset="0"/>
              </a:rPr>
              <a:t>Single inheritance allows a subclass to extend only one superclass. Multiple inheritance allows a subclass to extend multiple classes. Java does not allow multiple inheritance.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39752" y="3933056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Book Antiqua" pitchFamily="18" charset="0"/>
              </a:rPr>
              <a:t>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9751" y="4797152"/>
            <a:ext cx="6527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Book Antiqua" pitchFamily="18" charset="0"/>
              </a:rPr>
              <a:t>false</a:t>
            </a:r>
          </a:p>
        </p:txBody>
      </p:sp>
      <p:sp>
        <p:nvSpPr>
          <p:cNvPr id="6" name="Rectangle 5"/>
          <p:cNvSpPr/>
          <p:nvPr/>
        </p:nvSpPr>
        <p:spPr>
          <a:xfrm>
            <a:off x="2195736" y="5795972"/>
            <a:ext cx="29048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Book Antiqua" pitchFamily="18" charset="0"/>
              </a:rPr>
              <a:t>Use super() or super(</a:t>
            </a:r>
            <a:r>
              <a:rPr lang="en-US" dirty="0" err="1">
                <a:solidFill>
                  <a:srgbClr val="FF0000"/>
                </a:solidFill>
                <a:latin typeface="Book Antiqua" pitchFamily="18" charset="0"/>
              </a:rPr>
              <a:t>args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6639445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  <p:bldP spid="10" grpId="0"/>
      <p:bldP spid="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620688"/>
            <a:ext cx="8640960" cy="5904656"/>
          </a:xfrm>
        </p:spPr>
        <p:txBody>
          <a:bodyPr>
            <a:normAutofit/>
          </a:bodyPr>
          <a:lstStyle/>
          <a:p>
            <a:pPr marL="514350" indent="-514350" algn="just" latinLnBrk="0">
              <a:lnSpc>
                <a:spcPct val="110000"/>
              </a:lnSpc>
              <a:buFont typeface="+mj-lt"/>
              <a:buAutoNum type="arabicPeriod" startAt="5"/>
            </a:pPr>
            <a:r>
              <a:rPr lang="en-US" sz="2200" dirty="0">
                <a:latin typeface="Bookman Old Style" pitchFamily="18" charset="0"/>
              </a:rPr>
              <a:t>How do you invoke an overridden superclass method from a subclass?</a:t>
            </a:r>
          </a:p>
          <a:p>
            <a:pPr marL="514350" indent="-514350" algn="just" latinLnBrk="0">
              <a:lnSpc>
                <a:spcPct val="110000"/>
              </a:lnSpc>
              <a:buFont typeface="+mj-lt"/>
              <a:buAutoNum type="arabicPeriod" startAt="5"/>
            </a:pPr>
            <a:r>
              <a:rPr lang="en-US" sz="2200" dirty="0">
                <a:latin typeface="Bookman Old Style" pitchFamily="18" charset="0"/>
              </a:rPr>
              <a:t>If a method in a subclass has the same signature as a method in its superclass with the same return type, is the method overridden or overloaded?</a:t>
            </a:r>
          </a:p>
          <a:p>
            <a:pPr marL="514350" indent="-514350" algn="just" latinLnBrk="0">
              <a:lnSpc>
                <a:spcPct val="110000"/>
              </a:lnSpc>
              <a:buFont typeface="+mj-lt"/>
              <a:buAutoNum type="arabicPeriod" startAt="5"/>
            </a:pPr>
            <a:r>
              <a:rPr lang="en-US" sz="2200" dirty="0">
                <a:latin typeface="Bookman Old Style" pitchFamily="18" charset="0"/>
              </a:rPr>
              <a:t>If a method in a subclass has the same signature as a method in its superclass with a different return type, will this be a problem?</a:t>
            </a:r>
          </a:p>
          <a:p>
            <a:pPr marL="514350" indent="-514350" algn="just" latinLnBrk="0">
              <a:lnSpc>
                <a:spcPct val="110000"/>
              </a:lnSpc>
              <a:buFont typeface="+mj-lt"/>
              <a:buAutoNum type="arabicPeriod" startAt="5"/>
            </a:pPr>
            <a:r>
              <a:rPr lang="en-US" sz="2200" dirty="0">
                <a:latin typeface="Bookman Old Style" pitchFamily="18" charset="0"/>
              </a:rPr>
              <a:t>If a method in a subclass has the same name as a method in its superclass with different parameter types, is the method overridden or overloaded?</a:t>
            </a:r>
          </a:p>
          <a:p>
            <a:pPr marL="514350" indent="-514350" algn="just" latinLnBrk="0">
              <a:lnSpc>
                <a:spcPct val="110000"/>
              </a:lnSpc>
              <a:buFont typeface="+mj-lt"/>
              <a:buAutoNum type="arabicPeriod" startAt="5"/>
            </a:pPr>
            <a:r>
              <a:rPr lang="en-US" sz="2200" dirty="0">
                <a:latin typeface="Bookman Old Style" pitchFamily="18" charset="0"/>
              </a:rPr>
              <a:t>True or false? When invoking a constructor from a subclass, its superclass’s no-</a:t>
            </a:r>
            <a:r>
              <a:rPr lang="en-US" sz="2200" dirty="0" err="1">
                <a:latin typeface="Bookman Old Style" pitchFamily="18" charset="0"/>
              </a:rPr>
              <a:t>arg</a:t>
            </a:r>
            <a:r>
              <a:rPr lang="en-US" sz="2200" dirty="0">
                <a:latin typeface="Bookman Old Style" pitchFamily="18" charset="0"/>
              </a:rPr>
              <a:t> constructor is always invoked.</a:t>
            </a:r>
          </a:p>
          <a:p>
            <a:pPr marL="514350" indent="-514350" algn="just" latinLnBrk="0">
              <a:lnSpc>
                <a:spcPct val="110000"/>
              </a:lnSpc>
              <a:buFont typeface="+mj-lt"/>
              <a:buAutoNum type="arabicPeriod" startAt="5"/>
            </a:pPr>
            <a:endParaRPr lang="en-US" sz="2400" dirty="0"/>
          </a:p>
        </p:txBody>
      </p:sp>
      <p:sp>
        <p:nvSpPr>
          <p:cNvPr id="4" name="Rectangle 3"/>
          <p:cNvSpPr/>
          <p:nvPr/>
        </p:nvSpPr>
        <p:spPr>
          <a:xfrm>
            <a:off x="0" y="669336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-9618" y="1744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347864" y="1066183"/>
            <a:ext cx="4734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Book Antiqua" pitchFamily="18" charset="0"/>
              </a:rPr>
              <a:t>Use </a:t>
            </a:r>
            <a:r>
              <a:rPr lang="en-US" dirty="0" err="1">
                <a:solidFill>
                  <a:srgbClr val="FF0000"/>
                </a:solidFill>
                <a:latin typeface="Book Antiqua" pitchFamily="18" charset="0"/>
              </a:rPr>
              <a:t>super.method</a:t>
            </a:r>
            <a:r>
              <a:rPr lang="en-US" dirty="0">
                <a:solidFill>
                  <a:srgbClr val="FF0000"/>
                </a:solidFill>
                <a:latin typeface="Book Antiqua" pitchFamily="18" charset="0"/>
              </a:rPr>
              <a:t>() or </a:t>
            </a:r>
            <a:r>
              <a:rPr lang="en-US" dirty="0" err="1">
                <a:solidFill>
                  <a:srgbClr val="FF0000"/>
                </a:solidFill>
                <a:latin typeface="Book Antiqua" pitchFamily="18" charset="0"/>
              </a:rPr>
              <a:t>super.method</a:t>
            </a:r>
            <a:r>
              <a:rPr lang="en-US" dirty="0">
                <a:solidFill>
                  <a:srgbClr val="FF0000"/>
                </a:solidFill>
                <a:latin typeface="Book Antiqua" pitchFamily="18" charset="0"/>
              </a:rPr>
              <a:t>(</a:t>
            </a:r>
            <a:r>
              <a:rPr lang="en-US" dirty="0" err="1">
                <a:solidFill>
                  <a:srgbClr val="FF0000"/>
                </a:solidFill>
                <a:latin typeface="Book Antiqua" pitchFamily="18" charset="0"/>
              </a:rPr>
              <a:t>args</a:t>
            </a:r>
            <a:r>
              <a:rPr lang="en-US" dirty="0">
                <a:solidFill>
                  <a:srgbClr val="FF0000"/>
                </a:solidFill>
                <a:latin typeface="Book Antiqua" pitchFamily="18" charset="0"/>
              </a:rPr>
              <a:t>). </a:t>
            </a:r>
          </a:p>
        </p:txBody>
      </p:sp>
      <p:sp>
        <p:nvSpPr>
          <p:cNvPr id="7" name="Rectangle 6"/>
          <p:cNvSpPr/>
          <p:nvPr/>
        </p:nvSpPr>
        <p:spPr>
          <a:xfrm>
            <a:off x="5580112" y="2195318"/>
            <a:ext cx="238078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method overridden 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6444208" y="4571836"/>
            <a:ext cx="23182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method overloaded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635896" y="3379367"/>
            <a:ext cx="4860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No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195736" y="5733256"/>
            <a:ext cx="48603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Bookman Old Style" pitchFamily="18" charset="0"/>
              </a:rPr>
              <a:t>No</a:t>
            </a:r>
            <a:endParaRPr 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42634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47664" y="1150292"/>
            <a:ext cx="5256584" cy="369331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dirty="0">
                <a:latin typeface="Bookman Old Style" pitchFamily="18" charset="0"/>
              </a:rPr>
              <a:t>class A {</a:t>
            </a:r>
          </a:p>
          <a:p>
            <a:r>
              <a:rPr lang="en-US" dirty="0">
                <a:latin typeface="Bookman Old Style" pitchFamily="18" charset="0"/>
              </a:rPr>
              <a:t>public A() {</a:t>
            </a:r>
          </a:p>
          <a:p>
            <a:pPr lvl="1"/>
            <a:r>
              <a:rPr lang="en-US" dirty="0" err="1">
                <a:latin typeface="Bookman Old Style" pitchFamily="18" charset="0"/>
              </a:rPr>
              <a:t>System.out.println</a:t>
            </a:r>
            <a:r>
              <a:rPr lang="en-US" dirty="0">
                <a:latin typeface="Bookman Old Style" pitchFamily="18" charset="0"/>
              </a:rPr>
              <a:t>(</a:t>
            </a:r>
          </a:p>
          <a:p>
            <a:pPr lvl="1"/>
            <a:r>
              <a:rPr lang="en-US" dirty="0">
                <a:latin typeface="Bookman Old Style" pitchFamily="18" charset="0"/>
              </a:rPr>
              <a:t>"A's no-</a:t>
            </a:r>
            <a:r>
              <a:rPr lang="en-US" dirty="0" err="1">
                <a:latin typeface="Bookman Old Style" pitchFamily="18" charset="0"/>
              </a:rPr>
              <a:t>arg</a:t>
            </a:r>
            <a:r>
              <a:rPr lang="en-US" dirty="0">
                <a:latin typeface="Bookman Old Style" pitchFamily="18" charset="0"/>
              </a:rPr>
              <a:t> constructor is invoked");</a:t>
            </a:r>
          </a:p>
          <a:p>
            <a:pPr lvl="1"/>
            <a:r>
              <a:rPr lang="en-US" dirty="0">
                <a:latin typeface="Bookman Old Style" pitchFamily="18" charset="0"/>
              </a:rPr>
              <a:t>}</a:t>
            </a:r>
          </a:p>
          <a:p>
            <a:r>
              <a:rPr lang="en-US" dirty="0">
                <a:latin typeface="Bookman Old Style" pitchFamily="18" charset="0"/>
              </a:rPr>
              <a:t>}</a:t>
            </a:r>
          </a:p>
          <a:p>
            <a:r>
              <a:rPr lang="en-US" dirty="0">
                <a:latin typeface="Bookman Old Style" pitchFamily="18" charset="0"/>
              </a:rPr>
              <a:t>class B extends A {</a:t>
            </a:r>
          </a:p>
          <a:p>
            <a:r>
              <a:rPr lang="en-US" dirty="0">
                <a:latin typeface="Bookman Old Style" pitchFamily="18" charset="0"/>
              </a:rPr>
              <a:t>}</a:t>
            </a:r>
          </a:p>
          <a:p>
            <a:r>
              <a:rPr lang="en-US" dirty="0">
                <a:latin typeface="Bookman Old Style" pitchFamily="18" charset="0"/>
              </a:rPr>
              <a:t>public class C {</a:t>
            </a:r>
          </a:p>
          <a:p>
            <a:pPr lvl="1"/>
            <a:r>
              <a:rPr lang="en-US" dirty="0">
                <a:latin typeface="Bookman Old Style" pitchFamily="18" charset="0"/>
              </a:rPr>
              <a:t>public static void main(String[] </a:t>
            </a:r>
            <a:r>
              <a:rPr lang="en-US" dirty="0" err="1">
                <a:latin typeface="Bookman Old Style" pitchFamily="18" charset="0"/>
              </a:rPr>
              <a:t>args</a:t>
            </a:r>
            <a:r>
              <a:rPr lang="en-US" dirty="0">
                <a:latin typeface="Bookman Old Style" pitchFamily="18" charset="0"/>
              </a:rPr>
              <a:t>) {</a:t>
            </a:r>
          </a:p>
          <a:p>
            <a:pPr lvl="1"/>
            <a:r>
              <a:rPr lang="en-US" dirty="0">
                <a:latin typeface="Bookman Old Style" pitchFamily="18" charset="0"/>
              </a:rPr>
              <a:t>B </a:t>
            </a:r>
            <a:r>
              <a:rPr lang="en-US" dirty="0" err="1">
                <a:latin typeface="Bookman Old Style" pitchFamily="18" charset="0"/>
              </a:rPr>
              <a:t>b</a:t>
            </a:r>
            <a:r>
              <a:rPr lang="en-US" dirty="0">
                <a:latin typeface="Bookman Old Style" pitchFamily="18" charset="0"/>
              </a:rPr>
              <a:t> = new B();</a:t>
            </a:r>
          </a:p>
          <a:p>
            <a:pPr lvl="1"/>
            <a:r>
              <a:rPr lang="en-US" dirty="0">
                <a:latin typeface="Bookman Old Style" pitchFamily="18" charset="0"/>
              </a:rPr>
              <a:t>}</a:t>
            </a:r>
          </a:p>
          <a:p>
            <a:r>
              <a:rPr lang="en-US" dirty="0">
                <a:latin typeface="Bookman Old Style" pitchFamily="18" charset="0"/>
              </a:rPr>
              <a:t>}</a:t>
            </a:r>
          </a:p>
        </p:txBody>
      </p:sp>
      <p:sp>
        <p:nvSpPr>
          <p:cNvPr id="5" name="Content Placeholder 2"/>
          <p:cNvSpPr txBox="1">
            <a:spLocks/>
          </p:cNvSpPr>
          <p:nvPr/>
        </p:nvSpPr>
        <p:spPr>
          <a:xfrm>
            <a:off x="201932" y="332656"/>
            <a:ext cx="8707593" cy="633670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latinLnBrk="0">
              <a:buNone/>
            </a:pPr>
            <a:r>
              <a:rPr lang="en-US" sz="2000" dirty="0">
                <a:latin typeface="Bookman Old Style" pitchFamily="18" charset="0"/>
              </a:rPr>
              <a:t>11. What is the printout of running the class C in Figure.</a:t>
            </a: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69336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9618" y="1744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542438" y="5261083"/>
            <a:ext cx="401424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Book Antiqua" pitchFamily="18" charset="0"/>
                <a:cs typeface="Arial" pitchFamily="34" charset="0"/>
              </a:rPr>
              <a:t>A's no-</a:t>
            </a:r>
            <a:r>
              <a:rPr kumimoji="0" lang="en-US" sz="2000" b="0" i="0" u="none" strike="noStrike" cap="none" normalizeH="0" baseline="0" dirty="0" err="1">
                <a:ln>
                  <a:noFill/>
                </a:ln>
                <a:solidFill>
                  <a:srgbClr val="FF0000"/>
                </a:solidFill>
                <a:effectLst/>
                <a:latin typeface="Book Antiqua" pitchFamily="18" charset="0"/>
                <a:cs typeface="Arial" pitchFamily="34" charset="0"/>
              </a:rPr>
              <a:t>arg</a:t>
            </a:r>
            <a:r>
              <a:rPr kumimoji="0" lang="en-US" sz="2000" b="0" i="0" u="none" strike="noStrike" cap="none" normalizeH="0" baseline="0" dirty="0">
                <a:ln>
                  <a:noFill/>
                </a:ln>
                <a:solidFill>
                  <a:srgbClr val="FF0000"/>
                </a:solidFill>
                <a:effectLst/>
                <a:latin typeface="Book Antiqua" pitchFamily="18" charset="0"/>
                <a:cs typeface="Arial" pitchFamily="34" charset="0"/>
              </a:rPr>
              <a:t> constructor is invoked </a:t>
            </a:r>
          </a:p>
        </p:txBody>
      </p:sp>
    </p:spTree>
    <p:extLst>
      <p:ext uri="{BB962C8B-B14F-4D97-AF65-F5344CB8AC3E}">
        <p14:creationId xmlns:p14="http://schemas.microsoft.com/office/powerpoint/2010/main" val="1505853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2"/>
          <p:cNvSpPr txBox="1">
            <a:spLocks/>
          </p:cNvSpPr>
          <p:nvPr/>
        </p:nvSpPr>
        <p:spPr>
          <a:xfrm>
            <a:off x="201932" y="332656"/>
            <a:ext cx="8707593" cy="633670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3429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 latinLnBrk="0">
              <a:buNone/>
            </a:pPr>
            <a:r>
              <a:rPr lang="en-US" sz="2000" dirty="0">
                <a:latin typeface="Bookman Old Style" pitchFamily="18" charset="0"/>
              </a:rPr>
              <a:t>12. What is the printout of the following codes.</a:t>
            </a: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  <a:p>
            <a:pPr algn="just" latinLnBrk="0"/>
            <a:endParaRPr lang="en-US" sz="2000" dirty="0">
              <a:latin typeface="Bookman Old Style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5576" y="908720"/>
            <a:ext cx="6624736" cy="4247317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US" b="1" dirty="0">
                <a:latin typeface="Bookman Old Style" pitchFamily="18" charset="0"/>
              </a:rPr>
              <a:t>public class </a:t>
            </a:r>
            <a:r>
              <a:rPr lang="en-US" dirty="0">
                <a:latin typeface="Bookman Old Style" pitchFamily="18" charset="0"/>
              </a:rPr>
              <a:t>Test {</a:t>
            </a:r>
          </a:p>
          <a:p>
            <a:pPr lvl="1"/>
            <a:r>
              <a:rPr lang="en-US" b="1" dirty="0">
                <a:latin typeface="Bookman Old Style" pitchFamily="18" charset="0"/>
              </a:rPr>
              <a:t>public static void </a:t>
            </a:r>
            <a:r>
              <a:rPr lang="en-US" dirty="0">
                <a:latin typeface="Bookman Old Style" pitchFamily="18" charset="0"/>
              </a:rPr>
              <a:t>main(String[] </a:t>
            </a:r>
            <a:r>
              <a:rPr lang="en-US" dirty="0" err="1">
                <a:latin typeface="Bookman Old Style" pitchFamily="18" charset="0"/>
              </a:rPr>
              <a:t>args</a:t>
            </a:r>
            <a:r>
              <a:rPr lang="en-US" dirty="0">
                <a:latin typeface="Bookman Old Style" pitchFamily="18" charset="0"/>
              </a:rPr>
              <a:t>) {</a:t>
            </a:r>
          </a:p>
          <a:p>
            <a:pPr lvl="1"/>
            <a:r>
              <a:rPr lang="en-US" dirty="0">
                <a:latin typeface="Bookman Old Style" pitchFamily="18" charset="0"/>
              </a:rPr>
              <a:t>A </a:t>
            </a:r>
            <a:r>
              <a:rPr lang="en-US" dirty="0" err="1">
                <a:latin typeface="Bookman Old Style" pitchFamily="18" charset="0"/>
              </a:rPr>
              <a:t>a</a:t>
            </a:r>
            <a:r>
              <a:rPr lang="en-US" dirty="0">
                <a:latin typeface="Bookman Old Style" pitchFamily="18" charset="0"/>
              </a:rPr>
              <a:t> = </a:t>
            </a:r>
            <a:r>
              <a:rPr lang="en-US" b="1" dirty="0">
                <a:latin typeface="Bookman Old Style" pitchFamily="18" charset="0"/>
              </a:rPr>
              <a:t>new </a:t>
            </a:r>
            <a:r>
              <a:rPr lang="en-US" dirty="0">
                <a:latin typeface="Bookman Old Style" pitchFamily="18" charset="0"/>
              </a:rPr>
              <a:t>A(</a:t>
            </a:r>
            <a:r>
              <a:rPr lang="en-US" b="1" dirty="0">
                <a:latin typeface="Bookman Old Style" pitchFamily="18" charset="0"/>
              </a:rPr>
              <a:t>3</a:t>
            </a:r>
            <a:r>
              <a:rPr lang="en-US" dirty="0">
                <a:latin typeface="Bookman Old Style" pitchFamily="18" charset="0"/>
              </a:rPr>
              <a:t>);</a:t>
            </a:r>
          </a:p>
          <a:p>
            <a:pPr lvl="1"/>
            <a:r>
              <a:rPr lang="en-US" dirty="0">
                <a:latin typeface="Bookman Old Style" pitchFamily="18" charset="0"/>
              </a:rPr>
              <a:t>}</a:t>
            </a:r>
          </a:p>
          <a:p>
            <a:r>
              <a:rPr lang="en-US" dirty="0">
                <a:latin typeface="Bookman Old Style" pitchFamily="18" charset="0"/>
              </a:rPr>
              <a:t>}</a:t>
            </a:r>
          </a:p>
          <a:p>
            <a:r>
              <a:rPr lang="en-US" b="1" dirty="0">
                <a:latin typeface="Bookman Old Style" pitchFamily="18" charset="0"/>
              </a:rPr>
              <a:t>class </a:t>
            </a:r>
            <a:r>
              <a:rPr lang="en-US" dirty="0">
                <a:latin typeface="Bookman Old Style" pitchFamily="18" charset="0"/>
              </a:rPr>
              <a:t>A </a:t>
            </a:r>
            <a:r>
              <a:rPr lang="en-US" b="1" dirty="0">
                <a:latin typeface="Bookman Old Style" pitchFamily="18" charset="0"/>
              </a:rPr>
              <a:t>extends </a:t>
            </a:r>
            <a:r>
              <a:rPr lang="en-US" dirty="0">
                <a:latin typeface="Bookman Old Style" pitchFamily="18" charset="0"/>
              </a:rPr>
              <a:t>B {</a:t>
            </a:r>
          </a:p>
          <a:p>
            <a:pPr lvl="1"/>
            <a:r>
              <a:rPr lang="en-US" b="1" dirty="0">
                <a:latin typeface="Bookman Old Style" pitchFamily="18" charset="0"/>
              </a:rPr>
              <a:t>public </a:t>
            </a:r>
            <a:r>
              <a:rPr lang="en-US" dirty="0">
                <a:latin typeface="Bookman Old Style" pitchFamily="18" charset="0"/>
              </a:rPr>
              <a:t>A(</a:t>
            </a:r>
            <a:r>
              <a:rPr lang="en-US" b="1" dirty="0" err="1">
                <a:latin typeface="Bookman Old Style" pitchFamily="18" charset="0"/>
              </a:rPr>
              <a:t>int</a:t>
            </a:r>
            <a:r>
              <a:rPr lang="en-US" b="1" dirty="0">
                <a:latin typeface="Bookman Old Style" pitchFamily="18" charset="0"/>
              </a:rPr>
              <a:t> </a:t>
            </a:r>
            <a:r>
              <a:rPr lang="en-US" dirty="0">
                <a:latin typeface="Bookman Old Style" pitchFamily="18" charset="0"/>
              </a:rPr>
              <a:t>t) {</a:t>
            </a:r>
          </a:p>
          <a:p>
            <a:pPr lvl="1"/>
            <a:r>
              <a:rPr lang="en-US" dirty="0" err="1">
                <a:latin typeface="Bookman Old Style" pitchFamily="18" charset="0"/>
              </a:rPr>
              <a:t>System.out.println</a:t>
            </a:r>
            <a:r>
              <a:rPr lang="en-US" dirty="0">
                <a:latin typeface="Bookman Old Style" pitchFamily="18" charset="0"/>
              </a:rPr>
              <a:t>(</a:t>
            </a:r>
            <a:r>
              <a:rPr lang="en-US" b="1" dirty="0">
                <a:latin typeface="Bookman Old Style" pitchFamily="18" charset="0"/>
              </a:rPr>
              <a:t>"A's constructor is invoked"</a:t>
            </a:r>
            <a:r>
              <a:rPr lang="en-US" dirty="0">
                <a:latin typeface="Bookman Old Style" pitchFamily="18" charset="0"/>
              </a:rPr>
              <a:t>);</a:t>
            </a:r>
          </a:p>
          <a:p>
            <a:pPr lvl="1"/>
            <a:r>
              <a:rPr lang="en-US" dirty="0">
                <a:latin typeface="Bookman Old Style" pitchFamily="18" charset="0"/>
              </a:rPr>
              <a:t>}</a:t>
            </a:r>
          </a:p>
          <a:p>
            <a:r>
              <a:rPr lang="en-US" dirty="0">
                <a:latin typeface="Bookman Old Style" pitchFamily="18" charset="0"/>
              </a:rPr>
              <a:t>}</a:t>
            </a:r>
          </a:p>
          <a:p>
            <a:r>
              <a:rPr lang="en-US" b="1" dirty="0">
                <a:latin typeface="Bookman Old Style" pitchFamily="18" charset="0"/>
              </a:rPr>
              <a:t>class </a:t>
            </a:r>
            <a:r>
              <a:rPr lang="en-US" dirty="0">
                <a:latin typeface="Bookman Old Style" pitchFamily="18" charset="0"/>
              </a:rPr>
              <a:t>B {</a:t>
            </a:r>
          </a:p>
          <a:p>
            <a:pPr lvl="1"/>
            <a:r>
              <a:rPr lang="en-US" b="1" dirty="0">
                <a:latin typeface="Bookman Old Style" pitchFamily="18" charset="0"/>
              </a:rPr>
              <a:t>public </a:t>
            </a:r>
            <a:r>
              <a:rPr lang="en-US" dirty="0">
                <a:latin typeface="Bookman Old Style" pitchFamily="18" charset="0"/>
              </a:rPr>
              <a:t>B() {</a:t>
            </a:r>
          </a:p>
          <a:p>
            <a:pPr lvl="1"/>
            <a:r>
              <a:rPr lang="en-US" dirty="0" err="1">
                <a:latin typeface="Bookman Old Style" pitchFamily="18" charset="0"/>
              </a:rPr>
              <a:t>System.out.println</a:t>
            </a:r>
            <a:r>
              <a:rPr lang="en-US" dirty="0">
                <a:latin typeface="Bookman Old Style" pitchFamily="18" charset="0"/>
              </a:rPr>
              <a:t>(</a:t>
            </a:r>
            <a:r>
              <a:rPr lang="en-US" b="1" dirty="0">
                <a:latin typeface="Bookman Old Style" pitchFamily="18" charset="0"/>
              </a:rPr>
              <a:t>"B's constructor is invoked"</a:t>
            </a:r>
            <a:r>
              <a:rPr lang="en-US" dirty="0">
                <a:latin typeface="Bookman Old Style" pitchFamily="18" charset="0"/>
              </a:rPr>
              <a:t>);</a:t>
            </a:r>
          </a:p>
          <a:p>
            <a:pPr lvl="1"/>
            <a:r>
              <a:rPr lang="en-US" dirty="0">
                <a:latin typeface="Bookman Old Style" pitchFamily="18" charset="0"/>
              </a:rPr>
              <a:t>}</a:t>
            </a:r>
          </a:p>
          <a:p>
            <a:r>
              <a:rPr lang="en-US" dirty="0">
                <a:latin typeface="Bookman Old Style" pitchFamily="18" charset="0"/>
              </a:rPr>
              <a:t>}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9336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-9618" y="1744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632316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5486" r="78938" b="7801"/>
          <a:stretch/>
        </p:blipFill>
        <p:spPr bwMode="auto">
          <a:xfrm>
            <a:off x="4572000" y="750614"/>
            <a:ext cx="4093967" cy="4012155"/>
          </a:xfrm>
          <a:prstGeom prst="rect">
            <a:avLst/>
          </a:prstGeom>
          <a:noFill/>
          <a:ln w="317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Rectangle 4"/>
          <p:cNvSpPr/>
          <p:nvPr/>
        </p:nvSpPr>
        <p:spPr>
          <a:xfrm>
            <a:off x="0" y="188640"/>
            <a:ext cx="8460432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 latinLnBrk="0"/>
            <a:r>
              <a:rPr lang="en-US" sz="2000" dirty="0">
                <a:latin typeface="Bookman Old Style" pitchFamily="18" charset="0"/>
              </a:rPr>
              <a:t>13. Identify the problems in the following codes.</a:t>
            </a:r>
          </a:p>
        </p:txBody>
      </p:sp>
      <p:pic>
        <p:nvPicPr>
          <p:cNvPr id="7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02" r="78938" b="44514"/>
          <a:stretch/>
        </p:blipFill>
        <p:spPr bwMode="auto">
          <a:xfrm>
            <a:off x="251520" y="750614"/>
            <a:ext cx="3909966" cy="453867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0" name="Group 9"/>
          <p:cNvGrpSpPr/>
          <p:nvPr/>
        </p:nvGrpSpPr>
        <p:grpSpPr>
          <a:xfrm>
            <a:off x="1115616" y="1916832"/>
            <a:ext cx="3064323" cy="307777"/>
            <a:chOff x="1115616" y="1916832"/>
            <a:chExt cx="3064323" cy="307777"/>
          </a:xfrm>
        </p:grpSpPr>
        <p:sp>
          <p:nvSpPr>
            <p:cNvPr id="8" name="Rectangle 7"/>
            <p:cNvSpPr/>
            <p:nvPr/>
          </p:nvSpPr>
          <p:spPr>
            <a:xfrm>
              <a:off x="1115616" y="1916832"/>
              <a:ext cx="1512168" cy="28803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2555776" y="1916832"/>
              <a:ext cx="1624163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 err="1">
                  <a:solidFill>
                    <a:srgbClr val="FF0000"/>
                  </a:solidFill>
                </a:rPr>
                <a:t>this.radius</a:t>
              </a:r>
              <a:r>
                <a:rPr lang="en-US" sz="1400" dirty="0">
                  <a:solidFill>
                    <a:srgbClr val="FF0000"/>
                  </a:solidFill>
                </a:rPr>
                <a:t>=radius</a:t>
              </a: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5508104" y="2016494"/>
            <a:ext cx="3152488" cy="620417"/>
            <a:chOff x="1115616" y="1916831"/>
            <a:chExt cx="3152488" cy="620417"/>
          </a:xfrm>
        </p:grpSpPr>
        <p:sp>
          <p:nvSpPr>
            <p:cNvPr id="13" name="Rectangle 12"/>
            <p:cNvSpPr/>
            <p:nvPr/>
          </p:nvSpPr>
          <p:spPr>
            <a:xfrm>
              <a:off x="1115616" y="1916831"/>
              <a:ext cx="1512168" cy="62041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555776" y="1916832"/>
              <a:ext cx="171232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super(radius)</a:t>
              </a:r>
            </a:p>
            <a:p>
              <a:r>
                <a:rPr lang="en-US" sz="1400" dirty="0" err="1">
                  <a:solidFill>
                    <a:srgbClr val="FF0000"/>
                  </a:solidFill>
                </a:rPr>
                <a:t>this.length</a:t>
              </a:r>
              <a:r>
                <a:rPr lang="en-US" sz="1400" dirty="0">
                  <a:solidFill>
                    <a:srgbClr val="FF0000"/>
                  </a:solidFill>
                </a:rPr>
                <a:t>=length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5565250" y="3774305"/>
            <a:ext cx="2607151" cy="738664"/>
            <a:chOff x="1115615" y="1916831"/>
            <a:chExt cx="2131161" cy="1025732"/>
          </a:xfrm>
        </p:grpSpPr>
        <p:sp>
          <p:nvSpPr>
            <p:cNvPr id="16" name="Rectangle 15"/>
            <p:cNvSpPr/>
            <p:nvPr/>
          </p:nvSpPr>
          <p:spPr>
            <a:xfrm>
              <a:off x="1115615" y="1916831"/>
              <a:ext cx="1954576" cy="62041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1363210" y="1916831"/>
              <a:ext cx="1883566" cy="10257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>
                  <a:solidFill>
                    <a:srgbClr val="FF0000"/>
                  </a:solidFill>
                </a:rPr>
                <a:t>            </a:t>
              </a:r>
            </a:p>
            <a:p>
              <a:endParaRPr lang="en-US" sz="1400" dirty="0">
                <a:solidFill>
                  <a:srgbClr val="FF0000"/>
                </a:solidFill>
              </a:endParaRPr>
            </a:p>
            <a:p>
              <a:r>
                <a:rPr lang="en-US" sz="1400" dirty="0">
                  <a:solidFill>
                    <a:srgbClr val="FF0000"/>
                  </a:solidFill>
                </a:rPr>
                <a:t>    </a:t>
              </a:r>
              <a:r>
                <a:rPr lang="en-US" sz="1400" dirty="0" err="1">
                  <a:solidFill>
                    <a:srgbClr val="FF0000"/>
                  </a:solidFill>
                </a:rPr>
                <a:t>super.getArea</a:t>
              </a:r>
              <a:r>
                <a:rPr lang="en-US" sz="1400" dirty="0">
                  <a:solidFill>
                    <a:srgbClr val="FF0000"/>
                  </a:solidFill>
                </a:rPr>
                <a:t>( )  </a:t>
              </a:r>
            </a:p>
          </p:txBody>
        </p:sp>
      </p:grpSp>
      <p:sp>
        <p:nvSpPr>
          <p:cNvPr id="18" name="Rectangle 17"/>
          <p:cNvSpPr/>
          <p:nvPr/>
        </p:nvSpPr>
        <p:spPr>
          <a:xfrm>
            <a:off x="0" y="669336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-9618" y="1744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64807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93309" y="409270"/>
            <a:ext cx="8760441" cy="4031873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14. What may be the error occurred in the following program? Why?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 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class A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{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	final void meth() </a:t>
            </a:r>
          </a:p>
          <a:p>
            <a:pPr lvl="2"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{</a:t>
            </a:r>
          </a:p>
          <a:p>
            <a:pPr lvl="2">
              <a:lnSpc>
                <a:spcPct val="80000"/>
              </a:lnSpc>
            </a:pPr>
            <a:r>
              <a:rPr lang="en-US" sz="2000" dirty="0" err="1">
                <a:latin typeface="Book Antiqua" pitchFamily="18" charset="0"/>
              </a:rPr>
              <a:t>System.out.println</a:t>
            </a:r>
            <a:r>
              <a:rPr lang="en-US" sz="2000" dirty="0">
                <a:latin typeface="Book Antiqua" pitchFamily="18" charset="0"/>
              </a:rPr>
              <a:t>("This is a final method.");</a:t>
            </a:r>
          </a:p>
          <a:p>
            <a:pPr lvl="2"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}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}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class B extends A 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{</a:t>
            </a:r>
          </a:p>
          <a:p>
            <a:pPr lvl="2"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void meth() </a:t>
            </a:r>
          </a:p>
          <a:p>
            <a:pPr lvl="2"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{ </a:t>
            </a:r>
          </a:p>
          <a:p>
            <a:pPr lvl="2">
              <a:lnSpc>
                <a:spcPct val="80000"/>
              </a:lnSpc>
            </a:pPr>
            <a:r>
              <a:rPr lang="en-US" sz="2000" dirty="0" err="1">
                <a:latin typeface="Book Antiqua" pitchFamily="18" charset="0"/>
              </a:rPr>
              <a:t>System.out.println</a:t>
            </a:r>
            <a:r>
              <a:rPr lang="en-US" sz="2000" dirty="0">
                <a:latin typeface="Book Antiqua" pitchFamily="18" charset="0"/>
              </a:rPr>
              <a:t>("Illegal!");</a:t>
            </a:r>
          </a:p>
          <a:p>
            <a:pPr lvl="2"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}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}</a:t>
            </a:r>
          </a:p>
        </p:txBody>
      </p:sp>
      <p:sp>
        <p:nvSpPr>
          <p:cNvPr id="5" name="Rectangle 4"/>
          <p:cNvSpPr/>
          <p:nvPr/>
        </p:nvSpPr>
        <p:spPr>
          <a:xfrm>
            <a:off x="219822" y="4581128"/>
            <a:ext cx="854172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Book Antiqua" pitchFamily="18" charset="0"/>
              </a:rPr>
              <a:t>Answer: meth( ) is declared as final, it cannot be overridden in B. A compile-time error will result. 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69336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-9618" y="1744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11222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539552" y="389933"/>
            <a:ext cx="8843873" cy="5271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15.. Can error be happened in the following codes? If error, why?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 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class A 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{</a:t>
            </a:r>
          </a:p>
          <a:p>
            <a:pPr lvl="1">
              <a:lnSpc>
                <a:spcPct val="80000"/>
              </a:lnSpc>
            </a:pPr>
            <a:r>
              <a:rPr lang="en-US" sz="2000" dirty="0" err="1">
                <a:latin typeface="Book Antiqua" pitchFamily="18" charset="0"/>
              </a:rPr>
              <a:t>int</a:t>
            </a:r>
            <a:r>
              <a:rPr lang="en-US" sz="2000" dirty="0">
                <a:latin typeface="Book Antiqua" pitchFamily="18" charset="0"/>
              </a:rPr>
              <a:t> </a:t>
            </a:r>
            <a:r>
              <a:rPr lang="en-US" sz="2000" dirty="0" err="1">
                <a:latin typeface="Book Antiqua" pitchFamily="18" charset="0"/>
              </a:rPr>
              <a:t>i</a:t>
            </a:r>
            <a:r>
              <a:rPr lang="en-US" sz="2000" dirty="0">
                <a:latin typeface="Book Antiqua" pitchFamily="18" charset="0"/>
              </a:rPr>
              <a:t>; 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private </a:t>
            </a:r>
            <a:r>
              <a:rPr lang="en-US" sz="2000" dirty="0" err="1">
                <a:latin typeface="Book Antiqua" pitchFamily="18" charset="0"/>
              </a:rPr>
              <a:t>int</a:t>
            </a:r>
            <a:r>
              <a:rPr lang="en-US" sz="2000" dirty="0">
                <a:latin typeface="Book Antiqua" pitchFamily="18" charset="0"/>
              </a:rPr>
              <a:t> j; 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void </a:t>
            </a:r>
            <a:r>
              <a:rPr lang="en-US" sz="2000" dirty="0" err="1">
                <a:latin typeface="Book Antiqua" pitchFamily="18" charset="0"/>
              </a:rPr>
              <a:t>setij</a:t>
            </a:r>
            <a:r>
              <a:rPr lang="en-US" sz="2000" dirty="0">
                <a:latin typeface="Book Antiqua" pitchFamily="18" charset="0"/>
              </a:rPr>
              <a:t>(</a:t>
            </a:r>
            <a:r>
              <a:rPr lang="en-US" sz="2000" dirty="0" err="1">
                <a:latin typeface="Book Antiqua" pitchFamily="18" charset="0"/>
              </a:rPr>
              <a:t>int</a:t>
            </a:r>
            <a:r>
              <a:rPr lang="en-US" sz="2000" dirty="0">
                <a:latin typeface="Book Antiqua" pitchFamily="18" charset="0"/>
              </a:rPr>
              <a:t> x, </a:t>
            </a:r>
            <a:r>
              <a:rPr lang="en-US" sz="2000" dirty="0" err="1">
                <a:latin typeface="Book Antiqua" pitchFamily="18" charset="0"/>
              </a:rPr>
              <a:t>int</a:t>
            </a:r>
            <a:r>
              <a:rPr lang="en-US" sz="2000" dirty="0">
                <a:latin typeface="Book Antiqua" pitchFamily="18" charset="0"/>
              </a:rPr>
              <a:t> y) </a:t>
            </a:r>
          </a:p>
          <a:p>
            <a:pPr lvl="2"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{</a:t>
            </a:r>
          </a:p>
          <a:p>
            <a:pPr lvl="3">
              <a:lnSpc>
                <a:spcPct val="80000"/>
              </a:lnSpc>
            </a:pPr>
            <a:r>
              <a:rPr lang="en-US" sz="2000" dirty="0" err="1">
                <a:latin typeface="Book Antiqua" pitchFamily="18" charset="0"/>
              </a:rPr>
              <a:t>i</a:t>
            </a:r>
            <a:r>
              <a:rPr lang="en-US" sz="2000" dirty="0">
                <a:latin typeface="Book Antiqua" pitchFamily="18" charset="0"/>
              </a:rPr>
              <a:t> = x;</a:t>
            </a:r>
          </a:p>
          <a:p>
            <a:pPr lvl="3"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j = y;</a:t>
            </a:r>
          </a:p>
          <a:p>
            <a:pPr lvl="2"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}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}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class B extends A 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{</a:t>
            </a:r>
          </a:p>
          <a:p>
            <a:pPr lvl="2">
              <a:lnSpc>
                <a:spcPct val="80000"/>
              </a:lnSpc>
            </a:pPr>
            <a:r>
              <a:rPr lang="en-US" sz="2000" dirty="0" err="1">
                <a:latin typeface="Book Antiqua" pitchFamily="18" charset="0"/>
              </a:rPr>
              <a:t>int</a:t>
            </a:r>
            <a:r>
              <a:rPr lang="en-US" sz="2000" dirty="0">
                <a:latin typeface="Book Antiqua" pitchFamily="18" charset="0"/>
              </a:rPr>
              <a:t> total;</a:t>
            </a:r>
          </a:p>
          <a:p>
            <a:pPr lvl="2"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void sum() </a:t>
            </a:r>
          </a:p>
          <a:p>
            <a:pPr lvl="2"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{</a:t>
            </a:r>
          </a:p>
          <a:p>
            <a:pPr lvl="2"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	total = </a:t>
            </a:r>
            <a:r>
              <a:rPr lang="en-US" sz="2000" dirty="0" err="1">
                <a:latin typeface="Book Antiqua" pitchFamily="18" charset="0"/>
              </a:rPr>
              <a:t>i</a:t>
            </a:r>
            <a:r>
              <a:rPr lang="en-US" sz="2000" dirty="0">
                <a:latin typeface="Book Antiqua" pitchFamily="18" charset="0"/>
              </a:rPr>
              <a:t> + j; </a:t>
            </a:r>
          </a:p>
          <a:p>
            <a:pPr lvl="2"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}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}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Book Antiqua" pitchFamily="18" charset="0"/>
              </a:rPr>
              <a:t> </a:t>
            </a:r>
          </a:p>
        </p:txBody>
      </p:sp>
      <p:sp>
        <p:nvSpPr>
          <p:cNvPr id="5" name="Rectangle 4"/>
          <p:cNvSpPr/>
          <p:nvPr/>
        </p:nvSpPr>
        <p:spPr>
          <a:xfrm>
            <a:off x="129784" y="5947728"/>
            <a:ext cx="8843872" cy="5355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0000"/>
              </a:lnSpc>
            </a:pPr>
            <a:r>
              <a:rPr lang="en-US" b="1" u="sng" dirty="0">
                <a:solidFill>
                  <a:srgbClr val="FF0000"/>
                </a:solidFill>
                <a:latin typeface="Book Antiqua" pitchFamily="18" charset="0"/>
              </a:rPr>
              <a:t>Answer</a:t>
            </a:r>
            <a:r>
              <a:rPr lang="en-US" dirty="0">
                <a:solidFill>
                  <a:srgbClr val="FF0000"/>
                </a:solidFill>
                <a:latin typeface="Book Antiqua" pitchFamily="18" charset="0"/>
              </a:rPr>
              <a:t>: Error can be occurred in class B when the variable j is calling. Because j is the private member of class A, it is not accessible from class B.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36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-9618" y="1744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53535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2702" y="81605"/>
            <a:ext cx="8806793" cy="6555641"/>
          </a:xfrm>
          <a:prstGeom prst="rect">
            <a:avLst/>
          </a:prstGeom>
          <a:solidFill>
            <a:srgbClr val="FFFFFF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>
                <a:latin typeface="Book Antiqua" pitchFamily="18" charset="0"/>
              </a:rPr>
              <a:t>16. Given these classes: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Book Antiqua" pitchFamily="18" charset="0"/>
              </a:rPr>
              <a:t>public class Person{</a:t>
            </a:r>
          </a:p>
          <a:p>
            <a:pPr lvl="1">
              <a:lnSpc>
                <a:spcPct val="150000"/>
              </a:lnSpc>
            </a:pPr>
            <a:r>
              <a:rPr lang="fi-FI" sz="2000" dirty="0" err="1">
                <a:latin typeface="Book Antiqua" pitchFamily="18" charset="0"/>
              </a:rPr>
              <a:t>public</a:t>
            </a:r>
            <a:r>
              <a:rPr lang="fi-FI" sz="2000" dirty="0">
                <a:latin typeface="Book Antiqua" pitchFamily="18" charset="0"/>
              </a:rPr>
              <a:t> </a:t>
            </a:r>
            <a:r>
              <a:rPr lang="fi-FI" sz="2000" dirty="0" err="1">
                <a:latin typeface="Book Antiqua" pitchFamily="18" charset="0"/>
              </a:rPr>
              <a:t>void</a:t>
            </a:r>
            <a:r>
              <a:rPr lang="fi-FI" sz="2000" dirty="0">
                <a:latin typeface="Book Antiqua" pitchFamily="18" charset="0"/>
              </a:rPr>
              <a:t> </a:t>
            </a:r>
            <a:r>
              <a:rPr lang="fi-FI" sz="2000" dirty="0" err="1">
                <a:latin typeface="Book Antiqua" pitchFamily="18" charset="0"/>
              </a:rPr>
              <a:t>talk</a:t>
            </a:r>
            <a:r>
              <a:rPr lang="fi-FI" sz="2000" dirty="0">
                <a:latin typeface="Book Antiqua" pitchFamily="18" charset="0"/>
              </a:rPr>
              <a:t>(){ </a:t>
            </a:r>
            <a:r>
              <a:rPr lang="fi-FI" sz="2000" dirty="0" err="1">
                <a:latin typeface="Book Antiqua" pitchFamily="18" charset="0"/>
              </a:rPr>
              <a:t>System.out.print("I</a:t>
            </a:r>
            <a:r>
              <a:rPr lang="fi-FI" sz="2000" dirty="0">
                <a:latin typeface="Book Antiqua" pitchFamily="18" charset="0"/>
              </a:rPr>
              <a:t> am a Person "); }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Book Antiqua" pitchFamily="18" charset="0"/>
              </a:rPr>
              <a:t>}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Book Antiqua" pitchFamily="18" charset="0"/>
              </a:rPr>
              <a:t>public class Student extends Person {</a:t>
            </a:r>
          </a:p>
          <a:p>
            <a:pPr lvl="1">
              <a:lnSpc>
                <a:spcPct val="150000"/>
              </a:lnSpc>
            </a:pPr>
            <a:r>
              <a:rPr lang="fi-FI" sz="2000" dirty="0" err="1">
                <a:latin typeface="Book Antiqua" pitchFamily="18" charset="0"/>
              </a:rPr>
              <a:t>public</a:t>
            </a:r>
            <a:r>
              <a:rPr lang="fi-FI" sz="2000" dirty="0">
                <a:latin typeface="Book Antiqua" pitchFamily="18" charset="0"/>
              </a:rPr>
              <a:t> </a:t>
            </a:r>
            <a:r>
              <a:rPr lang="fi-FI" sz="2000" dirty="0" err="1">
                <a:latin typeface="Book Antiqua" pitchFamily="18" charset="0"/>
              </a:rPr>
              <a:t>void</a:t>
            </a:r>
            <a:r>
              <a:rPr lang="fi-FI" sz="2000" dirty="0">
                <a:latin typeface="Book Antiqua" pitchFamily="18" charset="0"/>
              </a:rPr>
              <a:t> </a:t>
            </a:r>
            <a:r>
              <a:rPr lang="fi-FI" sz="2000" dirty="0" err="1">
                <a:latin typeface="Book Antiqua" pitchFamily="18" charset="0"/>
              </a:rPr>
              <a:t>talk</a:t>
            </a:r>
            <a:r>
              <a:rPr lang="fi-FI" sz="2000" dirty="0">
                <a:latin typeface="Book Antiqua" pitchFamily="18" charset="0"/>
              </a:rPr>
              <a:t>(){ </a:t>
            </a:r>
            <a:r>
              <a:rPr lang="fi-FI" sz="2000" dirty="0" err="1">
                <a:latin typeface="Book Antiqua" pitchFamily="18" charset="0"/>
              </a:rPr>
              <a:t>System.out.print("I</a:t>
            </a:r>
            <a:r>
              <a:rPr lang="fi-FI" sz="2000" dirty="0">
                <a:latin typeface="Book Antiqua" pitchFamily="18" charset="0"/>
              </a:rPr>
              <a:t> am a </a:t>
            </a:r>
            <a:r>
              <a:rPr lang="fi-FI" sz="2000" dirty="0" err="1">
                <a:latin typeface="Book Antiqua" pitchFamily="18" charset="0"/>
              </a:rPr>
              <a:t>Student</a:t>
            </a:r>
            <a:r>
              <a:rPr lang="fi-FI" sz="2000" dirty="0">
                <a:latin typeface="Book Antiqua" pitchFamily="18" charset="0"/>
              </a:rPr>
              <a:t> "); }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Book Antiqua" pitchFamily="18" charset="0"/>
              </a:rPr>
              <a:t>}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Book Antiqua" pitchFamily="18" charset="0"/>
              </a:rPr>
              <a:t>What is the result of this piece of code: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Book Antiqua" pitchFamily="18" charset="0"/>
              </a:rPr>
              <a:t>public class Test{</a:t>
            </a:r>
          </a:p>
          <a:p>
            <a:pPr lvl="1">
              <a:lnSpc>
                <a:spcPct val="150000"/>
              </a:lnSpc>
            </a:pPr>
            <a:r>
              <a:rPr lang="fi-FI" sz="2000" dirty="0" err="1">
                <a:latin typeface="Book Antiqua" pitchFamily="18" charset="0"/>
              </a:rPr>
              <a:t>public</a:t>
            </a:r>
            <a:r>
              <a:rPr lang="fi-FI" sz="2000" dirty="0">
                <a:latin typeface="Book Antiqua" pitchFamily="18" charset="0"/>
              </a:rPr>
              <a:t> </a:t>
            </a:r>
            <a:r>
              <a:rPr lang="fi-FI" sz="2000" dirty="0" err="1">
                <a:latin typeface="Book Antiqua" pitchFamily="18" charset="0"/>
              </a:rPr>
              <a:t>static</a:t>
            </a:r>
            <a:r>
              <a:rPr lang="fi-FI" sz="2000" dirty="0">
                <a:latin typeface="Book Antiqua" pitchFamily="18" charset="0"/>
              </a:rPr>
              <a:t> </a:t>
            </a:r>
            <a:r>
              <a:rPr lang="fi-FI" sz="2000" dirty="0" err="1">
                <a:latin typeface="Book Antiqua" pitchFamily="18" charset="0"/>
              </a:rPr>
              <a:t>void</a:t>
            </a:r>
            <a:r>
              <a:rPr lang="fi-FI" sz="2000" dirty="0">
                <a:latin typeface="Book Antiqua" pitchFamily="18" charset="0"/>
              </a:rPr>
              <a:t> </a:t>
            </a:r>
            <a:r>
              <a:rPr lang="fi-FI" sz="2000" dirty="0" err="1">
                <a:latin typeface="Book Antiqua" pitchFamily="18" charset="0"/>
              </a:rPr>
              <a:t>main(String</a:t>
            </a:r>
            <a:r>
              <a:rPr lang="fi-FI" sz="2000" dirty="0">
                <a:latin typeface="Book Antiqua" pitchFamily="18" charset="0"/>
              </a:rPr>
              <a:t> </a:t>
            </a:r>
            <a:r>
              <a:rPr lang="fi-FI" sz="2000" dirty="0" err="1">
                <a:latin typeface="Book Antiqua" pitchFamily="18" charset="0"/>
              </a:rPr>
              <a:t>args</a:t>
            </a:r>
            <a:r>
              <a:rPr lang="fi-FI" sz="2000" dirty="0">
                <a:latin typeface="Book Antiqua" pitchFamily="18" charset="0"/>
              </a:rPr>
              <a:t>[]){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Book Antiqua" pitchFamily="18" charset="0"/>
              </a:rPr>
              <a:t>Person p = new Student();</a:t>
            </a:r>
          </a:p>
          <a:p>
            <a:pPr lvl="1">
              <a:lnSpc>
                <a:spcPct val="150000"/>
              </a:lnSpc>
            </a:pPr>
            <a:r>
              <a:rPr lang="en-US" sz="2000" dirty="0" err="1">
                <a:latin typeface="Book Antiqua" pitchFamily="18" charset="0"/>
              </a:rPr>
              <a:t>p.talk</a:t>
            </a:r>
            <a:r>
              <a:rPr lang="en-US" sz="2000" dirty="0">
                <a:latin typeface="Book Antiqua" pitchFamily="18" charset="0"/>
              </a:rPr>
              <a:t>();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Book Antiqua" pitchFamily="18" charset="0"/>
              </a:rPr>
              <a:t>}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Book Antiqua" pitchFamily="18" charset="0"/>
              </a:rPr>
              <a:t>}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7624" y="6165304"/>
            <a:ext cx="262443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latin typeface="Book Antiqua" pitchFamily="18" charset="0"/>
              </a:rPr>
              <a:t>Answer: I am a student.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693363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-9618" y="17440"/>
            <a:ext cx="9144000" cy="164637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5132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6874</TotalTime>
  <Words>2133</Words>
  <Application>Microsoft Office PowerPoint</Application>
  <PresentationFormat>On-screen Show (4:3)</PresentationFormat>
  <Paragraphs>444</Paragraphs>
  <Slides>33</Slides>
  <Notes>3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35" baseType="lpstr">
      <vt:lpstr>Office Theme</vt:lpstr>
      <vt:lpstr>Custom Design</vt:lpstr>
      <vt:lpstr>PowerPoint Presentation</vt:lpstr>
      <vt:lpstr>PowerPoint Presentation</vt:lpstr>
      <vt:lpstr>Polymorphism</vt:lpstr>
      <vt:lpstr>Method Overriding</vt:lpstr>
      <vt:lpstr>PowerPoint Presentation</vt:lpstr>
      <vt:lpstr>Rules for Method Overriding in Java</vt:lpstr>
      <vt:lpstr>Method Overloading</vt:lpstr>
      <vt:lpstr>PowerPoint Presentation</vt:lpstr>
      <vt:lpstr>Different Methods of Method Overloading</vt:lpstr>
      <vt:lpstr>Method Overriding and Overloading</vt:lpstr>
      <vt:lpstr>PowerPoint Presentation</vt:lpstr>
      <vt:lpstr>PowerPoint Presentation</vt:lpstr>
      <vt:lpstr>PowerPoint Presentation</vt:lpstr>
      <vt:lpstr>PowerPoint Presentation</vt:lpstr>
      <vt:lpstr>Using Abstract Classes</vt:lpstr>
      <vt:lpstr>PowerPoint Presentation</vt:lpstr>
      <vt:lpstr>PowerPoint Presentation</vt:lpstr>
      <vt:lpstr>Using final</vt:lpstr>
      <vt:lpstr>PowerPoint Presentation</vt:lpstr>
      <vt:lpstr>Encapsulation</vt:lpstr>
      <vt:lpstr>Data Field Encapsulation</vt:lpstr>
      <vt:lpstr>PowerPoint Presentation</vt:lpstr>
      <vt:lpstr>PowerPoint Presentation</vt:lpstr>
      <vt:lpstr>PowerPoint Presentation</vt:lpstr>
      <vt:lpstr>PowerPoint Presentation</vt:lpstr>
      <vt:lpstr>Quiz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 Corporation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Registered User</dc:creator>
  <cp:lastModifiedBy>User</cp:lastModifiedBy>
  <cp:revision>155</cp:revision>
  <dcterms:created xsi:type="dcterms:W3CDTF">2014-04-01T16:27:38Z</dcterms:created>
  <dcterms:modified xsi:type="dcterms:W3CDTF">2026-07-06T02:15:28Z</dcterms:modified>
</cp:coreProperties>
</file>