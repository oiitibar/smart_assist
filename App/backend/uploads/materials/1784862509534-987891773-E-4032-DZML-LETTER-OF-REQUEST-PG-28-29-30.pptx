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64" r:id="rId5"/>
    <p:sldId id="265"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84334-A35E-4DC9-ACF0-61C788CD6B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7ADE61-B192-4711-B766-CAE9F6DB86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591884-FC62-458D-862F-63B8C142CF6D}"/>
              </a:ext>
            </a:extLst>
          </p:cNvPr>
          <p:cNvSpPr>
            <a:spLocks noGrp="1"/>
          </p:cNvSpPr>
          <p:nvPr>
            <p:ph type="dt" sz="half" idx="10"/>
          </p:nvPr>
        </p:nvSpPr>
        <p:spPr/>
        <p:txBody>
          <a:bodyPr/>
          <a:lstStyle/>
          <a:p>
            <a:fld id="{2E970B84-3A1B-43B6-8DB6-030118332659}" type="datetimeFigureOut">
              <a:rPr lang="en-US" smtClean="0"/>
              <a:t>6/29/2026</a:t>
            </a:fld>
            <a:endParaRPr lang="en-US"/>
          </a:p>
        </p:txBody>
      </p:sp>
      <p:sp>
        <p:nvSpPr>
          <p:cNvPr id="5" name="Footer Placeholder 4">
            <a:extLst>
              <a:ext uri="{FF2B5EF4-FFF2-40B4-BE49-F238E27FC236}">
                <a16:creationId xmlns:a16="http://schemas.microsoft.com/office/drawing/2014/main" id="{BF241B3B-4802-4428-B4F7-BA3196F191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F03D38-45E6-4C3E-AAB4-6FAF5BC9D019}"/>
              </a:ext>
            </a:extLst>
          </p:cNvPr>
          <p:cNvSpPr>
            <a:spLocks noGrp="1"/>
          </p:cNvSpPr>
          <p:nvPr>
            <p:ph type="sldNum" sz="quarter" idx="12"/>
          </p:nvPr>
        </p:nvSpPr>
        <p:spPr/>
        <p:txBody>
          <a:bodyPr/>
          <a:lstStyle/>
          <a:p>
            <a:fld id="{7631E73C-AC0A-417C-AE44-3C8F1B3E3BA1}" type="slidenum">
              <a:rPr lang="en-US" smtClean="0"/>
              <a:t>‹#›</a:t>
            </a:fld>
            <a:endParaRPr lang="en-US"/>
          </a:p>
        </p:txBody>
      </p:sp>
    </p:spTree>
    <p:extLst>
      <p:ext uri="{BB962C8B-B14F-4D97-AF65-F5344CB8AC3E}">
        <p14:creationId xmlns:p14="http://schemas.microsoft.com/office/powerpoint/2010/main" val="1828049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2253E-908C-4022-8511-3E5EDF2345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F78335-3FA7-4D87-B91A-17B97C51732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BF20C3-5208-4F6B-AFC5-EB584308F29A}"/>
              </a:ext>
            </a:extLst>
          </p:cNvPr>
          <p:cNvSpPr>
            <a:spLocks noGrp="1"/>
          </p:cNvSpPr>
          <p:nvPr>
            <p:ph type="dt" sz="half" idx="10"/>
          </p:nvPr>
        </p:nvSpPr>
        <p:spPr/>
        <p:txBody>
          <a:bodyPr/>
          <a:lstStyle/>
          <a:p>
            <a:fld id="{2E970B84-3A1B-43B6-8DB6-030118332659}" type="datetimeFigureOut">
              <a:rPr lang="en-US" smtClean="0"/>
              <a:t>6/29/2026</a:t>
            </a:fld>
            <a:endParaRPr lang="en-US"/>
          </a:p>
        </p:txBody>
      </p:sp>
      <p:sp>
        <p:nvSpPr>
          <p:cNvPr id="5" name="Footer Placeholder 4">
            <a:extLst>
              <a:ext uri="{FF2B5EF4-FFF2-40B4-BE49-F238E27FC236}">
                <a16:creationId xmlns:a16="http://schemas.microsoft.com/office/drawing/2014/main" id="{9D786623-89AB-4A98-BB8D-AC2CFEAE1C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AE4D5B-378B-4B82-A76E-F98FE50B8377}"/>
              </a:ext>
            </a:extLst>
          </p:cNvPr>
          <p:cNvSpPr>
            <a:spLocks noGrp="1"/>
          </p:cNvSpPr>
          <p:nvPr>
            <p:ph type="sldNum" sz="quarter" idx="12"/>
          </p:nvPr>
        </p:nvSpPr>
        <p:spPr/>
        <p:txBody>
          <a:bodyPr/>
          <a:lstStyle/>
          <a:p>
            <a:fld id="{7631E73C-AC0A-417C-AE44-3C8F1B3E3BA1}" type="slidenum">
              <a:rPr lang="en-US" smtClean="0"/>
              <a:t>‹#›</a:t>
            </a:fld>
            <a:endParaRPr lang="en-US"/>
          </a:p>
        </p:txBody>
      </p:sp>
    </p:spTree>
    <p:extLst>
      <p:ext uri="{BB962C8B-B14F-4D97-AF65-F5344CB8AC3E}">
        <p14:creationId xmlns:p14="http://schemas.microsoft.com/office/powerpoint/2010/main" val="1542086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B9F4E-59E4-4453-8950-FB46B7E311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D1351F6-04B0-4271-AA49-28DA0DBC12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C0C6601-D164-4E47-9BD9-8FD8F67CAB8D}"/>
              </a:ext>
            </a:extLst>
          </p:cNvPr>
          <p:cNvSpPr>
            <a:spLocks noGrp="1"/>
          </p:cNvSpPr>
          <p:nvPr>
            <p:ph type="dt" sz="half" idx="10"/>
          </p:nvPr>
        </p:nvSpPr>
        <p:spPr/>
        <p:txBody>
          <a:bodyPr/>
          <a:lstStyle/>
          <a:p>
            <a:fld id="{2E970B84-3A1B-43B6-8DB6-030118332659}" type="datetimeFigureOut">
              <a:rPr lang="en-US" smtClean="0"/>
              <a:t>6/29/2026</a:t>
            </a:fld>
            <a:endParaRPr lang="en-US"/>
          </a:p>
        </p:txBody>
      </p:sp>
      <p:sp>
        <p:nvSpPr>
          <p:cNvPr id="5" name="Footer Placeholder 4">
            <a:extLst>
              <a:ext uri="{FF2B5EF4-FFF2-40B4-BE49-F238E27FC236}">
                <a16:creationId xmlns:a16="http://schemas.microsoft.com/office/drawing/2014/main" id="{9421F55A-93A0-445B-9A6F-E3A59D8A04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4AA09A-3755-42A2-8625-DC03F963A438}"/>
              </a:ext>
            </a:extLst>
          </p:cNvPr>
          <p:cNvSpPr>
            <a:spLocks noGrp="1"/>
          </p:cNvSpPr>
          <p:nvPr>
            <p:ph type="sldNum" sz="quarter" idx="12"/>
          </p:nvPr>
        </p:nvSpPr>
        <p:spPr/>
        <p:txBody>
          <a:bodyPr/>
          <a:lstStyle/>
          <a:p>
            <a:fld id="{7631E73C-AC0A-417C-AE44-3C8F1B3E3BA1}" type="slidenum">
              <a:rPr lang="en-US" smtClean="0"/>
              <a:t>‹#›</a:t>
            </a:fld>
            <a:endParaRPr lang="en-US"/>
          </a:p>
        </p:txBody>
      </p:sp>
    </p:spTree>
    <p:extLst>
      <p:ext uri="{BB962C8B-B14F-4D97-AF65-F5344CB8AC3E}">
        <p14:creationId xmlns:p14="http://schemas.microsoft.com/office/powerpoint/2010/main" val="3169894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F8E5B-FD2C-4899-89E2-CAB7A52E07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AB1B2F-77B4-4EEF-B537-7A8A38DBFB5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925681-7479-4D72-8FD1-0EBB69CD1B4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E123EA-7707-4E49-832F-1E3E63F28538}"/>
              </a:ext>
            </a:extLst>
          </p:cNvPr>
          <p:cNvSpPr>
            <a:spLocks noGrp="1"/>
          </p:cNvSpPr>
          <p:nvPr>
            <p:ph type="dt" sz="half" idx="10"/>
          </p:nvPr>
        </p:nvSpPr>
        <p:spPr/>
        <p:txBody>
          <a:bodyPr/>
          <a:lstStyle/>
          <a:p>
            <a:fld id="{2E970B84-3A1B-43B6-8DB6-030118332659}" type="datetimeFigureOut">
              <a:rPr lang="en-US" smtClean="0"/>
              <a:t>6/29/2026</a:t>
            </a:fld>
            <a:endParaRPr lang="en-US"/>
          </a:p>
        </p:txBody>
      </p:sp>
      <p:sp>
        <p:nvSpPr>
          <p:cNvPr id="6" name="Footer Placeholder 5">
            <a:extLst>
              <a:ext uri="{FF2B5EF4-FFF2-40B4-BE49-F238E27FC236}">
                <a16:creationId xmlns:a16="http://schemas.microsoft.com/office/drawing/2014/main" id="{11155656-6F3C-46F9-BA1E-A930091666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38103A-C474-42E2-88C0-64F1F68DE043}"/>
              </a:ext>
            </a:extLst>
          </p:cNvPr>
          <p:cNvSpPr>
            <a:spLocks noGrp="1"/>
          </p:cNvSpPr>
          <p:nvPr>
            <p:ph type="sldNum" sz="quarter" idx="12"/>
          </p:nvPr>
        </p:nvSpPr>
        <p:spPr/>
        <p:txBody>
          <a:bodyPr/>
          <a:lstStyle/>
          <a:p>
            <a:fld id="{7631E73C-AC0A-417C-AE44-3C8F1B3E3BA1}" type="slidenum">
              <a:rPr lang="en-US" smtClean="0"/>
              <a:t>‹#›</a:t>
            </a:fld>
            <a:endParaRPr lang="en-US"/>
          </a:p>
        </p:txBody>
      </p:sp>
    </p:spTree>
    <p:extLst>
      <p:ext uri="{BB962C8B-B14F-4D97-AF65-F5344CB8AC3E}">
        <p14:creationId xmlns:p14="http://schemas.microsoft.com/office/powerpoint/2010/main" val="4182187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3CB3B-0DF6-4E24-B576-CC26BDC4AF6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B981252-0E69-4D7E-9390-EE86397B55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BCA221E-DDC1-4DFA-8DC7-01FE382284A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AA920A-72A1-4342-AD54-A326D82C66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7B0ECFD-34F0-4185-A3AC-4FE33C3A8AA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44F5E77-384B-4F8C-9EC2-974F53697650}"/>
              </a:ext>
            </a:extLst>
          </p:cNvPr>
          <p:cNvSpPr>
            <a:spLocks noGrp="1"/>
          </p:cNvSpPr>
          <p:nvPr>
            <p:ph type="dt" sz="half" idx="10"/>
          </p:nvPr>
        </p:nvSpPr>
        <p:spPr/>
        <p:txBody>
          <a:bodyPr/>
          <a:lstStyle/>
          <a:p>
            <a:fld id="{2E970B84-3A1B-43B6-8DB6-030118332659}" type="datetimeFigureOut">
              <a:rPr lang="en-US" smtClean="0"/>
              <a:t>6/29/2026</a:t>
            </a:fld>
            <a:endParaRPr lang="en-US"/>
          </a:p>
        </p:txBody>
      </p:sp>
      <p:sp>
        <p:nvSpPr>
          <p:cNvPr id="8" name="Footer Placeholder 7">
            <a:extLst>
              <a:ext uri="{FF2B5EF4-FFF2-40B4-BE49-F238E27FC236}">
                <a16:creationId xmlns:a16="http://schemas.microsoft.com/office/drawing/2014/main" id="{ADEF8F15-0078-43F9-A120-50BDADAA4BF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1EBAE3A-C3DB-4490-9B6C-907BD5EF6DDD}"/>
              </a:ext>
            </a:extLst>
          </p:cNvPr>
          <p:cNvSpPr>
            <a:spLocks noGrp="1"/>
          </p:cNvSpPr>
          <p:nvPr>
            <p:ph type="sldNum" sz="quarter" idx="12"/>
          </p:nvPr>
        </p:nvSpPr>
        <p:spPr/>
        <p:txBody>
          <a:bodyPr/>
          <a:lstStyle/>
          <a:p>
            <a:fld id="{7631E73C-AC0A-417C-AE44-3C8F1B3E3BA1}" type="slidenum">
              <a:rPr lang="en-US" smtClean="0"/>
              <a:t>‹#›</a:t>
            </a:fld>
            <a:endParaRPr lang="en-US"/>
          </a:p>
        </p:txBody>
      </p:sp>
    </p:spTree>
    <p:extLst>
      <p:ext uri="{BB962C8B-B14F-4D97-AF65-F5344CB8AC3E}">
        <p14:creationId xmlns:p14="http://schemas.microsoft.com/office/powerpoint/2010/main" val="1847617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1D852-BA4E-4FE6-A2A5-9D9B7178C8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A0E7424-64CD-4CFE-A03E-8A4E2833C82C}"/>
              </a:ext>
            </a:extLst>
          </p:cNvPr>
          <p:cNvSpPr>
            <a:spLocks noGrp="1"/>
          </p:cNvSpPr>
          <p:nvPr>
            <p:ph type="dt" sz="half" idx="10"/>
          </p:nvPr>
        </p:nvSpPr>
        <p:spPr/>
        <p:txBody>
          <a:bodyPr/>
          <a:lstStyle/>
          <a:p>
            <a:fld id="{2E970B84-3A1B-43B6-8DB6-030118332659}" type="datetimeFigureOut">
              <a:rPr lang="en-US" smtClean="0"/>
              <a:t>6/29/2026</a:t>
            </a:fld>
            <a:endParaRPr lang="en-US"/>
          </a:p>
        </p:txBody>
      </p:sp>
      <p:sp>
        <p:nvSpPr>
          <p:cNvPr id="4" name="Footer Placeholder 3">
            <a:extLst>
              <a:ext uri="{FF2B5EF4-FFF2-40B4-BE49-F238E27FC236}">
                <a16:creationId xmlns:a16="http://schemas.microsoft.com/office/drawing/2014/main" id="{0B497ED2-A2EB-44E1-A3D6-E216535B88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094737-466D-4A16-A614-62C66BE32D15}"/>
              </a:ext>
            </a:extLst>
          </p:cNvPr>
          <p:cNvSpPr>
            <a:spLocks noGrp="1"/>
          </p:cNvSpPr>
          <p:nvPr>
            <p:ph type="sldNum" sz="quarter" idx="12"/>
          </p:nvPr>
        </p:nvSpPr>
        <p:spPr/>
        <p:txBody>
          <a:bodyPr/>
          <a:lstStyle/>
          <a:p>
            <a:fld id="{7631E73C-AC0A-417C-AE44-3C8F1B3E3BA1}" type="slidenum">
              <a:rPr lang="en-US" smtClean="0"/>
              <a:t>‹#›</a:t>
            </a:fld>
            <a:endParaRPr lang="en-US"/>
          </a:p>
        </p:txBody>
      </p:sp>
    </p:spTree>
    <p:extLst>
      <p:ext uri="{BB962C8B-B14F-4D97-AF65-F5344CB8AC3E}">
        <p14:creationId xmlns:p14="http://schemas.microsoft.com/office/powerpoint/2010/main" val="2247713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732B5F-69B7-4A4D-8CAE-6BA4FEF55F96}"/>
              </a:ext>
            </a:extLst>
          </p:cNvPr>
          <p:cNvSpPr>
            <a:spLocks noGrp="1"/>
          </p:cNvSpPr>
          <p:nvPr>
            <p:ph type="dt" sz="half" idx="10"/>
          </p:nvPr>
        </p:nvSpPr>
        <p:spPr/>
        <p:txBody>
          <a:bodyPr/>
          <a:lstStyle/>
          <a:p>
            <a:fld id="{2E970B84-3A1B-43B6-8DB6-030118332659}" type="datetimeFigureOut">
              <a:rPr lang="en-US" smtClean="0"/>
              <a:t>6/29/2026</a:t>
            </a:fld>
            <a:endParaRPr lang="en-US"/>
          </a:p>
        </p:txBody>
      </p:sp>
      <p:sp>
        <p:nvSpPr>
          <p:cNvPr id="3" name="Footer Placeholder 2">
            <a:extLst>
              <a:ext uri="{FF2B5EF4-FFF2-40B4-BE49-F238E27FC236}">
                <a16:creationId xmlns:a16="http://schemas.microsoft.com/office/drawing/2014/main" id="{7A3D4073-E63C-4440-AEC0-E4CC9D5EE3A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AE9018-A82C-444B-97BA-7FFFBEEC5331}"/>
              </a:ext>
            </a:extLst>
          </p:cNvPr>
          <p:cNvSpPr>
            <a:spLocks noGrp="1"/>
          </p:cNvSpPr>
          <p:nvPr>
            <p:ph type="sldNum" sz="quarter" idx="12"/>
          </p:nvPr>
        </p:nvSpPr>
        <p:spPr/>
        <p:txBody>
          <a:bodyPr/>
          <a:lstStyle/>
          <a:p>
            <a:fld id="{7631E73C-AC0A-417C-AE44-3C8F1B3E3BA1}" type="slidenum">
              <a:rPr lang="en-US" smtClean="0"/>
              <a:t>‹#›</a:t>
            </a:fld>
            <a:endParaRPr lang="en-US"/>
          </a:p>
        </p:txBody>
      </p:sp>
    </p:spTree>
    <p:extLst>
      <p:ext uri="{BB962C8B-B14F-4D97-AF65-F5344CB8AC3E}">
        <p14:creationId xmlns:p14="http://schemas.microsoft.com/office/powerpoint/2010/main" val="890867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C49E1-F4BC-4AEE-BE22-1EEEB21F4E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6F9686-56DD-46B5-AAF8-DA81B20865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208720C-3665-4DAB-963A-D54EA729B2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655B050-6462-4D73-A3AD-FF45B6D95221}"/>
              </a:ext>
            </a:extLst>
          </p:cNvPr>
          <p:cNvSpPr>
            <a:spLocks noGrp="1"/>
          </p:cNvSpPr>
          <p:nvPr>
            <p:ph type="dt" sz="half" idx="10"/>
          </p:nvPr>
        </p:nvSpPr>
        <p:spPr/>
        <p:txBody>
          <a:bodyPr/>
          <a:lstStyle/>
          <a:p>
            <a:fld id="{2E970B84-3A1B-43B6-8DB6-030118332659}" type="datetimeFigureOut">
              <a:rPr lang="en-US" smtClean="0"/>
              <a:t>6/29/2026</a:t>
            </a:fld>
            <a:endParaRPr lang="en-US"/>
          </a:p>
        </p:txBody>
      </p:sp>
      <p:sp>
        <p:nvSpPr>
          <p:cNvPr id="6" name="Footer Placeholder 5">
            <a:extLst>
              <a:ext uri="{FF2B5EF4-FFF2-40B4-BE49-F238E27FC236}">
                <a16:creationId xmlns:a16="http://schemas.microsoft.com/office/drawing/2014/main" id="{5D72B1EB-AE40-4997-8E66-AF9679385E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7B71BD-47F2-44D9-BD73-FBE6CFC1C936}"/>
              </a:ext>
            </a:extLst>
          </p:cNvPr>
          <p:cNvSpPr>
            <a:spLocks noGrp="1"/>
          </p:cNvSpPr>
          <p:nvPr>
            <p:ph type="sldNum" sz="quarter" idx="12"/>
          </p:nvPr>
        </p:nvSpPr>
        <p:spPr/>
        <p:txBody>
          <a:bodyPr/>
          <a:lstStyle/>
          <a:p>
            <a:fld id="{7631E73C-AC0A-417C-AE44-3C8F1B3E3BA1}" type="slidenum">
              <a:rPr lang="en-US" smtClean="0"/>
              <a:t>‹#›</a:t>
            </a:fld>
            <a:endParaRPr lang="en-US"/>
          </a:p>
        </p:txBody>
      </p:sp>
    </p:spTree>
    <p:extLst>
      <p:ext uri="{BB962C8B-B14F-4D97-AF65-F5344CB8AC3E}">
        <p14:creationId xmlns:p14="http://schemas.microsoft.com/office/powerpoint/2010/main" val="2469958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9805C-5CD4-45FB-B0F8-9C1A375C65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79EE49E-9E19-4E68-9A5E-515DB03B82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56FD08-0811-4430-8CFD-7EEEC6C881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8F07A6A-17BB-4B49-B192-09C5F3F9051C}"/>
              </a:ext>
            </a:extLst>
          </p:cNvPr>
          <p:cNvSpPr>
            <a:spLocks noGrp="1"/>
          </p:cNvSpPr>
          <p:nvPr>
            <p:ph type="dt" sz="half" idx="10"/>
          </p:nvPr>
        </p:nvSpPr>
        <p:spPr/>
        <p:txBody>
          <a:bodyPr/>
          <a:lstStyle/>
          <a:p>
            <a:fld id="{2E970B84-3A1B-43B6-8DB6-030118332659}" type="datetimeFigureOut">
              <a:rPr lang="en-US" smtClean="0"/>
              <a:t>6/29/2026</a:t>
            </a:fld>
            <a:endParaRPr lang="en-US"/>
          </a:p>
        </p:txBody>
      </p:sp>
      <p:sp>
        <p:nvSpPr>
          <p:cNvPr id="6" name="Footer Placeholder 5">
            <a:extLst>
              <a:ext uri="{FF2B5EF4-FFF2-40B4-BE49-F238E27FC236}">
                <a16:creationId xmlns:a16="http://schemas.microsoft.com/office/drawing/2014/main" id="{966A6917-FDB1-49B7-B8E0-EABD1C0AD5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01C351-7807-4F48-BEFC-33B6BC4D4C30}"/>
              </a:ext>
            </a:extLst>
          </p:cNvPr>
          <p:cNvSpPr>
            <a:spLocks noGrp="1"/>
          </p:cNvSpPr>
          <p:nvPr>
            <p:ph type="sldNum" sz="quarter" idx="12"/>
          </p:nvPr>
        </p:nvSpPr>
        <p:spPr/>
        <p:txBody>
          <a:bodyPr/>
          <a:lstStyle/>
          <a:p>
            <a:fld id="{7631E73C-AC0A-417C-AE44-3C8F1B3E3BA1}" type="slidenum">
              <a:rPr lang="en-US" smtClean="0"/>
              <a:t>‹#›</a:t>
            </a:fld>
            <a:endParaRPr lang="en-US"/>
          </a:p>
        </p:txBody>
      </p:sp>
    </p:spTree>
    <p:extLst>
      <p:ext uri="{BB962C8B-B14F-4D97-AF65-F5344CB8AC3E}">
        <p14:creationId xmlns:p14="http://schemas.microsoft.com/office/powerpoint/2010/main" val="1181975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44271-D34C-42AA-97BE-D3B03657298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7F6E22-17D2-40EA-AE90-9A215DC5595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15E459-5524-469B-90B7-D02ECF4F7E1A}"/>
              </a:ext>
            </a:extLst>
          </p:cNvPr>
          <p:cNvSpPr>
            <a:spLocks noGrp="1"/>
          </p:cNvSpPr>
          <p:nvPr>
            <p:ph type="dt" sz="half" idx="10"/>
          </p:nvPr>
        </p:nvSpPr>
        <p:spPr/>
        <p:txBody>
          <a:bodyPr/>
          <a:lstStyle/>
          <a:p>
            <a:fld id="{2E970B84-3A1B-43B6-8DB6-030118332659}" type="datetimeFigureOut">
              <a:rPr lang="en-US" smtClean="0"/>
              <a:t>6/29/2026</a:t>
            </a:fld>
            <a:endParaRPr lang="en-US"/>
          </a:p>
        </p:txBody>
      </p:sp>
      <p:sp>
        <p:nvSpPr>
          <p:cNvPr id="5" name="Footer Placeholder 4">
            <a:extLst>
              <a:ext uri="{FF2B5EF4-FFF2-40B4-BE49-F238E27FC236}">
                <a16:creationId xmlns:a16="http://schemas.microsoft.com/office/drawing/2014/main" id="{E975A191-8D04-45E0-AF7B-54C6F03BD5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9A5698-1F6B-4D51-AFC7-F009991DA952}"/>
              </a:ext>
            </a:extLst>
          </p:cNvPr>
          <p:cNvSpPr>
            <a:spLocks noGrp="1"/>
          </p:cNvSpPr>
          <p:nvPr>
            <p:ph type="sldNum" sz="quarter" idx="12"/>
          </p:nvPr>
        </p:nvSpPr>
        <p:spPr/>
        <p:txBody>
          <a:bodyPr/>
          <a:lstStyle/>
          <a:p>
            <a:fld id="{7631E73C-AC0A-417C-AE44-3C8F1B3E3BA1}" type="slidenum">
              <a:rPr lang="en-US" smtClean="0"/>
              <a:t>‹#›</a:t>
            </a:fld>
            <a:endParaRPr lang="en-US"/>
          </a:p>
        </p:txBody>
      </p:sp>
    </p:spTree>
    <p:extLst>
      <p:ext uri="{BB962C8B-B14F-4D97-AF65-F5344CB8AC3E}">
        <p14:creationId xmlns:p14="http://schemas.microsoft.com/office/powerpoint/2010/main" val="1414798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C3368E-37F0-4F2C-AE6F-94C00C6DF7C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710F54-D7B0-40BB-9C00-B572ECED055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62661A-24F7-4565-A6C0-29876B75EC9D}"/>
              </a:ext>
            </a:extLst>
          </p:cNvPr>
          <p:cNvSpPr>
            <a:spLocks noGrp="1"/>
          </p:cNvSpPr>
          <p:nvPr>
            <p:ph type="dt" sz="half" idx="10"/>
          </p:nvPr>
        </p:nvSpPr>
        <p:spPr/>
        <p:txBody>
          <a:bodyPr/>
          <a:lstStyle/>
          <a:p>
            <a:fld id="{2E970B84-3A1B-43B6-8DB6-030118332659}" type="datetimeFigureOut">
              <a:rPr lang="en-US" smtClean="0"/>
              <a:t>6/29/2026</a:t>
            </a:fld>
            <a:endParaRPr lang="en-US"/>
          </a:p>
        </p:txBody>
      </p:sp>
      <p:sp>
        <p:nvSpPr>
          <p:cNvPr id="5" name="Footer Placeholder 4">
            <a:extLst>
              <a:ext uri="{FF2B5EF4-FFF2-40B4-BE49-F238E27FC236}">
                <a16:creationId xmlns:a16="http://schemas.microsoft.com/office/drawing/2014/main" id="{8DD5954A-C043-4FF6-814C-49AC6C8A13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ED44F9-84B6-4E31-94B4-FC9FBD138563}"/>
              </a:ext>
            </a:extLst>
          </p:cNvPr>
          <p:cNvSpPr>
            <a:spLocks noGrp="1"/>
          </p:cNvSpPr>
          <p:nvPr>
            <p:ph type="sldNum" sz="quarter" idx="12"/>
          </p:nvPr>
        </p:nvSpPr>
        <p:spPr/>
        <p:txBody>
          <a:bodyPr/>
          <a:lstStyle/>
          <a:p>
            <a:fld id="{7631E73C-AC0A-417C-AE44-3C8F1B3E3BA1}" type="slidenum">
              <a:rPr lang="en-US" smtClean="0"/>
              <a:t>‹#›</a:t>
            </a:fld>
            <a:endParaRPr lang="en-US"/>
          </a:p>
        </p:txBody>
      </p:sp>
    </p:spTree>
    <p:extLst>
      <p:ext uri="{BB962C8B-B14F-4D97-AF65-F5344CB8AC3E}">
        <p14:creationId xmlns:p14="http://schemas.microsoft.com/office/powerpoint/2010/main" val="736672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AC1FD0-3F7C-42B0-907E-E65348597C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C95F57C-0A31-416A-A267-B91460AFAE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D37270-6A4F-41C2-8C46-1063E9468B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970B84-3A1B-43B6-8DB6-030118332659}" type="datetimeFigureOut">
              <a:rPr lang="en-US" smtClean="0"/>
              <a:t>6/29/2026</a:t>
            </a:fld>
            <a:endParaRPr lang="en-US"/>
          </a:p>
        </p:txBody>
      </p:sp>
      <p:sp>
        <p:nvSpPr>
          <p:cNvPr id="5" name="Footer Placeholder 4">
            <a:extLst>
              <a:ext uri="{FF2B5EF4-FFF2-40B4-BE49-F238E27FC236}">
                <a16:creationId xmlns:a16="http://schemas.microsoft.com/office/drawing/2014/main" id="{FEED27D3-073C-4A81-A366-4CB2FBAC91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0080FF3-9C7C-4CCD-A1DD-4D9B4ED4D2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31E73C-AC0A-417C-AE44-3C8F1B3E3BA1}" type="slidenum">
              <a:rPr lang="en-US" smtClean="0"/>
              <a:t>‹#›</a:t>
            </a:fld>
            <a:endParaRPr lang="en-US"/>
          </a:p>
        </p:txBody>
      </p:sp>
    </p:spTree>
    <p:extLst>
      <p:ext uri="{BB962C8B-B14F-4D97-AF65-F5344CB8AC3E}">
        <p14:creationId xmlns:p14="http://schemas.microsoft.com/office/powerpoint/2010/main" val="17715429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CEE1A-7DFC-4794-B390-C52F6496852F}"/>
              </a:ext>
            </a:extLst>
          </p:cNvPr>
          <p:cNvSpPr>
            <a:spLocks noGrp="1"/>
          </p:cNvSpPr>
          <p:nvPr>
            <p:ph type="ctrTitle"/>
          </p:nvPr>
        </p:nvSpPr>
        <p:spPr>
          <a:xfrm>
            <a:off x="104775" y="333375"/>
            <a:ext cx="11906249" cy="6648450"/>
          </a:xfrm>
        </p:spPr>
        <p:txBody>
          <a:bodyPr>
            <a:normAutofit fontScale="90000"/>
          </a:bodyPr>
          <a:lstStyle/>
          <a:p>
            <a:pPr algn="l"/>
            <a:br>
              <a:rPr lang="en-US" sz="2200" dirty="0">
                <a:solidFill>
                  <a:srgbClr val="CC3300"/>
                </a:solidFill>
                <a:latin typeface="Times New Roman" panose="02020603050405020304" pitchFamily="18" charset="0"/>
                <a:cs typeface="Times New Roman" panose="02020603050405020304" pitchFamily="18" charset="0"/>
              </a:rPr>
            </a:br>
            <a:br>
              <a:rPr lang="en-US" sz="2200" dirty="0">
                <a:solidFill>
                  <a:srgbClr val="CC3300"/>
                </a:solidFill>
                <a:latin typeface="Times New Roman" panose="02020603050405020304" pitchFamily="18" charset="0"/>
                <a:cs typeface="Times New Roman" panose="02020603050405020304" pitchFamily="18" charset="0"/>
              </a:rPr>
            </a:br>
            <a:r>
              <a:rPr lang="en-US" sz="2200" dirty="0">
                <a:solidFill>
                  <a:srgbClr val="002060"/>
                </a:solidFill>
                <a:latin typeface="Times New Roman" panose="02020603050405020304" pitchFamily="18" charset="0"/>
                <a:cs typeface="Times New Roman" panose="02020603050405020304" pitchFamily="18" charset="0"/>
              </a:rPr>
              <a:t>3  PG 28 (SUGGESTED ANSWERS)</a:t>
            </a:r>
            <a:br>
              <a:rPr lang="en-US" sz="2200" dirty="0">
                <a:solidFill>
                  <a:srgbClr val="002060"/>
                </a:solidFill>
                <a:latin typeface="Times New Roman" panose="02020603050405020304" pitchFamily="18" charset="0"/>
                <a:cs typeface="Times New Roman" panose="02020603050405020304" pitchFamily="18" charset="0"/>
              </a:rPr>
            </a:br>
            <a:r>
              <a:rPr lang="en-US" sz="2200" dirty="0">
                <a:solidFill>
                  <a:srgbClr val="002060"/>
                </a:solidFill>
                <a:latin typeface="Times New Roman" panose="02020603050405020304" pitchFamily="18" charset="0"/>
                <a:cs typeface="Times New Roman" panose="02020603050405020304" pitchFamily="18" charset="0"/>
              </a:rPr>
              <a:t>Beginnings: 1.  I am writing to request your permission for a loan for home improvements which my wife and I are     </a:t>
            </a:r>
            <a:br>
              <a:rPr lang="en-US" sz="2200" dirty="0">
                <a:solidFill>
                  <a:srgbClr val="002060"/>
                </a:solidFill>
                <a:latin typeface="Times New Roman" panose="02020603050405020304" pitchFamily="18" charset="0"/>
                <a:cs typeface="Times New Roman" panose="02020603050405020304" pitchFamily="18" charset="0"/>
              </a:rPr>
            </a:br>
            <a:r>
              <a:rPr lang="en-US" sz="2200" dirty="0">
                <a:solidFill>
                  <a:srgbClr val="002060"/>
                </a:solidFill>
                <a:latin typeface="Times New Roman" panose="02020603050405020304" pitchFamily="18" charset="0"/>
                <a:cs typeface="Times New Roman" panose="02020603050405020304" pitchFamily="18" charset="0"/>
              </a:rPr>
              <a:t>     hoping to carry out later this summer.</a:t>
            </a:r>
            <a:br>
              <a:rPr lang="en-US" sz="2200" dirty="0">
                <a:solidFill>
                  <a:srgbClr val="002060"/>
                </a:solidFill>
                <a:latin typeface="Times New Roman" panose="02020603050405020304" pitchFamily="18" charset="0"/>
                <a:cs typeface="Times New Roman" panose="02020603050405020304" pitchFamily="18" charset="0"/>
              </a:rPr>
            </a:br>
            <a:r>
              <a:rPr lang="en-US" sz="2200" dirty="0">
                <a:solidFill>
                  <a:srgbClr val="002060"/>
                </a:solidFill>
                <a:latin typeface="Times New Roman" panose="02020603050405020304" pitchFamily="18" charset="0"/>
                <a:cs typeface="Times New Roman" panose="02020603050405020304" pitchFamily="18" charset="0"/>
              </a:rPr>
              <a:t>2.  I am writing to enquire if you could possibly send me details of your HND Hotel and Catering Management </a:t>
            </a:r>
            <a:br>
              <a:rPr lang="en-US" sz="2200" dirty="0">
                <a:solidFill>
                  <a:srgbClr val="002060"/>
                </a:solidFill>
                <a:latin typeface="Times New Roman" panose="02020603050405020304" pitchFamily="18" charset="0"/>
                <a:cs typeface="Times New Roman" panose="02020603050405020304" pitchFamily="18" charset="0"/>
              </a:rPr>
            </a:br>
            <a:r>
              <a:rPr lang="en-US" sz="2200" dirty="0">
                <a:solidFill>
                  <a:srgbClr val="002060"/>
                </a:solidFill>
                <a:latin typeface="Times New Roman" panose="02020603050405020304" pitchFamily="18" charset="0"/>
                <a:cs typeface="Times New Roman" panose="02020603050405020304" pitchFamily="18" charset="0"/>
              </a:rPr>
              <a:t>     Course which I recently saw advertised in your college prospectus.</a:t>
            </a:r>
            <a:br>
              <a:rPr lang="en-US" sz="2200" dirty="0">
                <a:solidFill>
                  <a:srgbClr val="002060"/>
                </a:solidFill>
                <a:latin typeface="Times New Roman" panose="02020603050405020304" pitchFamily="18" charset="0"/>
                <a:cs typeface="Times New Roman" panose="02020603050405020304" pitchFamily="18" charset="0"/>
              </a:rPr>
            </a:br>
            <a:r>
              <a:rPr lang="en-US" sz="2200" dirty="0">
                <a:solidFill>
                  <a:srgbClr val="002060"/>
                </a:solidFill>
                <a:latin typeface="Times New Roman" panose="02020603050405020304" pitchFamily="18" charset="0"/>
                <a:cs typeface="Times New Roman" panose="02020603050405020304" pitchFamily="18" charset="0"/>
              </a:rPr>
              <a:t>3    I am writing to ask if you would be so kind as to look at some of my work and consider the possibility of my </a:t>
            </a:r>
            <a:br>
              <a:rPr lang="en-US" sz="2200" dirty="0">
                <a:solidFill>
                  <a:srgbClr val="002060"/>
                </a:solidFill>
                <a:latin typeface="Times New Roman" panose="02020603050405020304" pitchFamily="18" charset="0"/>
                <a:cs typeface="Times New Roman" panose="02020603050405020304" pitchFamily="18" charset="0"/>
              </a:rPr>
            </a:br>
            <a:r>
              <a:rPr lang="en-US" sz="2200" dirty="0">
                <a:solidFill>
                  <a:srgbClr val="002060"/>
                </a:solidFill>
                <a:latin typeface="Times New Roman" panose="02020603050405020304" pitchFamily="18" charset="0"/>
                <a:cs typeface="Times New Roman" panose="02020603050405020304" pitchFamily="18" charset="0"/>
              </a:rPr>
              <a:t>      holding an exhibition of my work at your gallery.</a:t>
            </a:r>
            <a:br>
              <a:rPr lang="en-US" sz="2200" dirty="0">
                <a:solidFill>
                  <a:srgbClr val="002060"/>
                </a:solidFill>
                <a:latin typeface="Times New Roman" panose="02020603050405020304" pitchFamily="18" charset="0"/>
                <a:cs typeface="Times New Roman" panose="02020603050405020304" pitchFamily="18" charset="0"/>
              </a:rPr>
            </a:br>
            <a:r>
              <a:rPr lang="en-US" sz="2200" dirty="0">
                <a:solidFill>
                  <a:srgbClr val="002060"/>
                </a:solidFill>
                <a:latin typeface="Times New Roman" panose="02020603050405020304" pitchFamily="18" charset="0"/>
                <a:cs typeface="Times New Roman" panose="02020603050405020304" pitchFamily="18" charset="0"/>
              </a:rPr>
              <a:t>4.   I am writing to request that you consider the possibility of placing special bins in the local area as I feel this </a:t>
            </a:r>
            <a:br>
              <a:rPr lang="en-US" sz="2200" dirty="0">
                <a:solidFill>
                  <a:srgbClr val="002060"/>
                </a:solidFill>
                <a:latin typeface="Times New Roman" panose="02020603050405020304" pitchFamily="18" charset="0"/>
                <a:cs typeface="Times New Roman" panose="02020603050405020304" pitchFamily="18" charset="0"/>
              </a:rPr>
            </a:br>
            <a:r>
              <a:rPr lang="en-US" sz="2200" dirty="0">
                <a:solidFill>
                  <a:srgbClr val="002060"/>
                </a:solidFill>
                <a:latin typeface="Times New Roman" panose="02020603050405020304" pitchFamily="18" charset="0"/>
                <a:cs typeface="Times New Roman" panose="02020603050405020304" pitchFamily="18" charset="0"/>
              </a:rPr>
              <a:t>      would encourage recycling.</a:t>
            </a:r>
            <a:br>
              <a:rPr lang="en-US" sz="2200" dirty="0">
                <a:solidFill>
                  <a:srgbClr val="002060"/>
                </a:solidFill>
                <a:latin typeface="Times New Roman" panose="02020603050405020304" pitchFamily="18" charset="0"/>
                <a:cs typeface="Times New Roman" panose="02020603050405020304" pitchFamily="18" charset="0"/>
              </a:rPr>
            </a:br>
            <a:r>
              <a:rPr lang="en-US" sz="2200" dirty="0">
                <a:solidFill>
                  <a:srgbClr val="002060"/>
                </a:solidFill>
                <a:latin typeface="Times New Roman" panose="02020603050405020304" pitchFamily="18" charset="0"/>
                <a:cs typeface="Times New Roman" panose="02020603050405020304" pitchFamily="18" charset="0"/>
              </a:rPr>
              <a:t>5.   I wonder if you could possibly send me some of your brochures outlining any package holidays that you offer </a:t>
            </a:r>
            <a:br>
              <a:rPr lang="en-US" sz="2200" dirty="0">
                <a:solidFill>
                  <a:srgbClr val="002060"/>
                </a:solidFill>
                <a:latin typeface="Times New Roman" panose="02020603050405020304" pitchFamily="18" charset="0"/>
                <a:cs typeface="Times New Roman" panose="02020603050405020304" pitchFamily="18" charset="0"/>
              </a:rPr>
            </a:br>
            <a:r>
              <a:rPr lang="en-US" sz="2200" dirty="0">
                <a:solidFill>
                  <a:srgbClr val="002060"/>
                </a:solidFill>
                <a:latin typeface="Times New Roman" panose="02020603050405020304" pitchFamily="18" charset="0"/>
                <a:cs typeface="Times New Roman" panose="02020603050405020304" pitchFamily="18" charset="0"/>
              </a:rPr>
              <a:t>      for large groups.</a:t>
            </a:r>
            <a:br>
              <a:rPr lang="en-US" sz="2200" dirty="0">
                <a:solidFill>
                  <a:srgbClr val="002060"/>
                </a:solidFill>
                <a:latin typeface="Times New Roman" panose="02020603050405020304" pitchFamily="18" charset="0"/>
                <a:cs typeface="Times New Roman" panose="02020603050405020304" pitchFamily="18" charset="0"/>
              </a:rPr>
            </a:br>
            <a:r>
              <a:rPr lang="en-US" sz="2200" dirty="0">
                <a:solidFill>
                  <a:srgbClr val="002060"/>
                </a:solidFill>
                <a:latin typeface="Times New Roman" panose="02020603050405020304" pitchFamily="18" charset="0"/>
                <a:cs typeface="Times New Roman" panose="02020603050405020304" pitchFamily="18" charset="0"/>
              </a:rPr>
              <a:t>Endings: 1.  Thank you in anticipation of your cooperation.</a:t>
            </a:r>
            <a:br>
              <a:rPr lang="en-US" sz="2200" dirty="0">
                <a:solidFill>
                  <a:srgbClr val="002060"/>
                </a:solidFill>
                <a:latin typeface="Times New Roman" panose="02020603050405020304" pitchFamily="18" charset="0"/>
                <a:cs typeface="Times New Roman" panose="02020603050405020304" pitchFamily="18" charset="0"/>
              </a:rPr>
            </a:br>
            <a:r>
              <a:rPr lang="en-US" sz="2200" dirty="0">
                <a:solidFill>
                  <a:srgbClr val="002060"/>
                </a:solidFill>
                <a:latin typeface="Times New Roman" panose="02020603050405020304" pitchFamily="18" charset="0"/>
                <a:cs typeface="Times New Roman" panose="02020603050405020304" pitchFamily="18" charset="0"/>
              </a:rPr>
              <a:t>               2.   I hope that my request will not inconvenience you too much.</a:t>
            </a:r>
            <a:br>
              <a:rPr lang="en-US" sz="2200" dirty="0">
                <a:solidFill>
                  <a:srgbClr val="002060"/>
                </a:solidFill>
                <a:latin typeface="Times New Roman" panose="02020603050405020304" pitchFamily="18" charset="0"/>
                <a:cs typeface="Times New Roman" panose="02020603050405020304" pitchFamily="18" charset="0"/>
              </a:rPr>
            </a:br>
            <a:r>
              <a:rPr lang="en-US" sz="2200" dirty="0">
                <a:solidFill>
                  <a:srgbClr val="002060"/>
                </a:solidFill>
                <a:latin typeface="Times New Roman" panose="02020603050405020304" pitchFamily="18" charset="0"/>
                <a:cs typeface="Times New Roman" panose="02020603050405020304" pitchFamily="18" charset="0"/>
              </a:rPr>
              <a:t>               3.   I hope that you will forgive me for taking your valuable time. </a:t>
            </a:r>
            <a:br>
              <a:rPr lang="en-US" sz="2200" dirty="0">
                <a:solidFill>
                  <a:srgbClr val="002060"/>
                </a:solidFill>
                <a:latin typeface="Times New Roman" panose="02020603050405020304" pitchFamily="18" charset="0"/>
                <a:cs typeface="Times New Roman" panose="02020603050405020304" pitchFamily="18" charset="0"/>
              </a:rPr>
            </a:br>
            <a:r>
              <a:rPr lang="en-US" sz="2200" dirty="0">
                <a:solidFill>
                  <a:srgbClr val="002060"/>
                </a:solidFill>
                <a:latin typeface="Times New Roman" panose="02020603050405020304" pitchFamily="18" charset="0"/>
                <a:cs typeface="Times New Roman" panose="02020603050405020304" pitchFamily="18" charset="0"/>
              </a:rPr>
              <a:t>               4.   I must apologise for troubling you with this matter.</a:t>
            </a:r>
            <a:br>
              <a:rPr lang="en-US" sz="2200" dirty="0">
                <a:solidFill>
                  <a:srgbClr val="002060"/>
                </a:solidFill>
                <a:latin typeface="Times New Roman" panose="02020603050405020304" pitchFamily="18" charset="0"/>
                <a:cs typeface="Times New Roman" panose="02020603050405020304" pitchFamily="18" charset="0"/>
              </a:rPr>
            </a:br>
            <a:r>
              <a:rPr lang="en-US" sz="2200" dirty="0">
                <a:solidFill>
                  <a:srgbClr val="002060"/>
                </a:solidFill>
                <a:latin typeface="Times New Roman" panose="02020603050405020304" pitchFamily="18" charset="0"/>
                <a:cs typeface="Times New Roman" panose="02020603050405020304" pitchFamily="18" charset="0"/>
              </a:rPr>
              <a:t>               5.   I look forward to receiving your reply as soon as possible.</a:t>
            </a:r>
            <a:br>
              <a:rPr lang="en-US" sz="2200" dirty="0">
                <a:solidFill>
                  <a:srgbClr val="002060"/>
                </a:solidFill>
                <a:latin typeface="Times New Roman" panose="02020603050405020304" pitchFamily="18" charset="0"/>
                <a:cs typeface="Times New Roman" panose="02020603050405020304" pitchFamily="18" charset="0"/>
              </a:rPr>
            </a:br>
            <a:r>
              <a:rPr lang="en-US" sz="2200" dirty="0">
                <a:solidFill>
                  <a:srgbClr val="002060"/>
                </a:solidFill>
                <a:latin typeface="Times New Roman" panose="02020603050405020304" pitchFamily="18" charset="0"/>
                <a:cs typeface="Times New Roman" panose="02020603050405020304" pitchFamily="18" charset="0"/>
              </a:rPr>
              <a:t> </a:t>
            </a:r>
            <a:br>
              <a:rPr lang="en-US" sz="2200" dirty="0">
                <a:solidFill>
                  <a:srgbClr val="002060"/>
                </a:solidFill>
                <a:latin typeface="Times New Roman" panose="02020603050405020304" pitchFamily="18" charset="0"/>
                <a:cs typeface="Times New Roman" panose="02020603050405020304" pitchFamily="18" charset="0"/>
              </a:rPr>
            </a:br>
            <a:br>
              <a:rPr lang="en-US" dirty="0">
                <a:solidFill>
                  <a:srgbClr val="CC3300"/>
                </a:solidFill>
              </a:rPr>
            </a:br>
            <a:endParaRPr lang="en-US" dirty="0">
              <a:solidFill>
                <a:srgbClr val="CC3300"/>
              </a:solidFill>
            </a:endParaRPr>
          </a:p>
        </p:txBody>
      </p:sp>
    </p:spTree>
    <p:extLst>
      <p:ext uri="{BB962C8B-B14F-4D97-AF65-F5344CB8AC3E}">
        <p14:creationId xmlns:p14="http://schemas.microsoft.com/office/powerpoint/2010/main" val="2724357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D767-1D75-44FD-BC25-43AF7B0E09D9}"/>
              </a:ext>
            </a:extLst>
          </p:cNvPr>
          <p:cNvSpPr>
            <a:spLocks noGrp="1"/>
          </p:cNvSpPr>
          <p:nvPr>
            <p:ph type="title"/>
          </p:nvPr>
        </p:nvSpPr>
        <p:spPr>
          <a:xfrm>
            <a:off x="66675" y="1"/>
            <a:ext cx="11287125" cy="681036"/>
          </a:xfrm>
        </p:spPr>
        <p:txBody>
          <a:bodyPr>
            <a:normAutofit fontScale="90000"/>
          </a:bodyPr>
          <a:lstStyle/>
          <a:p>
            <a:r>
              <a:rPr lang="en-US" sz="2000" dirty="0">
                <a:solidFill>
                  <a:srgbClr val="002060"/>
                </a:solidFill>
                <a:latin typeface="Times New Roman" panose="02020603050405020304" pitchFamily="18" charset="0"/>
                <a:cs typeface="Times New Roman" panose="02020603050405020304" pitchFamily="18" charset="0"/>
              </a:rPr>
              <a:t>5  </a:t>
            </a:r>
            <a:r>
              <a:rPr lang="en-US" sz="2000" b="1" dirty="0">
                <a:solidFill>
                  <a:srgbClr val="002060"/>
                </a:solidFill>
                <a:latin typeface="Times New Roman" panose="02020603050405020304" pitchFamily="18" charset="0"/>
                <a:cs typeface="Times New Roman" panose="02020603050405020304" pitchFamily="18" charset="0"/>
              </a:rPr>
              <a:t>Look at the following writing task instructions and answer the questions below. The questions apply to </a:t>
            </a:r>
            <a:br>
              <a:rPr lang="en-US" sz="2000" b="1" dirty="0">
                <a:solidFill>
                  <a:srgbClr val="002060"/>
                </a:solidFill>
                <a:latin typeface="Times New Roman" panose="02020603050405020304" pitchFamily="18" charset="0"/>
                <a:cs typeface="Times New Roman" panose="02020603050405020304" pitchFamily="18" charset="0"/>
              </a:rPr>
            </a:br>
            <a:r>
              <a:rPr lang="en-US" sz="2000" b="1" dirty="0">
                <a:solidFill>
                  <a:srgbClr val="002060"/>
                </a:solidFill>
                <a:latin typeface="Times New Roman" panose="02020603050405020304" pitchFamily="18" charset="0"/>
                <a:cs typeface="Times New Roman" panose="02020603050405020304" pitchFamily="18" charset="0"/>
              </a:rPr>
              <a:t>    both tasks.                                                                                                                                           </a:t>
            </a:r>
            <a:r>
              <a:rPr lang="en-US" sz="2000" dirty="0">
                <a:solidFill>
                  <a:srgbClr val="002060"/>
                </a:solidFill>
                <a:latin typeface="Times New Roman" panose="02020603050405020304" pitchFamily="18" charset="0"/>
                <a:cs typeface="Times New Roman" panose="02020603050405020304" pitchFamily="18" charset="0"/>
              </a:rPr>
              <a:t>PG 29</a:t>
            </a:r>
          </a:p>
        </p:txBody>
      </p:sp>
      <p:sp>
        <p:nvSpPr>
          <p:cNvPr id="3" name="Content Placeholder 2">
            <a:extLst>
              <a:ext uri="{FF2B5EF4-FFF2-40B4-BE49-F238E27FC236}">
                <a16:creationId xmlns:a16="http://schemas.microsoft.com/office/drawing/2014/main" id="{F25A9D26-290E-4B90-886F-D25F99A13565}"/>
              </a:ext>
            </a:extLst>
          </p:cNvPr>
          <p:cNvSpPr>
            <a:spLocks noGrp="1"/>
          </p:cNvSpPr>
          <p:nvPr>
            <p:ph idx="1"/>
          </p:nvPr>
        </p:nvSpPr>
        <p:spPr>
          <a:xfrm>
            <a:off x="66675" y="681037"/>
            <a:ext cx="11287125" cy="5495926"/>
          </a:xfrm>
        </p:spPr>
        <p:txBody>
          <a:bodyPr>
            <a:normAutofit/>
          </a:bodyPr>
          <a:lstStyle/>
          <a:p>
            <a:r>
              <a:rPr lang="en-US" sz="2000" b="1" dirty="0">
                <a:solidFill>
                  <a:srgbClr val="002060"/>
                </a:solidFill>
                <a:latin typeface="Times New Roman" panose="02020603050405020304" pitchFamily="18" charset="0"/>
                <a:cs typeface="Times New Roman" panose="02020603050405020304" pitchFamily="18" charset="0"/>
              </a:rPr>
              <a:t>a) You coach an amateur football team. Write a letter to a local school requesting permission to use their facilities and explaining why your team cannot find facilities else where. Suggest how this may be arranged to that your team’s training will not interfere with the school’s activities.</a:t>
            </a:r>
          </a:p>
          <a:p>
            <a:r>
              <a:rPr lang="en-US" sz="2000" b="1" dirty="0">
                <a:solidFill>
                  <a:srgbClr val="002060"/>
                </a:solidFill>
                <a:latin typeface="Times New Roman" panose="02020603050405020304" pitchFamily="18" charset="0"/>
                <a:cs typeface="Times New Roman" panose="02020603050405020304" pitchFamily="18" charset="0"/>
              </a:rPr>
              <a:t>b) You work for a children’s home which needs volunteers to help at weekends. Write to the local news- paper requesting that they publicise the vacancies. You should include details of what is required of the applicants and explain the ways in which both volunteers and children might benefit.</a:t>
            </a:r>
          </a:p>
          <a:p>
            <a:pPr marL="0" indent="0">
              <a:buNone/>
            </a:pPr>
            <a:r>
              <a:rPr lang="en-US" sz="2000" dirty="0">
                <a:solidFill>
                  <a:srgbClr val="002060"/>
                </a:solidFill>
                <a:latin typeface="Times New Roman" panose="02020603050405020304" pitchFamily="18" charset="0"/>
                <a:cs typeface="Times New Roman" panose="02020603050405020304" pitchFamily="18" charset="0"/>
              </a:rPr>
              <a:t>            What greeting would you see?</a:t>
            </a:r>
          </a:p>
          <a:p>
            <a:pPr marL="0" indent="0">
              <a:buNone/>
            </a:pPr>
            <a:r>
              <a:rPr lang="en-US" sz="2000" dirty="0">
                <a:solidFill>
                  <a:srgbClr val="002060"/>
                </a:solidFill>
                <a:latin typeface="Times New Roman" panose="02020603050405020304" pitchFamily="18" charset="0"/>
                <a:cs typeface="Times New Roman" panose="02020603050405020304" pitchFamily="18" charset="0"/>
              </a:rPr>
              <a:t>            What is the main purpose for writing the letter?</a:t>
            </a:r>
          </a:p>
          <a:p>
            <a:pPr marL="0" indent="0">
              <a:buNone/>
            </a:pPr>
            <a:r>
              <a:rPr lang="en-US" sz="2000" dirty="0">
                <a:solidFill>
                  <a:srgbClr val="002060"/>
                </a:solidFill>
                <a:latin typeface="Times New Roman" panose="02020603050405020304" pitchFamily="18" charset="0"/>
                <a:cs typeface="Times New Roman" panose="02020603050405020304" pitchFamily="18" charset="0"/>
              </a:rPr>
              <a:t>            What is the additional purpose?</a:t>
            </a:r>
          </a:p>
          <a:p>
            <a:pPr marL="0" indent="0">
              <a:buNone/>
            </a:pPr>
            <a:r>
              <a:rPr lang="en-US" sz="2000" dirty="0">
                <a:solidFill>
                  <a:srgbClr val="002060"/>
                </a:solidFill>
                <a:latin typeface="Times New Roman" panose="02020603050405020304" pitchFamily="18" charset="0"/>
                <a:cs typeface="Times New Roman" panose="02020603050405020304" pitchFamily="18" charset="0"/>
              </a:rPr>
              <a:t>            What paragraph plan would you use?</a:t>
            </a:r>
          </a:p>
          <a:p>
            <a:pPr marL="0" indent="0">
              <a:buNone/>
            </a:pPr>
            <a:r>
              <a:rPr lang="en-US" sz="2000" dirty="0">
                <a:solidFill>
                  <a:srgbClr val="002060"/>
                </a:solidFill>
                <a:latin typeface="Times New Roman" panose="02020603050405020304" pitchFamily="18" charset="0"/>
                <a:cs typeface="Times New Roman" panose="02020603050405020304" pitchFamily="18" charset="0"/>
              </a:rPr>
              <a:t>            What useful expressions could you use as opening and closing remarks?</a:t>
            </a:r>
          </a:p>
          <a:p>
            <a:pPr marL="0" indent="0">
              <a:buNone/>
            </a:pPr>
            <a:r>
              <a:rPr lang="en-US" sz="2000" dirty="0">
                <a:solidFill>
                  <a:srgbClr val="002060"/>
                </a:solidFill>
                <a:latin typeface="Times New Roman" panose="02020603050405020304" pitchFamily="18" charset="0"/>
                <a:cs typeface="Times New Roman" panose="02020603050405020304" pitchFamily="18" charset="0"/>
              </a:rPr>
              <a:t>            How would you sign the letter?</a:t>
            </a:r>
          </a:p>
          <a:p>
            <a:pPr marL="457200" indent="-457200">
              <a:buAutoNum type="arabicPlain" startAt="6"/>
            </a:pPr>
            <a:r>
              <a:rPr lang="en-US" sz="2000" b="1" dirty="0">
                <a:solidFill>
                  <a:srgbClr val="002060"/>
                </a:solidFill>
                <a:latin typeface="Times New Roman" panose="02020603050405020304" pitchFamily="18" charset="0"/>
                <a:cs typeface="Times New Roman" panose="02020603050405020304" pitchFamily="18" charset="0"/>
              </a:rPr>
              <a:t>Choose ONE of the writing tasks above, and write a complete paragraph plan with notes. Then  </a:t>
            </a:r>
          </a:p>
          <a:p>
            <a:pPr marL="0" indent="0">
              <a:buNone/>
            </a:pPr>
            <a:r>
              <a:rPr lang="en-US" sz="2000" b="1" dirty="0">
                <a:solidFill>
                  <a:srgbClr val="002060"/>
                </a:solidFill>
                <a:latin typeface="Times New Roman" panose="02020603050405020304" pitchFamily="18" charset="0"/>
                <a:cs typeface="Times New Roman" panose="02020603050405020304" pitchFamily="18" charset="0"/>
              </a:rPr>
              <a:t>       write the letter in about 300 words.</a:t>
            </a:r>
          </a:p>
          <a:p>
            <a:pPr marL="0" indent="0">
              <a:buNone/>
            </a:pPr>
            <a:endParaRPr lang="en-US" sz="20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28814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DCC2B-BC5A-4479-95E0-3B550F3E27A4}"/>
              </a:ext>
            </a:extLst>
          </p:cNvPr>
          <p:cNvSpPr>
            <a:spLocks noGrp="1"/>
          </p:cNvSpPr>
          <p:nvPr>
            <p:ph type="title"/>
          </p:nvPr>
        </p:nvSpPr>
        <p:spPr>
          <a:xfrm>
            <a:off x="200025" y="1"/>
            <a:ext cx="11830050" cy="1162049"/>
          </a:xfrm>
        </p:spPr>
        <p:txBody>
          <a:bodyPr>
            <a:normAutofit fontScale="90000"/>
          </a:bodyPr>
          <a:lstStyle/>
          <a:p>
            <a:r>
              <a:rPr lang="en-US" sz="2000" b="1" dirty="0">
                <a:latin typeface="Times New Roman" panose="02020603050405020304" pitchFamily="18" charset="0"/>
                <a:cs typeface="Times New Roman" panose="02020603050405020304" pitchFamily="18" charset="0"/>
              </a:rPr>
              <a:t>C. Letters Giving an Opinion 1.  Letters of Advice   1     You will hear two people discussing a letter which they have just received from the town council. Look at the question below, then listen to the cassette and fill in the answers.</a:t>
            </a:r>
            <a:br>
              <a:rPr lang="en-US" sz="2000" b="1" dirty="0">
                <a:latin typeface="Times New Roman" panose="02020603050405020304" pitchFamily="18" charset="0"/>
                <a:cs typeface="Times New Roman" panose="02020603050405020304" pitchFamily="18" charset="0"/>
              </a:rPr>
            </a:br>
            <a:endParaRPr lang="en-US" sz="2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8943F83-0EFC-46CF-8D2C-6764F5AE12A0}"/>
              </a:ext>
            </a:extLst>
          </p:cNvPr>
          <p:cNvSpPr>
            <a:spLocks noGrp="1"/>
          </p:cNvSpPr>
          <p:nvPr>
            <p:ph idx="1"/>
          </p:nvPr>
        </p:nvSpPr>
        <p:spPr>
          <a:xfrm>
            <a:off x="161925" y="800100"/>
            <a:ext cx="11191875" cy="5876925"/>
          </a:xfrm>
        </p:spPr>
        <p:txBody>
          <a:bodyPr>
            <a:normAutofit/>
          </a:bodyPr>
          <a:lstStyle/>
          <a:p>
            <a:pPr marL="514350" indent="-514350">
              <a:buAutoNum type="alphaLcParenR"/>
            </a:pPr>
            <a:r>
              <a:rPr lang="en-US" sz="2000" dirty="0">
                <a:latin typeface="Times New Roman" panose="02020603050405020304" pitchFamily="18" charset="0"/>
                <a:cs typeface="Times New Roman" panose="02020603050405020304" pitchFamily="18" charset="0"/>
              </a:rPr>
              <a:t>How does the letter begin and end?</a:t>
            </a:r>
          </a:p>
          <a:p>
            <a:pPr marL="514350" indent="-514350">
              <a:buAutoNum type="alphaLcParenR"/>
            </a:pPr>
            <a:r>
              <a:rPr lang="en-US" sz="2000" dirty="0">
                <a:latin typeface="Times New Roman" panose="02020603050405020304" pitchFamily="18" charset="0"/>
                <a:cs typeface="Times New Roman" panose="02020603050405020304" pitchFamily="18" charset="0"/>
              </a:rPr>
              <a:t>What is the main purpose of the letter?</a:t>
            </a:r>
          </a:p>
          <a:p>
            <a:pPr marL="514350" indent="-514350">
              <a:buAutoNum type="alphaLcParenR"/>
            </a:pPr>
            <a:r>
              <a:rPr lang="en-US" sz="2000" dirty="0">
                <a:latin typeface="Times New Roman" panose="02020603050405020304" pitchFamily="18" charset="0"/>
                <a:cs typeface="Times New Roman" panose="02020603050405020304" pitchFamily="18" charset="0"/>
              </a:rPr>
              <a:t>What general advice is given in the letter?</a:t>
            </a:r>
          </a:p>
          <a:p>
            <a:pPr marL="514350" indent="-514350">
              <a:buAutoNum type="alphaLcParenR"/>
            </a:pPr>
            <a:r>
              <a:rPr lang="en-US" sz="2000" dirty="0">
                <a:latin typeface="Times New Roman" panose="02020603050405020304" pitchFamily="18" charset="0"/>
                <a:cs typeface="Times New Roman" panose="02020603050405020304" pitchFamily="18" charset="0"/>
              </a:rPr>
              <a:t>What specific suggestion does the letter make?</a:t>
            </a:r>
          </a:p>
          <a:p>
            <a:pPr marL="0" indent="0">
              <a:buNone/>
            </a:pPr>
            <a:r>
              <a:rPr lang="en-US" sz="2000" dirty="0">
                <a:latin typeface="Times New Roman" panose="02020603050405020304" pitchFamily="18" charset="0"/>
                <a:cs typeface="Times New Roman" panose="02020603050405020304" pitchFamily="18" charset="0"/>
              </a:rPr>
              <a:t>    A formal letter of advice is usually written in response to a request or enquiry , whereas a letter making </a:t>
            </a:r>
          </a:p>
          <a:p>
            <a:pPr marL="0" indent="0">
              <a:buNone/>
            </a:pPr>
            <a:r>
              <a:rPr lang="en-US" sz="2000" dirty="0">
                <a:latin typeface="Times New Roman" panose="02020603050405020304" pitchFamily="18" charset="0"/>
                <a:cs typeface="Times New Roman" panose="02020603050405020304" pitchFamily="18" charset="0"/>
              </a:rPr>
              <a:t>    suggestions offers an opinion and suggestions on a particular situation.</a:t>
            </a:r>
          </a:p>
          <a:p>
            <a:r>
              <a:rPr lang="en-US" sz="2000" dirty="0">
                <a:latin typeface="Times New Roman" panose="02020603050405020304" pitchFamily="18" charset="0"/>
                <a:cs typeface="Times New Roman" panose="02020603050405020304" pitchFamily="18" charset="0"/>
              </a:rPr>
              <a:t>Each point should be presented in a separate paragraph containing a clear topic sentence supported by examples and / or justification.</a:t>
            </a:r>
          </a:p>
          <a:p>
            <a:pPr marL="0" indent="0">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Useful language   </a:t>
            </a:r>
          </a:p>
          <a:p>
            <a:r>
              <a:rPr lang="en-US" sz="2000" b="1" dirty="0">
                <a:latin typeface="Times New Roman" panose="02020603050405020304" pitchFamily="18" charset="0"/>
                <a:cs typeface="Times New Roman" panose="02020603050405020304" pitchFamily="18" charset="0"/>
              </a:rPr>
              <a:t>    To begin letters: </a:t>
            </a:r>
          </a:p>
          <a:p>
            <a:pPr marL="0" indent="0">
              <a:buNone/>
            </a:pPr>
            <a:r>
              <a:rPr lang="en-US" sz="2000" dirty="0">
                <a:latin typeface="Times New Roman" panose="02020603050405020304" pitchFamily="18" charset="0"/>
                <a:cs typeface="Times New Roman" panose="02020603050405020304" pitchFamily="18" charset="0"/>
              </a:rPr>
              <a:t>    I am writing in reply / response to your letter requesting advice about…</a:t>
            </a:r>
          </a:p>
          <a:p>
            <a:pPr marL="0" indent="0">
              <a:buNone/>
            </a:pPr>
            <a:r>
              <a:rPr lang="en-US" sz="2000" dirty="0">
                <a:latin typeface="Times New Roman" panose="02020603050405020304" pitchFamily="18" charset="0"/>
                <a:cs typeface="Times New Roman" panose="02020603050405020304" pitchFamily="18" charset="0"/>
              </a:rPr>
              <a:t>    Thank you for your letter requesting advice about….</a:t>
            </a:r>
          </a:p>
          <a:p>
            <a:pPr marL="0" indent="0">
              <a:buNone/>
            </a:pPr>
            <a:r>
              <a:rPr lang="en-US" sz="2000" dirty="0">
                <a:latin typeface="Times New Roman" panose="02020603050405020304" pitchFamily="18" charset="0"/>
                <a:cs typeface="Times New Roman" panose="02020603050405020304" pitchFamily="18" charset="0"/>
              </a:rPr>
              <a:t>    I hope the following advice/ suggestions will be of (some) help to you…..</a:t>
            </a:r>
          </a:p>
        </p:txBody>
      </p:sp>
    </p:spTree>
    <p:extLst>
      <p:ext uri="{BB962C8B-B14F-4D97-AF65-F5344CB8AC3E}">
        <p14:creationId xmlns:p14="http://schemas.microsoft.com/office/powerpoint/2010/main" val="3527214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8047AB-E86A-440E-A9E1-FB33C70B1374}"/>
              </a:ext>
            </a:extLst>
          </p:cNvPr>
          <p:cNvSpPr>
            <a:spLocks noGrp="1"/>
          </p:cNvSpPr>
          <p:nvPr>
            <p:ph idx="1"/>
          </p:nvPr>
        </p:nvSpPr>
        <p:spPr>
          <a:xfrm>
            <a:off x="190500" y="95250"/>
            <a:ext cx="11163300" cy="6081713"/>
          </a:xfrm>
        </p:spPr>
        <p:txBody>
          <a:bodyPr/>
          <a:lstStyle/>
          <a:p>
            <a:r>
              <a:rPr lang="en-US" sz="2000" b="1" dirty="0">
                <a:latin typeface="Times New Roman" panose="02020603050405020304" pitchFamily="18" charset="0"/>
                <a:cs typeface="Times New Roman" panose="02020603050405020304" pitchFamily="18" charset="0"/>
              </a:rPr>
              <a:t> Advice /Suggestions:</a:t>
            </a:r>
          </a:p>
          <a:p>
            <a:pPr marL="0" indent="0">
              <a:buNone/>
            </a:pPr>
            <a:r>
              <a:rPr lang="en-US" sz="2000" dirty="0">
                <a:latin typeface="Times New Roman" panose="02020603050405020304" pitchFamily="18" charset="0"/>
                <a:cs typeface="Times New Roman" panose="02020603050405020304" pitchFamily="18" charset="0"/>
              </a:rPr>
              <a:t>It might / would be useful to your advantage (if you were ) to .......................</a:t>
            </a:r>
          </a:p>
          <a:p>
            <a:pPr marL="0" indent="0">
              <a:buNone/>
            </a:pPr>
            <a:r>
              <a:rPr lang="en-US" sz="2000" dirty="0">
                <a:latin typeface="Times New Roman" panose="02020603050405020304" pitchFamily="18" charset="0"/>
                <a:cs typeface="Times New Roman" panose="02020603050405020304" pitchFamily="18" charset="0"/>
              </a:rPr>
              <a:t>I feel / believe (that) the / your best course of action would be ………………..</a:t>
            </a:r>
          </a:p>
          <a:p>
            <a:pPr marL="0" indent="0">
              <a:buNone/>
            </a:pPr>
            <a:r>
              <a:rPr lang="en-US" sz="2000" dirty="0">
                <a:latin typeface="Times New Roman" panose="02020603050405020304" pitchFamily="18" charset="0"/>
                <a:cs typeface="Times New Roman" panose="02020603050405020304" pitchFamily="18" charset="0"/>
              </a:rPr>
              <a:t>I would like to offer one or two suggestions concerning ……………….</a:t>
            </a:r>
          </a:p>
          <a:p>
            <a:pPr marL="0" indent="0">
              <a:buNone/>
            </a:pPr>
            <a:r>
              <a:rPr lang="en-US" sz="2000" dirty="0">
                <a:latin typeface="Times New Roman" panose="02020603050405020304" pitchFamily="18" charset="0"/>
                <a:cs typeface="Times New Roman" panose="02020603050405020304" pitchFamily="18" charset="0"/>
              </a:rPr>
              <a:t>I would (strongly) suggest / recommend +-ing / (that) …………………</a:t>
            </a:r>
          </a:p>
          <a:p>
            <a:pPr marL="0" indent="0">
              <a:buNone/>
            </a:pPr>
            <a:r>
              <a:rPr lang="en-US" sz="2000" dirty="0">
                <a:latin typeface="Times New Roman" panose="02020603050405020304" pitchFamily="18" charset="0"/>
                <a:cs typeface="Times New Roman" panose="02020603050405020304" pitchFamily="18" charset="0"/>
              </a:rPr>
              <a:t>You should  / ought to ……………….</a:t>
            </a:r>
          </a:p>
          <a:p>
            <a:r>
              <a:rPr lang="en-US" sz="2000" b="1" dirty="0">
                <a:latin typeface="Times New Roman" panose="02020603050405020304" pitchFamily="18" charset="0"/>
                <a:cs typeface="Times New Roman" panose="02020603050405020304" pitchFamily="18" charset="0"/>
              </a:rPr>
              <a:t>   To end letters:                        </a:t>
            </a:r>
          </a:p>
          <a:p>
            <a:pPr marL="0" indent="0">
              <a:buNone/>
            </a:pPr>
            <a:r>
              <a:rPr lang="en-US" sz="2000" dirty="0">
                <a:latin typeface="Times New Roman" panose="02020603050405020304" pitchFamily="18" charset="0"/>
                <a:cs typeface="Times New Roman" panose="02020603050405020304" pitchFamily="18" charset="0"/>
              </a:rPr>
              <a:t>I hope that these suggestions will (prove to) be of some assistance.</a:t>
            </a:r>
          </a:p>
          <a:p>
            <a:pPr marL="0" indent="0">
              <a:buNone/>
            </a:pPr>
            <a:r>
              <a:rPr lang="en-US" sz="2000" dirty="0">
                <a:latin typeface="Times New Roman" panose="02020603050405020304" pitchFamily="18" charset="0"/>
                <a:cs typeface="Times New Roman" panose="02020603050405020304" pitchFamily="18" charset="0"/>
              </a:rPr>
              <a:t>I hope that these suggestions have been useful .</a:t>
            </a:r>
          </a:p>
          <a:p>
            <a:pPr marL="0" indent="0">
              <a:buNone/>
            </a:pPr>
            <a:r>
              <a:rPr lang="en-US" sz="2000" dirty="0">
                <a:latin typeface="Times New Roman" panose="02020603050405020304" pitchFamily="18" charset="0"/>
                <a:cs typeface="Times New Roman" panose="02020603050405020304" pitchFamily="18" charset="0"/>
              </a:rPr>
              <a:t>I hope / trust that you will accept / follow this advice ….</a:t>
            </a:r>
          </a:p>
          <a:p>
            <a:pPr marL="0" indent="0">
              <a:buNone/>
            </a:pPr>
            <a:r>
              <a:rPr lang="en-US" sz="2000" dirty="0">
                <a:latin typeface="Times New Roman" panose="02020603050405020304" pitchFamily="18" charset="0"/>
                <a:cs typeface="Times New Roman" panose="02020603050405020304" pitchFamily="18" charset="0"/>
              </a:rPr>
              <a:t>I would be pleased / happy to offer ant additional advice you may require.</a:t>
            </a:r>
          </a:p>
          <a:p>
            <a:pPr marL="0" indent="0">
              <a:buNone/>
            </a:pPr>
            <a:r>
              <a:rPr lang="en-US" sz="2000" dirty="0">
                <a:latin typeface="Times New Roman" panose="02020603050405020304" pitchFamily="18" charset="0"/>
                <a:cs typeface="Times New Roman" panose="02020603050405020304" pitchFamily="18" charset="0"/>
              </a:rPr>
              <a:t>Please do not hesitate to contact the should you have any further questions </a:t>
            </a:r>
            <a:r>
              <a:rPr lang="en-US" sz="2000">
                <a:latin typeface="Times New Roman" panose="02020603050405020304" pitchFamily="18" charset="0"/>
                <a:cs typeface="Times New Roman" panose="02020603050405020304" pitchFamily="18" charset="0"/>
              </a:rPr>
              <a:t>/ problems.</a:t>
            </a:r>
          </a:p>
          <a:p>
            <a:pPr marL="0" indent="0">
              <a:buNone/>
            </a:pPr>
            <a:endParaRPr lang="en-US" dirty="0"/>
          </a:p>
        </p:txBody>
      </p:sp>
    </p:spTree>
    <p:extLst>
      <p:ext uri="{BB962C8B-B14F-4D97-AF65-F5344CB8AC3E}">
        <p14:creationId xmlns:p14="http://schemas.microsoft.com/office/powerpoint/2010/main" val="3452784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6A5068-0155-4042-BB48-7B7601B70A4A}"/>
              </a:ext>
            </a:extLst>
          </p:cNvPr>
          <p:cNvSpPr>
            <a:spLocks noGrp="1"/>
          </p:cNvSpPr>
          <p:nvPr>
            <p:ph idx="1"/>
          </p:nvPr>
        </p:nvSpPr>
        <p:spPr>
          <a:xfrm>
            <a:off x="838200" y="133350"/>
            <a:ext cx="10515600" cy="6043613"/>
          </a:xfrm>
        </p:spPr>
        <p:txBody>
          <a:bodyPr>
            <a:normAutofit/>
          </a:bodyPr>
          <a:lstStyle/>
          <a:p>
            <a:pPr marL="0" indent="0">
              <a:buNone/>
            </a:pPr>
            <a:r>
              <a:rPr lang="en-US" dirty="0">
                <a:highlight>
                  <a:srgbClr val="808000"/>
                </a:highlight>
              </a:rPr>
              <a:t>INTRODUCTION</a:t>
            </a:r>
          </a:p>
          <a:p>
            <a:pPr marL="0" indent="0">
              <a:buNone/>
            </a:pPr>
            <a:r>
              <a:rPr lang="en-US" sz="2000" dirty="0">
                <a:latin typeface="Times New Roman" panose="02020603050405020304" pitchFamily="18" charset="0"/>
                <a:cs typeface="Times New Roman" panose="02020603050405020304" pitchFamily="18" charset="0"/>
              </a:rPr>
              <a:t>Paragraph 1</a:t>
            </a:r>
          </a:p>
          <a:p>
            <a:pPr marL="0" indent="0">
              <a:buNone/>
            </a:pPr>
            <a:r>
              <a:rPr lang="en-US" sz="2000" dirty="0">
                <a:latin typeface="Times New Roman" panose="02020603050405020304" pitchFamily="18" charset="0"/>
                <a:cs typeface="Times New Roman" panose="02020603050405020304" pitchFamily="18" charset="0"/>
              </a:rPr>
              <a:t>state reason(s) for writing / express understanding pf problem</a:t>
            </a:r>
          </a:p>
          <a:p>
            <a:pPr marL="0" indent="0">
              <a:buNone/>
            </a:pPr>
            <a:r>
              <a:rPr lang="en-US" sz="2000" dirty="0">
                <a:highlight>
                  <a:srgbClr val="808000"/>
                </a:highlight>
                <a:latin typeface="Times New Roman" panose="02020603050405020304" pitchFamily="18" charset="0"/>
                <a:cs typeface="Times New Roman" panose="02020603050405020304" pitchFamily="18" charset="0"/>
              </a:rPr>
              <a:t>MAIN BODY</a:t>
            </a:r>
          </a:p>
          <a:p>
            <a:pPr marL="0" indent="0">
              <a:buNone/>
            </a:pPr>
            <a:r>
              <a:rPr lang="en-US" sz="2000" dirty="0">
                <a:latin typeface="Times New Roman" panose="02020603050405020304" pitchFamily="18" charset="0"/>
                <a:cs typeface="Times New Roman" panose="02020603050405020304" pitchFamily="18" charset="0"/>
              </a:rPr>
              <a:t>Paragraph 2-3 *</a:t>
            </a:r>
          </a:p>
          <a:p>
            <a:pPr marL="0" indent="0">
              <a:buNone/>
            </a:pPr>
            <a:r>
              <a:rPr lang="en-US" sz="2000" dirty="0">
                <a:latin typeface="Times New Roman" panose="02020603050405020304" pitchFamily="18" charset="0"/>
                <a:cs typeface="Times New Roman" panose="02020603050405020304" pitchFamily="18" charset="0"/>
              </a:rPr>
              <a:t>offer advice/ suggestions</a:t>
            </a:r>
          </a:p>
          <a:p>
            <a:pPr marL="0" indent="0">
              <a:buNone/>
            </a:pPr>
            <a:r>
              <a:rPr lang="en-US" sz="2000" dirty="0">
                <a:highlight>
                  <a:srgbClr val="808000"/>
                </a:highlight>
                <a:latin typeface="Times New Roman" panose="02020603050405020304" pitchFamily="18" charset="0"/>
                <a:cs typeface="Times New Roman" panose="02020603050405020304" pitchFamily="18" charset="0"/>
              </a:rPr>
              <a:t>CONCLUSION</a:t>
            </a:r>
          </a:p>
          <a:p>
            <a:pPr marL="0" indent="0">
              <a:buNone/>
            </a:pPr>
            <a:r>
              <a:rPr lang="en-US" sz="2000" dirty="0">
                <a:latin typeface="Times New Roman" panose="02020603050405020304" pitchFamily="18" charset="0"/>
                <a:cs typeface="Times New Roman" panose="02020603050405020304" pitchFamily="18" charset="0"/>
              </a:rPr>
              <a:t>Final Paragraph </a:t>
            </a:r>
          </a:p>
          <a:p>
            <a:pPr marL="0" indent="0">
              <a:buNone/>
            </a:pPr>
            <a:r>
              <a:rPr lang="en-US" sz="2000" dirty="0">
                <a:latin typeface="Times New Roman" panose="02020603050405020304" pitchFamily="18" charset="0"/>
                <a:cs typeface="Times New Roman" panose="02020603050405020304" pitchFamily="18" charset="0"/>
              </a:rPr>
              <a:t>closing remarks</a:t>
            </a:r>
          </a:p>
          <a:p>
            <a:pPr marL="0" indent="0">
              <a:buNone/>
            </a:pPr>
            <a:r>
              <a:rPr lang="en-US" sz="2000" dirty="0">
                <a:latin typeface="Times New Roman" panose="02020603050405020304" pitchFamily="18" charset="0"/>
                <a:cs typeface="Times New Roman" panose="02020603050405020304" pitchFamily="18" charset="0"/>
              </a:rPr>
              <a:t>Full name</a:t>
            </a:r>
          </a:p>
          <a:p>
            <a:pPr marL="0" indent="0">
              <a:buNone/>
            </a:pPr>
            <a:r>
              <a:rPr lang="en-US" sz="2000" dirty="0">
                <a:latin typeface="Times New Roman" panose="02020603050405020304" pitchFamily="18" charset="0"/>
                <a:cs typeface="Times New Roman" panose="02020603050405020304" pitchFamily="18" charset="0"/>
              </a:rPr>
              <a:t>* The exact number and division of paragraphs will depend on the </a:t>
            </a:r>
          </a:p>
          <a:p>
            <a:pPr marL="0" indent="0">
              <a:buNone/>
            </a:pPr>
            <a:r>
              <a:rPr lang="en-US" sz="2000" dirty="0">
                <a:latin typeface="Times New Roman" panose="02020603050405020304" pitchFamily="18" charset="0"/>
                <a:cs typeface="Times New Roman" panose="02020603050405020304" pitchFamily="18" charset="0"/>
              </a:rPr>
              <a:t>   specific instructions for each letter writing task.</a:t>
            </a:r>
          </a:p>
          <a:p>
            <a:pPr marL="0" indent="0">
              <a:buNone/>
            </a:pPr>
            <a:endParaRPr lang="en-US" sz="20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929769764"/>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669</TotalTime>
  <Words>850</Words>
  <Application>Microsoft Office PowerPoint</Application>
  <PresentationFormat>Widescreen</PresentationFormat>
  <Paragraphs>49</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Times New Roman</vt:lpstr>
      <vt:lpstr>Office Theme</vt:lpstr>
      <vt:lpstr>  3  PG 28 (SUGGESTED ANSWERS) Beginnings: 1.  I am writing to request your permission for a loan for home improvements which my wife and I are           hoping to carry out later this summer. 2.  I am writing to enquire if you could possibly send me details of your HND Hotel and Catering Management       Course which I recently saw advertised in your college prospectus. 3    I am writing to ask if you would be so kind as to look at some of my work and consider the possibility of my        holding an exhibition of my work at your gallery. 4.   I am writing to request that you consider the possibility of placing special bins in the local area as I feel this        would encourage recycling. 5.   I wonder if you could possibly send me some of your brochures outlining any package holidays that you offer        for large groups. Endings: 1.  Thank you in anticipation of your cooperation.                2.   I hope that my request will not inconvenience you too much.                3.   I hope that you will forgive me for taking your valuable time.                 4.   I must apologise for troubling you with this matter.                5.   I look forward to receiving your reply as soon as possible.    </vt:lpstr>
      <vt:lpstr>5  Look at the following writing task instructions and answer the questions below. The questions apply to      both tasks.                                                                                                                                           PG 29</vt:lpstr>
      <vt:lpstr>C. Letters Giving an Opinion 1.  Letters of Advice   1     You will hear two people discussing a letter which they have just received from the town council. Look at the question below, then listen to the cassette and fill in the answers.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DAST</dc:creator>
  <cp:lastModifiedBy>DAST</cp:lastModifiedBy>
  <cp:revision>24</cp:revision>
  <dcterms:created xsi:type="dcterms:W3CDTF">2026-06-18T04:52:16Z</dcterms:created>
  <dcterms:modified xsi:type="dcterms:W3CDTF">2026-06-29T04:41:12Z</dcterms:modified>
</cp:coreProperties>
</file>