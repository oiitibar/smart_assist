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08" r:id="rId2"/>
    <p:sldId id="391" r:id="rId3"/>
    <p:sldId id="390" r:id="rId4"/>
    <p:sldId id="393" r:id="rId5"/>
    <p:sldId id="394" r:id="rId6"/>
    <p:sldId id="395" r:id="rId7"/>
    <p:sldId id="396" r:id="rId8"/>
    <p:sldId id="397" r:id="rId9"/>
    <p:sldId id="398" r:id="rId10"/>
    <p:sldId id="3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37E43-B0BB-4DE2-8CED-17C1F65A2C6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F8D-D13B-4084-8AEC-00802CC66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F8F5-4621-F0AD-122D-90BEBFA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46BB-B68D-B524-E8B6-D033619B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80C5-3249-1C2C-6D8F-01B99901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516687"/>
            <a:ext cx="5112434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5245-BF9B-4EF7-AD6D-BE19FC01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002D-9FE5-A769-8558-4F6E547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782-F73E-961B-DF36-D04E3EFF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580B-0614-37F6-FDB9-2A0A965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4609-F7EE-854B-8736-61A72A4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C718-D449-65F4-D5DC-1025B83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0DE2-1F7F-854E-DE26-6E145E0E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A0F6-2617-28B4-6C6C-340B803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229A-F631-95D5-C56B-F2DE1C3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7CF2-9EDE-75F5-0FDE-11BA89CD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BB62-F41F-337E-277E-CE5F8DFB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A410-BA52-D7DD-D3F9-427B2F82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482B9-8EB8-63CD-ABBF-5FBF1B0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A9D7-B5B9-527A-3723-FB3DEBD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763-4BF6-A29D-34BB-1A9C5F62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FDCF2-1ED3-B308-2F63-22D30531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87794-9C3A-0FBE-367A-794D14F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A52-5028-B5E1-8A9B-EEDF49DC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BA8B4-4FAE-EC95-7A26-3C560D909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5EF49-2F9A-CE46-2F38-1E07AF30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405E8-F536-E8C7-F0DB-2E938A1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33E9-647D-905B-71F9-36DB254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2B40B-F1A1-00F8-F337-612DB8A2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B340B-88B6-9162-0D04-6242452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1A32-B060-F417-9693-A26B07FF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30158-4DC7-E097-CD45-9178094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AE1-B571-57F9-3F73-25BB71A6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E2BA-86BD-CB46-30DA-0A06FE5A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7F2A4-2C8A-9362-D2CD-8C79A634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81F9-9CB6-4BA0-920B-82D2F2C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610C7-3D03-7E0E-1123-6953E693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6430-2E6C-FD9E-1082-09C4F539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B355-ACBC-34E6-30E5-E7AF74AE2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2CCFF-00D6-83D4-6514-421831A7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9C529-60A8-4689-C9E6-62CDE71E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054B-8B01-FBE9-E987-FE835417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C306-E58A-5F4A-E21D-B9D92452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9132-56DE-43ED-D391-93B373C89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D35D-348C-A669-8F44-D78F5D8C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58E4-1943-4249-AA27-5FFF64D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6EEF-6B0C-F3A5-DE09-83BE035D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BE8D5-C0EE-FB85-1000-00F373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275-18CF-790D-D381-2CF5B192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BF2E-43A2-92BE-6F07-C7206740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CD726-978C-2999-932E-DDFFD61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0EB4-880F-D68B-2534-9E21B72C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C0B1-EA60-DB6A-C2E1-28387705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1834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CEB1-0130-DBF9-4A32-9F15C984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490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560457-9E56-4EE8-84E0-8F9CFD0AB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23D30-B1E0-D419-E585-4A6354467E81}"/>
              </a:ext>
            </a:extLst>
          </p:cNvPr>
          <p:cNvSpPr/>
          <p:nvPr userDrawn="1"/>
        </p:nvSpPr>
        <p:spPr>
          <a:xfrm>
            <a:off x="297766" y="291588"/>
            <a:ext cx="11596468" cy="624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E4DC7-4C4D-4CFD-BFC4-3265DE0769CB}"/>
              </a:ext>
            </a:extLst>
          </p:cNvPr>
          <p:cNvSpPr/>
          <p:nvPr userDrawn="1"/>
        </p:nvSpPr>
        <p:spPr>
          <a:xfrm>
            <a:off x="3507922" y="2080752"/>
            <a:ext cx="5102680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NSPU</a:t>
            </a:r>
          </a:p>
        </p:txBody>
      </p:sp>
    </p:spTree>
    <p:extLst>
      <p:ext uri="{BB962C8B-B14F-4D97-AF65-F5344CB8AC3E}">
        <p14:creationId xmlns:p14="http://schemas.microsoft.com/office/powerpoint/2010/main" val="393625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6726"/>
            <a:ext cx="12192000" cy="6904725"/>
          </a:xfrm>
          <a:prstGeom prst="rect">
            <a:avLst/>
          </a:prstGeom>
          <a:noFill/>
          <a:ln w="3175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/>
          <p:cNvSpPr txBox="1"/>
          <p:nvPr/>
        </p:nvSpPr>
        <p:spPr>
          <a:xfrm>
            <a:off x="723578" y="960951"/>
            <a:ext cx="10144690" cy="256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NAYPYITAW STATE POLYTECHNIC UNIVERSITY(NSPU)</a:t>
            </a:r>
          </a:p>
          <a:p>
            <a:pPr>
              <a:lnSpc>
                <a:spcPct val="150000"/>
              </a:lnSpc>
            </a:pPr>
            <a:endParaRPr lang="en-US" sz="1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Mathematics</a:t>
            </a:r>
            <a:br>
              <a:rPr lang="en-US" sz="9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2025-2026</a:t>
            </a:r>
          </a:p>
          <a:p>
            <a:pPr>
              <a:lnSpc>
                <a:spcPct val="150000"/>
              </a:lnSpc>
            </a:pPr>
            <a:endParaRPr lang="en-US" sz="9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28316" y="6621488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12533" y="3074385"/>
            <a:ext cx="90205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Mathematics IV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(Fourier Analysis and Complex Analysis)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(EM-4012)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20" y="49508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Email:soesandaraye1986@gmail.com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5" y="323849"/>
            <a:ext cx="1251375" cy="11967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2BB46EB-789E-4E48-A769-788C0977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66C2B-1608-2467-9B47-2AD39EE3D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 Integral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99C8E-74BA-B3A1-CCE3-25FB9C87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B4AE4-5B6E-F356-2693-6D2350627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78B9B0-CDDA-4688-A0B6-BD86DC008E9E}"/>
              </a:ext>
            </a:extLst>
          </p:cNvPr>
          <p:cNvSpPr>
            <a:spLocks noGrp="1"/>
          </p:cNvSpPr>
          <p:nvPr/>
        </p:nvSpPr>
        <p:spPr>
          <a:xfrm>
            <a:off x="734060" y="3067685"/>
            <a:ext cx="10515600" cy="3057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Objectives,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Fourier Integral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problems by Theory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problems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Theory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FF2CC7C-DCA1-4152-AB65-D2ED073C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608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3D11-9E6F-4609-E77A-D80F8FFA4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92" y="343217"/>
            <a:ext cx="4627652" cy="95132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 Integral</a:t>
            </a:r>
            <a:b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7F937D-3458-A8AF-9369-A9D766B05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4492" y="986202"/>
                <a:ext cx="11470241" cy="515774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example (1) we start from a special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period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and see what happens to its Fourier series if we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we do the same for an arbitrary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period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Example-1 Rectangular Wave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periodic rectangular wave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period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 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 −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1           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−1&lt;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0             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   1&lt;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−1&lt;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0               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now explore what happens to the Fourier coefficients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 .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Euler formulas.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7F937D-3458-A8AF-9369-A9D766B05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4492" y="986202"/>
                <a:ext cx="11470241" cy="5157743"/>
              </a:xfrm>
              <a:blipFill>
                <a:blip r:embed="rId2"/>
                <a:stretch>
                  <a:fillRect l="-797" t="-2364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A2354-E8A0-7168-0F16-013F792A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6C08F30-977F-44DF-A493-8083BBFD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564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BEA13A-BE22-8F3E-F01A-64D5D77523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765" y="335872"/>
                <a:ext cx="11511337" cy="61547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1  Fourier Integral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d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d>
                        <m:func>
                          <m:func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func>
                      </m:e>
                    </m:nary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𝑤𝑥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𝑤𝑥</m:t>
                                    </m:r>
                                  </m:e>
                                </m:func>
                              </m:e>
                            </m:func>
                          </m:e>
                        </m:d>
                      </m:e>
                    </m:nary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𝑑𝑤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called a representation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a Fourier integral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Example-2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Fourier integral representation of the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0     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d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</m:e>
                        </m:func>
                      </m:e>
                    </m:nary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𝑤𝑣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mr>
                    </m:m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</m:fun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BEA13A-BE22-8F3E-F01A-64D5D77523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765" y="335872"/>
                <a:ext cx="11511337" cy="6154780"/>
              </a:xfrm>
              <a:blipFill>
                <a:blip r:embed="rId2"/>
                <a:stretch>
                  <a:fillRect l="-847" t="-1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D44EB-60EE-D6F1-F019-669A4C34E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4E275F4-FF76-4562-8F88-F302E4BD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095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A8155-6B6A-1F69-4A1B-6E6A69F893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587" y="376969"/>
                <a:ext cx="11470241" cy="61069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</m:func>
                      </m:e>
                    </m:nary>
                  </m:oMath>
                </a14:m>
                <a:endParaRPr lang="en-US" sz="2400" b="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𝑤𝑥</m:t>
                                  </m:r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</m:func>
                                </m:e>
                              </m:func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𝑑𝑤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the left and right-hand limits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(1+0)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that is,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𝑤𝑥</m:t>
                                  </m:r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</m:func>
                                </m:e>
                              </m:func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 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   0≤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&lt;1.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        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      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0             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&gt;1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A8155-6B6A-1F69-4A1B-6E6A69F893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587" y="376969"/>
                <a:ext cx="11470241" cy="6106918"/>
              </a:xfr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A3DB4-A316-B0D8-91E0-F6CE3FF4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87189C1-23F9-405A-AF73-CCBD1EF8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1738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FD7B-594E-1F8F-5520-DB14403C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93" y="343218"/>
            <a:ext cx="9261296" cy="79721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 Cosine Integral and Fourier Sine Integral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1309CC-3B23-EB1E-A85B-21374FF2B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4493" y="1140431"/>
                <a:ext cx="11470240" cy="5343455"/>
              </a:xfrm>
            </p:spPr>
            <p:txBody>
              <a:bodyPr/>
              <a:lstStyle/>
              <a:p>
                <a:pPr marL="514350" indent="-514350">
                  <a:buAutoNum type="arabicParenBoth"/>
                </a:pP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Cosine Integral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a Fourier integral representation and is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𝑤𝑥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𝑑𝑤</m:t>
                            </m:r>
                          </m:e>
                        </m:func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d>
                        <m:func>
                          <m:func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func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Sine Integral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a Fourier integral representation and is 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𝑤𝑥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𝑑𝑤</m:t>
                            </m:r>
                          </m:e>
                        </m:func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where B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d>
                        <m:func>
                          <m:func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func>
                      </m:e>
                    </m:nary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1309CC-3B23-EB1E-A85B-21374FF2B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4493" y="1140431"/>
                <a:ext cx="11470240" cy="5343455"/>
              </a:xfrm>
              <a:blipFill>
                <a:blip r:embed="rId2"/>
                <a:stretch>
                  <a:fillRect l="-1063" t="-1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86429-2608-D53D-FF0E-FB4ADE24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108A9A0-19DF-4912-A5BF-69384B95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342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026BF7-378E-DCD4-3CB3-CA37090279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34766" y="343217"/>
                <a:ext cx="11429144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– 3 Laplace Integrals </a:t>
                </a:r>
                <a:b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shall derive the Fourier cosine and Fourier sine integrals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𝑘𝑥</m:t>
                        </m:r>
                      </m:sup>
                    </m:sSup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where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br>
                  <a:rPr lang="en-US" sz="2400" b="0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:r>
                  <a:rPr lang="en-US" sz="2400" b="0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&gt;0.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026BF7-378E-DCD4-3CB3-CA3709027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34766" y="343217"/>
                <a:ext cx="11429144" cy="1325563"/>
              </a:xfrm>
              <a:blipFill>
                <a:blip r:embed="rId2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8CE7B3-2D30-1AF3-A933-66DF2D4740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766" y="1727249"/>
                <a:ext cx="11521612" cy="47875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𝑘𝑣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Now, by integration by parts,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𝑘𝑣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𝑘𝑣</m:t>
                                </m:r>
                              </m:sup>
                            </m:sSup>
                          </m:e>
                        </m:func>
                      </m:e>
                    </m:nary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expression on the right equals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.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approaches infinity, that expression approaches zero because of the exponential factor. Thus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times the integral from 0 to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gives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8CE7B3-2D30-1AF3-A933-66DF2D4740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766" y="1727249"/>
                <a:ext cx="11521612" cy="4787533"/>
              </a:xfrm>
              <a:blipFill>
                <a:blip r:embed="rId3"/>
                <a:stretch>
                  <a:fillRect l="-847" t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1F93B-47AD-6335-BDE2-16B31B84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B351073-AC43-44F7-BC8F-BC334AB2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404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8B3DE-9462-C102-6363-1CBB501F38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041" y="315324"/>
                <a:ext cx="11480514" cy="61753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substituting this into the first integral we thus obtain the Fourier cosine integral representation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𝑤𝑥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this representation we see that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𝑤𝑥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            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Similarly ,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𝑘𝑣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Now, by integration by parts,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𝑘𝑣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𝑘𝑣</m:t>
                                </m:r>
                              </m:sup>
                            </m:sSup>
                          </m:e>
                        </m:func>
                      </m:e>
                    </m:nary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den>
                    </m:f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8B3DE-9462-C102-6363-1CBB501F3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041" y="315324"/>
                <a:ext cx="11480514" cy="6175328"/>
              </a:xfrm>
              <a:blipFill>
                <a:blip r:embed="rId2"/>
                <a:stretch>
                  <a:fillRect l="-850" t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BE127-39E2-7295-B73A-21A2BCA0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8F46645-E81E-4F7A-B808-4BC36841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673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A11D9-86D1-A29C-C192-14AF7D136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862" y="407791"/>
                <a:ext cx="11367500" cy="60760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equals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approaches 0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b="0" dirty="0"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 obtain the Fourier sine integral representation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𝑤𝑥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this representation we see that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𝑤𝑥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            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integrals are called the Laplace integrals.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A11D9-86D1-A29C-C192-14AF7D136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862" y="407791"/>
                <a:ext cx="11367500" cy="6076096"/>
              </a:xfrm>
              <a:blipFill>
                <a:blip r:embed="rId2"/>
                <a:stretch>
                  <a:fillRect l="-858" t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7A62C-52A0-DE87-1E77-C891ED4F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9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1D86B7E-7DD8-42A4-A8C3-4764DEC2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1856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E8B0-71DD-192B-BAB2-B089316D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D5FA7BB-28D3-000F-9486-1F7C41005CE5}"/>
              </a:ext>
            </a:extLst>
          </p:cNvPr>
          <p:cNvSpPr txBox="1">
            <a:spLocks/>
          </p:cNvSpPr>
          <p:nvPr/>
        </p:nvSpPr>
        <p:spPr>
          <a:xfrm>
            <a:off x="3552264" y="177553"/>
            <a:ext cx="5393391" cy="630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0D6E0-59BA-9F80-29B5-806062C9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6" y="1763965"/>
            <a:ext cx="2000528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139153-5E14-E658-7947-669471D23F83}"/>
                  </a:ext>
                </a:extLst>
              </p:cNvPr>
              <p:cNvSpPr txBox="1"/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Advanced Engineering Mathematics, Erwin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Kreyszig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Edition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139153-5E14-E658-7947-669471D2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blipFill rotWithShape="0">
                <a:blip r:embed="rId3"/>
                <a:stretch>
                  <a:fillRect l="-778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DA02EEF-0630-0C89-647C-51C8C0C5E10F}"/>
              </a:ext>
            </a:extLst>
          </p:cNvPr>
          <p:cNvSpPr/>
          <p:nvPr/>
        </p:nvSpPr>
        <p:spPr>
          <a:xfrm>
            <a:off x="9571264" y="4974507"/>
            <a:ext cx="2321858" cy="1559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1A2FB7B-9ECD-4369-BC41-AE8D21EB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8715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212745"/>
      </a:dk2>
      <a:lt2>
        <a:srgbClr val="7030A0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675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Content</vt:lpstr>
      <vt:lpstr>Fourier Integral </vt:lpstr>
      <vt:lpstr>PowerPoint Presentation</vt:lpstr>
      <vt:lpstr>PowerPoint Presentation</vt:lpstr>
      <vt:lpstr>Fourier Cosine Integral and Fourier Sine Integral</vt:lpstr>
      <vt:lpstr>Example – 3 Laplace Integrals  We shall derive the Fourier cosine and Fourier sine integrals of f(x)=e^(-kx), where   x&gt;0 and k&gt;0.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MATHS_DPRT</dc:creator>
  <cp:lastModifiedBy>Dell</cp:lastModifiedBy>
  <cp:revision>79</cp:revision>
  <dcterms:created xsi:type="dcterms:W3CDTF">2023-06-26T03:06:53Z</dcterms:created>
  <dcterms:modified xsi:type="dcterms:W3CDTF">2026-05-25T02:29:11Z</dcterms:modified>
</cp:coreProperties>
</file>