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5" r:id="rId11"/>
    <p:sldId id="266" r:id="rId12"/>
    <p:sldId id="264" r:id="rId13"/>
    <p:sldId id="273" r:id="rId14"/>
    <p:sldId id="274" r:id="rId15"/>
    <p:sldId id="275" r:id="rId16"/>
    <p:sldId id="268" r:id="rId17"/>
    <p:sldId id="269" r:id="rId18"/>
    <p:sldId id="276" r:id="rId19"/>
    <p:sldId id="267" r:id="rId20"/>
    <p:sldId id="270" r:id="rId21"/>
    <p:sldId id="271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68DE-C8E5-40B7-BB3E-8EC1A0568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EDDE0-4168-48A6-A183-2D67D2D1F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BB8FC-BE35-4B4E-8E9B-035BCDD8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A85DA-693F-452A-9379-0F9E59B9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69988-5E62-45DC-B426-8D3DD323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84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77BE-57AB-409D-9310-4F4E6838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B82F8-44FC-41BB-8AC0-3F54ED1A3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A3126-F353-4FA6-B354-84B2A0B9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CC769-2CED-4BEA-AD99-E8CDB568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7702A-E113-4661-8846-3AD93091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1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9F84-B3BB-4AC1-BF3C-2FBEE76A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F193-26A1-4978-9C62-CDCBFE5E6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5B54A-F170-4659-8EFE-3DE52561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A08A5-1F30-4D83-BC01-12E56510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C8024-F2E6-4F12-B573-EED75ED6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16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EDA95-7C8E-4615-896C-FC25DC44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89F1F-4AAE-435C-BD11-CD39C3656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80421-4D0A-432C-96C0-26AD62B12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F7379-DE70-48AF-9A22-15AF1EA65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736EB-3315-4CFB-B12F-424910A6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D05F1-E42F-4DA0-B70B-FD6E1F48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4CC5-655D-4CB7-B46F-DFF6F7CEC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25ED8-B582-4577-9B9A-A0C5526A5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5604B-50A9-45CC-B0BB-4A22D54E0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2F448-3A78-453D-881F-986BE7521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5EDDA-5C3E-4838-8718-09AB1040F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B1516-9918-4EFA-BDC7-1822546D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2BFDCD-0A72-4ADB-8B09-4B3D27FC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61E47-0798-4C07-8B2A-E4EC2A25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3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97D4-7FE8-43B0-A518-68F8890A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0106D-FF7D-4EDC-9201-7DD558FBC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1494B-DA08-4390-92A7-FBFE00307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7E8F2-C98A-4D88-827C-90D2583A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8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063B2-0E0A-4111-8DF9-E3225D91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626362-9A7B-4750-A03D-1C2B7C8A5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55503-086A-402B-98FA-5F6BA1B2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23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47B3-ADA8-42EF-A3AB-7036874D5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BDA72-E5B7-43E0-A911-FD90AFD61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F41AB-2F20-4F88-9D04-AF8AA1DE7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1FCD1-B1F7-4E72-9DC5-C6444850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8942B-D16A-473A-B8DB-432DBDFE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9F83F-AC1E-4A8C-AE29-4A63D3593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2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6A6E-5CA9-46CD-B08C-F438B5B0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99452-05FF-4CF5-8032-3950045844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C9238-9A51-4C7C-B17D-36D71E960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BE64A-C915-4B0D-82BC-5000030E5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3C595-90E9-43AD-8E22-232183A48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4F44E-EEE0-4763-9DFB-3F67771F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6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BD7C-69A6-4F5C-9AE7-32CA7672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11294-FD13-454A-A2EB-A4EAAB787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23EBD-0D2C-4AE5-8708-735D07538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3D5E5-F4AC-4A8B-828A-1A6F6E8C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AFAED-4B41-42E4-92A0-B59A351A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37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CF46F-F07B-4CF1-AF27-F9992F9CF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F3CAA-E6A1-4730-9FEF-5B27C24EE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BCC08-B659-483D-87B5-06DBDB7B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85A98-5F2F-4BFB-A2BD-797CB723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6B135-E5FE-48DC-8ACD-4C338D2D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25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773441-2F9B-4A25-9DD3-A855ACFD8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A081F-4B7C-49F6-9DF4-433C3A1A8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EE578-C4EA-4730-9149-43B916CC0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ED602-0417-4F4A-BCF7-4BB9457120B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25E59-C3A7-46DD-96CA-7E6CAF519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E2F7D-0C56-4B8C-AA50-D2877DA93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3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301E03-9766-4120-9F72-BB2CDA30A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6513" y="2792505"/>
            <a:ext cx="2931458" cy="636495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 6:Basic SQL 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800DAC6-0261-456A-B794-A003B0B17995}"/>
              </a:ext>
            </a:extLst>
          </p:cNvPr>
          <p:cNvSpPr txBox="1">
            <a:spLocks/>
          </p:cNvSpPr>
          <p:nvPr/>
        </p:nvSpPr>
        <p:spPr>
          <a:xfrm>
            <a:off x="202601" y="6122894"/>
            <a:ext cx="2034988" cy="403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23.7.2026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64CB3CA-B6AA-45CD-BC88-0E8E8EE971FA}"/>
              </a:ext>
            </a:extLst>
          </p:cNvPr>
          <p:cNvSpPr txBox="1">
            <a:spLocks/>
          </p:cNvSpPr>
          <p:nvPr/>
        </p:nvSpPr>
        <p:spPr>
          <a:xfrm>
            <a:off x="9856075" y="6136342"/>
            <a:ext cx="2034988" cy="403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2</a:t>
            </a:r>
          </a:p>
        </p:txBody>
      </p:sp>
    </p:spTree>
    <p:extLst>
      <p:ext uri="{BB962C8B-B14F-4D97-AF65-F5344CB8AC3E}">
        <p14:creationId xmlns:p14="http://schemas.microsoft.com/office/powerpoint/2010/main" val="6891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06848A1-96A6-46E1-9CFF-0A3B367135E3}"/>
              </a:ext>
            </a:extLst>
          </p:cNvPr>
          <p:cNvSpPr txBox="1"/>
          <p:nvPr/>
        </p:nvSpPr>
        <p:spPr>
          <a:xfrm>
            <a:off x="403411" y="761616"/>
            <a:ext cx="10381129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(Structured Query Language)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programming language specially designed to work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Management Systems (RDBMS)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MySQL, Oracle, SQL Server, PostgreSQL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is used to: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in databases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data from databases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existing data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database structures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commands are divided into different groups based on their purposes.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02026-B9E0-4EE6-A6DB-A5C07AB829A2}"/>
              </a:ext>
            </a:extLst>
          </p:cNvPr>
          <p:cNvSpPr txBox="1"/>
          <p:nvPr/>
        </p:nvSpPr>
        <p:spPr>
          <a:xfrm>
            <a:off x="403411" y="223228"/>
            <a:ext cx="18198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What is SQL?</a:t>
            </a:r>
          </a:p>
        </p:txBody>
      </p:sp>
    </p:spTree>
    <p:extLst>
      <p:ext uri="{BB962C8B-B14F-4D97-AF65-F5344CB8AC3E}">
        <p14:creationId xmlns:p14="http://schemas.microsoft.com/office/powerpoint/2010/main" val="310579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479E1D9C-5EAD-4718-AF80-842C18EC6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3" y="700330"/>
            <a:ext cx="7279340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retrieve (search)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database tables.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command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retrieve data from one or more tables.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--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specifies the table from which data is taken.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26010C-37A5-47C6-9079-0E12720A3856}"/>
              </a:ext>
            </a:extLst>
          </p:cNvPr>
          <p:cNvSpPr txBox="1"/>
          <p:nvPr/>
        </p:nvSpPr>
        <p:spPr>
          <a:xfrm>
            <a:off x="212416" y="160475"/>
            <a:ext cx="65917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Query Group (DQL - Data Query Language)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CDFDDD-2EF5-478D-B6A1-4D6E02BE285B}"/>
              </a:ext>
            </a:extLst>
          </p:cNvPr>
          <p:cNvSpPr txBox="1"/>
          <p:nvPr/>
        </p:nvSpPr>
        <p:spPr>
          <a:xfrm>
            <a:off x="421343" y="3344864"/>
            <a:ext cx="3818964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87CF3-5440-4049-8273-D03361BF9991}"/>
              </a:ext>
            </a:extLst>
          </p:cNvPr>
          <p:cNvSpPr txBox="1"/>
          <p:nvPr/>
        </p:nvSpPr>
        <p:spPr>
          <a:xfrm>
            <a:off x="398930" y="4327404"/>
            <a:ext cx="7682753" cy="965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combine data from multiple tables based on related columns.</a:t>
            </a:r>
          </a:p>
        </p:txBody>
      </p:sp>
    </p:spTree>
    <p:extLst>
      <p:ext uri="{BB962C8B-B14F-4D97-AF65-F5344CB8AC3E}">
        <p14:creationId xmlns:p14="http://schemas.microsoft.com/office/powerpoint/2010/main" val="353474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BF32E6-4928-4844-9ECC-DD696DB16F4A}"/>
              </a:ext>
            </a:extLst>
          </p:cNvPr>
          <p:cNvSpPr txBox="1"/>
          <p:nvPr/>
        </p:nvSpPr>
        <p:spPr>
          <a:xfrm>
            <a:off x="319063" y="164573"/>
            <a:ext cx="8842867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Address, Sex, Salary,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Super_ssn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Mgr_ssn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Mgr_start_date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WORKS_ON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Hours) 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Dependent_name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Sex,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7E03A-187B-4DFA-9D8D-FCDA8F9FAC67}"/>
              </a:ext>
            </a:extLst>
          </p:cNvPr>
          <p:cNvSpPr txBox="1"/>
          <p:nvPr/>
        </p:nvSpPr>
        <p:spPr>
          <a:xfrm>
            <a:off x="516286" y="2416459"/>
            <a:ext cx="4925291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Employee.Fname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Department.Dname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Employee.Dno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Department.Dnumber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F74C4A0-419D-4159-95F2-14EF83244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46" y="3891590"/>
            <a:ext cx="5498300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specify conditions.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Salary &gt; 50000;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employees whose salary is greater than 50000.</a:t>
            </a:r>
          </a:p>
        </p:txBody>
      </p:sp>
    </p:spTree>
    <p:extLst>
      <p:ext uri="{BB962C8B-B14F-4D97-AF65-F5344CB8AC3E}">
        <p14:creationId xmlns:p14="http://schemas.microsoft.com/office/powerpoint/2010/main" val="833498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5E3FA93-942D-4349-ADFD-023DCB879341}"/>
              </a:ext>
            </a:extLst>
          </p:cNvPr>
          <p:cNvSpPr txBox="1"/>
          <p:nvPr/>
        </p:nvSpPr>
        <p:spPr>
          <a:xfrm>
            <a:off x="277906" y="208995"/>
            <a:ext cx="5253317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rows having the same values.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used with aggregate functions: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COUNT()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SUM()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AVG()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MAX()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7E6804-7D33-4C33-84B1-136516CF6849}"/>
              </a:ext>
            </a:extLst>
          </p:cNvPr>
          <p:cNvSpPr txBox="1"/>
          <p:nvPr/>
        </p:nvSpPr>
        <p:spPr>
          <a:xfrm>
            <a:off x="277906" y="3312460"/>
            <a:ext cx="2850776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AVG(Salary)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74ED27FB-D6C8-4AFA-A3CF-E9F119383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9130" y="208995"/>
            <a:ext cx="5316070" cy="2107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filters groups created by GROUP BY.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Dept_ID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AVG(Salary)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Dept_ID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AVG(Salary)&gt;60000;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14C74D-33ED-44A7-81DA-40C90CB2DDCD}"/>
              </a:ext>
            </a:extLst>
          </p:cNvPr>
          <p:cNvSpPr txBox="1"/>
          <p:nvPr/>
        </p:nvSpPr>
        <p:spPr>
          <a:xfrm>
            <a:off x="5419165" y="25271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departments where average salary is greater than 60000.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A76F619-19C5-4556-BD7A-5AB1E60A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165" y="3013816"/>
            <a:ext cx="2858475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 BY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sorts the result.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Ascending: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Salary </a:t>
            </a: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D505C4B-D09A-4AA1-AE92-0B250C32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1295" y="3429315"/>
            <a:ext cx="2772939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Descending: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26553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A849EA-C2A5-484E-8CBF-DE60BE90DCC5}"/>
              </a:ext>
            </a:extLst>
          </p:cNvPr>
          <p:cNvSpPr txBox="1"/>
          <p:nvPr/>
        </p:nvSpPr>
        <p:spPr>
          <a:xfrm>
            <a:off x="367553" y="268940"/>
            <a:ext cx="846268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clause is used in SQL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the number of rows returned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 query.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CBC6C0-27CC-4F02-A8D2-6BCC0E689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53" y="846528"/>
            <a:ext cx="2518638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63FE99E-4738-4D1E-9A56-CB2E90F27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960" y="846528"/>
            <a:ext cx="3313728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1. Display First 3 Employees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3;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71B5AE-C61A-41DB-AE7E-C35796C2D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500" y="846528"/>
            <a:ext cx="4461799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2: Find Top 3 Highest Salary Employees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Salary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 </a:t>
            </a: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7DAFD-213F-44EC-930C-E34397D3B8D6}"/>
              </a:ext>
            </a:extLst>
          </p:cNvPr>
          <p:cNvSpPr txBox="1"/>
          <p:nvPr/>
        </p:nvSpPr>
        <p:spPr>
          <a:xfrm>
            <a:off x="367553" y="2858853"/>
            <a:ext cx="2366682" cy="368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 with OFFSET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9631F1F-E60B-43B1-8B3C-1175E783D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72" y="3299012"/>
            <a:ext cx="5325176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offset, count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;//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count OFFSET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638DE9-BDE1-432A-9A28-41C1382216F6}"/>
              </a:ext>
            </a:extLst>
          </p:cNvPr>
          <p:cNvSpPr txBox="1"/>
          <p:nvPr/>
        </p:nvSpPr>
        <p:spPr>
          <a:xfrm>
            <a:off x="475129" y="5123095"/>
            <a:ext cx="241106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2,3;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DDC2C72E-5CAE-4AC5-9B32-CEB6DA72D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220" y="3227295"/>
            <a:ext cx="5705408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3: Find first 2 employees who work in Department 5.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Salary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5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 2;</a:t>
            </a:r>
          </a:p>
        </p:txBody>
      </p:sp>
    </p:spTree>
    <p:extLst>
      <p:ext uri="{BB962C8B-B14F-4D97-AF65-F5344CB8AC3E}">
        <p14:creationId xmlns:p14="http://schemas.microsoft.com/office/powerpoint/2010/main" val="7885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1A2C7D1-55BA-47E0-9000-8F12D99CEADB}"/>
              </a:ext>
            </a:extLst>
          </p:cNvPr>
          <p:cNvSpPr txBox="1"/>
          <p:nvPr/>
        </p:nvSpPr>
        <p:spPr>
          <a:xfrm>
            <a:off x="322729" y="255965"/>
            <a:ext cx="8256494" cy="965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Group (DML - Data Manipulation Language)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insert, update, and delete data inside tables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B01B6CB-C760-4D74-BCB5-356818193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29" y="1388640"/>
            <a:ext cx="54901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add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rows (records)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a table.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C84576C-3B46-4791-AF8E-61BC6083B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29" y="1832378"/>
            <a:ext cx="4970784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 1: Insert Values into All Columns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(value1, value2, value3, ...);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2: Insert Values into Specific Columns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(column1, column2, ...)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(value1, value2, ...);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3: Insert Multiple Rows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(value1,value2),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(value3,value4);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4FD9E0C-32E2-4514-A230-99C1D88C5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680" y="847181"/>
            <a:ext cx="4974503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modify existing data in a table.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F516676-F917-4BEB-93CE-C93590CB9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680" y="1500680"/>
            <a:ext cx="3928319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column1=value1, column2=value2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9B9C4A-467A-4A40-9117-90D2F253F310}"/>
              </a:ext>
            </a:extLst>
          </p:cNvPr>
          <p:cNvSpPr txBox="1"/>
          <p:nvPr/>
        </p:nvSpPr>
        <p:spPr>
          <a:xfrm>
            <a:off x="5960342" y="3349521"/>
            <a:ext cx="3013329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Age=21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FF51D4-BAFC-487E-9CC0-D1C837FA27B6}"/>
              </a:ext>
            </a:extLst>
          </p:cNvPr>
          <p:cNvSpPr txBox="1"/>
          <p:nvPr/>
        </p:nvSpPr>
        <p:spPr>
          <a:xfrm>
            <a:off x="8734613" y="3349521"/>
            <a:ext cx="3376704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Name='Aung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Age=22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</a:t>
            </a:r>
          </a:p>
        </p:txBody>
      </p:sp>
    </p:spTree>
    <p:extLst>
      <p:ext uri="{BB962C8B-B14F-4D97-AF65-F5344CB8AC3E}">
        <p14:creationId xmlns:p14="http://schemas.microsoft.com/office/powerpoint/2010/main" val="154083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AF1BA6C2-A8DC-4B57-95B1-C71CA65C2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21" y="192103"/>
            <a:ext cx="4438459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and UPDATE.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checks whether data exists: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matched → UPDATE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not matched → INSERT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B325D4B-2F1D-4B5B-A90F-338633CD8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21" y="2204428"/>
            <a:ext cx="33586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SQL MERGE Syntax: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48486F-C7E6-4C9B-8C68-024A38D25109}"/>
              </a:ext>
            </a:extLst>
          </p:cNvPr>
          <p:cNvSpPr txBox="1"/>
          <p:nvPr/>
        </p:nvSpPr>
        <p:spPr>
          <a:xfrm>
            <a:off x="358589" y="2782904"/>
            <a:ext cx="4168588" cy="3008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INTO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target_table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source_table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S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MATCHED THEN UPDATE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column=value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NOT MATCHED THEN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INSERT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(columns)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(values);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2567FB-A02A-41FA-B0F7-15B651CAEA0E}"/>
              </a:ext>
            </a:extLst>
          </p:cNvPr>
          <p:cNvSpPr txBox="1"/>
          <p:nvPr/>
        </p:nvSpPr>
        <p:spPr>
          <a:xfrm>
            <a:off x="5096297" y="242661"/>
            <a:ext cx="3832225" cy="3923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INTO Employee 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New_Employee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E.ID = N.ID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MATCHED THEN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N.Salary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NOT MATCHED THEN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ID,Name,Salary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N.ID,N.Name,N.Salary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06C022A-AB79-4508-BC6E-36EF21BA7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780" y="4287052"/>
            <a:ext cx="6310189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does not support the standard MERGE statement directly.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usually uses: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 ... ON DUPLICATE KEY UPDATE</a:t>
            </a:r>
          </a:p>
        </p:txBody>
      </p:sp>
    </p:spTree>
    <p:extLst>
      <p:ext uri="{BB962C8B-B14F-4D97-AF65-F5344CB8AC3E}">
        <p14:creationId xmlns:p14="http://schemas.microsoft.com/office/powerpoint/2010/main" val="1818743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EED8B9-ACF5-4547-B933-500020B0F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70" y="225238"/>
            <a:ext cx="4758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removes existing rows from a table.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C935F7-9051-443E-8827-66CB02949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11" y="545614"/>
            <a:ext cx="2891881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*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condition;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1DF6B3F-87FA-4ACD-A3C5-34C0D479B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085" y="225238"/>
            <a:ext cx="2622970" cy="2143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student with ID 5: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*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Student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=5;</a:t>
            </a:r>
          </a:p>
        </p:txBody>
      </p:sp>
    </p:spTree>
    <p:extLst>
      <p:ext uri="{BB962C8B-B14F-4D97-AF65-F5344CB8AC3E}">
        <p14:creationId xmlns:p14="http://schemas.microsoft.com/office/powerpoint/2010/main" val="2165877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9F5DB0-5325-4CC3-9E95-3ADD4858D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0334"/>
              </p:ext>
            </p:extLst>
          </p:nvPr>
        </p:nvGraphicFramePr>
        <p:xfrm>
          <a:off x="318937" y="121503"/>
          <a:ext cx="11012451" cy="6614993"/>
        </p:xfrm>
        <a:graphic>
          <a:graphicData uri="http://schemas.openxmlformats.org/drawingml/2006/table">
            <a:tbl>
              <a:tblPr/>
              <a:tblGrid>
                <a:gridCol w="756828">
                  <a:extLst>
                    <a:ext uri="{9D8B030D-6E8A-4147-A177-3AD203B41FA5}">
                      <a16:colId xmlns:a16="http://schemas.microsoft.com/office/drawing/2014/main" val="536793977"/>
                    </a:ext>
                  </a:extLst>
                </a:gridCol>
                <a:gridCol w="2447365">
                  <a:extLst>
                    <a:ext uri="{9D8B030D-6E8A-4147-A177-3AD203B41FA5}">
                      <a16:colId xmlns:a16="http://schemas.microsoft.com/office/drawing/2014/main" val="408730921"/>
                    </a:ext>
                  </a:extLst>
                </a:gridCol>
                <a:gridCol w="3774141">
                  <a:extLst>
                    <a:ext uri="{9D8B030D-6E8A-4147-A177-3AD203B41FA5}">
                      <a16:colId xmlns:a16="http://schemas.microsoft.com/office/drawing/2014/main" val="1292641985"/>
                    </a:ext>
                  </a:extLst>
                </a:gridCol>
                <a:gridCol w="4034117">
                  <a:extLst>
                    <a:ext uri="{9D8B030D-6E8A-4147-A177-3AD203B41FA5}">
                      <a16:colId xmlns:a16="http://schemas.microsoft.com/office/drawing/2014/main" val="1196685651"/>
                    </a:ext>
                  </a:extLst>
                </a:gridCol>
              </a:tblGrid>
              <a:tr h="42134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(Company Database)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386859"/>
                  </a:ext>
                </a:extLst>
              </a:tr>
              <a:tr h="465206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DATABASES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DATABASES;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DATABASES;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3197162"/>
                  </a:ext>
                </a:extLst>
              </a:tr>
              <a:tr h="448235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Database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database_name;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company;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628229"/>
                  </a:ext>
                </a:extLst>
              </a:tr>
              <a:tr h="403411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TABLES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TABLES;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TABLES;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914416"/>
                  </a:ext>
                </a:extLst>
              </a:tr>
              <a:tr h="519954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COLUMNS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COLUMNS FROM </a:t>
                      </a:r>
                      <a:r>
                        <a:rPr lang="en-US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table_name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COLUMNS FROM EMPLOYEE;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203682"/>
                  </a:ext>
                </a:extLst>
              </a:tr>
              <a:tr h="591670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 table_name;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 EMPLOYEE;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381878"/>
                  </a:ext>
                </a:extLst>
              </a:tr>
              <a:tr h="708212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CREATE DATABASE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CREATE DATABASE database_name;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CREATE DATABASE company;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687842"/>
                  </a:ext>
                </a:extLst>
              </a:tr>
              <a:tr h="726141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CREATE TABLE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CREATE TABLE table_name;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CREATE TABLE EMPLOYEE;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986475"/>
                  </a:ext>
                </a:extLst>
              </a:tr>
              <a:tr h="591671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INDEX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INDEX FROM table_name;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INDEX FROM EMPLOYEE;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101127"/>
                  </a:ext>
                </a:extLst>
              </a:tr>
              <a:tr h="600635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GRANTS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GRANTS FOR user;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GRANTS FOR 'root'@'localhost';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385562"/>
                  </a:ext>
                </a:extLst>
              </a:tr>
              <a:tr h="564777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VARIABLES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VARIABLES;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VARIABLES LIKE 'port';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370071"/>
                  </a:ext>
                </a:extLst>
              </a:tr>
              <a:tr h="573741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STATUS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STATUS;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STATUS LIKE '</a:t>
                      </a:r>
                      <a:r>
                        <a:rPr lang="en-US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Threads_connected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';</a:t>
                      </a:r>
                    </a:p>
                  </a:txBody>
                  <a:tcPr marL="40290" marR="40290" marT="20145" marB="20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15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438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F5E936-00EE-4660-805E-82FE826EF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06" y="78491"/>
            <a:ext cx="8528938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operator is used in SQL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for a specific pattern in a column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mainly used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 (string)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names, addresses, and descriptions.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751A37-4E37-49A3-AF69-57252B20A334}"/>
              </a:ext>
            </a:extLst>
          </p:cNvPr>
          <p:cNvSpPr txBox="1"/>
          <p:nvPr/>
        </p:nvSpPr>
        <p:spPr>
          <a:xfrm>
            <a:off x="3621741" y="1250141"/>
            <a:ext cx="60960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Wildcards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uses two main wildcard characters with LIKE: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A49D88-FCED-46E9-8242-55455F513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962691"/>
              </p:ext>
            </p:extLst>
          </p:nvPr>
        </p:nvGraphicFramePr>
        <p:xfrm>
          <a:off x="3621741" y="2331720"/>
          <a:ext cx="7552764" cy="1097280"/>
        </p:xfrm>
        <a:graphic>
          <a:graphicData uri="http://schemas.openxmlformats.org/drawingml/2006/table">
            <a:tbl>
              <a:tblPr/>
              <a:tblGrid>
                <a:gridCol w="1349188">
                  <a:extLst>
                    <a:ext uri="{9D8B030D-6E8A-4147-A177-3AD203B41FA5}">
                      <a16:colId xmlns:a16="http://schemas.microsoft.com/office/drawing/2014/main" val="168824854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2164081"/>
                    </a:ext>
                  </a:extLst>
                </a:gridCol>
                <a:gridCol w="2088776">
                  <a:extLst>
                    <a:ext uri="{9D8B030D-6E8A-4147-A177-3AD203B41FA5}">
                      <a16:colId xmlns:a16="http://schemas.microsoft.com/office/drawing/2014/main" val="26174784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Wildcard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295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Represents </a:t>
                      </a:r>
                      <a:r>
                        <a:rPr lang="en-US" b="1" dirty="0"/>
                        <a:t>zero or more characters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'J%'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493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_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Represents </a:t>
                      </a:r>
                      <a:r>
                        <a:rPr lang="en-US" b="1" dirty="0"/>
                        <a:t>exactly one character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'</a:t>
                      </a:r>
                      <a:r>
                        <a:rPr lang="en-US" dirty="0" err="1"/>
                        <a:t>J_hn</a:t>
                      </a:r>
                      <a:r>
                        <a:rPr lang="en-US" dirty="0"/>
                        <a:t>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803626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78082B4A-33F3-44CF-9AA6-89D34D908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26" y="3544905"/>
            <a:ext cx="4775666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employees whose first name starts with J.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'J%';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24777B-F585-4CBB-9638-A2EC70AF14CB}"/>
              </a:ext>
            </a:extLst>
          </p:cNvPr>
          <p:cNvSpPr txBox="1"/>
          <p:nvPr/>
        </p:nvSpPr>
        <p:spPr>
          <a:xfrm>
            <a:off x="367554" y="5365379"/>
            <a:ext cx="453201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J% means: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character must be J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characters can be anything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1008805-4D04-477F-82E7-FBF925980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4657" y="3589504"/>
            <a:ext cx="4608954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employees whose last name ends with 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'%g';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57F132F3-8625-48CD-B02E-1666EE650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1686" y="5412392"/>
            <a:ext cx="3621504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%g means: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 characters can appear before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last character must be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075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F33F768E-D974-4F74-8E76-F85AF49FD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53" y="235367"/>
            <a:ext cx="6724918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Underscore (_) Wildcard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employees whose name has exactly 4 characters and starts with J.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'J___';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BD9F282-1B37-40B6-8765-4D20D697F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7612" y="1160501"/>
            <a:ext cx="363084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represents exactly one character.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character = J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3 characters (any letters)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9CC061E-4018-4A72-8EF8-94CA42D3A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53" y="2589963"/>
            <a:ext cx="5181868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LIKE Operator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LIKE finds values that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 not match a pattern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employees whose names do not start with J.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 LIKE 'J%';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30C26-FB1E-4493-B099-D79C9C6F6D09}"/>
              </a:ext>
            </a:extLst>
          </p:cNvPr>
          <p:cNvSpPr txBox="1"/>
          <p:nvPr/>
        </p:nvSpPr>
        <p:spPr>
          <a:xfrm>
            <a:off x="5531223" y="2523129"/>
            <a:ext cx="644562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top 3 highest-paid employees whose names start with J.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2EBB08-71FB-4E6B-B1B9-9E37EDF7822C}"/>
              </a:ext>
            </a:extLst>
          </p:cNvPr>
          <p:cNvSpPr txBox="1"/>
          <p:nvPr/>
        </p:nvSpPr>
        <p:spPr>
          <a:xfrm>
            <a:off x="5706035" y="3008965"/>
            <a:ext cx="3169024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'J%'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Salary DESC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3;</a:t>
            </a:r>
          </a:p>
        </p:txBody>
      </p:sp>
    </p:spTree>
    <p:extLst>
      <p:ext uri="{BB962C8B-B14F-4D97-AF65-F5344CB8AC3E}">
        <p14:creationId xmlns:p14="http://schemas.microsoft.com/office/powerpoint/2010/main" val="2102512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B0181C-C1DF-4AA9-A4E4-E7E4E4008743}"/>
              </a:ext>
            </a:extLst>
          </p:cNvPr>
          <p:cNvSpPr txBox="1"/>
          <p:nvPr/>
        </p:nvSpPr>
        <p:spPr>
          <a:xfrm>
            <a:off x="358588" y="184248"/>
            <a:ext cx="10381129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Operator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is used to check whether a value matches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value in a list or the result of a subquery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5C1E1-2554-4E11-897D-49300BC59217}"/>
              </a:ext>
            </a:extLst>
          </p:cNvPr>
          <p:cNvSpPr txBox="1"/>
          <p:nvPr/>
        </p:nvSpPr>
        <p:spPr>
          <a:xfrm>
            <a:off x="358588" y="1164522"/>
            <a:ext cx="878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D3306-C9CA-4F45-84EC-4E4EB3138B4E}"/>
              </a:ext>
            </a:extLst>
          </p:cNvPr>
          <p:cNvSpPr txBox="1"/>
          <p:nvPr/>
        </p:nvSpPr>
        <p:spPr>
          <a:xfrm>
            <a:off x="457199" y="1622641"/>
            <a:ext cx="609600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(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subquery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34D813-A5FD-4050-A40F-A2D675BD7187}"/>
              </a:ext>
            </a:extLst>
          </p:cNvPr>
          <p:cNvSpPr txBox="1"/>
          <p:nvPr/>
        </p:nvSpPr>
        <p:spPr>
          <a:xfrm>
            <a:off x="4634751" y="1246095"/>
            <a:ext cx="6875929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first name and last name of employees in department no 5.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Dnumber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62857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03B55B-3580-4BAA-B3D8-DF8D2FE1C33B}"/>
              </a:ext>
            </a:extLst>
          </p:cNvPr>
          <p:cNvSpPr txBox="1"/>
          <p:nvPr/>
        </p:nvSpPr>
        <p:spPr>
          <a:xfrm>
            <a:off x="403412" y="170330"/>
            <a:ext cx="105156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Operator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returns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if the comparison is true for at least one value returned by the subquery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66EEF-6AF8-4C27-BBA1-1C1A314EC499}"/>
              </a:ext>
            </a:extLst>
          </p:cNvPr>
          <p:cNvSpPr txBox="1"/>
          <p:nvPr/>
        </p:nvSpPr>
        <p:spPr>
          <a:xfrm>
            <a:off x="475130" y="1182452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19AB4-FA5E-4A05-A66C-FC033F306C34}"/>
              </a:ext>
            </a:extLst>
          </p:cNvPr>
          <p:cNvSpPr txBox="1"/>
          <p:nvPr/>
        </p:nvSpPr>
        <p:spPr>
          <a:xfrm>
            <a:off x="564776" y="1690335"/>
            <a:ext cx="8498542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(subquery);</a:t>
            </a:r>
          </a:p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must be a standard comparison operator (=, &lt;&gt;, !=, &gt;, &gt;=, &lt;, or &lt;=).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7F1711-90CF-4FCD-85A7-49FC2C82202F}"/>
              </a:ext>
            </a:extLst>
          </p:cNvPr>
          <p:cNvSpPr txBox="1"/>
          <p:nvPr/>
        </p:nvSpPr>
        <p:spPr>
          <a:xfrm>
            <a:off x="726141" y="3533455"/>
            <a:ext cx="3182471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Salary &gt; ANY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Salary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EMPLOYEE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04E4F4-29C9-4C18-8EA2-A4820B1E9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185" y="3614208"/>
            <a:ext cx="1433051" cy="16679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CE360C-B895-481F-A711-92A859F793BD}"/>
              </a:ext>
            </a:extLst>
          </p:cNvPr>
          <p:cNvSpPr txBox="1"/>
          <p:nvPr/>
        </p:nvSpPr>
        <p:spPr>
          <a:xfrm>
            <a:off x="3708209" y="3463097"/>
            <a:ext cx="2164976" cy="1330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SELECT Salary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FROM EMPLOYEE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WHERE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5</a:t>
            </a:r>
          </a:p>
        </p:txBody>
      </p:sp>
    </p:spTree>
    <p:extLst>
      <p:ext uri="{BB962C8B-B14F-4D97-AF65-F5344CB8AC3E}">
        <p14:creationId xmlns:p14="http://schemas.microsoft.com/office/powerpoint/2010/main" val="3420742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A5D810-FC7D-4597-B718-B5E07FDBBD0F}"/>
              </a:ext>
            </a:extLst>
          </p:cNvPr>
          <p:cNvSpPr txBox="1"/>
          <p:nvPr/>
        </p:nvSpPr>
        <p:spPr>
          <a:xfrm>
            <a:off x="251011" y="122839"/>
            <a:ext cx="10408023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Operator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returns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only if the comparison is true for every value returned by the subquery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EB0D-1F2F-4B72-97C8-0DB4F40DD5B3}"/>
              </a:ext>
            </a:extLst>
          </p:cNvPr>
          <p:cNvSpPr txBox="1"/>
          <p:nvPr/>
        </p:nvSpPr>
        <p:spPr>
          <a:xfrm>
            <a:off x="251011" y="996411"/>
            <a:ext cx="8498542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(subquery);</a:t>
            </a:r>
          </a:p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must be a standard comparison operator (=, &lt;&gt;, !=, &gt;, &gt;=, &lt;, or &lt;=).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7A513-91D6-49CE-A8E4-2600BB38EA03}"/>
              </a:ext>
            </a:extLst>
          </p:cNvPr>
          <p:cNvSpPr txBox="1"/>
          <p:nvPr/>
        </p:nvSpPr>
        <p:spPr>
          <a:xfrm>
            <a:off x="493059" y="2821685"/>
            <a:ext cx="3074894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Salary &gt; ALL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Salary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EMPLOYEE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18718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BB07176-DBF0-468E-A902-7B37C6575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225" y="435711"/>
            <a:ext cx="8443722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SQL operator used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a subquery returns any rows or not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subquery returns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or more rows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EXISTS is TRUE.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subquery returns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rows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EXISTS is FALSE.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B67609-4332-4B9E-8264-C41E42118857}"/>
              </a:ext>
            </a:extLst>
          </p:cNvPr>
          <p:cNvSpPr txBox="1"/>
          <p:nvPr/>
        </p:nvSpPr>
        <p:spPr>
          <a:xfrm>
            <a:off x="493059" y="1916250"/>
            <a:ext cx="2913529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condition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FFB61-E5CC-4E26-A25B-5E8CB3891140}"/>
              </a:ext>
            </a:extLst>
          </p:cNvPr>
          <p:cNvSpPr txBox="1"/>
          <p:nvPr/>
        </p:nvSpPr>
        <p:spPr>
          <a:xfrm>
            <a:off x="3756214" y="1916250"/>
            <a:ext cx="426719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Departments that have Employees.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DAE527-AF9A-4E84-992F-9E44C4291B96}"/>
              </a:ext>
            </a:extLst>
          </p:cNvPr>
          <p:cNvSpPr txBox="1"/>
          <p:nvPr/>
        </p:nvSpPr>
        <p:spPr>
          <a:xfrm>
            <a:off x="3756214" y="2440286"/>
            <a:ext cx="3621741" cy="3498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DEPARTMENT D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EXISTS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*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EMPLOYEE 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D.Dnumber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49986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0C5300-F4F6-433B-AFE0-6F1AF95D4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081" y="344504"/>
            <a:ext cx="4679577" cy="1717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EXISTS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opposite of EXISTS.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checks whether a subquery returns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rows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matching rows → TRUE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 matching rows → FALSE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A15C0-E52B-43A7-B8CF-4FEECE11041C}"/>
              </a:ext>
            </a:extLst>
          </p:cNvPr>
          <p:cNvSpPr txBox="1"/>
          <p:nvPr/>
        </p:nvSpPr>
        <p:spPr>
          <a:xfrm>
            <a:off x="582706" y="2101185"/>
            <a:ext cx="3092823" cy="389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EXISTS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condition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FE88F3-D671-4A65-961D-4E6D488EA63E}"/>
              </a:ext>
            </a:extLst>
          </p:cNvPr>
          <p:cNvSpPr txBox="1"/>
          <p:nvPr/>
        </p:nvSpPr>
        <p:spPr>
          <a:xfrm>
            <a:off x="4141694" y="2101185"/>
            <a:ext cx="3406588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DEPARTMENT D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NOT EXISTS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*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EMPLOYEE 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D.Dnumber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67595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641C5F-32DE-4607-9BE7-A0F72446C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190643"/>
              </p:ext>
            </p:extLst>
          </p:nvPr>
        </p:nvGraphicFramePr>
        <p:xfrm>
          <a:off x="506505" y="530160"/>
          <a:ext cx="9964271" cy="2742620"/>
        </p:xfrm>
        <a:graphic>
          <a:graphicData uri="http://schemas.openxmlformats.org/drawingml/2006/table">
            <a:tbl>
              <a:tblPr/>
              <a:tblGrid>
                <a:gridCol w="2299937">
                  <a:extLst>
                    <a:ext uri="{9D8B030D-6E8A-4147-A177-3AD203B41FA5}">
                      <a16:colId xmlns:a16="http://schemas.microsoft.com/office/drawing/2014/main" val="3246904044"/>
                    </a:ext>
                  </a:extLst>
                </a:gridCol>
                <a:gridCol w="7664334">
                  <a:extLst>
                    <a:ext uri="{9D8B030D-6E8A-4147-A177-3AD203B41FA5}">
                      <a16:colId xmlns:a16="http://schemas.microsoft.com/office/drawing/2014/main" val="3962786423"/>
                    </a:ext>
                  </a:extLst>
                </a:gridCol>
              </a:tblGrid>
              <a:tr h="36559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080785"/>
                  </a:ext>
                </a:extLst>
              </a:tr>
              <a:tr h="63979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whether a value exists in a list or subquery result.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791599"/>
                  </a:ext>
                </a:extLst>
              </a:tr>
              <a:tr h="63979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TRUE if the condition is true for at least one value.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043140"/>
                  </a:ext>
                </a:extLst>
              </a:tr>
              <a:tr h="3655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TRUE if the condition is true for every value.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62027"/>
                  </a:ext>
                </a:extLst>
              </a:tr>
              <a:tr h="3655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TRUE if the subquery returns one or more rows.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228146"/>
                  </a:ext>
                </a:extLst>
              </a:tr>
              <a:tr h="3655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EXISTS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TRUE if the subquery returns no rows.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334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194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6AAEB9-85DD-4B35-99FD-75425E3E98DB}"/>
              </a:ext>
            </a:extLst>
          </p:cNvPr>
          <p:cNvSpPr txBox="1"/>
          <p:nvPr/>
        </p:nvSpPr>
        <p:spPr>
          <a:xfrm>
            <a:off x="543180" y="393610"/>
            <a:ext cx="8842867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Address, Sex, Salary,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Super_ssn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Mgr_ssn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Mgr_start_date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WORKS_ON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Hours) 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Dependent_name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Sex,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032BA7-3296-4A7C-87B5-715E7E1410E1}"/>
              </a:ext>
            </a:extLst>
          </p:cNvPr>
          <p:cNvSpPr txBox="1"/>
          <p:nvPr/>
        </p:nvSpPr>
        <p:spPr>
          <a:xfrm>
            <a:off x="708210" y="2605102"/>
            <a:ext cx="8077201" cy="3741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Display all employees.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Display employee first name, last name and salary.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Display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employees who work in Department 5.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5;</a:t>
            </a:r>
          </a:p>
        </p:txBody>
      </p:sp>
    </p:spTree>
    <p:extLst>
      <p:ext uri="{BB962C8B-B14F-4D97-AF65-F5344CB8AC3E}">
        <p14:creationId xmlns:p14="http://schemas.microsoft.com/office/powerpoint/2010/main" val="2241966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63AA4A-C4DC-45F2-B67A-A57066665257}"/>
              </a:ext>
            </a:extLst>
          </p:cNvPr>
          <p:cNvSpPr txBox="1"/>
          <p:nvPr/>
        </p:nvSpPr>
        <p:spPr>
          <a:xfrm>
            <a:off x="502022" y="421522"/>
            <a:ext cx="8561295" cy="5588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4. Find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salary of employees whose salary is greater than 40000.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WHERE Salary &gt; 40000;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salary of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employees sorted by salary from highest to lowest.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ORDER BY Salary DESC;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salary of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employees sorted by salary from lowest to highest.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ORDER BY Salary ASC;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maximum salary.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MAX(Salary) AS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Highest_Salary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</p:txBody>
      </p:sp>
    </p:spTree>
    <p:extLst>
      <p:ext uri="{BB962C8B-B14F-4D97-AF65-F5344CB8AC3E}">
        <p14:creationId xmlns:p14="http://schemas.microsoft.com/office/powerpoint/2010/main" val="194993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1B6225-5F9E-4682-9059-D91F1692FB08}"/>
              </a:ext>
            </a:extLst>
          </p:cNvPr>
          <p:cNvSpPr txBox="1"/>
          <p:nvPr/>
        </p:nvSpPr>
        <p:spPr>
          <a:xfrm>
            <a:off x="502023" y="421522"/>
            <a:ext cx="6938684" cy="448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minimum salary.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MIN(Salary) AS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Lowest_Salary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9. Find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total salary.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sum(salary) as </a:t>
            </a:r>
            <a:r>
              <a:rPr lang="en-US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Total_Salary</a:t>
            </a: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How many employees are there in the company?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Find the average salary.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avg(salary) As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Avg_Salary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</p:txBody>
      </p:sp>
    </p:spTree>
    <p:extLst>
      <p:ext uri="{BB962C8B-B14F-4D97-AF65-F5344CB8AC3E}">
        <p14:creationId xmlns:p14="http://schemas.microsoft.com/office/powerpoint/2010/main" val="292008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66BE59-77A8-49BE-ACF1-FA74F21F82C0}"/>
              </a:ext>
            </a:extLst>
          </p:cNvPr>
          <p:cNvSpPr txBox="1"/>
          <p:nvPr/>
        </p:nvSpPr>
        <p:spPr>
          <a:xfrm>
            <a:off x="152400" y="366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total number of employees in the company.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F85DEE-FACE-4911-95B0-E84A88D46B09}"/>
              </a:ext>
            </a:extLst>
          </p:cNvPr>
          <p:cNvSpPr txBox="1"/>
          <p:nvPr/>
        </p:nvSpPr>
        <p:spPr>
          <a:xfrm>
            <a:off x="466165" y="735995"/>
            <a:ext cx="60960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COUNT(*)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Total_Employees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04D4B1-ACFC-41E0-9B91-05D036C7BDED}"/>
              </a:ext>
            </a:extLst>
          </p:cNvPr>
          <p:cNvSpPr txBox="1"/>
          <p:nvPr/>
        </p:nvSpPr>
        <p:spPr>
          <a:xfrm>
            <a:off x="152400" y="17942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average salary of all employees.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E08DA-959E-4B37-8031-F74A3E232534}"/>
              </a:ext>
            </a:extLst>
          </p:cNvPr>
          <p:cNvSpPr txBox="1"/>
          <p:nvPr/>
        </p:nvSpPr>
        <p:spPr>
          <a:xfrm>
            <a:off x="466165" y="2231019"/>
            <a:ext cx="60960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AVG(Salary)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Average_Salary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DFCF03-8538-4BD7-AFB0-5E63263CB29F}"/>
              </a:ext>
            </a:extLst>
          </p:cNvPr>
          <p:cNvSpPr txBox="1"/>
          <p:nvPr/>
        </p:nvSpPr>
        <p:spPr>
          <a:xfrm>
            <a:off x="242048" y="3092825"/>
            <a:ext cx="419548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highest salary in the company.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C1871E-ADDB-492E-81CF-C5AE8F139318}"/>
              </a:ext>
            </a:extLst>
          </p:cNvPr>
          <p:cNvSpPr txBox="1"/>
          <p:nvPr/>
        </p:nvSpPr>
        <p:spPr>
          <a:xfrm>
            <a:off x="466165" y="3639707"/>
            <a:ext cx="60960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MAX(Salary)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Highest_Salary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733C90-29E5-4957-9F3B-2EB85407A6BF}"/>
              </a:ext>
            </a:extLst>
          </p:cNvPr>
          <p:cNvSpPr txBox="1"/>
          <p:nvPr/>
        </p:nvSpPr>
        <p:spPr>
          <a:xfrm>
            <a:off x="242048" y="4531646"/>
            <a:ext cx="3998258" cy="372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lowest salary in the company.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3F5D2F-D886-48A4-80B7-1B627E8EF8DB}"/>
              </a:ext>
            </a:extLst>
          </p:cNvPr>
          <p:cNvSpPr txBox="1"/>
          <p:nvPr/>
        </p:nvSpPr>
        <p:spPr>
          <a:xfrm>
            <a:off x="466165" y="4903692"/>
            <a:ext cx="454510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MIN(Salary)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Lowest_Salary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EMPLOYEE;</a:t>
            </a:r>
          </a:p>
        </p:txBody>
      </p:sp>
    </p:spTree>
    <p:extLst>
      <p:ext uri="{BB962C8B-B14F-4D97-AF65-F5344CB8AC3E}">
        <p14:creationId xmlns:p14="http://schemas.microsoft.com/office/powerpoint/2010/main" val="306260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85E9A4-7EDA-437D-80AC-0020C6B6DFB7}"/>
              </a:ext>
            </a:extLst>
          </p:cNvPr>
          <p:cNvSpPr txBox="1"/>
          <p:nvPr/>
        </p:nvSpPr>
        <p:spPr>
          <a:xfrm>
            <a:off x="188259" y="106686"/>
            <a:ext cx="50292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total salary paid to all employees.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BAF03-6ED1-41C6-9E40-C69815F2FE03}"/>
              </a:ext>
            </a:extLst>
          </p:cNvPr>
          <p:cNvSpPr txBox="1"/>
          <p:nvPr/>
        </p:nvSpPr>
        <p:spPr>
          <a:xfrm>
            <a:off x="502024" y="564760"/>
            <a:ext cx="4123764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SUM(Salary)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44699-ECFA-437A-96C1-A92DE0899E1F}"/>
              </a:ext>
            </a:extLst>
          </p:cNvPr>
          <p:cNvSpPr txBox="1"/>
          <p:nvPr/>
        </p:nvSpPr>
        <p:spPr>
          <a:xfrm>
            <a:off x="206189" y="1443309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Calculate the number of employees in each department.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3D385-77A9-4D04-AAA6-1040E5D55F9F}"/>
              </a:ext>
            </a:extLst>
          </p:cNvPr>
          <p:cNvSpPr txBox="1"/>
          <p:nvPr/>
        </p:nvSpPr>
        <p:spPr>
          <a:xfrm>
            <a:off x="502024" y="1877973"/>
            <a:ext cx="4894729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COUNT(*)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Total_Employees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9A42E-2FEC-4727-A3F3-6FAA8C2EF3EF}"/>
              </a:ext>
            </a:extLst>
          </p:cNvPr>
          <p:cNvSpPr txBox="1"/>
          <p:nvPr/>
        </p:nvSpPr>
        <p:spPr>
          <a:xfrm>
            <a:off x="206189" y="3190306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Calculate the average salary for each department.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0B2DDC-C444-40C8-B749-F133E381658E}"/>
              </a:ext>
            </a:extLst>
          </p:cNvPr>
          <p:cNvSpPr txBox="1"/>
          <p:nvPr/>
        </p:nvSpPr>
        <p:spPr>
          <a:xfrm>
            <a:off x="502024" y="3756794"/>
            <a:ext cx="4894729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my-MM" dirty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AVG(Salary)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Average_Salary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5D0B-5118-4C62-840A-05FBC5F37EB5}"/>
              </a:ext>
            </a:extLst>
          </p:cNvPr>
          <p:cNvSpPr txBox="1"/>
          <p:nvPr/>
        </p:nvSpPr>
        <p:spPr>
          <a:xfrm>
            <a:off x="5602941" y="110298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Display departments that have more than 3 employees.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C41B2C-356B-4158-8919-22A348526700}"/>
              </a:ext>
            </a:extLst>
          </p:cNvPr>
          <p:cNvSpPr txBox="1"/>
          <p:nvPr/>
        </p:nvSpPr>
        <p:spPr>
          <a:xfrm>
            <a:off x="5952565" y="547085"/>
            <a:ext cx="4894729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COUNT(*)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Total_Employees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3;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3D006C-BF02-4175-BFB2-1DB15427A23D}"/>
              </a:ext>
            </a:extLst>
          </p:cNvPr>
          <p:cNvSpPr txBox="1"/>
          <p:nvPr/>
        </p:nvSpPr>
        <p:spPr>
          <a:xfrm>
            <a:off x="5602941" y="2204068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Calculate the total number of hours worked on each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FFC49E-3D46-4C8D-8D0C-9B5A49B06005}"/>
              </a:ext>
            </a:extLst>
          </p:cNvPr>
          <p:cNvSpPr txBox="1"/>
          <p:nvPr/>
        </p:nvSpPr>
        <p:spPr>
          <a:xfrm>
            <a:off x="6042212" y="2676739"/>
            <a:ext cx="4518211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SUM(Hours)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Total_Hours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WORKS_ON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4FB10A-2919-4AE9-BE00-84009ACACD7B}"/>
              </a:ext>
            </a:extLst>
          </p:cNvPr>
          <p:cNvSpPr txBox="1"/>
          <p:nvPr/>
        </p:nvSpPr>
        <p:spPr>
          <a:xfrm>
            <a:off x="5674658" y="3947507"/>
            <a:ext cx="633804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Calculate the average number of hours worked on each project.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3A40E2-30A7-4BE8-8709-70A895757A12}"/>
              </a:ext>
            </a:extLst>
          </p:cNvPr>
          <p:cNvSpPr txBox="1"/>
          <p:nvPr/>
        </p:nvSpPr>
        <p:spPr>
          <a:xfrm>
            <a:off x="6051176" y="4427288"/>
            <a:ext cx="4697506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AVG(Hours)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Average_Hours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WORKS_ON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673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  <p:bldP spid="17" grpId="0"/>
      <p:bldP spid="21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E5E0FD-DC3E-4E08-BAB9-8FC8BB739B54}"/>
              </a:ext>
            </a:extLst>
          </p:cNvPr>
          <p:cNvSpPr txBox="1"/>
          <p:nvPr/>
        </p:nvSpPr>
        <p:spPr>
          <a:xfrm>
            <a:off x="277906" y="312875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Find the maximum number of hours worked on each project.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14E4E-C6F6-4BBE-AC4B-D5F89FA0FD0C}"/>
              </a:ext>
            </a:extLst>
          </p:cNvPr>
          <p:cNvSpPr txBox="1"/>
          <p:nvPr/>
        </p:nvSpPr>
        <p:spPr>
          <a:xfrm>
            <a:off x="582706" y="770949"/>
            <a:ext cx="609600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SELECT </a:t>
            </a:r>
            <a:r>
              <a:rPr lang="en-US" b="0" dirty="0" err="1">
                <a:solidFill>
                  <a:schemeClr val="tx1"/>
                </a:solidFill>
              </a:rPr>
              <a:t>Pno</a:t>
            </a:r>
            <a:r>
              <a:rPr lang="en-US" b="0" dirty="0">
                <a:solidFill>
                  <a:schemeClr val="tx1"/>
                </a:solidFill>
              </a:rPr>
              <a:t>, MAX(Hours) AS </a:t>
            </a:r>
            <a:r>
              <a:rPr lang="en-US" b="0" dirty="0" err="1">
                <a:solidFill>
                  <a:schemeClr val="tx1"/>
                </a:solidFill>
              </a:rPr>
              <a:t>Maximum_Hours</a:t>
            </a:r>
            <a:endParaRPr lang="en-US" b="0" dirty="0">
              <a:solidFill>
                <a:schemeClr val="tx1"/>
              </a:solidFill>
            </a:endParaRPr>
          </a:p>
          <a:p>
            <a:r>
              <a:rPr lang="en-US" dirty="0"/>
              <a:t>FROM </a:t>
            </a:r>
            <a:r>
              <a:rPr lang="en-US" b="0" dirty="0">
                <a:solidFill>
                  <a:schemeClr val="tx1"/>
                </a:solidFill>
              </a:rPr>
              <a:t>WORKS_ON</a:t>
            </a:r>
          </a:p>
          <a:p>
            <a:r>
              <a:rPr lang="en-US" dirty="0"/>
              <a:t>GROUP BY </a:t>
            </a:r>
            <a:r>
              <a:rPr lang="en-US" b="0" dirty="0" err="1">
                <a:solidFill>
                  <a:schemeClr val="tx1"/>
                </a:solidFill>
              </a:rPr>
              <a:t>Pno</a:t>
            </a:r>
            <a:r>
              <a:rPr lang="en-US" b="0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2F83E-3060-4EFC-A79D-889063499C96}"/>
              </a:ext>
            </a:extLst>
          </p:cNvPr>
          <p:cNvSpPr txBox="1"/>
          <p:nvPr/>
        </p:nvSpPr>
        <p:spPr>
          <a:xfrm>
            <a:off x="215152" y="2060020"/>
            <a:ext cx="7449671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Display each department name and the number of employees working in 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C42121-ADF6-4E34-AA11-6FE5048ECB0E}"/>
              </a:ext>
            </a:extLst>
          </p:cNvPr>
          <p:cNvSpPr txBox="1"/>
          <p:nvPr/>
        </p:nvSpPr>
        <p:spPr>
          <a:xfrm>
            <a:off x="582706" y="2576715"/>
            <a:ext cx="6096000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E.Ssn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Total_Employees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D, EMPLOYEE 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E.Dno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ACDB61-3CEA-44DD-B170-A0C03B5EA4BB}"/>
              </a:ext>
            </a:extLst>
          </p:cNvPr>
          <p:cNvSpPr txBox="1"/>
          <p:nvPr/>
        </p:nvSpPr>
        <p:spPr>
          <a:xfrm>
            <a:off x="215152" y="4339905"/>
            <a:ext cx="7180729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Display each department name and the average salary of its employees.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255E73-1CCF-4093-B26C-0081C81F8550}"/>
              </a:ext>
            </a:extLst>
          </p:cNvPr>
          <p:cNvSpPr txBox="1"/>
          <p:nvPr/>
        </p:nvSpPr>
        <p:spPr>
          <a:xfrm>
            <a:off x="582706" y="4856600"/>
            <a:ext cx="5719482" cy="1763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Average_Salary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D, EMPLOYEE 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E.Dno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8133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13EA23-932A-43F6-B60A-8DED44BECFBF}"/>
              </a:ext>
            </a:extLst>
          </p:cNvPr>
          <p:cNvSpPr txBox="1"/>
          <p:nvPr/>
        </p:nvSpPr>
        <p:spPr>
          <a:xfrm>
            <a:off x="340659" y="308846"/>
            <a:ext cx="706418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department whose employees have the highest average salary.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6184D-0927-4C02-9214-05C41458C0DD}"/>
              </a:ext>
            </a:extLst>
          </p:cNvPr>
          <p:cNvSpPr txBox="1"/>
          <p:nvPr/>
        </p:nvSpPr>
        <p:spPr>
          <a:xfrm>
            <a:off x="762000" y="766920"/>
            <a:ext cx="60960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Average_Salary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D, EMPLOYEE 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E.Dno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Average_Salary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0D7DC-1875-4C47-9403-4579036E2E4B}"/>
              </a:ext>
            </a:extLst>
          </p:cNvPr>
          <p:cNvSpPr txBox="1"/>
          <p:nvPr/>
        </p:nvSpPr>
        <p:spPr>
          <a:xfrm>
            <a:off x="340659" y="2886988"/>
            <a:ext cx="676835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Display projects whose total working hours are greater than 100.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6B3F4-0BFE-474F-A639-063D28FCF9D0}"/>
              </a:ext>
            </a:extLst>
          </p:cNvPr>
          <p:cNvSpPr txBox="1"/>
          <p:nvPr/>
        </p:nvSpPr>
        <p:spPr>
          <a:xfrm>
            <a:off x="762000" y="3429000"/>
            <a:ext cx="6472518" cy="1743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SUM(Hours)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Total_Hours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WORKS_ON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SUM(Hours) &gt; 100;</a:t>
            </a:r>
          </a:p>
        </p:txBody>
      </p:sp>
    </p:spTree>
    <p:extLst>
      <p:ext uri="{BB962C8B-B14F-4D97-AF65-F5344CB8AC3E}">
        <p14:creationId xmlns:p14="http://schemas.microsoft.com/office/powerpoint/2010/main" val="397899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4D4B01-A742-4674-85F0-3B21A513EB0A}"/>
              </a:ext>
            </a:extLst>
          </p:cNvPr>
          <p:cNvSpPr txBox="1"/>
          <p:nvPr/>
        </p:nvSpPr>
        <p:spPr>
          <a:xfrm>
            <a:off x="322729" y="375628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Find the highest average salary among all departments.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E7E7E-DE6A-45FD-9CC0-50B579A141FB}"/>
              </a:ext>
            </a:extLst>
          </p:cNvPr>
          <p:cNvSpPr txBox="1"/>
          <p:nvPr/>
        </p:nvSpPr>
        <p:spPr>
          <a:xfrm>
            <a:off x="564777" y="833702"/>
            <a:ext cx="5531223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Average_Salary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D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E.Dno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Average_Salary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25643D-9327-43FB-89B1-4AE1A71BD164}"/>
              </a:ext>
            </a:extLst>
          </p:cNvPr>
          <p:cNvSpPr txBox="1"/>
          <p:nvPr/>
        </p:nvSpPr>
        <p:spPr>
          <a:xfrm>
            <a:off x="5333999" y="1998746"/>
            <a:ext cx="6096000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Average_Salary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D JOIN EMPLOYEE 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E.Dno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&gt;= ALL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AVG(Salary)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EMPLOYEE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98703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095669-4A1A-4487-AF7B-52BE1A58FEFF}"/>
              </a:ext>
            </a:extLst>
          </p:cNvPr>
          <p:cNvSpPr txBox="1"/>
          <p:nvPr/>
        </p:nvSpPr>
        <p:spPr>
          <a:xfrm>
            <a:off x="537881" y="299882"/>
            <a:ext cx="8641977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Find employees who work more hours than any employee working on Project 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82D63-93E8-468C-8870-CA6FC9D226D1}"/>
              </a:ext>
            </a:extLst>
          </p:cNvPr>
          <p:cNvSpPr txBox="1"/>
          <p:nvPr/>
        </p:nvSpPr>
        <p:spPr>
          <a:xfrm>
            <a:off x="833717" y="905436"/>
            <a:ext cx="2922495" cy="341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Essn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Hours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WORKS_ON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Hours &gt; ANY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Hours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WORKS_ON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AA669-B448-42E7-9E17-7AA82DEA4CE7}"/>
              </a:ext>
            </a:extLst>
          </p:cNvPr>
          <p:cNvSpPr txBox="1"/>
          <p:nvPr/>
        </p:nvSpPr>
        <p:spPr>
          <a:xfrm>
            <a:off x="3756212" y="905436"/>
            <a:ext cx="827442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Find employees whose salary is greater than any employee salary in Department 5.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7A8C00-F7BC-4EED-A51D-CBD9C53200D8}"/>
              </a:ext>
            </a:extLst>
          </p:cNvPr>
          <p:cNvSpPr txBox="1"/>
          <p:nvPr/>
        </p:nvSpPr>
        <p:spPr>
          <a:xfrm>
            <a:off x="4240305" y="1510990"/>
            <a:ext cx="2850777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Salary &gt; ANY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69368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7F2326-EC33-403B-A8ED-E8A3EEDD1F5C}"/>
              </a:ext>
            </a:extLst>
          </p:cNvPr>
          <p:cNvSpPr txBox="1"/>
          <p:nvPr/>
        </p:nvSpPr>
        <p:spPr>
          <a:xfrm>
            <a:off x="412376" y="304800"/>
            <a:ext cx="833717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Find employees whose salary is greater than all employees in Department 5.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83887-1674-4AFF-AC4C-9D2AA7B73C95}"/>
              </a:ext>
            </a:extLst>
          </p:cNvPr>
          <p:cNvSpPr txBox="1"/>
          <p:nvPr/>
        </p:nvSpPr>
        <p:spPr>
          <a:xfrm>
            <a:off x="726141" y="983921"/>
            <a:ext cx="2752165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Salary &gt; ALL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2918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2752</Words>
  <Application>Microsoft Office PowerPoint</Application>
  <PresentationFormat>Widescreen</PresentationFormat>
  <Paragraphs>495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Wingdings</vt:lpstr>
      <vt:lpstr>Office Theme</vt:lpstr>
      <vt:lpstr>Ch 6:Basic SQL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SQL</dc:title>
  <dc:creator>Nan Sandar Win</dc:creator>
  <cp:lastModifiedBy>Nan Sandar Win</cp:lastModifiedBy>
  <cp:revision>7</cp:revision>
  <dcterms:created xsi:type="dcterms:W3CDTF">2026-06-18T04:11:39Z</dcterms:created>
  <dcterms:modified xsi:type="dcterms:W3CDTF">2026-07-23T08:01:34Z</dcterms:modified>
</cp:coreProperties>
</file>