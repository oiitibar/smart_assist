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8" r:id="rId13"/>
    <p:sldId id="269" r:id="rId14"/>
    <p:sldId id="267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68DE-C8E5-40B7-BB3E-8EC1A0568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EDDE0-4168-48A6-A183-2D67D2D1F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BB8FC-BE35-4B4E-8E9B-035BCDD8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A85DA-693F-452A-9379-0F9E59B9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69988-5E62-45DC-B426-8D3DD323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8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77BE-57AB-409D-9310-4F4E6838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B82F8-44FC-41BB-8AC0-3F54ED1A3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3126-F353-4FA6-B354-84B2A0B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C769-2CED-4BEA-AD99-E8CDB568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7702A-E113-4661-8846-3AD93091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9F84-B3BB-4AC1-BF3C-2FBEE76A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F193-26A1-4978-9C62-CDCBFE5E6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5B54A-F170-4659-8EFE-3DE52561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A08A5-1F30-4D83-BC01-12E56510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C8024-F2E6-4F12-B573-EED75ED6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1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DA95-7C8E-4615-896C-FC25DC44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89F1F-4AAE-435C-BD11-CD39C3656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80421-4D0A-432C-96C0-26AD62B12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7379-DE70-48AF-9A22-15AF1EA6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736EB-3315-4CFB-B12F-424910A6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D05F1-E42F-4DA0-B70B-FD6E1F48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4CC5-655D-4CB7-B46F-DFF6F7CEC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5ED8-B582-4577-9B9A-A0C5526A5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5604B-50A9-45CC-B0BB-4A22D54E0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2F448-3A78-453D-881F-986BE7521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5EDDA-5C3E-4838-8718-09AB1040F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B1516-9918-4EFA-BDC7-1822546D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2BFDCD-0A72-4ADB-8B09-4B3D27FC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61E47-0798-4C07-8B2A-E4EC2A25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3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97D4-7FE8-43B0-A518-68F8890A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0106D-FF7D-4EDC-9201-7DD558FB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1494B-DA08-4390-92A7-FBFE0030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7E8F2-C98A-4D88-827C-90D2583A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8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063B2-0E0A-4111-8DF9-E3225D91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26362-9A7B-4750-A03D-1C2B7C8A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55503-086A-402B-98FA-5F6BA1B2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47B3-ADA8-42EF-A3AB-7036874D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BDA72-E5B7-43E0-A911-FD90AFD61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F41AB-2F20-4F88-9D04-AF8AA1DE7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1FCD1-B1F7-4E72-9DC5-C6444850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942B-D16A-473A-B8DB-432DBDFE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9F83F-AC1E-4A8C-AE29-4A63D359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2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6A6E-5CA9-46CD-B08C-F438B5B0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99452-05FF-4CF5-8032-395004584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C9238-9A51-4C7C-B17D-36D71E960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BE64A-C915-4B0D-82BC-5000030E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3C595-90E9-43AD-8E22-232183A4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4F44E-EEE0-4763-9DFB-3F67771F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6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BD7C-69A6-4F5C-9AE7-32CA7672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11294-FD13-454A-A2EB-A4EAAB787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23EBD-0D2C-4AE5-8708-735D0753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3D5E5-F4AC-4A8B-828A-1A6F6E8C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FAED-4B41-42E4-92A0-B59A351A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37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CF46F-F07B-4CF1-AF27-F9992F9CF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F3CAA-E6A1-4730-9FEF-5B27C24EE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CC08-B659-483D-87B5-06DBDB7B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85A98-5F2F-4BFB-A2BD-797CB723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6B135-E5FE-48DC-8ACD-4C338D2D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73441-2F9B-4A25-9DD3-A855ACFD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A081F-4B7C-49F6-9DF4-433C3A1A8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EE578-C4EA-4730-9149-43B916CC0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ED602-0417-4F4A-BCF7-4BB9457120B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25E59-C3A7-46DD-96CA-7E6CAF519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E2F7D-0C56-4B8C-AA50-D2877DA93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C69A8-A936-4A9E-92A5-AE4A2F97D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3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301E03-9766-4120-9F72-BB2CDA30A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6513" y="2792505"/>
            <a:ext cx="2931458" cy="636495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6:Basic SQL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800DAC6-0261-456A-B794-A003B0B17995}"/>
              </a:ext>
            </a:extLst>
          </p:cNvPr>
          <p:cNvSpPr txBox="1">
            <a:spLocks/>
          </p:cNvSpPr>
          <p:nvPr/>
        </p:nvSpPr>
        <p:spPr>
          <a:xfrm>
            <a:off x="202601" y="6122894"/>
            <a:ext cx="2034988" cy="403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18.6.2026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64CB3CA-B6AA-45CD-BC88-0E8E8EE971FA}"/>
              </a:ext>
            </a:extLst>
          </p:cNvPr>
          <p:cNvSpPr txBox="1">
            <a:spLocks/>
          </p:cNvSpPr>
          <p:nvPr/>
        </p:nvSpPr>
        <p:spPr>
          <a:xfrm>
            <a:off x="9856075" y="6136342"/>
            <a:ext cx="2034988" cy="403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endParaRPr lang="en-US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1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8065-72FE-4B9C-A7D8-973F5C31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75094" cy="656851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C3CEE-9DFD-4F4B-A50A-7022EAB16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415"/>
            <a:ext cx="9273988" cy="3257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used to permanently remove a table from a database.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deletes both the table structure and all the data stored in the table.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delete the STUDENT table: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EB9A5E-56DF-41C2-B689-EACB0F92C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36" y="4470216"/>
            <a:ext cx="6529352" cy="1156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 TABLE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permanently removes the table and all its records.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deleted table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be used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unless it is created again.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this command carefully because the data cannot be easily recovered. </a:t>
            </a:r>
          </a:p>
        </p:txBody>
      </p:sp>
    </p:spTree>
    <p:extLst>
      <p:ext uri="{BB962C8B-B14F-4D97-AF65-F5344CB8AC3E}">
        <p14:creationId xmlns:p14="http://schemas.microsoft.com/office/powerpoint/2010/main" val="310579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AA0C-6A3E-4A92-B920-7B349FDE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35" y="284442"/>
            <a:ext cx="4567518" cy="74649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Dropping Multiple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32B6-FB85-4EE0-A4EF-474A52BAB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1253331"/>
            <a:ext cx="10515600" cy="33097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delete more than one table at the same time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STUDENT, COURSE, TEACHER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 booking;  /*Error Code: 1051. Unknown table '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marketdata.booking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'*/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IF EXISTS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avoid an error if the table does not exist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 TABLE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EXISTS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 table if exists booking;   /* 0 row(s) affected, 1 warning(s): 1051 Unknown table '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marketdata.booking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'*/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59292-824F-416E-9E7A-244C9CF6E965}"/>
              </a:ext>
            </a:extLst>
          </p:cNvPr>
          <p:cNvSpPr txBox="1"/>
          <p:nvPr/>
        </p:nvSpPr>
        <p:spPr>
          <a:xfrm>
            <a:off x="524435" y="4785425"/>
            <a:ext cx="8238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If foreign keys exist, child tables should be dropped before parent tables.</a:t>
            </a:r>
          </a:p>
        </p:txBody>
      </p:sp>
    </p:spTree>
    <p:extLst>
      <p:ext uri="{BB962C8B-B14F-4D97-AF65-F5344CB8AC3E}">
        <p14:creationId xmlns:p14="http://schemas.microsoft.com/office/powerpoint/2010/main" val="35347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E435-D79C-402C-92EC-FCC43EE0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7" y="383054"/>
            <a:ext cx="9462247" cy="656851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DROP, TRUNCATE, and DELETE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756B5-31D4-4D2B-94F7-C96F5DD28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66374"/>
              </p:ext>
            </p:extLst>
          </p:nvPr>
        </p:nvGraphicFramePr>
        <p:xfrm>
          <a:off x="649942" y="1136174"/>
          <a:ext cx="6638364" cy="20149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653377">
                  <a:extLst>
                    <a:ext uri="{9D8B030D-6E8A-4147-A177-3AD203B41FA5}">
                      <a16:colId xmlns:a16="http://schemas.microsoft.com/office/drawing/2014/main" val="3094527011"/>
                    </a:ext>
                  </a:extLst>
                </a:gridCol>
                <a:gridCol w="2380523">
                  <a:extLst>
                    <a:ext uri="{9D8B030D-6E8A-4147-A177-3AD203B41FA5}">
                      <a16:colId xmlns:a16="http://schemas.microsoft.com/office/drawing/2014/main" val="2654034704"/>
                    </a:ext>
                  </a:extLst>
                </a:gridCol>
                <a:gridCol w="1604464">
                  <a:extLst>
                    <a:ext uri="{9D8B030D-6E8A-4147-A177-3AD203B41FA5}">
                      <a16:colId xmlns:a16="http://schemas.microsoft.com/office/drawing/2014/main" val="2778559384"/>
                    </a:ext>
                  </a:extLst>
                </a:gridCol>
              </a:tblGrid>
              <a:tr h="64111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652704"/>
                  </a:ext>
                </a:extLst>
              </a:tr>
              <a:tr h="36634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232803"/>
                  </a:ext>
                </a:extLst>
              </a:tr>
              <a:tr h="64111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TRUNCATE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980434"/>
                  </a:ext>
                </a:extLst>
              </a:tr>
              <a:tr h="36634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FROM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503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49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D11F-8EC1-4A0F-ACA2-5035EF3B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71" y="365125"/>
            <a:ext cx="6987988" cy="746499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Records into a Table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3346-A311-4817-9D56-69D027481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1" y="1189131"/>
            <a:ext cx="8583705" cy="23877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used to add new records (rows) into a table.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(column1, column2, column3, ...)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(value1, value2, value3, ...)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89B3B9-9419-4E6A-90C5-9C2C6B170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71" y="3429000"/>
            <a:ext cx="4513729" cy="78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Create table name,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table named STUDENT: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111F8-0FF0-45A4-A7C4-021BEF58640C}"/>
              </a:ext>
            </a:extLst>
          </p:cNvPr>
          <p:cNvSpPr txBox="1"/>
          <p:nvPr/>
        </p:nvSpPr>
        <p:spPr>
          <a:xfrm>
            <a:off x="806823" y="4483277"/>
            <a:ext cx="375621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VARCHAR(50)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06FF9-602B-4D0D-AC9C-859238AF6B63}"/>
              </a:ext>
            </a:extLst>
          </p:cNvPr>
          <p:cNvSpPr txBox="1"/>
          <p:nvPr/>
        </p:nvSpPr>
        <p:spPr>
          <a:xfrm>
            <a:off x="4796120" y="4483277"/>
            <a:ext cx="2061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insert one record: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CAFD2-DFF5-4820-9C20-451E2633C314}"/>
              </a:ext>
            </a:extLst>
          </p:cNvPr>
          <p:cNvSpPr txBox="1"/>
          <p:nvPr/>
        </p:nvSpPr>
        <p:spPr>
          <a:xfrm>
            <a:off x="4796120" y="4854618"/>
            <a:ext cx="609600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Age)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(1, 'Aung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20);</a:t>
            </a:r>
          </a:p>
        </p:txBody>
      </p:sp>
    </p:spTree>
    <p:extLst>
      <p:ext uri="{BB962C8B-B14F-4D97-AF65-F5344CB8AC3E}">
        <p14:creationId xmlns:p14="http://schemas.microsoft.com/office/powerpoint/2010/main" val="322655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804D2D-85E1-45F4-91F9-968B459A7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8" y="277016"/>
            <a:ext cx="28520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Inserting Multiple Records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F9036-37C2-4216-BA2F-0E001B44BA47}"/>
              </a:ext>
            </a:extLst>
          </p:cNvPr>
          <p:cNvSpPr txBox="1"/>
          <p:nvPr/>
        </p:nvSpPr>
        <p:spPr>
          <a:xfrm>
            <a:off x="331695" y="736031"/>
            <a:ext cx="6275294" cy="2159570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INSERT INTO STUDENT (</a:t>
            </a:r>
            <a:r>
              <a:rPr lang="en-US" dirty="0" err="1"/>
              <a:t>StudentID</a:t>
            </a:r>
            <a:r>
              <a:rPr lang="en-US" dirty="0"/>
              <a:t>, </a:t>
            </a:r>
            <a:r>
              <a:rPr lang="en-US" dirty="0" err="1"/>
              <a:t>StudentName</a:t>
            </a:r>
            <a:r>
              <a:rPr lang="en-US" dirty="0"/>
              <a:t>, Age)</a:t>
            </a:r>
          </a:p>
          <a:p>
            <a:r>
              <a:rPr lang="en-US" dirty="0"/>
              <a:t>VALUES</a:t>
            </a:r>
          </a:p>
          <a:p>
            <a:r>
              <a:rPr lang="en-US" dirty="0"/>
              <a:t>(2, '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', 19),</a:t>
            </a:r>
          </a:p>
          <a:p>
            <a:r>
              <a:rPr lang="en-US" dirty="0"/>
              <a:t>(3, 'Mg </a:t>
            </a:r>
            <a:r>
              <a:rPr lang="en-US" dirty="0" err="1"/>
              <a:t>Mg</a:t>
            </a:r>
            <a:r>
              <a:rPr lang="en-US" dirty="0"/>
              <a:t>', 21),</a:t>
            </a:r>
          </a:p>
          <a:p>
            <a:r>
              <a:rPr lang="en-US" dirty="0"/>
              <a:t>(4, '</a:t>
            </a:r>
            <a:r>
              <a:rPr lang="en-US" dirty="0" err="1"/>
              <a:t>Hla</a:t>
            </a:r>
            <a:r>
              <a:rPr lang="en-US" dirty="0"/>
              <a:t> </a:t>
            </a:r>
            <a:r>
              <a:rPr lang="en-US" dirty="0" err="1"/>
              <a:t>Hla</a:t>
            </a:r>
            <a:r>
              <a:rPr lang="en-US" dirty="0"/>
              <a:t>', 20);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438A6-3FAE-42D4-967A-5F261B3848E7}"/>
              </a:ext>
            </a:extLst>
          </p:cNvPr>
          <p:cNvSpPr txBox="1"/>
          <p:nvPr/>
        </p:nvSpPr>
        <p:spPr>
          <a:xfrm>
            <a:off x="224118" y="2895601"/>
            <a:ext cx="847164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Values into All Columns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values are provided for all columns in the correct order, column names may be omitted: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27389-236C-4CD2-B469-1DEE552AA15F}"/>
              </a:ext>
            </a:extLst>
          </p:cNvPr>
          <p:cNvSpPr txBox="1"/>
          <p:nvPr/>
        </p:nvSpPr>
        <p:spPr>
          <a:xfrm>
            <a:off x="224118" y="3864696"/>
            <a:ext cx="3469340" cy="873572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(5, 'Kyaw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Kyaw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22);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BC7D59A-D139-4515-B844-BA8B0761A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8" y="4833792"/>
            <a:ext cx="30935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Viewing the Inserted Records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E5061-87A2-4744-8202-FD6077F4D786}"/>
              </a:ext>
            </a:extLst>
          </p:cNvPr>
          <p:cNvSpPr txBox="1"/>
          <p:nvPr/>
        </p:nvSpPr>
        <p:spPr>
          <a:xfrm>
            <a:off x="269657" y="5394171"/>
            <a:ext cx="3334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STUDENT;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092268F-9BDD-4A6E-BC26-338692F6F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576" y="4143090"/>
            <a:ext cx="6388544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INTO → Specifies the table where data will be added.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Age) → Specifies the columns.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VALUES → Contains the values to be inserted.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INSERT statement adds one or more rows into the table.</a:t>
            </a:r>
          </a:p>
        </p:txBody>
      </p:sp>
    </p:spTree>
    <p:extLst>
      <p:ext uri="{BB962C8B-B14F-4D97-AF65-F5344CB8AC3E}">
        <p14:creationId xmlns:p14="http://schemas.microsoft.com/office/powerpoint/2010/main" val="154083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7CC-A178-4BBC-AFDF-ED62172D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90" y="213658"/>
            <a:ext cx="5060576" cy="512483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Records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6EC01-6AF1-4E4E-B73F-DFEC770D6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839508"/>
            <a:ext cx="10515600" cy="33649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used to modify existing records in a table.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column1 = value1, column2 = value2, ...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table contains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C845BC-A2E2-49C2-9F2E-7ED46F1B6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670108"/>
              </p:ext>
            </p:extLst>
          </p:nvPr>
        </p:nvGraphicFramePr>
        <p:xfrm>
          <a:off x="591672" y="4129555"/>
          <a:ext cx="7888939" cy="1240155"/>
        </p:xfrm>
        <a:graphic>
          <a:graphicData uri="http://schemas.openxmlformats.org/drawingml/2006/table">
            <a:tbl>
              <a:tblPr/>
              <a:tblGrid>
                <a:gridCol w="1573305">
                  <a:extLst>
                    <a:ext uri="{9D8B030D-6E8A-4147-A177-3AD203B41FA5}">
                      <a16:colId xmlns:a16="http://schemas.microsoft.com/office/drawing/2014/main" val="4038145405"/>
                    </a:ext>
                  </a:extLst>
                </a:gridCol>
                <a:gridCol w="3142128">
                  <a:extLst>
                    <a:ext uri="{9D8B030D-6E8A-4147-A177-3AD203B41FA5}">
                      <a16:colId xmlns:a16="http://schemas.microsoft.com/office/drawing/2014/main" val="2548030144"/>
                    </a:ext>
                  </a:extLst>
                </a:gridCol>
                <a:gridCol w="3173506">
                  <a:extLst>
                    <a:ext uri="{9D8B030D-6E8A-4147-A177-3AD203B41FA5}">
                      <a16:colId xmlns:a16="http://schemas.microsoft.com/office/drawing/2014/main" val="1920590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StudentID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StudentName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799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92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941660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1A735A6D-7F37-4C3D-9AAF-8BCD5806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5" y="5649160"/>
            <a:ext cx="4340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change Aung Aung's age from 20 to 21: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969C4-F774-416C-A162-9F12B991E4F4}"/>
              </a:ext>
            </a:extLst>
          </p:cNvPr>
          <p:cNvSpPr txBox="1"/>
          <p:nvPr/>
        </p:nvSpPr>
        <p:spPr>
          <a:xfrm>
            <a:off x="8731624" y="5440449"/>
            <a:ext cx="2501153" cy="11560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Age = 21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181874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8340FA-8DED-4948-9956-B0EF56F28368}"/>
              </a:ext>
            </a:extLst>
          </p:cNvPr>
          <p:cNvSpPr txBox="1"/>
          <p:nvPr/>
        </p:nvSpPr>
        <p:spPr>
          <a:xfrm>
            <a:off x="412376" y="264024"/>
            <a:ext cx="4392706" cy="901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Multiple Columns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both the student's name and age: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D7CE2-C7F6-4BE5-A2AA-A1D13510B24A}"/>
              </a:ext>
            </a:extLst>
          </p:cNvPr>
          <p:cNvSpPr txBox="1"/>
          <p:nvPr/>
        </p:nvSpPr>
        <p:spPr>
          <a:xfrm>
            <a:off x="493059" y="1290934"/>
            <a:ext cx="3541059" cy="115608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UPDATE STUDENT</a:t>
            </a:r>
          </a:p>
          <a:p>
            <a:r>
              <a:rPr lang="en-US" dirty="0"/>
              <a:t>SET </a:t>
            </a:r>
            <a:r>
              <a:rPr lang="en-US" dirty="0" err="1"/>
              <a:t>StudentName</a:t>
            </a:r>
            <a:r>
              <a:rPr lang="en-US" dirty="0"/>
              <a:t> = 'Ko </a:t>
            </a:r>
            <a:r>
              <a:rPr lang="en-US" dirty="0" err="1"/>
              <a:t>Ko</a:t>
            </a:r>
            <a:r>
              <a:rPr lang="en-US" dirty="0"/>
              <a:t>', Age = 22</a:t>
            </a:r>
          </a:p>
          <a:p>
            <a:r>
              <a:rPr lang="en-US" dirty="0"/>
              <a:t>WHERE </a:t>
            </a:r>
            <a:r>
              <a:rPr lang="en-US" dirty="0" err="1"/>
              <a:t>StudentID</a:t>
            </a:r>
            <a:r>
              <a:rPr lang="en-US" dirty="0"/>
              <a:t> = 1;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0B29B6-0771-4C5F-AE6A-AF1FA701E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59" y="2642246"/>
            <a:ext cx="6049028" cy="78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Updating All Records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WHERE clause is omitted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rows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table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be updated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EC25E-4D90-43F2-87CA-EFEB63E89D8C}"/>
              </a:ext>
            </a:extLst>
          </p:cNvPr>
          <p:cNvSpPr txBox="1"/>
          <p:nvPr/>
        </p:nvSpPr>
        <p:spPr>
          <a:xfrm>
            <a:off x="542365" y="3530477"/>
            <a:ext cx="2698377" cy="7867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UPDATE STUDENT</a:t>
            </a:r>
          </a:p>
          <a:p>
            <a:r>
              <a:rPr lang="en-US" dirty="0"/>
              <a:t>SET Age = 18;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1D973-5E4D-463A-9243-90AF721809D6}"/>
              </a:ext>
            </a:extLst>
          </p:cNvPr>
          <p:cNvSpPr txBox="1"/>
          <p:nvPr/>
        </p:nvSpPr>
        <p:spPr>
          <a:xfrm>
            <a:off x="446087" y="45365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This statement changes the age of every student to 18.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56A0DA9-9EED-424B-B353-0AA94F085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699" y="3429000"/>
            <a:ext cx="5448351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→ Specifies the table to be modified.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→ Specifies the new value(s).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→ Identifies which record(s) to update.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WHERE, all records in the table are updated.</a:t>
            </a:r>
          </a:p>
        </p:txBody>
      </p:sp>
    </p:spTree>
    <p:extLst>
      <p:ext uri="{BB962C8B-B14F-4D97-AF65-F5344CB8AC3E}">
        <p14:creationId xmlns:p14="http://schemas.microsoft.com/office/powerpoint/2010/main" val="216587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DAAC71-9BE9-44CB-8EF8-84D24956C86A}"/>
              </a:ext>
            </a:extLst>
          </p:cNvPr>
          <p:cNvSpPr txBox="1"/>
          <p:nvPr/>
        </p:nvSpPr>
        <p:spPr>
          <a:xfrm>
            <a:off x="331694" y="303909"/>
            <a:ext cx="531607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Command in MySQL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09738-DCB5-4516-BFBA-3352ED7D37EE}"/>
              </a:ext>
            </a:extLst>
          </p:cNvPr>
          <p:cNvSpPr txBox="1"/>
          <p:nvPr/>
        </p:nvSpPr>
        <p:spPr>
          <a:xfrm>
            <a:off x="528918" y="1039906"/>
            <a:ext cx="969981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is used to modify the structure of an existing table.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you to add, delete, rename, or change columns and constraints without recreating the table.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3E50899-6F19-4913-8CEA-885694D4D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35" y="3159974"/>
            <a:ext cx="3236784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Add a New Column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data_type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3AA98-6475-4C61-9234-AD7EEAFB16CD}"/>
              </a:ext>
            </a:extLst>
          </p:cNvPr>
          <p:cNvSpPr txBox="1"/>
          <p:nvPr/>
        </p:nvSpPr>
        <p:spPr>
          <a:xfrm>
            <a:off x="448235" y="5010833"/>
            <a:ext cx="3056965" cy="12958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ALTER TABLE STUDENT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ADD Email VARCHAR(100);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0F186CF-04D7-49B0-A66E-7B54C272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783" y="2107078"/>
            <a:ext cx="5312095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Modify a Column Data Type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COLUMN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new_data_type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F7F997-8BFF-47BE-AF3E-8527FE42A71C}"/>
              </a:ext>
            </a:extLst>
          </p:cNvPr>
          <p:cNvSpPr txBox="1"/>
          <p:nvPr/>
        </p:nvSpPr>
        <p:spPr>
          <a:xfrm>
            <a:off x="4285129" y="4110869"/>
            <a:ext cx="4221854" cy="12958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</a:lvl1pPr>
          </a:lstStyle>
          <a:p>
            <a:r>
              <a:rPr lang="en-US" dirty="0"/>
              <a:t>Example:</a:t>
            </a:r>
          </a:p>
          <a:p>
            <a:r>
              <a:rPr lang="en-US" dirty="0"/>
              <a:t>ALTER TABLE STUDENT</a:t>
            </a:r>
          </a:p>
          <a:p>
            <a:r>
              <a:rPr lang="en-US" dirty="0"/>
              <a:t>MODIFY COLUMN Age VARCHAR(10);</a:t>
            </a:r>
          </a:p>
        </p:txBody>
      </p:sp>
    </p:spTree>
    <p:extLst>
      <p:ext uri="{BB962C8B-B14F-4D97-AF65-F5344CB8AC3E}">
        <p14:creationId xmlns:p14="http://schemas.microsoft.com/office/powerpoint/2010/main" val="2190438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F1FF6F-A2F4-4D14-8502-D2788825002B}"/>
              </a:ext>
            </a:extLst>
          </p:cNvPr>
          <p:cNvSpPr txBox="1"/>
          <p:nvPr/>
        </p:nvSpPr>
        <p:spPr>
          <a:xfrm>
            <a:off x="457200" y="339769"/>
            <a:ext cx="2465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Rename a Column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21EE9-5D7C-4CDB-96A6-60D39E70F02F}"/>
              </a:ext>
            </a:extLst>
          </p:cNvPr>
          <p:cNvSpPr txBox="1"/>
          <p:nvPr/>
        </p:nvSpPr>
        <p:spPr>
          <a:xfrm>
            <a:off x="797859" y="709101"/>
            <a:ext cx="60960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COLUMN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old_name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new_name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AB099-6704-4772-A2E9-F93ED7C5A4C8}"/>
              </a:ext>
            </a:extLst>
          </p:cNvPr>
          <p:cNvSpPr txBox="1"/>
          <p:nvPr/>
        </p:nvSpPr>
        <p:spPr>
          <a:xfrm>
            <a:off x="878541" y="2133132"/>
            <a:ext cx="4598894" cy="12958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</a:lvl1pPr>
          </a:lstStyle>
          <a:p>
            <a:r>
              <a:rPr lang="en-US" dirty="0"/>
              <a:t>Example</a:t>
            </a:r>
          </a:p>
          <a:p>
            <a:r>
              <a:rPr lang="en-US" dirty="0"/>
              <a:t>ALTER TABLE STUDENT</a:t>
            </a:r>
          </a:p>
          <a:p>
            <a:r>
              <a:rPr lang="en-US" dirty="0"/>
              <a:t>RENAME COLUMN </a:t>
            </a:r>
            <a:r>
              <a:rPr lang="en-US" dirty="0" err="1"/>
              <a:t>StudentName</a:t>
            </a:r>
            <a:r>
              <a:rPr lang="en-US" dirty="0"/>
              <a:t> TO Name;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3F734-16B6-4E37-B9EB-03C527C928DE}"/>
              </a:ext>
            </a:extLst>
          </p:cNvPr>
          <p:cNvSpPr txBox="1"/>
          <p:nvPr/>
        </p:nvSpPr>
        <p:spPr>
          <a:xfrm>
            <a:off x="5889812" y="302096"/>
            <a:ext cx="2008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Drop a Column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0CCBD-9647-4993-AE59-F7C1598DA470}"/>
              </a:ext>
            </a:extLst>
          </p:cNvPr>
          <p:cNvSpPr txBox="1"/>
          <p:nvPr/>
        </p:nvSpPr>
        <p:spPr>
          <a:xfrm>
            <a:off x="6033247" y="709101"/>
            <a:ext cx="422237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 COLUMN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7AF89-FDC2-4CDA-BD81-33A857D632F8}"/>
              </a:ext>
            </a:extLst>
          </p:cNvPr>
          <p:cNvSpPr txBox="1"/>
          <p:nvPr/>
        </p:nvSpPr>
        <p:spPr>
          <a:xfrm>
            <a:off x="6239436" y="2133132"/>
            <a:ext cx="2805953" cy="12958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</a:lvl1pPr>
          </a:lstStyle>
          <a:p>
            <a:r>
              <a:rPr lang="en-US" dirty="0"/>
              <a:t>Example</a:t>
            </a:r>
          </a:p>
          <a:p>
            <a:r>
              <a:rPr lang="en-US" dirty="0"/>
              <a:t>ALTER TABLE STUDENT</a:t>
            </a:r>
          </a:p>
          <a:p>
            <a:r>
              <a:rPr lang="en-US" dirty="0"/>
              <a:t>DROP COLUMN Email;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39A89C-25CB-4F5F-95E2-FDA61508513B}"/>
              </a:ext>
            </a:extLst>
          </p:cNvPr>
          <p:cNvSpPr txBox="1"/>
          <p:nvPr/>
        </p:nvSpPr>
        <p:spPr>
          <a:xfrm>
            <a:off x="654423" y="3719463"/>
            <a:ext cx="2429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5. Rename a Table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3E2521F-221A-45EE-954B-72A87D232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541" y="4088795"/>
            <a:ext cx="3399520" cy="12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old_table_name</a:t>
            </a:r>
            <a:b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 TO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new_table_name</a:t>
            </a:r>
            <a:r>
              <a:rPr lang="en-US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45DB-E533-48C6-9D82-43D155D130B8}"/>
              </a:ext>
            </a:extLst>
          </p:cNvPr>
          <p:cNvSpPr txBox="1"/>
          <p:nvPr/>
        </p:nvSpPr>
        <p:spPr>
          <a:xfrm>
            <a:off x="6239436" y="4092032"/>
            <a:ext cx="2801471" cy="129586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</a:lvl1pPr>
          </a:lstStyle>
          <a:p>
            <a:r>
              <a:rPr lang="en-US" dirty="0"/>
              <a:t>Example</a:t>
            </a:r>
          </a:p>
          <a:p>
            <a:r>
              <a:rPr lang="en-US" dirty="0"/>
              <a:t>ALTER TABLE STUDENT</a:t>
            </a:r>
          </a:p>
          <a:p>
            <a:r>
              <a:rPr lang="en-US" dirty="0"/>
              <a:t>RENAME TO STUDENTS;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140F1F-EFF9-45AB-A808-36AEAC056C0F}"/>
              </a:ext>
            </a:extLst>
          </p:cNvPr>
          <p:cNvSpPr txBox="1"/>
          <p:nvPr/>
        </p:nvSpPr>
        <p:spPr>
          <a:xfrm>
            <a:off x="313764" y="5854587"/>
            <a:ext cx="115734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change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(schema)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table, while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change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the table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107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5BFF-8C69-457B-AC44-503925ABA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94" y="248585"/>
            <a:ext cx="6477000" cy="69271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Table Description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D2A6-C5F5-4982-BED1-655568A85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8" y="941295"/>
            <a:ext cx="10600764" cy="4392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description shows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names, data types, null values, keys, and default values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table.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DESCRIBE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SHOW COLUMNS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COLUMNS FROM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1B707-1E11-4275-9BB0-1143558725B2}"/>
              </a:ext>
            </a:extLst>
          </p:cNvPr>
          <p:cNvSpPr txBox="1"/>
          <p:nvPr/>
        </p:nvSpPr>
        <p:spPr>
          <a:xfrm>
            <a:off x="4509247" y="1634005"/>
            <a:ext cx="6096000" cy="115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View the CREATE TABLE Statement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CREATE TABLE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02512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4B2B-4996-4DAF-BBBB-D2A54CC3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451597"/>
            <a:ext cx="5195047" cy="665816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 Data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9550-17FD-49C7-B815-A38CFD05D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74" y="1117413"/>
            <a:ext cx="10269071" cy="179611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used to retrieve (fetch) data from one or more tables in a database.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Syntax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column_name</a:t>
            </a:r>
            <a:b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FROM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table_name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F2715-ED86-484E-852F-8211D4D61B77}"/>
              </a:ext>
            </a:extLst>
          </p:cNvPr>
          <p:cNvSpPr txBox="1"/>
          <p:nvPr/>
        </p:nvSpPr>
        <p:spPr>
          <a:xfrm>
            <a:off x="923366" y="2956523"/>
            <a:ext cx="333487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To retrieve all columns: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*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FROM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table_name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8855A-1296-480A-843F-729B28C6F44E}"/>
              </a:ext>
            </a:extLst>
          </p:cNvPr>
          <p:cNvSpPr txBox="1"/>
          <p:nvPr/>
        </p:nvSpPr>
        <p:spPr>
          <a:xfrm>
            <a:off x="3736042" y="2934809"/>
            <a:ext cx="402066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Retrieve Specific Columns: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038FA85-C4A4-471D-BA95-46F60F79D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6711" y="2859742"/>
            <a:ext cx="3903633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Retrieve Records with a Condition: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condition_statement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4998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30A071-233B-4F19-A1EC-E257D1AE1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60" y="426509"/>
            <a:ext cx="5889811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Sort Retrieved Data</a:t>
            </a:r>
          </a:p>
          <a:p>
            <a:pPr>
              <a:lnSpc>
                <a:spcPct val="150000"/>
              </a:lnSpc>
            </a:pPr>
            <a:r>
              <a:rPr lang="en-US" dirty="0"/>
              <a:t>SELECT </a:t>
            </a:r>
            <a:r>
              <a:rPr lang="en-US" dirty="0" err="1"/>
              <a:t>column_name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table_name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column_name</a:t>
            </a:r>
            <a:r>
              <a:rPr lang="en-US" dirty="0"/>
              <a:t> [ASC | DESC];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Ascending order (small to large, A to Z)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Descending order (large to small, Z to A)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A03640-153E-49CF-BC41-1ED97ACDB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60" y="3348317"/>
            <a:ext cx="500230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Retrieve Distinct Values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This displays each attribute name only once.</a:t>
            </a:r>
          </a:p>
        </p:txBody>
      </p:sp>
    </p:spTree>
    <p:extLst>
      <p:ext uri="{BB962C8B-B14F-4D97-AF65-F5344CB8AC3E}">
        <p14:creationId xmlns:p14="http://schemas.microsoft.com/office/powerpoint/2010/main" val="4167595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6AAEB9-85DD-4B35-99FD-75425E3E98DB}"/>
              </a:ext>
            </a:extLst>
          </p:cNvPr>
          <p:cNvSpPr txBox="1"/>
          <p:nvPr/>
        </p:nvSpPr>
        <p:spPr>
          <a:xfrm>
            <a:off x="543180" y="393610"/>
            <a:ext cx="8842867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Address, Sex, Salary,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Mgr_start_date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WORKS_ON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Hours) 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Sex,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32BA7-3296-4A7C-87B5-715E7E1410E1}"/>
              </a:ext>
            </a:extLst>
          </p:cNvPr>
          <p:cNvSpPr txBox="1"/>
          <p:nvPr/>
        </p:nvSpPr>
        <p:spPr>
          <a:xfrm>
            <a:off x="708210" y="2605102"/>
            <a:ext cx="8077201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Display all employees.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Display employee first name, last name and salary.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employees who work in Department 5.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</a:t>
            </a:r>
          </a:p>
        </p:txBody>
      </p:sp>
    </p:spTree>
    <p:extLst>
      <p:ext uri="{BB962C8B-B14F-4D97-AF65-F5344CB8AC3E}">
        <p14:creationId xmlns:p14="http://schemas.microsoft.com/office/powerpoint/2010/main" val="2241966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63AA4A-C4DC-45F2-B67A-A57066665257}"/>
              </a:ext>
            </a:extLst>
          </p:cNvPr>
          <p:cNvSpPr txBox="1"/>
          <p:nvPr/>
        </p:nvSpPr>
        <p:spPr>
          <a:xfrm>
            <a:off x="502022" y="421522"/>
            <a:ext cx="8561295" cy="5588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4. Find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 employees whose salary is greater than 40000.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Salary &gt; 40000;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sorted by salary from highest to lowest.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BY Salary DESC;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salary of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sorted by salary from lowest to highest.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ORDER BY Salary ASC;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600" b="1" dirty="0"/>
              <a:t>Find the maximum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MAX(Salary)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Highest_Salary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</p:spTree>
    <p:extLst>
      <p:ext uri="{BB962C8B-B14F-4D97-AF65-F5344CB8AC3E}">
        <p14:creationId xmlns:p14="http://schemas.microsoft.com/office/powerpoint/2010/main" val="194993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1B6225-5F9E-4682-9059-D91F1692FB08}"/>
              </a:ext>
            </a:extLst>
          </p:cNvPr>
          <p:cNvSpPr txBox="1"/>
          <p:nvPr/>
        </p:nvSpPr>
        <p:spPr>
          <a:xfrm>
            <a:off x="502023" y="421522"/>
            <a:ext cx="6938684" cy="448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minimum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MIN(Salary)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Lowest_Salary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9. Find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total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sum(salary) as </a:t>
            </a:r>
            <a:r>
              <a:rPr 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Total_Salary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How many employees are there in the company?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Find the average salary.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select avg(salary) As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Avg_Salary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</p:spTree>
    <p:extLst>
      <p:ext uri="{BB962C8B-B14F-4D97-AF65-F5344CB8AC3E}">
        <p14:creationId xmlns:p14="http://schemas.microsoft.com/office/powerpoint/2010/main" val="29200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1414</Words>
  <Application>Microsoft Office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Ch 6:Basic SQL </vt:lpstr>
      <vt:lpstr>DROP TABLE in MySQL</vt:lpstr>
      <vt:lpstr>Dropping Multiple Tables</vt:lpstr>
      <vt:lpstr>Difference Between DROP, TRUNCATE, and DELETE</vt:lpstr>
      <vt:lpstr>Inserting Records into a Table in MySQL</vt:lpstr>
      <vt:lpstr>PowerPoint Presentation</vt:lpstr>
      <vt:lpstr>Updating Records in MySQL</vt:lpstr>
      <vt:lpstr>PowerPoint Presentation</vt:lpstr>
      <vt:lpstr>PowerPoint Presentation</vt:lpstr>
      <vt:lpstr>PowerPoint Presentation</vt:lpstr>
      <vt:lpstr>Viewing Table Description in MySQL</vt:lpstr>
      <vt:lpstr>Retrieving Data in MySQL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SQL </dc:title>
  <dc:creator>Nan Sandar Win</dc:creator>
  <cp:lastModifiedBy>Nan Sandar Win</cp:lastModifiedBy>
  <cp:revision>3</cp:revision>
  <dcterms:created xsi:type="dcterms:W3CDTF">2026-06-18T04:11:39Z</dcterms:created>
  <dcterms:modified xsi:type="dcterms:W3CDTF">2026-06-18T07:45:49Z</dcterms:modified>
</cp:coreProperties>
</file>