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1" r:id="rId6"/>
    <p:sldId id="262" r:id="rId7"/>
    <p:sldId id="264"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29085B8-4121-4E6E-A810-8D76CA2DB95F}" type="datetimeFigureOut">
              <a:rPr lang="en-US" smtClean="0"/>
              <a:t>6/16/2026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D65ACEDB-3C5E-4CC7-A8C7-565F05D14E48}" type="slidenum">
              <a:rPr lang="en-US" smtClean="0"/>
              <a:t>‹#›</a:t>
            </a:fld>
            <a:endParaRPr lang="en-US"/>
          </a:p>
        </p:txBody>
      </p:sp>
    </p:spTree>
    <p:extLst>
      <p:ext uri="{BB962C8B-B14F-4D97-AF65-F5344CB8AC3E}">
        <p14:creationId xmlns:p14="http://schemas.microsoft.com/office/powerpoint/2010/main" val="3368764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085B8-4121-4E6E-A810-8D76CA2DB95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963908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9085B8-4121-4E6E-A810-8D76CA2DB95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196543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9085B8-4121-4E6E-A810-8D76CA2DB95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3916283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9085B8-4121-4E6E-A810-8D76CA2DB95F}"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285032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9085B8-4121-4E6E-A810-8D76CA2DB95F}"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3064294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085B8-4121-4E6E-A810-8D76CA2DB95F}"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232385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529085B8-4121-4E6E-A810-8D76CA2DB95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65ACEDB-3C5E-4CC7-A8C7-565F05D14E48}" type="slidenum">
              <a:rPr lang="en-US" smtClean="0"/>
              <a:t>‹#›</a:t>
            </a:fld>
            <a:endParaRPr lang="en-US"/>
          </a:p>
        </p:txBody>
      </p:sp>
    </p:spTree>
    <p:extLst>
      <p:ext uri="{BB962C8B-B14F-4D97-AF65-F5344CB8AC3E}">
        <p14:creationId xmlns:p14="http://schemas.microsoft.com/office/powerpoint/2010/main" val="2479692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29085B8-4121-4E6E-A810-8D76CA2DB95F}" type="datetimeFigureOut">
              <a:rPr lang="en-US" smtClean="0"/>
              <a:t>6/16/2026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D65ACEDB-3C5E-4CC7-A8C7-565F05D14E48}" type="slidenum">
              <a:rPr lang="en-US" smtClean="0"/>
              <a:t>‹#›</a:t>
            </a:fld>
            <a:endParaRPr lang="en-US"/>
          </a:p>
        </p:txBody>
      </p:sp>
    </p:spTree>
    <p:extLst>
      <p:ext uri="{BB962C8B-B14F-4D97-AF65-F5344CB8AC3E}">
        <p14:creationId xmlns:p14="http://schemas.microsoft.com/office/powerpoint/2010/main" val="421608903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085B8-4121-4E6E-A810-8D76CA2DB95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1774970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085B8-4121-4E6E-A810-8D76CA2DB95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ACEDB-3C5E-4CC7-A8C7-565F05D14E48}" type="slidenum">
              <a:rPr lang="en-US" smtClean="0"/>
              <a:t>‹#›</a:t>
            </a:fld>
            <a:endParaRPr lang="en-US"/>
          </a:p>
        </p:txBody>
      </p:sp>
    </p:spTree>
    <p:extLst>
      <p:ext uri="{BB962C8B-B14F-4D97-AF65-F5344CB8AC3E}">
        <p14:creationId xmlns:p14="http://schemas.microsoft.com/office/powerpoint/2010/main" val="2102611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29085B8-4121-4E6E-A810-8D76CA2DB95F}" type="datetimeFigureOut">
              <a:rPr lang="en-US" smtClean="0"/>
              <a:t>6/16/2026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D65ACEDB-3C5E-4CC7-A8C7-565F05D14E48}" type="slidenum">
              <a:rPr lang="en-US" smtClean="0"/>
              <a:t>‹#›</a:t>
            </a:fld>
            <a:endParaRPr lang="en-US"/>
          </a:p>
        </p:txBody>
      </p:sp>
    </p:spTree>
    <p:extLst>
      <p:ext uri="{BB962C8B-B14F-4D97-AF65-F5344CB8AC3E}">
        <p14:creationId xmlns:p14="http://schemas.microsoft.com/office/powerpoint/2010/main" val="3936824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4648-7AC8-4440-A6DB-19D4FAD3C59A}"/>
              </a:ext>
            </a:extLst>
          </p:cNvPr>
          <p:cNvSpPr>
            <a:spLocks noGrp="1"/>
          </p:cNvSpPr>
          <p:nvPr>
            <p:ph type="ctrTitle"/>
          </p:nvPr>
        </p:nvSpPr>
        <p:spPr>
          <a:xfrm>
            <a:off x="603504" y="1"/>
            <a:ext cx="10782300" cy="2581274"/>
          </a:xfrm>
        </p:spPr>
        <p:txBody>
          <a:bodyPr/>
          <a:lstStyle/>
          <a:p>
            <a:pPr algn="ctr"/>
            <a:r>
              <a:rPr lang="en-US" sz="2200" b="1" dirty="0">
                <a:solidFill>
                  <a:schemeClr val="tx2"/>
                </a:solidFill>
                <a:latin typeface="Times New Roman" panose="02020603050405020304" pitchFamily="18" charset="0"/>
                <a:cs typeface="Times New Roman" panose="02020603050405020304" pitchFamily="18" charset="0"/>
              </a:rPr>
              <a:t> NAYPYITAW  STATE POLYTECHNIC UNIVERSITY</a:t>
            </a:r>
            <a:br>
              <a:rPr lang="en-US" sz="2200" b="1" dirty="0">
                <a:solidFill>
                  <a:schemeClr val="tx2"/>
                </a:solidFill>
                <a:latin typeface="Times New Roman" panose="02020603050405020304" pitchFamily="18" charset="0"/>
                <a:cs typeface="Times New Roman" panose="02020603050405020304" pitchFamily="18" charset="0"/>
              </a:rPr>
            </a:br>
            <a:r>
              <a:rPr lang="en-US" sz="2200" b="1" dirty="0">
                <a:solidFill>
                  <a:schemeClr val="tx2"/>
                </a:solidFill>
                <a:latin typeface="Times New Roman" panose="02020603050405020304" pitchFamily="18" charset="0"/>
                <a:cs typeface="Times New Roman" panose="02020603050405020304" pitchFamily="18" charset="0"/>
              </a:rPr>
              <a:t> Department of Language (English)</a:t>
            </a:r>
            <a:br>
              <a:rPr lang="en-US" sz="2200" b="1" dirty="0">
                <a:solidFill>
                  <a:schemeClr val="tx2"/>
                </a:solidFill>
                <a:latin typeface="Times New Roman" panose="02020603050405020304" pitchFamily="18" charset="0"/>
                <a:cs typeface="Times New Roman" panose="02020603050405020304" pitchFamily="18" charset="0"/>
              </a:rPr>
            </a:br>
            <a:r>
              <a:rPr lang="en-US" sz="2200" b="1" dirty="0">
                <a:solidFill>
                  <a:schemeClr val="tx2"/>
                </a:solidFill>
                <a:latin typeface="Times New Roman" panose="02020603050405020304" pitchFamily="18" charset="0"/>
                <a:cs typeface="Times New Roman" panose="02020603050405020304" pitchFamily="18" charset="0"/>
              </a:rPr>
              <a:t>                                                                                     </a:t>
            </a:r>
            <a:br>
              <a:rPr lang="en-US" sz="2200" b="1" dirty="0">
                <a:solidFill>
                  <a:schemeClr val="tx2"/>
                </a:solidFill>
                <a:latin typeface="Times New Roman" panose="02020603050405020304" pitchFamily="18" charset="0"/>
                <a:cs typeface="Times New Roman" panose="02020603050405020304" pitchFamily="18" charset="0"/>
              </a:rPr>
            </a:br>
            <a:r>
              <a:rPr lang="en-US" sz="2200" b="1" dirty="0">
                <a:solidFill>
                  <a:schemeClr val="tx2"/>
                </a:solidFill>
                <a:latin typeface="Times New Roman" panose="02020603050405020304" pitchFamily="18" charset="0"/>
                <a:cs typeface="Times New Roman" panose="02020603050405020304" pitchFamily="18" charset="0"/>
              </a:rPr>
              <a:t>     E – 4032</a:t>
            </a:r>
            <a:br>
              <a:rPr lang="en-US" sz="2200" b="1" dirty="0">
                <a:solidFill>
                  <a:schemeClr val="tx2"/>
                </a:solidFill>
                <a:latin typeface="Times New Roman" panose="02020603050405020304" pitchFamily="18" charset="0"/>
                <a:cs typeface="Times New Roman" panose="02020603050405020304" pitchFamily="18" charset="0"/>
              </a:rPr>
            </a:br>
            <a:br>
              <a:rPr lang="en-US" sz="2200" b="1" dirty="0">
                <a:solidFill>
                  <a:schemeClr val="tx2"/>
                </a:solidFill>
                <a:latin typeface="Times New Roman" panose="02020603050405020304" pitchFamily="18" charset="0"/>
                <a:cs typeface="Times New Roman" panose="02020603050405020304" pitchFamily="18" charset="0"/>
              </a:rPr>
            </a:br>
            <a:r>
              <a:rPr lang="en-US" sz="2200" b="1" dirty="0">
                <a:solidFill>
                  <a:schemeClr val="tx2"/>
                </a:solidFill>
                <a:latin typeface="Times New Roman" panose="02020603050405020304" pitchFamily="18" charset="0"/>
                <a:cs typeface="Times New Roman" panose="02020603050405020304" pitchFamily="18" charset="0"/>
              </a:rPr>
              <a:t>LETTER WRITING   </a:t>
            </a:r>
            <a:br>
              <a:rPr lang="en-US" sz="2200" b="1" dirty="0">
                <a:latin typeface="Times New Roman" panose="02020603050405020304" pitchFamily="18" charset="0"/>
                <a:cs typeface="Times New Roman" panose="02020603050405020304" pitchFamily="18" charset="0"/>
              </a:rPr>
            </a:br>
            <a:endParaRPr lang="en-US" sz="2200" dirty="0"/>
          </a:p>
        </p:txBody>
      </p:sp>
      <p:sp>
        <p:nvSpPr>
          <p:cNvPr id="3" name="Subtitle 2">
            <a:extLst>
              <a:ext uri="{FF2B5EF4-FFF2-40B4-BE49-F238E27FC236}">
                <a16:creationId xmlns:a16="http://schemas.microsoft.com/office/drawing/2014/main" id="{EA811320-52DC-43C0-8752-5EF49A9ACAF0}"/>
              </a:ext>
            </a:extLst>
          </p:cNvPr>
          <p:cNvSpPr>
            <a:spLocks noGrp="1"/>
          </p:cNvSpPr>
          <p:nvPr>
            <p:ph type="subTitle" idx="1"/>
          </p:nvPr>
        </p:nvSpPr>
        <p:spPr>
          <a:xfrm>
            <a:off x="0" y="5572125"/>
            <a:ext cx="12420600" cy="1200149"/>
          </a:xfrm>
        </p:spPr>
        <p:txBody>
          <a:bodyPr/>
          <a:lstStyle/>
          <a:p>
            <a:pPr algn="ctr"/>
            <a:r>
              <a:rPr lang="en-US" b="1" dirty="0">
                <a:solidFill>
                  <a:schemeClr val="tx2"/>
                </a:solidFill>
                <a:latin typeface="Times New Roman" panose="02020603050405020304" pitchFamily="18" charset="0"/>
                <a:cs typeface="Times New Roman" panose="02020603050405020304" pitchFamily="18" charset="0"/>
              </a:rPr>
              <a:t>                                                               </a:t>
            </a:r>
            <a:r>
              <a:rPr lang="en-US" sz="2000" b="1" dirty="0">
                <a:solidFill>
                  <a:schemeClr val="tx2"/>
                </a:solidFill>
                <a:latin typeface="Times New Roman" panose="02020603050405020304" pitchFamily="18" charset="0"/>
                <a:cs typeface="Times New Roman" panose="02020603050405020304" pitchFamily="18" charset="0"/>
              </a:rPr>
              <a:t>Taught by </a:t>
            </a:r>
          </a:p>
          <a:p>
            <a:pPr algn="ctr"/>
            <a:r>
              <a:rPr lang="en-US" sz="2000" b="1" dirty="0">
                <a:solidFill>
                  <a:schemeClr val="tx2"/>
                </a:solidFill>
                <a:latin typeface="Times New Roman" panose="02020603050405020304" pitchFamily="18" charset="0"/>
                <a:cs typeface="Times New Roman" panose="02020603050405020304" pitchFamily="18" charset="0"/>
              </a:rPr>
              <a:t>                                                                                                     Daw Zin Mar Lwin</a:t>
            </a:r>
          </a:p>
          <a:p>
            <a:endParaRPr lang="en-US" dirty="0"/>
          </a:p>
        </p:txBody>
      </p:sp>
    </p:spTree>
    <p:extLst>
      <p:ext uri="{BB962C8B-B14F-4D97-AF65-F5344CB8AC3E}">
        <p14:creationId xmlns:p14="http://schemas.microsoft.com/office/powerpoint/2010/main" val="2154306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2BE5-7130-4F88-93DB-B90D4C6B2C79}"/>
              </a:ext>
            </a:extLst>
          </p:cNvPr>
          <p:cNvSpPr>
            <a:spLocks noGrp="1"/>
          </p:cNvSpPr>
          <p:nvPr>
            <p:ph type="title"/>
          </p:nvPr>
        </p:nvSpPr>
        <p:spPr>
          <a:xfrm>
            <a:off x="142876" y="85725"/>
            <a:ext cx="11820524" cy="876300"/>
          </a:xfrm>
        </p:spPr>
        <p:txBody>
          <a:bodyPr/>
          <a:lstStyle/>
          <a:p>
            <a:r>
              <a:rPr lang="en-US" b="1" dirty="0">
                <a:latin typeface="Times New Roman" panose="02020603050405020304" pitchFamily="18" charset="0"/>
                <a:cs typeface="Times New Roman" panose="02020603050405020304" pitchFamily="18" charset="0"/>
              </a:rPr>
              <a:t>LESSON PLAN  for TODAY</a:t>
            </a:r>
            <a:endParaRPr lang="en-US" dirty="0"/>
          </a:p>
        </p:txBody>
      </p:sp>
      <p:pic>
        <p:nvPicPr>
          <p:cNvPr id="4" name="Content Placeholder 3">
            <a:extLst>
              <a:ext uri="{FF2B5EF4-FFF2-40B4-BE49-F238E27FC236}">
                <a16:creationId xmlns:a16="http://schemas.microsoft.com/office/drawing/2014/main" id="{233728C9-83FE-496E-970F-1B72CE4CD2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9226"/>
            <a:ext cx="10139996" cy="4257130"/>
          </a:xfrm>
          <a:prstGeom prst="rect">
            <a:avLst/>
          </a:prstGeom>
        </p:spPr>
      </p:pic>
    </p:spTree>
    <p:extLst>
      <p:ext uri="{BB962C8B-B14F-4D97-AF65-F5344CB8AC3E}">
        <p14:creationId xmlns:p14="http://schemas.microsoft.com/office/powerpoint/2010/main" val="378400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C1B47-57B9-40C0-A174-700E2BE4D050}"/>
              </a:ext>
            </a:extLst>
          </p:cNvPr>
          <p:cNvSpPr>
            <a:spLocks noGrp="1"/>
          </p:cNvSpPr>
          <p:nvPr>
            <p:ph type="title"/>
          </p:nvPr>
        </p:nvSpPr>
        <p:spPr>
          <a:xfrm>
            <a:off x="66676" y="85726"/>
            <a:ext cx="12030074" cy="571500"/>
          </a:xfrm>
        </p:spPr>
        <p:txBody>
          <a:bodyPr>
            <a:normAutofit fontScale="90000"/>
          </a:bodyPr>
          <a:lstStyle/>
          <a:p>
            <a:r>
              <a:rPr lang="en-US" sz="2200" b="1" dirty="0">
                <a:latin typeface="Times New Roman" panose="02020603050405020304" pitchFamily="18" charset="0"/>
                <a:cs typeface="Times New Roman" panose="02020603050405020304" pitchFamily="18" charset="0"/>
              </a:rPr>
              <a:t>a. Letters of Request  1 You will hear two members of a pottery society discussing a letter which they plan to send to their local community centre. Look at the question below, then listen to the cassette and fill in the answers.               PG 27 </a:t>
            </a:r>
          </a:p>
        </p:txBody>
      </p:sp>
      <p:sp>
        <p:nvSpPr>
          <p:cNvPr id="3" name="Content Placeholder 2">
            <a:extLst>
              <a:ext uri="{FF2B5EF4-FFF2-40B4-BE49-F238E27FC236}">
                <a16:creationId xmlns:a16="http://schemas.microsoft.com/office/drawing/2014/main" id="{396DD66D-8F77-4D21-B9B0-40B4056B8E2C}"/>
              </a:ext>
            </a:extLst>
          </p:cNvPr>
          <p:cNvSpPr>
            <a:spLocks noGrp="1"/>
          </p:cNvSpPr>
          <p:nvPr>
            <p:ph idx="1"/>
          </p:nvPr>
        </p:nvSpPr>
        <p:spPr>
          <a:xfrm>
            <a:off x="66676" y="857250"/>
            <a:ext cx="11363705" cy="5915024"/>
          </a:xfrm>
        </p:spPr>
        <p:txBody>
          <a:bodyPr>
            <a:normAutofit/>
          </a:bodyPr>
          <a:lstStyle/>
          <a:p>
            <a:pPr marL="457200" indent="-457200">
              <a:buAutoNum type="alphaLcParenR"/>
            </a:pPr>
            <a:r>
              <a:rPr lang="en-US" sz="2200" dirty="0">
                <a:solidFill>
                  <a:srgbClr val="0070C0"/>
                </a:solidFill>
                <a:latin typeface="Times New Roman" panose="02020603050405020304" pitchFamily="18" charset="0"/>
                <a:cs typeface="Times New Roman" panose="02020603050405020304" pitchFamily="18" charset="0"/>
              </a:rPr>
              <a:t>What is the main purpose of the letter?</a:t>
            </a:r>
          </a:p>
          <a:p>
            <a:pPr marL="457200" indent="-457200">
              <a:buAutoNum type="alphaLcParenR"/>
            </a:pPr>
            <a:r>
              <a:rPr lang="en-US" sz="2200" dirty="0">
                <a:solidFill>
                  <a:srgbClr val="0070C0"/>
                </a:solidFill>
                <a:latin typeface="Times New Roman" panose="02020603050405020304" pitchFamily="18" charset="0"/>
                <a:cs typeface="Times New Roman" panose="02020603050405020304" pitchFamily="18" charset="0"/>
              </a:rPr>
              <a:t>What do they want to exhibit?</a:t>
            </a:r>
          </a:p>
          <a:p>
            <a:pPr marL="457200" indent="-457200">
              <a:buAutoNum type="alphaLcParenR"/>
            </a:pPr>
            <a:r>
              <a:rPr lang="en-US" sz="2200" dirty="0">
                <a:solidFill>
                  <a:srgbClr val="0070C0"/>
                </a:solidFill>
                <a:latin typeface="Times New Roman" panose="02020603050405020304" pitchFamily="18" charset="0"/>
                <a:cs typeface="Times New Roman" panose="02020603050405020304" pitchFamily="18" charset="0"/>
              </a:rPr>
              <a:t>What explanation do they offer?</a:t>
            </a:r>
          </a:p>
          <a:p>
            <a:pPr marL="457200" indent="-457200">
              <a:buAutoNum type="alphaLcParenR"/>
            </a:pPr>
            <a:r>
              <a:rPr lang="en-US" sz="2200" dirty="0">
                <a:solidFill>
                  <a:srgbClr val="0070C0"/>
                </a:solidFill>
                <a:latin typeface="Times New Roman" panose="02020603050405020304" pitchFamily="18" charset="0"/>
                <a:cs typeface="Times New Roman" panose="02020603050405020304" pitchFamily="18" charset="0"/>
              </a:rPr>
              <a:t>What are the expected benefits?</a:t>
            </a:r>
          </a:p>
          <a:p>
            <a:pPr marL="457200" indent="-457200">
              <a:buAutoNum type="alphaLcParenR"/>
            </a:pPr>
            <a:r>
              <a:rPr lang="en-US" sz="2200" dirty="0">
                <a:solidFill>
                  <a:srgbClr val="0070C0"/>
                </a:solidFill>
                <a:latin typeface="Times New Roman" panose="02020603050405020304" pitchFamily="18" charset="0"/>
                <a:cs typeface="Times New Roman" panose="02020603050405020304" pitchFamily="18" charset="0"/>
              </a:rPr>
              <a:t>Which closing remark does the man suggest they use to end the letter?</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A formal letter of request is written to ask for permission, help, information, advice,etc. It may also provide information, explain a situation, make suggestion, present arguments in support of an opinion, etc. as requested in the topic instructions.</a:t>
            </a:r>
          </a:p>
          <a:p>
            <a:pPr>
              <a:buFont typeface="Arial" panose="020B0604020202020204" pitchFamily="34" charset="0"/>
              <a:buChar char="•"/>
            </a:pPr>
            <a:r>
              <a:rPr lang="en-US" sz="2200" dirty="0">
                <a:solidFill>
                  <a:srgbClr val="0070C0"/>
                </a:solidFill>
                <a:latin typeface="Times New Roman" panose="02020603050405020304" pitchFamily="18" charset="0"/>
                <a:cs typeface="Times New Roman" panose="02020603050405020304" pitchFamily="18" charset="0"/>
              </a:rPr>
              <a:t> Each point should be presented in a separate paragraph containing a clear topic sentence supported by examples and  / or justification.</a:t>
            </a:r>
          </a:p>
          <a:p>
            <a:pPr marL="0" indent="0">
              <a:buNone/>
            </a:pPr>
            <a:r>
              <a:rPr lang="en-US" sz="2200" b="1" dirty="0">
                <a:solidFill>
                  <a:srgbClr val="0070C0"/>
                </a:solidFill>
                <a:latin typeface="Times New Roman" panose="02020603050405020304" pitchFamily="18" charset="0"/>
                <a:cs typeface="Times New Roman" panose="02020603050405020304" pitchFamily="18" charset="0"/>
              </a:rPr>
              <a:t>                                                 Useful Language for Letters of Request</a:t>
            </a:r>
          </a:p>
          <a:p>
            <a:pPr>
              <a:buFont typeface="Arial" panose="020B0604020202020204" pitchFamily="34" charset="0"/>
              <a:buChar char="•"/>
            </a:pPr>
            <a:r>
              <a:rPr lang="en-US" sz="2200" b="1" dirty="0">
                <a:solidFill>
                  <a:srgbClr val="0070C0"/>
                </a:solidFill>
                <a:latin typeface="Times New Roman" panose="02020603050405020304" pitchFamily="18" charset="0"/>
                <a:cs typeface="Times New Roman" panose="02020603050405020304" pitchFamily="18" charset="0"/>
              </a:rPr>
              <a:t>To begin letters:</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I am writing to        ask if you would be so kind / generous as to…</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                                request your assistance concerning the matter of …</a:t>
            </a:r>
          </a:p>
        </p:txBody>
      </p:sp>
      <p:cxnSp>
        <p:nvCxnSpPr>
          <p:cNvPr id="5" name="Straight Connector 4">
            <a:extLst>
              <a:ext uri="{FF2B5EF4-FFF2-40B4-BE49-F238E27FC236}">
                <a16:creationId xmlns:a16="http://schemas.microsoft.com/office/drawing/2014/main" id="{03647B5A-CA7C-4C52-83FD-F6C54DF2A8C8}"/>
              </a:ext>
            </a:extLst>
          </p:cNvPr>
          <p:cNvCxnSpPr/>
          <p:nvPr/>
        </p:nvCxnSpPr>
        <p:spPr>
          <a:xfrm>
            <a:off x="2305050" y="5715000"/>
            <a:ext cx="0" cy="8286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623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0AE85-D826-4127-A691-A57FE0B382A1}"/>
              </a:ext>
            </a:extLst>
          </p:cNvPr>
          <p:cNvSpPr>
            <a:spLocks noGrp="1"/>
          </p:cNvSpPr>
          <p:nvPr>
            <p:ph type="title"/>
          </p:nvPr>
        </p:nvSpPr>
        <p:spPr>
          <a:xfrm>
            <a:off x="95250" y="95250"/>
            <a:ext cx="11334749" cy="2495550"/>
          </a:xfrm>
        </p:spPr>
        <p:txBody>
          <a:bodyPr>
            <a:normAutofit fontScale="90000"/>
          </a:bodyPr>
          <a:lstStyle/>
          <a:p>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wonder if you could possibly / if it would be possible for you to help me…..                                                   </a:t>
            </a:r>
            <a:r>
              <a:rPr lang="en-US" sz="2400" b="1" dirty="0">
                <a:latin typeface="Times New Roman" panose="02020603050405020304" pitchFamily="18" charset="0"/>
                <a:cs typeface="Times New Roman" panose="02020603050405020304" pitchFamily="18" charset="0"/>
              </a:rPr>
              <a:t>PG 27</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would (greatly) appreciate  if you could …..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would be most grateful if you could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am writing to ask / enquire if / whether you could possibly tell inform me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am writing to   ask if/ whether I might (perhaps) be permitted / allowed to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request your (kind) permission for …. / for me) to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 wonder if I might ask you for request your valuable advice on / concerning……</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CE9140-1315-4C2E-B3D6-3A6B1C41C538}"/>
              </a:ext>
            </a:extLst>
          </p:cNvPr>
          <p:cNvSpPr>
            <a:spLocks noGrp="1"/>
          </p:cNvSpPr>
          <p:nvPr>
            <p:ph idx="1"/>
          </p:nvPr>
        </p:nvSpPr>
        <p:spPr>
          <a:xfrm>
            <a:off x="247654" y="2590800"/>
            <a:ext cx="11182728" cy="4171950"/>
          </a:xfrm>
        </p:spPr>
        <p:txBody>
          <a:bodyPr/>
          <a:lstStyle/>
          <a:p>
            <a:pPr>
              <a:buFont typeface="Arial" panose="020B0604020202020204" pitchFamily="34" charset="0"/>
              <a:buChar char="•"/>
            </a:pPr>
            <a:r>
              <a:rPr lang="en-US" sz="2200" dirty="0">
                <a:solidFill>
                  <a:srgbClr val="0070C0"/>
                </a:solidFill>
                <a:latin typeface="Times New Roman" panose="02020603050405020304" pitchFamily="18" charset="0"/>
                <a:cs typeface="Times New Roman" panose="02020603050405020304" pitchFamily="18" charset="0"/>
              </a:rPr>
              <a:t>To end letters:</a:t>
            </a:r>
          </a:p>
          <a:p>
            <a:pPr>
              <a:buFont typeface="Arial" panose="020B0604020202020204" pitchFamily="34" charset="0"/>
              <a:buChar char="•"/>
            </a:pPr>
            <a:r>
              <a:rPr lang="en-US" sz="2200" dirty="0">
                <a:solidFill>
                  <a:srgbClr val="0070C0"/>
                </a:solidFill>
                <a:latin typeface="Times New Roman" panose="02020603050405020304" pitchFamily="18" charset="0"/>
                <a:cs typeface="Times New Roman" panose="02020603050405020304" pitchFamily="18" charset="0"/>
              </a:rPr>
              <a:t>I hope that my request will not inconvenience you too much.</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I must apologise for                                        troubling you with th’s matter.       </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I hope that you will forgive me for                 taking up your valuable time.</a:t>
            </a:r>
          </a:p>
          <a:p>
            <a:pPr marL="0" indent="0">
              <a:buNone/>
            </a:pPr>
            <a:endParaRPr lang="en-US" sz="2200" dirty="0">
              <a:solidFill>
                <a:srgbClr val="0070C0"/>
              </a:solidFill>
              <a:latin typeface="Times New Roman" panose="02020603050405020304" pitchFamily="18" charset="0"/>
              <a:cs typeface="Times New Roman" panose="02020603050405020304" pitchFamily="18" charset="0"/>
            </a:endParaRPr>
          </a:p>
          <a:p>
            <a:pPr marL="0" indent="0">
              <a:buNone/>
            </a:pPr>
            <a:r>
              <a:rPr lang="en-US" sz="2200" dirty="0">
                <a:solidFill>
                  <a:srgbClr val="0070C0"/>
                </a:solidFill>
                <a:latin typeface="Times New Roman" panose="02020603050405020304" pitchFamily="18" charset="0"/>
                <a:cs typeface="Times New Roman" panose="02020603050405020304" pitchFamily="18" charset="0"/>
              </a:rPr>
              <a:t>I look forward to hearing from you receiving your reply as soon as possible.</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Thank [ing] you in anticipation of you in advance for your kind cooperation.</a:t>
            </a:r>
          </a:p>
        </p:txBody>
      </p:sp>
      <p:cxnSp>
        <p:nvCxnSpPr>
          <p:cNvPr id="5" name="Straight Connector 4">
            <a:extLst>
              <a:ext uri="{FF2B5EF4-FFF2-40B4-BE49-F238E27FC236}">
                <a16:creationId xmlns:a16="http://schemas.microsoft.com/office/drawing/2014/main" id="{435222EE-1ED2-47D1-853D-5C6FAFBA57D5}"/>
              </a:ext>
            </a:extLst>
          </p:cNvPr>
          <p:cNvCxnSpPr/>
          <p:nvPr/>
        </p:nvCxnSpPr>
        <p:spPr>
          <a:xfrm>
            <a:off x="1695450" y="1314450"/>
            <a:ext cx="0" cy="552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E204E30-F9B3-4151-B735-4F18539C9D9D}"/>
              </a:ext>
            </a:extLst>
          </p:cNvPr>
          <p:cNvCxnSpPr/>
          <p:nvPr/>
        </p:nvCxnSpPr>
        <p:spPr>
          <a:xfrm>
            <a:off x="5200650" y="3609975"/>
            <a:ext cx="0" cy="8858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292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2867-CE19-4621-9F62-54D90CD2DD72}"/>
              </a:ext>
            </a:extLst>
          </p:cNvPr>
          <p:cNvSpPr>
            <a:spLocks noGrp="1"/>
          </p:cNvSpPr>
          <p:nvPr>
            <p:ph type="title"/>
          </p:nvPr>
        </p:nvSpPr>
        <p:spPr>
          <a:xfrm>
            <a:off x="0" y="1"/>
            <a:ext cx="12192000" cy="866774"/>
          </a:xfrm>
        </p:spPr>
        <p:txBody>
          <a:bodyPr>
            <a:noAutofit/>
          </a:bodyPr>
          <a:lstStyle/>
          <a:p>
            <a:r>
              <a:rPr lang="en-US" sz="2200" b="1" dirty="0">
                <a:latin typeface="Times New Roman" panose="02020603050405020304" pitchFamily="18" charset="0"/>
                <a:cs typeface="Times New Roman" panose="02020603050405020304" pitchFamily="18" charset="0"/>
              </a:rPr>
              <a:t>2. Read the instructions and the model below and insert the following topic sentences in the appropriate spaces in the letter. Then, complete the paragraph plan on the right, identifying the topic of each paragraph.       PG 28</a:t>
            </a:r>
            <a:br>
              <a:rPr lang="en-US" sz="2200" b="1" dirty="0">
                <a:latin typeface="Times New Roman" panose="02020603050405020304" pitchFamily="18" charset="0"/>
                <a:cs typeface="Times New Roman" panose="02020603050405020304" pitchFamily="18" charset="0"/>
              </a:rPr>
            </a:br>
            <a:endParaRPr lang="en-US" sz="2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13E82B-DA82-4F2D-8769-67F70391FC1D}"/>
              </a:ext>
            </a:extLst>
          </p:cNvPr>
          <p:cNvSpPr>
            <a:spLocks noGrp="1"/>
          </p:cNvSpPr>
          <p:nvPr>
            <p:ph idx="1"/>
          </p:nvPr>
        </p:nvSpPr>
        <p:spPr>
          <a:xfrm>
            <a:off x="209550" y="781049"/>
            <a:ext cx="11220831" cy="5972175"/>
          </a:xfrm>
        </p:spPr>
        <p:txBody>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a   </a:t>
            </a:r>
            <a:r>
              <a:rPr lang="en-US" sz="2200" dirty="0">
                <a:solidFill>
                  <a:srgbClr val="0070C0"/>
                </a:solidFill>
                <a:latin typeface="Times New Roman" panose="02020603050405020304" pitchFamily="18" charset="0"/>
                <a:cs typeface="Times New Roman" panose="02020603050405020304" pitchFamily="18" charset="0"/>
              </a:rPr>
              <a:t>I would like to offer certain suggestions as to how such a visit would be of benefit to your </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     company.</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b   It would likewise be valuable if we could tour the premises to get an overall impression of the </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     production system.</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c   It would be most useful to see how the theory we have been taught has been put into practice </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     in a real – life situation.</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d   In addition, I feel that your company might wish to use the visit as an opportunity for </a:t>
            </a:r>
          </a:p>
          <a:p>
            <a:pPr marL="0" indent="0">
              <a:buNone/>
            </a:pPr>
            <a:r>
              <a:rPr lang="en-US" sz="2200" dirty="0">
                <a:solidFill>
                  <a:srgbClr val="0070C0"/>
                </a:solidFill>
                <a:latin typeface="Times New Roman" panose="02020603050405020304" pitchFamily="18" charset="0"/>
                <a:cs typeface="Times New Roman" panose="02020603050405020304" pitchFamily="18" charset="0"/>
              </a:rPr>
              <a:t>     interviewing the students.</a:t>
            </a:r>
          </a:p>
        </p:txBody>
      </p:sp>
      <p:sp>
        <p:nvSpPr>
          <p:cNvPr id="4" name="Rectangle 3">
            <a:extLst>
              <a:ext uri="{FF2B5EF4-FFF2-40B4-BE49-F238E27FC236}">
                <a16:creationId xmlns:a16="http://schemas.microsoft.com/office/drawing/2014/main" id="{2579A4ED-5205-4147-AABD-B7D8563D1BC2}"/>
              </a:ext>
            </a:extLst>
          </p:cNvPr>
          <p:cNvSpPr/>
          <p:nvPr/>
        </p:nvSpPr>
        <p:spPr>
          <a:xfrm>
            <a:off x="571500" y="4352925"/>
            <a:ext cx="7200900" cy="20631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latin typeface="Times New Roman" panose="02020603050405020304" pitchFamily="18" charset="0"/>
                <a:cs typeface="Times New Roman" panose="02020603050405020304" pitchFamily="18" charset="0"/>
              </a:rPr>
              <a:t>Your economics class at school / college has chosen you to write to a local company asking permission to visit their premises. While the letter, explaining why your class would like to visit the company’s premises, and suggesting how the results of your study might be of benefit to them</a:t>
            </a:r>
            <a:r>
              <a:rPr lang="en-US" dirty="0"/>
              <a:t>.</a:t>
            </a:r>
          </a:p>
        </p:txBody>
      </p:sp>
    </p:spTree>
    <p:extLst>
      <p:ext uri="{BB962C8B-B14F-4D97-AF65-F5344CB8AC3E}">
        <p14:creationId xmlns:p14="http://schemas.microsoft.com/office/powerpoint/2010/main" val="939390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DA45BE-4B25-43E7-A11E-AED356ECB8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114300"/>
            <a:ext cx="6334125" cy="6638925"/>
          </a:xfrm>
        </p:spPr>
      </p:pic>
    </p:spTree>
    <p:extLst>
      <p:ext uri="{BB962C8B-B14F-4D97-AF65-F5344CB8AC3E}">
        <p14:creationId xmlns:p14="http://schemas.microsoft.com/office/powerpoint/2010/main" val="1465313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4D9CF-1532-4F05-ACEC-A1D1741FE627}"/>
              </a:ext>
            </a:extLst>
          </p:cNvPr>
          <p:cNvSpPr>
            <a:spLocks noGrp="1"/>
          </p:cNvSpPr>
          <p:nvPr>
            <p:ph type="title"/>
          </p:nvPr>
        </p:nvSpPr>
        <p:spPr>
          <a:xfrm>
            <a:off x="219076" y="0"/>
            <a:ext cx="11210924" cy="638175"/>
          </a:xfrm>
        </p:spPr>
        <p:txBody>
          <a:bodyPr>
            <a:normAutofit fontScale="90000"/>
          </a:bodyPr>
          <a:lstStyle/>
          <a:p>
            <a:r>
              <a:rPr lang="en-US" sz="2200" b="1" dirty="0">
                <a:latin typeface="Times New Roman" panose="02020603050405020304" pitchFamily="18" charset="0"/>
                <a:cs typeface="Times New Roman" panose="02020603050405020304" pitchFamily="18" charset="0"/>
              </a:rPr>
              <a:t>3  For each one of the situations below write a suitable beginning and ending using appropriate expressions. Then suggest reasons for writing them and the expected results of each request.                                                                    PG  28</a:t>
            </a:r>
          </a:p>
        </p:txBody>
      </p:sp>
      <p:sp>
        <p:nvSpPr>
          <p:cNvPr id="3" name="Content Placeholder 2">
            <a:extLst>
              <a:ext uri="{FF2B5EF4-FFF2-40B4-BE49-F238E27FC236}">
                <a16:creationId xmlns:a16="http://schemas.microsoft.com/office/drawing/2014/main" id="{935B33B5-7FFD-4928-87FD-537BF3935A69}"/>
              </a:ext>
            </a:extLst>
          </p:cNvPr>
          <p:cNvSpPr>
            <a:spLocks noGrp="1"/>
          </p:cNvSpPr>
          <p:nvPr>
            <p:ph idx="1"/>
          </p:nvPr>
        </p:nvSpPr>
        <p:spPr>
          <a:xfrm>
            <a:off x="219076" y="638175"/>
            <a:ext cx="11211305" cy="5895975"/>
          </a:xfrm>
        </p:spPr>
        <p:txBody>
          <a:bodyPr>
            <a:normAutofit/>
          </a:bodyPr>
          <a:lstStyle/>
          <a:p>
            <a:r>
              <a:rPr lang="en-US" sz="2200" dirty="0">
                <a:solidFill>
                  <a:srgbClr val="0070C0"/>
                </a:solidFill>
                <a:latin typeface="Times New Roman" panose="02020603050405020304" pitchFamily="18" charset="0"/>
                <a:cs typeface="Times New Roman" panose="02020603050405020304" pitchFamily="18" charset="0"/>
              </a:rPr>
              <a:t>1. You want to request a loan from your bank manager for home improvements.</a:t>
            </a:r>
          </a:p>
          <a:p>
            <a:r>
              <a:rPr lang="en-US" sz="2200" dirty="0">
                <a:solidFill>
                  <a:srgbClr val="0070C0"/>
                </a:solidFill>
                <a:latin typeface="Times New Roman" panose="02020603050405020304" pitchFamily="18" charset="0"/>
                <a:cs typeface="Times New Roman" panose="02020603050405020304" pitchFamily="18" charset="0"/>
              </a:rPr>
              <a:t>2. You want information from a college or university about a particular course of study you are </a:t>
            </a:r>
          </a:p>
          <a:p>
            <a:r>
              <a:rPr lang="en-US" sz="2200" dirty="0">
                <a:solidFill>
                  <a:srgbClr val="0070C0"/>
                </a:solidFill>
                <a:latin typeface="Times New Roman" panose="02020603050405020304" pitchFamily="18" charset="0"/>
                <a:cs typeface="Times New Roman" panose="02020603050405020304" pitchFamily="18" charset="0"/>
              </a:rPr>
              <a:t>    interested in.</a:t>
            </a:r>
          </a:p>
          <a:p>
            <a:r>
              <a:rPr lang="en-US" sz="2200" dirty="0">
                <a:solidFill>
                  <a:srgbClr val="0070C0"/>
                </a:solidFill>
                <a:latin typeface="Times New Roman" panose="02020603050405020304" pitchFamily="18" charset="0"/>
                <a:cs typeface="Times New Roman" panose="02020603050405020304" pitchFamily="18" charset="0"/>
              </a:rPr>
              <a:t>3. You want the director of an art gallery to look at your work and consider the possibility of </a:t>
            </a:r>
          </a:p>
          <a:p>
            <a:r>
              <a:rPr lang="en-US" sz="2200" dirty="0">
                <a:solidFill>
                  <a:srgbClr val="0070C0"/>
                </a:solidFill>
                <a:latin typeface="Times New Roman" panose="02020603050405020304" pitchFamily="18" charset="0"/>
                <a:cs typeface="Times New Roman" panose="02020603050405020304" pitchFamily="18" charset="0"/>
              </a:rPr>
              <a:t>    holding an exhibition.</a:t>
            </a:r>
          </a:p>
          <a:p>
            <a:r>
              <a:rPr lang="en-US" sz="2200" dirty="0">
                <a:solidFill>
                  <a:srgbClr val="0070C0"/>
                </a:solidFill>
                <a:latin typeface="Times New Roman" panose="02020603050405020304" pitchFamily="18" charset="0"/>
                <a:cs typeface="Times New Roman" panose="02020603050405020304" pitchFamily="18" charset="0"/>
              </a:rPr>
              <a:t>4. You want the town council to place special bins in your area to encourage recycling.</a:t>
            </a:r>
          </a:p>
          <a:p>
            <a:r>
              <a:rPr lang="en-US" sz="2200" dirty="0">
                <a:solidFill>
                  <a:srgbClr val="0070C0"/>
                </a:solidFill>
                <a:latin typeface="Times New Roman" panose="02020603050405020304" pitchFamily="18" charset="0"/>
                <a:cs typeface="Times New Roman" panose="02020603050405020304" pitchFamily="18" charset="0"/>
              </a:rPr>
              <a:t>5.  You want a travel agency to send you brochures concerning the package holidays they offer </a:t>
            </a:r>
          </a:p>
          <a:p>
            <a:r>
              <a:rPr lang="en-US" sz="2200" dirty="0">
                <a:solidFill>
                  <a:srgbClr val="0070C0"/>
                </a:solidFill>
                <a:latin typeface="Times New Roman" panose="02020603050405020304" pitchFamily="18" charset="0"/>
                <a:cs typeface="Times New Roman" panose="02020603050405020304" pitchFamily="18" charset="0"/>
              </a:rPr>
              <a:t>     for large groups.</a:t>
            </a:r>
          </a:p>
        </p:txBody>
      </p:sp>
    </p:spTree>
    <p:extLst>
      <p:ext uri="{BB962C8B-B14F-4D97-AF65-F5344CB8AC3E}">
        <p14:creationId xmlns:p14="http://schemas.microsoft.com/office/powerpoint/2010/main" val="279823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2355F1-687E-452F-B64D-C3037D78B4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6301" y="1"/>
            <a:ext cx="5372100" cy="6772274"/>
          </a:xfrm>
        </p:spPr>
      </p:pic>
    </p:spTree>
    <p:extLst>
      <p:ext uri="{BB962C8B-B14F-4D97-AF65-F5344CB8AC3E}">
        <p14:creationId xmlns:p14="http://schemas.microsoft.com/office/powerpoint/2010/main" val="210709599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620</TotalTime>
  <Words>760</Words>
  <Application>Microsoft Office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 Light</vt:lpstr>
      <vt:lpstr>Times New Roman</vt:lpstr>
      <vt:lpstr>Metropolitan</vt:lpstr>
      <vt:lpstr> NAYPYITAW  STATE POLYTECHNIC UNIVERSITY  Department of Language (English)                                                                                            E – 4032  LETTER WRITING    </vt:lpstr>
      <vt:lpstr>LESSON PLAN  for TODAY</vt:lpstr>
      <vt:lpstr>a. Letters of Request  1 You will hear two members of a pottery society discussing a letter which they plan to send to their local community centre. Look at the question below, then listen to the cassette and fill in the answers.               PG 27 </vt:lpstr>
      <vt:lpstr>    I wonder if you could possibly / if it would be possible for you to help me…..                                                   PG 27 I would (greatly) appreciate  if you could …..  I would be most grateful if you could …. I am writing to ask / enquire if / whether you could possibly tell inform me … I am writing to   ask if/ whether I might (perhaps) be permitted / allowed to …                               request your (kind) permission for …. / for me) to … I wonder if I might ask you for request your valuable advice on / concerning……     </vt:lpstr>
      <vt:lpstr>2. Read the instructions and the model below and insert the following topic sentences in the appropriate spaces in the letter. Then, complete the paragraph plan on the right, identifying the topic of each paragraph.       PG 28 </vt:lpstr>
      <vt:lpstr>PowerPoint Presentation</vt:lpstr>
      <vt:lpstr>3  For each one of the situations below write a suitable beginning and ending using appropriate expressions. Then suggest reasons for writing them and the expected results of each request.                                                                    PG  28</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DAST</dc:creator>
  <cp:lastModifiedBy>DAST</cp:lastModifiedBy>
  <cp:revision>40</cp:revision>
  <dcterms:created xsi:type="dcterms:W3CDTF">2026-06-15T02:28:13Z</dcterms:created>
  <dcterms:modified xsi:type="dcterms:W3CDTF">2026-06-16T07:43:19Z</dcterms:modified>
</cp:coreProperties>
</file>