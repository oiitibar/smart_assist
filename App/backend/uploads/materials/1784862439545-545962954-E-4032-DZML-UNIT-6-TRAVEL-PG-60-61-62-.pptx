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62" r:id="rId2"/>
    <p:sldId id="271" r:id="rId3"/>
    <p:sldId id="272" r:id="rId4"/>
    <p:sldId id="256" r:id="rId5"/>
    <p:sldId id="257" r:id="rId6"/>
    <p:sldId id="258" r:id="rId7"/>
    <p:sldId id="259" r:id="rId8"/>
    <p:sldId id="260" r:id="rId9"/>
    <p:sldId id="261" r:id="rId10"/>
    <p:sldId id="263" r:id="rId11"/>
    <p:sldId id="264" r:id="rId12"/>
    <p:sldId id="265" r:id="rId13"/>
    <p:sldId id="267" r:id="rId14"/>
    <p:sldId id="270" r:id="rId15"/>
    <p:sldId id="26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7" d="100"/>
          <a:sy n="67" d="100"/>
        </p:scale>
        <p:origin x="64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9E6882B-3FD9-4483-A7B1-0C6FA12A7CDE}" type="datetimeFigureOut">
              <a:rPr lang="en-US" smtClean="0"/>
              <a:t>6/11/2026</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A2577ACA-A36A-466F-9940-6CA0E499B18A}"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70728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E6882B-3FD9-4483-A7B1-0C6FA12A7CDE}"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577ACA-A36A-466F-9940-6CA0E499B18A}"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68953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9E6882B-3FD9-4483-A7B1-0C6FA12A7CDE}"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577ACA-A36A-466F-9940-6CA0E499B18A}"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411690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E6882B-3FD9-4483-A7B1-0C6FA12A7CDE}" type="datetimeFigureOut">
              <a:rPr lang="en-US" smtClean="0"/>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577ACA-A36A-466F-9940-6CA0E499B18A}"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04019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9E6882B-3FD9-4483-A7B1-0C6FA12A7CDE}" type="datetimeFigureOut">
              <a:rPr lang="en-US" smtClean="0"/>
              <a:t>6/11/2026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2577ACA-A36A-466F-9940-6CA0E499B18A}"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824232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9E6882B-3FD9-4483-A7B1-0C6FA12A7CDE}" type="datetimeFigureOut">
              <a:rPr lang="en-US" smtClean="0"/>
              <a:t>6/11/2026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2577ACA-A36A-466F-9940-6CA0E499B18A}"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369930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E6882B-3FD9-4483-A7B1-0C6FA12A7CDE}" type="datetimeFigureOut">
              <a:rPr lang="en-US" smtClean="0"/>
              <a:t>6/11/2026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2577ACA-A36A-466F-9940-6CA0E499B18A}" type="slidenum">
              <a:rPr lang="en-US" smtClean="0"/>
              <a:t>‹#›</a:t>
            </a:fld>
            <a:endParaRPr lang="en-US"/>
          </a:p>
        </p:txBody>
      </p:sp>
    </p:spTree>
    <p:extLst>
      <p:ext uri="{BB962C8B-B14F-4D97-AF65-F5344CB8AC3E}">
        <p14:creationId xmlns:p14="http://schemas.microsoft.com/office/powerpoint/2010/main" val="34309760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9E6882B-3FD9-4483-A7B1-0C6FA12A7CDE}" type="datetimeFigureOut">
              <a:rPr lang="en-US" smtClean="0"/>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577ACA-A36A-466F-9940-6CA0E499B18A}"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0840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69E6882B-3FD9-4483-A7B1-0C6FA12A7CDE}" type="datetimeFigureOut">
              <a:rPr lang="en-US" smtClean="0"/>
              <a:t>6/11/2026</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A2577ACA-A36A-466F-9940-6CA0E499B18A}"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173190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E6882B-3FD9-4483-A7B1-0C6FA12A7CDE}"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577ACA-A36A-466F-9940-6CA0E499B18A}"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905642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E6882B-3FD9-4483-A7B1-0C6FA12A7CDE}"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577ACA-A36A-466F-9940-6CA0E499B18A}"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540554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69E6882B-3FD9-4483-A7B1-0C6FA12A7CDE}" type="datetimeFigureOut">
              <a:rPr lang="en-US" smtClean="0"/>
              <a:t>6/11/2026</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A2577ACA-A36A-466F-9940-6CA0E499B18A}"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19362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0D23A8-D144-4644-BCDD-03C6788751C9}"/>
              </a:ext>
            </a:extLst>
          </p:cNvPr>
          <p:cNvSpPr>
            <a:spLocks noGrp="1"/>
          </p:cNvSpPr>
          <p:nvPr>
            <p:ph idx="1"/>
          </p:nvPr>
        </p:nvSpPr>
        <p:spPr>
          <a:xfrm>
            <a:off x="447675" y="342901"/>
            <a:ext cx="10820400" cy="5847210"/>
          </a:xfrm>
        </p:spPr>
        <p:txBody>
          <a:bodyPr>
            <a:normAutofit fontScale="92500" lnSpcReduction="20000"/>
          </a:bodyPr>
          <a:lstStyle/>
          <a:p>
            <a:pPr algn="ctr"/>
            <a:r>
              <a:rPr lang="en-US" sz="2400" b="1" dirty="0">
                <a:latin typeface="Times New Roman" panose="02020603050405020304" pitchFamily="18" charset="0"/>
                <a:cs typeface="Times New Roman" panose="02020603050405020304" pitchFamily="18" charset="0"/>
              </a:rPr>
              <a:t>NAYPYITAW  STATE POLYTECHNIC UNIVERSITY</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 Department of Language (English)</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                                                                                     </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E – 4032</a:t>
            </a:r>
          </a:p>
          <a:p>
            <a:pPr marL="0" indent="0" algn="ctr">
              <a:buNone/>
            </a:pPr>
            <a:r>
              <a:rPr lang="en-US" sz="2400" b="1" dirty="0">
                <a:latin typeface="Times New Roman" panose="02020603050405020304" pitchFamily="18" charset="0"/>
                <a:cs typeface="Times New Roman" panose="02020603050405020304" pitchFamily="18" charset="0"/>
              </a:rPr>
              <a:t>                                                        </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   UNIT  6 </a:t>
            </a:r>
          </a:p>
          <a:p>
            <a:pPr marL="0" indent="0" algn="ctr">
              <a:buNone/>
            </a:pPr>
            <a:r>
              <a:rPr lang="en-US" sz="2400" b="1" dirty="0">
                <a:latin typeface="Times New Roman" panose="02020603050405020304" pitchFamily="18" charset="0"/>
                <a:cs typeface="Times New Roman" panose="02020603050405020304" pitchFamily="18" charset="0"/>
              </a:rPr>
              <a:t>TRAVEL</a:t>
            </a:r>
          </a:p>
          <a:p>
            <a:pPr marL="0" indent="0" algn="ctr">
              <a:buNone/>
            </a:pPr>
            <a:endParaRPr lang="en-US" sz="2000" b="1" dirty="0">
              <a:latin typeface="Times New Roman" panose="02020603050405020304" pitchFamily="18" charset="0"/>
              <a:cs typeface="Times New Roman" panose="02020603050405020304" pitchFamily="18" charset="0"/>
            </a:endParaRPr>
          </a:p>
          <a:p>
            <a:pPr algn="ctr"/>
            <a:endParaRPr lang="en-US" sz="2000" b="1" dirty="0">
              <a:latin typeface="Times New Roman" panose="02020603050405020304" pitchFamily="18" charset="0"/>
              <a:cs typeface="Times New Roman" panose="02020603050405020304" pitchFamily="18" charset="0"/>
            </a:endParaRPr>
          </a:p>
          <a:p>
            <a:pPr algn="ctr"/>
            <a:endParaRPr lang="en-US" sz="2000" b="1" dirty="0">
              <a:latin typeface="Times New Roman" panose="02020603050405020304" pitchFamily="18" charset="0"/>
              <a:cs typeface="Times New Roman" panose="02020603050405020304" pitchFamily="18" charset="0"/>
            </a:endParaRPr>
          </a:p>
          <a:p>
            <a:pPr marL="0" indent="0" algn="ctr">
              <a:buNone/>
            </a:pPr>
            <a:r>
              <a:rPr lang="en-US" sz="2000" b="1" dirty="0">
                <a:latin typeface="Times New Roman" panose="02020603050405020304" pitchFamily="18" charset="0"/>
                <a:cs typeface="Times New Roman" panose="02020603050405020304" pitchFamily="18" charset="0"/>
              </a:rPr>
              <a:t>                                                  </a:t>
            </a:r>
          </a:p>
          <a:p>
            <a:pPr marL="0" indent="0" algn="ctr">
              <a:buNone/>
            </a:pPr>
            <a:endParaRPr lang="en-US" sz="2300" b="1" dirty="0">
              <a:latin typeface="Times New Roman" panose="02020603050405020304" pitchFamily="18" charset="0"/>
              <a:cs typeface="Times New Roman" panose="02020603050405020304" pitchFamily="18" charset="0"/>
            </a:endParaRPr>
          </a:p>
          <a:p>
            <a:pPr marL="0" indent="0" algn="ctr">
              <a:buNone/>
            </a:pPr>
            <a:r>
              <a:rPr lang="en-US" sz="2300" b="1" dirty="0">
                <a:latin typeface="Times New Roman" panose="02020603050405020304" pitchFamily="18" charset="0"/>
                <a:cs typeface="Times New Roman" panose="02020603050405020304" pitchFamily="18" charset="0"/>
              </a:rPr>
              <a:t>                                           Taught by </a:t>
            </a:r>
          </a:p>
          <a:p>
            <a:pPr marL="0" indent="0" algn="ctr">
              <a:buNone/>
            </a:pPr>
            <a:r>
              <a:rPr lang="en-US" sz="2300" b="1" dirty="0">
                <a:latin typeface="Times New Roman" panose="02020603050405020304" pitchFamily="18" charset="0"/>
                <a:cs typeface="Times New Roman" panose="02020603050405020304" pitchFamily="18" charset="0"/>
              </a:rPr>
              <a:t>                                                   Daw Zin Mar Lwin</a:t>
            </a:r>
          </a:p>
        </p:txBody>
      </p:sp>
    </p:spTree>
    <p:extLst>
      <p:ext uri="{BB962C8B-B14F-4D97-AF65-F5344CB8AC3E}">
        <p14:creationId xmlns:p14="http://schemas.microsoft.com/office/powerpoint/2010/main" val="15856451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6F58D-BF13-40D9-A025-DE1328989D93}"/>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LESSON PLAN  for TODAY</a:t>
            </a:r>
            <a:endParaRPr lang="en-US" dirty="0"/>
          </a:p>
        </p:txBody>
      </p:sp>
      <p:pic>
        <p:nvPicPr>
          <p:cNvPr id="4" name="Content Placeholder 3">
            <a:extLst>
              <a:ext uri="{FF2B5EF4-FFF2-40B4-BE49-F238E27FC236}">
                <a16:creationId xmlns:a16="http://schemas.microsoft.com/office/drawing/2014/main" id="{BF09A81D-098A-4CDF-BDBB-6AB34D3187D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53490" y="2095499"/>
            <a:ext cx="8799344" cy="3686176"/>
          </a:xfrm>
          <a:prstGeom prst="rect">
            <a:avLst/>
          </a:prstGeom>
        </p:spPr>
      </p:pic>
    </p:spTree>
    <p:extLst>
      <p:ext uri="{BB962C8B-B14F-4D97-AF65-F5344CB8AC3E}">
        <p14:creationId xmlns:p14="http://schemas.microsoft.com/office/powerpoint/2010/main" val="1568424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00AF4-5AD2-4A20-8074-485F62DBF861}"/>
              </a:ext>
            </a:extLst>
          </p:cNvPr>
          <p:cNvSpPr>
            <a:spLocks noGrp="1"/>
          </p:cNvSpPr>
          <p:nvPr>
            <p:ph type="title"/>
          </p:nvPr>
        </p:nvSpPr>
        <p:spPr>
          <a:xfrm>
            <a:off x="1451579" y="828675"/>
            <a:ext cx="9603275" cy="1025079"/>
          </a:xfrm>
        </p:spPr>
        <p:txBody>
          <a:bodyPr/>
          <a:lstStyle/>
          <a:p>
            <a:r>
              <a:rPr lang="en-US" b="1" dirty="0">
                <a:latin typeface="Times New Roman" panose="02020603050405020304" pitchFamily="18" charset="0"/>
                <a:cs typeface="Times New Roman" panose="02020603050405020304" pitchFamily="18" charset="0"/>
              </a:rPr>
              <a:t>OBJECTIVES</a:t>
            </a:r>
            <a:endParaRPr lang="en-US" dirty="0"/>
          </a:p>
        </p:txBody>
      </p:sp>
      <p:sp>
        <p:nvSpPr>
          <p:cNvPr id="3" name="Content Placeholder 2">
            <a:extLst>
              <a:ext uri="{FF2B5EF4-FFF2-40B4-BE49-F238E27FC236}">
                <a16:creationId xmlns:a16="http://schemas.microsoft.com/office/drawing/2014/main" id="{0A415496-0B4A-40A7-B262-EEFC9E102866}"/>
              </a:ext>
            </a:extLst>
          </p:cNvPr>
          <p:cNvSpPr>
            <a:spLocks noGrp="1"/>
          </p:cNvSpPr>
          <p:nvPr>
            <p:ph idx="1"/>
          </p:nvPr>
        </p:nvSpPr>
        <p:spPr/>
        <p:txBody>
          <a:bodyPr/>
          <a:lstStyle/>
          <a:p>
            <a:r>
              <a:rPr lang="en-US" b="1" dirty="0">
                <a:solidFill>
                  <a:schemeClr val="accent1">
                    <a:alpha val="70000"/>
                  </a:schemeClr>
                </a:solidFill>
                <a:latin typeface="Times New Roman" panose="02020603050405020304" pitchFamily="18" charset="0"/>
                <a:cs typeface="Times New Roman" panose="02020603050405020304" pitchFamily="18" charset="0"/>
              </a:rPr>
              <a:t>To improve four skills (Listening, Speaking, Writing &amp; Reading)</a:t>
            </a:r>
          </a:p>
          <a:p>
            <a:r>
              <a:rPr lang="en-US" b="1" dirty="0">
                <a:solidFill>
                  <a:schemeClr val="accent1">
                    <a:alpha val="70000"/>
                  </a:schemeClr>
                </a:solidFill>
                <a:latin typeface="Times New Roman" panose="02020603050405020304" pitchFamily="18" charset="0"/>
                <a:cs typeface="Times New Roman" panose="02020603050405020304" pitchFamily="18" charset="0"/>
              </a:rPr>
              <a:t>To create critical thinking (deeply thinking)</a:t>
            </a:r>
          </a:p>
          <a:p>
            <a:r>
              <a:rPr lang="en-US" b="1" dirty="0">
                <a:solidFill>
                  <a:schemeClr val="accent1">
                    <a:alpha val="70000"/>
                  </a:schemeClr>
                </a:solidFill>
                <a:latin typeface="Times New Roman" panose="02020603050405020304" pitchFamily="18" charset="0"/>
                <a:cs typeface="Times New Roman" panose="02020603050405020304" pitchFamily="18" charset="0"/>
              </a:rPr>
              <a:t>To understand about Grammar ( Participle clauses and relative clauses)</a:t>
            </a:r>
          </a:p>
          <a:p>
            <a:r>
              <a:rPr lang="en-US" b="1" dirty="0">
                <a:solidFill>
                  <a:schemeClr val="accent1">
                    <a:alpha val="70000"/>
                  </a:schemeClr>
                </a:solidFill>
                <a:latin typeface="Times New Roman" panose="02020603050405020304" pitchFamily="18" charset="0"/>
                <a:cs typeface="Times New Roman" panose="02020603050405020304" pitchFamily="18" charset="0"/>
              </a:rPr>
              <a:t>To know reading  about ( The Galapagos Islands)</a:t>
            </a:r>
          </a:p>
          <a:p>
            <a:r>
              <a:rPr lang="en-US" b="1" dirty="0">
                <a:solidFill>
                  <a:schemeClr val="accent1">
                    <a:alpha val="70000"/>
                  </a:schemeClr>
                </a:solidFill>
                <a:latin typeface="Times New Roman" panose="02020603050405020304" pitchFamily="18" charset="0"/>
                <a:cs typeface="Times New Roman" panose="02020603050405020304" pitchFamily="18" charset="0"/>
              </a:rPr>
              <a:t>To have vocabulary ( Describing places (1))</a:t>
            </a:r>
          </a:p>
          <a:p>
            <a:r>
              <a:rPr lang="en-US" b="1" dirty="0">
                <a:solidFill>
                  <a:schemeClr val="accent1">
                    <a:alpha val="70000"/>
                  </a:schemeClr>
                </a:solidFill>
                <a:latin typeface="Times New Roman" panose="02020603050405020304" pitchFamily="18" charset="0"/>
                <a:cs typeface="Times New Roman" panose="02020603050405020304" pitchFamily="18" charset="0"/>
              </a:rPr>
              <a:t>To have listening  about ( Interview with a travel writer)</a:t>
            </a:r>
          </a:p>
          <a:p>
            <a:pPr marL="0" indent="0">
              <a:buNone/>
            </a:pPr>
            <a:endParaRPr lang="en-US" b="1" dirty="0">
              <a:solidFill>
                <a:schemeClr val="tx1">
                  <a:alpha val="70000"/>
                </a:schemeClr>
              </a:solidFill>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8942642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8EF6B-F3AA-410E-B0B5-4178FA7D42FC}"/>
              </a:ext>
            </a:extLst>
          </p:cNvPr>
          <p:cNvSpPr>
            <a:spLocks noGrp="1"/>
          </p:cNvSpPr>
          <p:nvPr>
            <p:ph type="ctrTitle"/>
          </p:nvPr>
        </p:nvSpPr>
        <p:spPr>
          <a:xfrm>
            <a:off x="171450" y="209550"/>
            <a:ext cx="11734800" cy="1190625"/>
          </a:xfrm>
        </p:spPr>
        <p:txBody>
          <a:bodyPr>
            <a:normAutofit fontScale="90000"/>
          </a:bodyPr>
          <a:lstStyle/>
          <a:p>
            <a:pPr algn="ctr"/>
            <a:r>
              <a:rPr lang="en-US" sz="4400" b="1" dirty="0">
                <a:latin typeface="Times New Roman" panose="02020603050405020304" pitchFamily="18" charset="0"/>
                <a:cs typeface="Times New Roman" panose="02020603050405020304" pitchFamily="18" charset="0"/>
              </a:rPr>
              <a:t>UNIT 6 </a:t>
            </a:r>
            <a:br>
              <a:rPr lang="en-US" sz="4400" b="1" dirty="0">
                <a:latin typeface="Times New Roman" panose="02020603050405020304" pitchFamily="18" charset="0"/>
                <a:cs typeface="Times New Roman" panose="02020603050405020304" pitchFamily="18" charset="0"/>
              </a:rPr>
            </a:br>
            <a:r>
              <a:rPr lang="en-US" sz="4400" b="1" dirty="0">
                <a:latin typeface="Times New Roman" panose="02020603050405020304" pitchFamily="18" charset="0"/>
                <a:cs typeface="Times New Roman" panose="02020603050405020304" pitchFamily="18" charset="0"/>
              </a:rPr>
              <a:t>TRAVEl </a:t>
            </a:r>
          </a:p>
        </p:txBody>
      </p:sp>
      <p:sp>
        <p:nvSpPr>
          <p:cNvPr id="3" name="Subtitle 2">
            <a:extLst>
              <a:ext uri="{FF2B5EF4-FFF2-40B4-BE49-F238E27FC236}">
                <a16:creationId xmlns:a16="http://schemas.microsoft.com/office/drawing/2014/main" id="{5D2F2D00-8056-4EDD-B664-7E7AB49251F8}"/>
              </a:ext>
            </a:extLst>
          </p:cNvPr>
          <p:cNvSpPr>
            <a:spLocks noGrp="1"/>
          </p:cNvSpPr>
          <p:nvPr>
            <p:ph type="subTitle" idx="1"/>
          </p:nvPr>
        </p:nvSpPr>
        <p:spPr>
          <a:xfrm>
            <a:off x="438150" y="1400175"/>
            <a:ext cx="10382250" cy="5686425"/>
          </a:xfrm>
        </p:spPr>
        <p:txBody>
          <a:bodyPr>
            <a:normAutofit fontScale="85000" lnSpcReduction="20000"/>
          </a:bodyPr>
          <a:lstStyle/>
          <a:p>
            <a:r>
              <a:rPr lang="en-US" b="1" dirty="0">
                <a:latin typeface="Times New Roman" panose="02020603050405020304" pitchFamily="18" charset="0"/>
                <a:cs typeface="Times New Roman" panose="02020603050405020304" pitchFamily="18" charset="0"/>
              </a:rPr>
              <a:t>6 </a:t>
            </a:r>
            <a:r>
              <a:rPr lang="en-US" sz="2200" b="1" dirty="0">
                <a:latin typeface="Times New Roman" panose="02020603050405020304" pitchFamily="18" charset="0"/>
                <a:cs typeface="Times New Roman" panose="02020603050405020304" pitchFamily="18" charset="0"/>
              </a:rPr>
              <a:t>A  Unique places   1   Work with  a partner. Look at the photo above of the Galapagos Islands. What do you know about them? Think about the ideas in the box.                                                                PG 60</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457200" indent="-457200">
              <a:buAutoNum type="arabicPlain" startAt="2"/>
            </a:pPr>
            <a:r>
              <a:rPr lang="en-US" dirty="0">
                <a:latin typeface="Times New Roman" panose="02020603050405020304" pitchFamily="18" charset="0"/>
                <a:cs typeface="Times New Roman" panose="02020603050405020304" pitchFamily="18" charset="0"/>
              </a:rPr>
              <a:t>Read the article and check your ideas.</a:t>
            </a:r>
          </a:p>
          <a:p>
            <a:pPr marL="457200" indent="-457200">
              <a:buAutoNum type="arabicPlain" startAt="2"/>
            </a:pPr>
            <a:r>
              <a:rPr lang="en-US" dirty="0">
                <a:latin typeface="Times New Roman" panose="02020603050405020304" pitchFamily="18" charset="0"/>
                <a:cs typeface="Times New Roman" panose="02020603050405020304" pitchFamily="18" charset="0"/>
              </a:rPr>
              <a:t>Read the article again and answer the questions.</a:t>
            </a:r>
          </a:p>
          <a:p>
            <a:pPr marL="457200" indent="-457200">
              <a:buAutoNum type="arabicPlain"/>
            </a:pPr>
            <a:r>
              <a:rPr lang="en-US" dirty="0">
                <a:latin typeface="Times New Roman" panose="02020603050405020304" pitchFamily="18" charset="0"/>
                <a:cs typeface="Times New Roman" panose="02020603050405020304" pitchFamily="18" charset="0"/>
              </a:rPr>
              <a:t>Which country do the islands belong to?</a:t>
            </a:r>
          </a:p>
          <a:p>
            <a:pPr marL="457200" indent="-457200">
              <a:buAutoNum type="arabicPlain"/>
            </a:pPr>
            <a:r>
              <a:rPr lang="en-US" dirty="0">
                <a:latin typeface="Times New Roman" panose="02020603050405020304" pitchFamily="18" charset="0"/>
                <a:cs typeface="Times New Roman" panose="02020603050405020304" pitchFamily="18" charset="0"/>
              </a:rPr>
              <a:t>When did people first move to the islands to make a home there?</a:t>
            </a:r>
          </a:p>
          <a:p>
            <a:pPr marL="457200" indent="-457200">
              <a:buAutoNum type="arabicPlain"/>
            </a:pPr>
            <a:r>
              <a:rPr lang="en-US" dirty="0">
                <a:latin typeface="Times New Roman" panose="02020603050405020304" pitchFamily="18" charset="0"/>
                <a:cs typeface="Times New Roman" panose="02020603050405020304" pitchFamily="18" charset="0"/>
              </a:rPr>
              <a:t>Before going there, what had most interested Darwin about the islands?</a:t>
            </a:r>
          </a:p>
          <a:p>
            <a:pPr marL="457200" indent="-457200">
              <a:buAutoNum type="arabicPlain"/>
            </a:pPr>
            <a:r>
              <a:rPr lang="en-US" dirty="0">
                <a:latin typeface="Times New Roman" panose="02020603050405020304" pitchFamily="18" charset="0"/>
                <a:cs typeface="Times New Roman" panose="02020603050405020304" pitchFamily="18" charset="0"/>
              </a:rPr>
              <a:t>What activities do the sealions engage in?</a:t>
            </a:r>
          </a:p>
          <a:p>
            <a:pPr marL="457200" indent="-457200">
              <a:buAutoNum type="arabicPlain"/>
            </a:pPr>
            <a:r>
              <a:rPr lang="en-US" dirty="0">
                <a:latin typeface="Times New Roman" panose="02020603050405020304" pitchFamily="18" charset="0"/>
                <a:cs typeface="Times New Roman" panose="02020603050405020304" pitchFamily="18" charset="0"/>
              </a:rPr>
              <a:t>What happened in 1959?</a:t>
            </a:r>
          </a:p>
          <a:p>
            <a:pPr marL="457200" indent="-457200">
              <a:buAutoNum type="arabicPlain"/>
            </a:pPr>
            <a:endParaRPr lang="en-US" dirty="0">
              <a:latin typeface="Times New Roman" panose="02020603050405020304" pitchFamily="18" charset="0"/>
              <a:cs typeface="Times New Roman" panose="02020603050405020304" pitchFamily="18" charset="0"/>
            </a:endParaRPr>
          </a:p>
          <a:p>
            <a:pPr marL="457200" indent="-457200">
              <a:buAutoNum type="arabicPlain"/>
            </a:pPr>
            <a:endParaRPr lang="en-US" dirty="0">
              <a:latin typeface="Times New Roman" panose="02020603050405020304" pitchFamily="18" charset="0"/>
              <a:cs typeface="Times New Roman" panose="02020603050405020304" pitchFamily="18" charset="0"/>
            </a:endParaRPr>
          </a:p>
          <a:p>
            <a:pPr marL="457200" indent="-457200">
              <a:buAutoNum type="arabicPlain"/>
            </a:pPr>
            <a:r>
              <a:rPr lang="en-US" b="1" dirty="0">
                <a:latin typeface="Times New Roman" panose="02020603050405020304" pitchFamily="18" charset="0"/>
                <a:cs typeface="Times New Roman" panose="02020603050405020304" pitchFamily="18" charset="0"/>
              </a:rPr>
              <a:t>How many people live on the islands now?</a:t>
            </a:r>
          </a:p>
          <a:p>
            <a:pPr marL="457200" indent="-457200">
              <a:buAutoNum type="arabicPlain"/>
            </a:pPr>
            <a:r>
              <a:rPr lang="en-US" b="1" dirty="0">
                <a:latin typeface="Times New Roman" panose="02020603050405020304" pitchFamily="18" charset="0"/>
                <a:cs typeface="Times New Roman" panose="02020603050405020304" pitchFamily="18" charset="0"/>
              </a:rPr>
              <a:t>What problems are there now with food and drink on the islands?</a:t>
            </a:r>
          </a:p>
        </p:txBody>
      </p:sp>
      <p:sp>
        <p:nvSpPr>
          <p:cNvPr id="4" name="Rectangle 3">
            <a:extLst>
              <a:ext uri="{FF2B5EF4-FFF2-40B4-BE49-F238E27FC236}">
                <a16:creationId xmlns:a16="http://schemas.microsoft.com/office/drawing/2014/main" id="{0F445C41-2B3E-4704-9B20-232174064DB4}"/>
              </a:ext>
            </a:extLst>
          </p:cNvPr>
          <p:cNvSpPr/>
          <p:nvPr/>
        </p:nvSpPr>
        <p:spPr>
          <a:xfrm>
            <a:off x="895350" y="2590800"/>
            <a:ext cx="5734050" cy="60007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history        location       wildlife        economy </a:t>
            </a:r>
          </a:p>
        </p:txBody>
      </p:sp>
    </p:spTree>
    <p:extLst>
      <p:ext uri="{BB962C8B-B14F-4D97-AF65-F5344CB8AC3E}">
        <p14:creationId xmlns:p14="http://schemas.microsoft.com/office/powerpoint/2010/main" val="38313535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FE1D9-5902-4E75-9108-487F88072D02}"/>
              </a:ext>
            </a:extLst>
          </p:cNvPr>
          <p:cNvSpPr>
            <a:spLocks noGrp="1"/>
          </p:cNvSpPr>
          <p:nvPr>
            <p:ph type="title"/>
          </p:nvPr>
        </p:nvSpPr>
        <p:spPr>
          <a:xfrm>
            <a:off x="209549" y="0"/>
            <a:ext cx="11982451" cy="828676"/>
          </a:xfrm>
        </p:spPr>
        <p:txBody>
          <a:bodyPr>
            <a:normAutofit fontScale="90000"/>
          </a:bodyPr>
          <a:lstStyle/>
          <a:p>
            <a:pPr algn="l"/>
            <a:r>
              <a:rPr lang="en-US" sz="2400" b="1" dirty="0">
                <a:latin typeface="Times New Roman" panose="02020603050405020304" pitchFamily="18" charset="0"/>
                <a:cs typeface="Times New Roman" panose="02020603050405020304" pitchFamily="18" charset="0"/>
              </a:rPr>
              <a:t>4   Look at the underlined past and present participles in the first paragraph. Find and underline participles in the rest of the article</a:t>
            </a:r>
            <a:r>
              <a:rPr lang="en-US" b="1" dirty="0"/>
              <a:t>.        </a:t>
            </a:r>
            <a:br>
              <a:rPr lang="en-US" b="1" dirty="0"/>
            </a:br>
            <a:r>
              <a:rPr lang="en-US" b="1" dirty="0"/>
              <a:t>                                                                                                        PG 60</a:t>
            </a:r>
            <a:br>
              <a:rPr lang="en-US" b="1" dirty="0"/>
            </a:br>
            <a:r>
              <a:rPr lang="en-US" b="1" dirty="0"/>
              <a:t>                                                             </a:t>
            </a:r>
          </a:p>
        </p:txBody>
      </p:sp>
      <p:pic>
        <p:nvPicPr>
          <p:cNvPr id="5" name="Content Placeholder 4">
            <a:extLst>
              <a:ext uri="{FF2B5EF4-FFF2-40B4-BE49-F238E27FC236}">
                <a16:creationId xmlns:a16="http://schemas.microsoft.com/office/drawing/2014/main" id="{6BB6E112-9F7E-47A1-8021-E9D85C246F9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9550" y="1171575"/>
            <a:ext cx="5181600" cy="5543550"/>
          </a:xfrm>
        </p:spPr>
      </p:pic>
    </p:spTree>
    <p:extLst>
      <p:ext uri="{BB962C8B-B14F-4D97-AF65-F5344CB8AC3E}">
        <p14:creationId xmlns:p14="http://schemas.microsoft.com/office/powerpoint/2010/main" val="11040230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6C621-3B6F-4C5E-8149-FBEA6F54D9B1}"/>
              </a:ext>
            </a:extLst>
          </p:cNvPr>
          <p:cNvSpPr>
            <a:spLocks noGrp="1"/>
          </p:cNvSpPr>
          <p:nvPr>
            <p:ph type="title"/>
          </p:nvPr>
        </p:nvSpPr>
        <p:spPr>
          <a:xfrm>
            <a:off x="0" y="0"/>
            <a:ext cx="11506200" cy="639315"/>
          </a:xfrm>
        </p:spPr>
        <p:txBody>
          <a:bodyPr>
            <a:normAutofit/>
          </a:bodyPr>
          <a:lstStyle/>
          <a:p>
            <a:pPr algn="l"/>
            <a:r>
              <a:rPr lang="en-US" b="1" dirty="0">
                <a:latin typeface="Times New Roman" panose="02020603050405020304" pitchFamily="18" charset="0"/>
                <a:cs typeface="Times New Roman" panose="02020603050405020304" pitchFamily="18" charset="0"/>
              </a:rPr>
              <a:t>Living on the islands                                            PG 60</a:t>
            </a:r>
          </a:p>
        </p:txBody>
      </p:sp>
      <p:sp>
        <p:nvSpPr>
          <p:cNvPr id="3" name="Content Placeholder 2">
            <a:extLst>
              <a:ext uri="{FF2B5EF4-FFF2-40B4-BE49-F238E27FC236}">
                <a16:creationId xmlns:a16="http://schemas.microsoft.com/office/drawing/2014/main" id="{8F176249-E69F-4F6F-950B-CFF10595306F}"/>
              </a:ext>
            </a:extLst>
          </p:cNvPr>
          <p:cNvSpPr>
            <a:spLocks noGrp="1"/>
          </p:cNvSpPr>
          <p:nvPr>
            <p:ph idx="1"/>
          </p:nvPr>
        </p:nvSpPr>
        <p:spPr>
          <a:xfrm>
            <a:off x="142875" y="639316"/>
            <a:ext cx="11363325" cy="5579370"/>
          </a:xfrm>
        </p:spPr>
        <p:txBody>
          <a:bodyPr/>
          <a:lstStyle/>
          <a:p>
            <a:r>
              <a:rPr lang="en-US" dirty="0">
                <a:latin typeface="Times New Roman" panose="02020603050405020304" pitchFamily="18" charset="0"/>
                <a:cs typeface="Times New Roman" panose="02020603050405020304" pitchFamily="18" charset="0"/>
              </a:rPr>
              <a:t>Recognizing the importance of protecting the unique ecosystem, officials designated 97% of the land on the islands as a national park in 1959.Visitors can only explore the national park by singing up to official tours with registered guides. Having been restricted to the use of only 3% of the land, the 25,000 people who reside permanently on the islands face high living costs. Most residents work in tourisms or fishing and due to the limited agricultural activity, they are heavily reliant on food imported from the mainland. Freshwater sources are also in low supply , so access to clean water is a constant concern. Despite these difficulties , islanders enjoy a unique way of life. The locals living on the islands have so many wonderful things to do in their free time. They can snorkel in crystal clear Pacific waters, dine on freshly caught seafood, or simply observe the unrivalled  wildlife. It’s an amazing places to live</a:t>
            </a:r>
            <a:r>
              <a:rPr lang="en-US" dirty="0"/>
              <a:t>.</a:t>
            </a:r>
          </a:p>
        </p:txBody>
      </p:sp>
    </p:spTree>
    <p:extLst>
      <p:ext uri="{BB962C8B-B14F-4D97-AF65-F5344CB8AC3E}">
        <p14:creationId xmlns:p14="http://schemas.microsoft.com/office/powerpoint/2010/main" val="2125789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F6D43-0BC0-40E1-B40A-E255727E3301}"/>
              </a:ext>
            </a:extLst>
          </p:cNvPr>
          <p:cNvSpPr>
            <a:spLocks noGrp="1"/>
          </p:cNvSpPr>
          <p:nvPr>
            <p:ph type="title"/>
          </p:nvPr>
        </p:nvSpPr>
        <p:spPr>
          <a:xfrm>
            <a:off x="171450" y="123825"/>
            <a:ext cx="11334750" cy="1838326"/>
          </a:xfrm>
        </p:spPr>
        <p:txBody>
          <a:bodyPr>
            <a:normAutofit/>
          </a:bodyPr>
          <a:lstStyle/>
          <a:p>
            <a:pPr algn="l"/>
            <a:r>
              <a:rPr lang="en-US" dirty="0">
                <a:latin typeface="Times New Roman" panose="02020603050405020304" pitchFamily="18" charset="0"/>
                <a:cs typeface="Times New Roman" panose="02020603050405020304" pitchFamily="18" charset="0"/>
              </a:rPr>
              <a:t>5    Work with a partner. Read the grammar box and match uses 1-4 with sentences a-d below.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PG 61</a:t>
            </a:r>
          </a:p>
        </p:txBody>
      </p:sp>
      <p:sp>
        <p:nvSpPr>
          <p:cNvPr id="3" name="Content Placeholder 2">
            <a:extLst>
              <a:ext uri="{FF2B5EF4-FFF2-40B4-BE49-F238E27FC236}">
                <a16:creationId xmlns:a16="http://schemas.microsoft.com/office/drawing/2014/main" id="{81ECA423-BAA4-41F2-A610-1EF50052FEC4}"/>
              </a:ext>
            </a:extLst>
          </p:cNvPr>
          <p:cNvSpPr>
            <a:spLocks noGrp="1"/>
          </p:cNvSpPr>
          <p:nvPr>
            <p:ph idx="1"/>
          </p:nvPr>
        </p:nvSpPr>
        <p:spPr>
          <a:xfrm>
            <a:off x="0" y="2057401"/>
            <a:ext cx="11506200" cy="4800599"/>
          </a:xfrm>
        </p:spPr>
        <p:txBody>
          <a:bodyPr>
            <a:normAutofit fontScale="92500" lnSpcReduction="10000"/>
          </a:bodyPr>
          <a:lstStyle/>
          <a:p>
            <a:r>
              <a:rPr lang="en-US" b="1" dirty="0">
                <a:latin typeface="Times New Roman" panose="02020603050405020304" pitchFamily="18" charset="0"/>
                <a:cs typeface="Times New Roman" panose="02020603050405020304" pitchFamily="18" charset="0"/>
              </a:rPr>
              <a:t>GRAMMAR : Participle clauses                                                                            PG 122</a:t>
            </a:r>
          </a:p>
          <a:p>
            <a:r>
              <a:rPr lang="en-US" b="1" dirty="0">
                <a:latin typeface="Times New Roman" panose="02020603050405020304" pitchFamily="18" charset="0"/>
                <a:cs typeface="Times New Roman" panose="02020603050405020304" pitchFamily="18" charset="0"/>
              </a:rPr>
              <a:t>We use Present and Past Participles</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1 Instead of relative clauses: Notices positioned near the beaches remind visitors to keep their distance. ( notices which are positioned…) </a:t>
            </a:r>
          </a:p>
          <a:p>
            <a:r>
              <a:rPr lang="en-US" dirty="0">
                <a:latin typeface="Times New Roman" panose="02020603050405020304" pitchFamily="18" charset="0"/>
                <a:cs typeface="Times New Roman" panose="02020603050405020304" pitchFamily="18" charset="0"/>
              </a:rPr>
              <a:t>2 to add extra information: Located 935 kilometers away ….., the Ecuadorian owned Galapagos Islands  present an ecologically unique environment. </a:t>
            </a:r>
          </a:p>
          <a:p>
            <a:r>
              <a:rPr lang="en-US" dirty="0">
                <a:latin typeface="Times New Roman" panose="02020603050405020304" pitchFamily="18" charset="0"/>
                <a:cs typeface="Times New Roman" panose="02020603050405020304" pitchFamily="18" charset="0"/>
              </a:rPr>
              <a:t>3  to give a reason for something : Being accustomed to the presence of humans, the sealions are incredibly bold. (because they are accustomed….)</a:t>
            </a:r>
          </a:p>
          <a:p>
            <a:r>
              <a:rPr lang="en-US" dirty="0">
                <a:latin typeface="Times New Roman" panose="02020603050405020304" pitchFamily="18" charset="0"/>
                <a:cs typeface="Times New Roman" panose="02020603050405020304" pitchFamily="18" charset="0"/>
              </a:rPr>
              <a:t>Note that Present Participles have an active meaning and Past Participles have a passive meaning.</a:t>
            </a:r>
          </a:p>
          <a:p>
            <a:r>
              <a:rPr lang="en-US" dirty="0">
                <a:latin typeface="Times New Roman" panose="02020603050405020304" pitchFamily="18" charset="0"/>
                <a:cs typeface="Times New Roman" panose="02020603050405020304" pitchFamily="18" charset="0"/>
              </a:rPr>
              <a:t>We use Perfect Participles:</a:t>
            </a:r>
          </a:p>
          <a:p>
            <a:r>
              <a:rPr lang="en-US" dirty="0">
                <a:latin typeface="Times New Roman" panose="02020603050405020304" pitchFamily="18" charset="0"/>
                <a:cs typeface="Times New Roman" panose="02020603050405020304" pitchFamily="18" charset="0"/>
              </a:rPr>
              <a:t>4 to show that something happened earlier: Having become accustomed to people, the animals are no longer afraid.</a:t>
            </a:r>
          </a:p>
        </p:txBody>
      </p:sp>
    </p:spTree>
    <p:extLst>
      <p:ext uri="{BB962C8B-B14F-4D97-AF65-F5344CB8AC3E}">
        <p14:creationId xmlns:p14="http://schemas.microsoft.com/office/powerpoint/2010/main" val="6545465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A21676-D566-4567-BA70-35364DBECBA8}"/>
              </a:ext>
            </a:extLst>
          </p:cNvPr>
          <p:cNvSpPr>
            <a:spLocks noGrp="1"/>
          </p:cNvSpPr>
          <p:nvPr>
            <p:ph idx="1"/>
          </p:nvPr>
        </p:nvSpPr>
        <p:spPr>
          <a:xfrm>
            <a:off x="685799" y="133350"/>
            <a:ext cx="11506201" cy="6085335"/>
          </a:xfrm>
        </p:spPr>
        <p:txBody>
          <a:bodyPr>
            <a:normAutofit lnSpcReduction="10000"/>
          </a:bodyPr>
          <a:lstStyle/>
          <a:p>
            <a:pPr marL="0" indent="0">
              <a:buNone/>
            </a:pPr>
            <a:r>
              <a:rPr lang="en-US" dirty="0">
                <a:latin typeface="Times New Roman" panose="02020603050405020304" pitchFamily="18" charset="0"/>
                <a:cs typeface="Times New Roman" panose="02020603050405020304" pitchFamily="18" charset="0"/>
              </a:rPr>
              <a:t>   a   Inspired by everything he had seen , he wrote his famous work, On the Origin of Species. </a:t>
            </a:r>
            <a:r>
              <a:rPr lang="en-US" b="1" dirty="0">
                <a:latin typeface="Times New Roman" panose="02020603050405020304" pitchFamily="18" charset="0"/>
                <a:cs typeface="Times New Roman" panose="02020603050405020304" pitchFamily="18" charset="0"/>
              </a:rPr>
              <a:t>PG 61</a:t>
            </a:r>
          </a:p>
          <a:p>
            <a:r>
              <a:rPr lang="en-US" dirty="0">
                <a:latin typeface="Times New Roman" panose="02020603050405020304" pitchFamily="18" charset="0"/>
                <a:cs typeface="Times New Roman" panose="02020603050405020304" pitchFamily="18" charset="0"/>
              </a:rPr>
              <a:t>b   Having been restricted to the use of only 3% of the land, the islanders face high living costs.</a:t>
            </a:r>
          </a:p>
          <a:p>
            <a:r>
              <a:rPr lang="en-US" dirty="0">
                <a:latin typeface="Times New Roman" panose="02020603050405020304" pitchFamily="18" charset="0"/>
                <a:cs typeface="Times New Roman" panose="02020603050405020304" pitchFamily="18" charset="0"/>
              </a:rPr>
              <a:t>c    The locals living on the island have so many wonderful things to do in their free time.</a:t>
            </a:r>
          </a:p>
          <a:p>
            <a:r>
              <a:rPr lang="en-US" dirty="0">
                <a:latin typeface="Times New Roman" panose="02020603050405020304" pitchFamily="18" charset="0"/>
                <a:cs typeface="Times New Roman" panose="02020603050405020304" pitchFamily="18" charset="0"/>
              </a:rPr>
              <a:t>d   Taking their name from the giant tortoise, the islands are home to several native species.</a:t>
            </a:r>
          </a:p>
          <a:p>
            <a:r>
              <a:rPr lang="en-US" b="1" dirty="0">
                <a:latin typeface="Times New Roman" panose="02020603050405020304" pitchFamily="18" charset="0"/>
                <a:cs typeface="Times New Roman" panose="02020603050405020304" pitchFamily="18" charset="0"/>
              </a:rPr>
              <a:t>6    Rewrite the sentences using a participle clause instead of the relative clause.</a:t>
            </a:r>
          </a:p>
          <a:p>
            <a:r>
              <a:rPr lang="en-US" dirty="0">
                <a:latin typeface="Times New Roman" panose="02020603050405020304" pitchFamily="18" charset="0"/>
                <a:cs typeface="Times New Roman" panose="02020603050405020304" pitchFamily="18" charset="0"/>
              </a:rPr>
              <a:t>1    People who are interested in the environment and conservation shouldn’t travel by plane.</a:t>
            </a:r>
          </a:p>
          <a:p>
            <a:r>
              <a:rPr lang="en-US" dirty="0">
                <a:latin typeface="Times New Roman" panose="02020603050405020304" pitchFamily="18" charset="0"/>
                <a:cs typeface="Times New Roman" panose="02020603050405020304" pitchFamily="18" charset="0"/>
              </a:rPr>
              <a:t>      …………………………………………………………………………………………… .</a:t>
            </a:r>
          </a:p>
          <a:p>
            <a:pPr marL="0" indent="0">
              <a:buNone/>
            </a:pPr>
            <a:r>
              <a:rPr lang="en-US" dirty="0">
                <a:latin typeface="Times New Roman" panose="02020603050405020304" pitchFamily="18" charset="0"/>
                <a:cs typeface="Times New Roman" panose="02020603050405020304" pitchFamily="18" charset="0"/>
              </a:rPr>
              <a:t>   2    Islands which are located many kilometres from the mainland can be difficult to live on.</a:t>
            </a:r>
          </a:p>
          <a:p>
            <a:pPr marL="0" indent="0">
              <a:buNone/>
            </a:pPr>
            <a:r>
              <a:rPr lang="en-US" dirty="0">
                <a:latin typeface="Times New Roman" panose="02020603050405020304" pitchFamily="18" charset="0"/>
                <a:cs typeface="Times New Roman" panose="02020603050405020304" pitchFamily="18" charset="0"/>
              </a:rPr>
              <a:t>         ……………………………………………………………………………………………. .</a:t>
            </a:r>
          </a:p>
          <a:p>
            <a:pPr marL="0" indent="0">
              <a:buNone/>
            </a:pPr>
            <a:r>
              <a:rPr lang="en-US" dirty="0">
                <a:latin typeface="Times New Roman" panose="02020603050405020304" pitchFamily="18" charset="0"/>
                <a:cs typeface="Times New Roman" panose="02020603050405020304" pitchFamily="18" charset="0"/>
              </a:rPr>
              <a:t>  3     Tourists who swim in the sea can expect to be joined by sealions.</a:t>
            </a:r>
          </a:p>
          <a:p>
            <a:pPr marL="0" indent="0">
              <a:buNone/>
            </a:pPr>
            <a:r>
              <a:rPr lang="en-US" dirty="0">
                <a:latin typeface="Times New Roman" panose="02020603050405020304" pitchFamily="18" charset="0"/>
                <a:cs typeface="Times New Roman" panose="02020603050405020304" pitchFamily="18" charset="0"/>
              </a:rPr>
              <a:t>         ……………………………………………………………………………………………. .</a:t>
            </a:r>
          </a:p>
          <a:p>
            <a:pPr marL="0" indent="0">
              <a:buNone/>
            </a:pPr>
            <a:r>
              <a:rPr lang="en-US" dirty="0">
                <a:latin typeface="Times New Roman" panose="02020603050405020304" pitchFamily="18" charset="0"/>
                <a:cs typeface="Times New Roman" panose="02020603050405020304" pitchFamily="18" charset="0"/>
              </a:rPr>
              <a:t>  4     The language which is spoken on the island is Spanish.</a:t>
            </a:r>
          </a:p>
          <a:p>
            <a:pPr marL="0" indent="0">
              <a:buNone/>
            </a:pPr>
            <a:r>
              <a:rPr lang="en-US" dirty="0">
                <a:latin typeface="Times New Roman" panose="02020603050405020304" pitchFamily="18" charset="0"/>
                <a:cs typeface="Times New Roman" panose="02020603050405020304" pitchFamily="18" charset="0"/>
              </a:rPr>
              <a:t>         ……………………………………………………………………………………………. .</a:t>
            </a:r>
          </a:p>
        </p:txBody>
      </p:sp>
    </p:spTree>
    <p:extLst>
      <p:ext uri="{BB962C8B-B14F-4D97-AF65-F5344CB8AC3E}">
        <p14:creationId xmlns:p14="http://schemas.microsoft.com/office/powerpoint/2010/main" val="28190878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939BFD-3141-4F1A-8463-0801597DC424}"/>
              </a:ext>
            </a:extLst>
          </p:cNvPr>
          <p:cNvSpPr>
            <a:spLocks noGrp="1"/>
          </p:cNvSpPr>
          <p:nvPr>
            <p:ph idx="1"/>
          </p:nvPr>
        </p:nvSpPr>
        <p:spPr>
          <a:xfrm>
            <a:off x="685800" y="285750"/>
            <a:ext cx="10820400" cy="5932935"/>
          </a:xfrm>
        </p:spPr>
        <p:txBody>
          <a:bodyPr/>
          <a:lstStyle/>
          <a:p>
            <a:r>
              <a:rPr lang="en-US" dirty="0">
                <a:latin typeface="Times New Roman" panose="02020603050405020304" pitchFamily="18" charset="0"/>
                <a:cs typeface="Times New Roman" panose="02020603050405020304" pitchFamily="18" charset="0"/>
              </a:rPr>
              <a:t>5</a:t>
            </a:r>
            <a:r>
              <a:rPr lang="en-US" dirty="0"/>
              <a:t>    </a:t>
            </a:r>
            <a:r>
              <a:rPr lang="en-US" dirty="0">
                <a:latin typeface="Times New Roman" panose="02020603050405020304" pitchFamily="18" charset="0"/>
                <a:cs typeface="Times New Roman" panose="02020603050405020304" pitchFamily="18" charset="0"/>
              </a:rPr>
              <a:t>Cargo ships that arrive weekly in the harbor bring much – needed supplies</a:t>
            </a:r>
            <a:r>
              <a:rPr lang="en-US" b="1" dirty="0">
                <a:latin typeface="Times New Roman" panose="02020603050405020304" pitchFamily="18" charset="0"/>
                <a:cs typeface="Times New Roman" panose="02020603050405020304" pitchFamily="18" charset="0"/>
              </a:rPr>
              <a:t>.                        PG 61</a:t>
            </a:r>
          </a:p>
          <a:p>
            <a:r>
              <a:rPr lang="en-US" dirty="0">
                <a:latin typeface="Times New Roman" panose="02020603050405020304" pitchFamily="18" charset="0"/>
                <a:cs typeface="Times New Roman" panose="02020603050405020304" pitchFamily="18" charset="0"/>
              </a:rPr>
              <a:t>6    People who drop litter on the ground will be fined.</a:t>
            </a:r>
          </a:p>
          <a:p>
            <a:pPr marL="457200" indent="-457200">
              <a:buAutoNum type="arabicPlain" startAt="7"/>
            </a:pPr>
            <a:r>
              <a:rPr lang="en-US" b="1" dirty="0">
                <a:latin typeface="Times New Roman" panose="02020603050405020304" pitchFamily="18" charset="0"/>
                <a:cs typeface="Times New Roman" panose="02020603050405020304" pitchFamily="18" charset="0"/>
              </a:rPr>
              <a:t>Rewrite each pair of sentences as one sentence, using a participle clause.             </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PG 61</a:t>
            </a:r>
          </a:p>
          <a:p>
            <a:pPr marL="0" indent="0">
              <a:buNone/>
            </a:pPr>
            <a:endParaRPr lang="en-US" b="1" dirty="0">
              <a:latin typeface="Times New Roman" panose="02020603050405020304" pitchFamily="18" charset="0"/>
              <a:cs typeface="Times New Roman" panose="02020603050405020304" pitchFamily="18" charset="0"/>
            </a:endParaRPr>
          </a:p>
          <a:p>
            <a:pPr marL="457200" indent="-457200">
              <a:buAutoNum type="arabicPlain"/>
            </a:pPr>
            <a:r>
              <a:rPr lang="en-US" dirty="0">
                <a:latin typeface="Times New Roman" panose="02020603050405020304" pitchFamily="18" charset="0"/>
                <a:cs typeface="Times New Roman" panose="02020603050405020304" pitchFamily="18" charset="0"/>
              </a:rPr>
              <a:t>I noticed the sealion was in a bad mood. That’s why I sat far away from him on the beach.</a:t>
            </a:r>
          </a:p>
          <a:p>
            <a:pPr marL="0" indent="0">
              <a:buNone/>
            </a:pPr>
            <a:r>
              <a:rPr lang="en-US" dirty="0">
                <a:latin typeface="Times New Roman" panose="02020603050405020304" pitchFamily="18" charset="0"/>
                <a:cs typeface="Times New Roman" panose="02020603050405020304" pitchFamily="18" charset="0"/>
              </a:rPr>
              <a:t>       ………………………………………………………………………………………………. </a:t>
            </a:r>
          </a:p>
          <a:p>
            <a:pPr marL="457200" indent="-457200">
              <a:buAutoNum type="arabicPlain" startAt="2"/>
            </a:pPr>
            <a:r>
              <a:rPr lang="en-US" dirty="0">
                <a:latin typeface="Times New Roman" panose="02020603050405020304" pitchFamily="18" charset="0"/>
                <a:cs typeface="Times New Roman" panose="02020603050405020304" pitchFamily="18" charset="0"/>
              </a:rPr>
              <a:t>Rats were accidently introduced to the islands by humans. They have damaged the natural wildlife.</a:t>
            </a:r>
          </a:p>
          <a:p>
            <a:pPr marL="457200" indent="-457200">
              <a:buAutoNum type="arabicPlain" startAt="2"/>
            </a:pPr>
            <a:r>
              <a:rPr lang="en-US" dirty="0">
                <a:latin typeface="Times New Roman" panose="02020603050405020304" pitchFamily="18" charset="0"/>
                <a:cs typeface="Times New Roman" panose="02020603050405020304" pitchFamily="18" charset="0"/>
              </a:rPr>
              <a:t>I applied to study Biochemistry at university. I was encouraged by my Science teacher.</a:t>
            </a:r>
          </a:p>
          <a:p>
            <a:pPr marL="457200" indent="-457200">
              <a:buAutoNum type="arabicPlain" startAt="2"/>
            </a:pPr>
            <a:r>
              <a:rPr lang="en-US" dirty="0">
                <a:latin typeface="Times New Roman" panose="02020603050405020304" pitchFamily="18" charset="0"/>
                <a:cs typeface="Times New Roman" panose="02020603050405020304" pitchFamily="18" charset="0"/>
              </a:rPr>
              <a:t>I saw so many amazing photos of the island. Then I decided to book a holiday there.</a:t>
            </a:r>
          </a:p>
          <a:p>
            <a:pPr marL="457200" indent="-457200">
              <a:buAutoNum type="arabicPlain" startAt="2"/>
            </a:pPr>
            <a:r>
              <a:rPr lang="en-US" dirty="0">
                <a:latin typeface="Times New Roman" panose="02020603050405020304" pitchFamily="18" charset="0"/>
                <a:cs typeface="Times New Roman" panose="02020603050405020304" pitchFamily="18" charset="0"/>
              </a:rPr>
              <a:t>I realized how limited the water supply at the hotel was. I only had a two-minute shower.</a:t>
            </a:r>
          </a:p>
          <a:p>
            <a:pPr marL="457200" indent="-457200">
              <a:buAutoNum type="arabicPlain" startAt="2"/>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7791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F3B2E-A8BE-420B-93AB-7E2E85FC07F0}"/>
              </a:ext>
            </a:extLst>
          </p:cNvPr>
          <p:cNvSpPr>
            <a:spLocks noGrp="1"/>
          </p:cNvSpPr>
          <p:nvPr>
            <p:ph type="title"/>
          </p:nvPr>
        </p:nvSpPr>
        <p:spPr>
          <a:xfrm>
            <a:off x="0" y="2"/>
            <a:ext cx="12191999" cy="714374"/>
          </a:xfrm>
        </p:spPr>
        <p:txBody>
          <a:bodyPr>
            <a:normAutofit fontScale="90000"/>
          </a:bodyPr>
          <a:lstStyle/>
          <a:p>
            <a:r>
              <a:rPr lang="en-US" sz="2200" b="1" dirty="0">
                <a:latin typeface="Times New Roman" panose="02020603050405020304" pitchFamily="18" charset="0"/>
                <a:cs typeface="Times New Roman" panose="02020603050405020304" pitchFamily="18" charset="0"/>
              </a:rPr>
              <a:t>8  Think about interesting holiday ideas. Complete the sentences about </a:t>
            </a:r>
            <a:br>
              <a:rPr lang="en-US" sz="2200" b="1" dirty="0">
                <a:latin typeface="Times New Roman" panose="02020603050405020304" pitchFamily="18" charset="0"/>
                <a:cs typeface="Times New Roman" panose="02020603050405020304" pitchFamily="18" charset="0"/>
              </a:rPr>
            </a:br>
            <a:r>
              <a:rPr lang="en-US" sz="2200" b="1" dirty="0">
                <a:latin typeface="Times New Roman" panose="02020603050405020304" pitchFamily="18" charset="0"/>
                <a:cs typeface="Times New Roman" panose="02020603050405020304" pitchFamily="18" charset="0"/>
              </a:rPr>
              <a:t>    you or someone you know.                                                                                                 PG  61</a:t>
            </a:r>
          </a:p>
        </p:txBody>
      </p:sp>
      <p:sp>
        <p:nvSpPr>
          <p:cNvPr id="3" name="Content Placeholder 2">
            <a:extLst>
              <a:ext uri="{FF2B5EF4-FFF2-40B4-BE49-F238E27FC236}">
                <a16:creationId xmlns:a16="http://schemas.microsoft.com/office/drawing/2014/main" id="{117127F9-4948-42F5-86C2-4DC5A6C48D16}"/>
              </a:ext>
            </a:extLst>
          </p:cNvPr>
          <p:cNvSpPr>
            <a:spLocks noGrp="1"/>
          </p:cNvSpPr>
          <p:nvPr>
            <p:ph idx="1"/>
          </p:nvPr>
        </p:nvSpPr>
        <p:spPr>
          <a:xfrm>
            <a:off x="0" y="714377"/>
            <a:ext cx="11054855" cy="4742444"/>
          </a:xfrm>
        </p:spPr>
        <p:txBody>
          <a:bodyPr>
            <a:normAutofit/>
          </a:bodyPr>
          <a:lstStyle/>
          <a:p>
            <a:r>
              <a:rPr lang="en-US" sz="2200" dirty="0">
                <a:latin typeface="Times New Roman" panose="02020603050405020304" pitchFamily="18" charset="0"/>
                <a:cs typeface="Times New Roman" panose="02020603050405020304" pitchFamily="18" charset="0"/>
              </a:rPr>
              <a:t>1     Being interested in </a:t>
            </a:r>
            <a:r>
              <a:rPr lang="en-US" sz="2200" i="1" dirty="0">
                <a:latin typeface="Times New Roman" panose="02020603050405020304" pitchFamily="18" charset="0"/>
                <a:cs typeface="Times New Roman" panose="02020603050405020304" pitchFamily="18" charset="0"/>
              </a:rPr>
              <a:t>volcanoes, my uncle decided to travel to Iceland.</a:t>
            </a:r>
          </a:p>
          <a:p>
            <a:r>
              <a:rPr lang="en-US" sz="2200" dirty="0">
                <a:latin typeface="Times New Roman" panose="02020603050405020304" pitchFamily="18" charset="0"/>
                <a:cs typeface="Times New Roman" panose="02020603050405020304" pitchFamily="18" charset="0"/>
              </a:rPr>
              <a:t>2     Inspired by ……………………………………………………………</a:t>
            </a:r>
          </a:p>
          <a:p>
            <a:r>
              <a:rPr lang="en-US" sz="2200" dirty="0">
                <a:latin typeface="Times New Roman" panose="02020603050405020304" pitchFamily="18" charset="0"/>
                <a:cs typeface="Times New Roman" panose="02020603050405020304" pitchFamily="18" charset="0"/>
              </a:rPr>
              <a:t>3     Having seen ………………………………………………………….</a:t>
            </a:r>
          </a:p>
          <a:p>
            <a:r>
              <a:rPr lang="en-US" sz="2200" dirty="0">
                <a:latin typeface="Times New Roman" panose="02020603050405020304" pitchFamily="18" charset="0"/>
                <a:cs typeface="Times New Roman" panose="02020603050405020304" pitchFamily="18" charset="0"/>
              </a:rPr>
              <a:t>4     Walking around ……………………………………………………….</a:t>
            </a:r>
          </a:p>
          <a:p>
            <a:r>
              <a:rPr lang="en-US" sz="2200" dirty="0">
                <a:latin typeface="Times New Roman" panose="02020603050405020304" pitchFamily="18" charset="0"/>
                <a:cs typeface="Times New Roman" panose="02020603050405020304" pitchFamily="18" charset="0"/>
              </a:rPr>
              <a:t>9     </a:t>
            </a:r>
            <a:r>
              <a:rPr lang="en-US" sz="2200" b="1" dirty="0">
                <a:latin typeface="Times New Roman" panose="02020603050405020304" pitchFamily="18" charset="0"/>
                <a:cs typeface="Times New Roman" panose="02020603050405020304" pitchFamily="18" charset="0"/>
              </a:rPr>
              <a:t>Work in small groups. Discuss your answers to exercise 8. Did you write about   </a:t>
            </a:r>
          </a:p>
          <a:p>
            <a:r>
              <a:rPr lang="en-US" sz="2200" b="1" dirty="0">
                <a:latin typeface="Times New Roman" panose="02020603050405020304" pitchFamily="18" charset="0"/>
                <a:cs typeface="Times New Roman" panose="02020603050405020304" pitchFamily="18" charset="0"/>
              </a:rPr>
              <a:t>       similar experiences?</a:t>
            </a:r>
          </a:p>
          <a:p>
            <a:r>
              <a:rPr lang="en-US" sz="2200" b="1" dirty="0">
                <a:latin typeface="Times New Roman" panose="02020603050405020304" pitchFamily="18" charset="0"/>
                <a:cs typeface="Times New Roman" panose="02020603050405020304" pitchFamily="18" charset="0"/>
              </a:rPr>
              <a:t>10   034   Read about a radio programme.Who is the guest? What do you expect her to </a:t>
            </a:r>
          </a:p>
          <a:p>
            <a:r>
              <a:rPr lang="en-US" sz="2200" b="1" dirty="0">
                <a:latin typeface="Times New Roman" panose="02020603050405020304" pitchFamily="18" charset="0"/>
                <a:cs typeface="Times New Roman" panose="02020603050405020304" pitchFamily="18" charset="0"/>
              </a:rPr>
              <a:t>                talk about? Listen and check your ideas.</a:t>
            </a:r>
          </a:p>
          <a:p>
            <a:endParaRPr lang="en-US" sz="2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62020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C805B-B2D2-4095-BCBA-00E791A647A7}"/>
              </a:ext>
            </a:extLst>
          </p:cNvPr>
          <p:cNvSpPr>
            <a:spLocks noGrp="1"/>
          </p:cNvSpPr>
          <p:nvPr>
            <p:ph type="title"/>
          </p:nvPr>
        </p:nvSpPr>
        <p:spPr>
          <a:xfrm>
            <a:off x="1" y="1"/>
            <a:ext cx="12068174" cy="590549"/>
          </a:xfrm>
        </p:spPr>
        <p:txBody>
          <a:bodyPr>
            <a:normAutofit fontScale="90000"/>
          </a:bodyPr>
          <a:lstStyle/>
          <a:p>
            <a:r>
              <a:rPr lang="en-US" b="1" dirty="0">
                <a:latin typeface="Times New Roman" panose="02020603050405020304" pitchFamily="18" charset="0"/>
                <a:cs typeface="Times New Roman" panose="02020603050405020304" pitchFamily="18" charset="0"/>
              </a:rPr>
              <a:t>11  034   Listen again and answer the questions.     PG 61</a:t>
            </a:r>
          </a:p>
        </p:txBody>
      </p:sp>
      <p:sp>
        <p:nvSpPr>
          <p:cNvPr id="3" name="Content Placeholder 2">
            <a:extLst>
              <a:ext uri="{FF2B5EF4-FFF2-40B4-BE49-F238E27FC236}">
                <a16:creationId xmlns:a16="http://schemas.microsoft.com/office/drawing/2014/main" id="{FDC011E2-B2B3-44F6-99B7-547053306E1B}"/>
              </a:ext>
            </a:extLst>
          </p:cNvPr>
          <p:cNvSpPr>
            <a:spLocks noGrp="1"/>
          </p:cNvSpPr>
          <p:nvPr>
            <p:ph idx="1"/>
          </p:nvPr>
        </p:nvSpPr>
        <p:spPr>
          <a:xfrm>
            <a:off x="123825" y="514350"/>
            <a:ext cx="11944350" cy="4951995"/>
          </a:xfrm>
        </p:spPr>
        <p:txBody>
          <a:bodyPr>
            <a:normAutofit/>
          </a:bodyPr>
          <a:lstStyle/>
          <a:p>
            <a:r>
              <a:rPr lang="en-US" dirty="0">
                <a:latin typeface="Times New Roman" panose="02020603050405020304" pitchFamily="18" charset="0"/>
                <a:cs typeface="Times New Roman" panose="02020603050405020304" pitchFamily="18" charset="0"/>
              </a:rPr>
              <a:t>1    How long have people been living on the islands?</a:t>
            </a:r>
          </a:p>
          <a:p>
            <a:r>
              <a:rPr lang="en-US" dirty="0">
                <a:latin typeface="Times New Roman" panose="02020603050405020304" pitchFamily="18" charset="0"/>
                <a:cs typeface="Times New Roman" panose="02020603050405020304" pitchFamily="18" charset="0"/>
              </a:rPr>
              <a:t>2    What did Judy do with her tour group to help sustain the environment of the islands?</a:t>
            </a:r>
          </a:p>
          <a:p>
            <a:r>
              <a:rPr lang="en-US" dirty="0">
                <a:latin typeface="Times New Roman" panose="02020603050405020304" pitchFamily="18" charset="0"/>
                <a:cs typeface="Times New Roman" panose="02020603050405020304" pitchFamily="18" charset="0"/>
              </a:rPr>
              <a:t>3    In general, how do local people feel about tourism and why?</a:t>
            </a:r>
          </a:p>
          <a:p>
            <a:r>
              <a:rPr lang="en-US" dirty="0">
                <a:latin typeface="Times New Roman" panose="02020603050405020304" pitchFamily="18" charset="0"/>
                <a:cs typeface="Times New Roman" panose="02020603050405020304" pitchFamily="18" charset="0"/>
              </a:rPr>
              <a:t>4    What useful activities did locals take part in to help feed themselves in 2020?</a:t>
            </a:r>
          </a:p>
          <a:p>
            <a:r>
              <a:rPr lang="en-US" dirty="0">
                <a:latin typeface="Times New Roman" panose="02020603050405020304" pitchFamily="18" charset="0"/>
                <a:cs typeface="Times New Roman" panose="02020603050405020304" pitchFamily="18" charset="0"/>
              </a:rPr>
              <a:t>5    How do wild pigs and goats cause problems?</a:t>
            </a:r>
          </a:p>
          <a:p>
            <a:r>
              <a:rPr lang="en-US" dirty="0">
                <a:latin typeface="Times New Roman" panose="02020603050405020304" pitchFamily="18" charset="0"/>
                <a:cs typeface="Times New Roman" panose="02020603050405020304" pitchFamily="18" charset="0"/>
              </a:rPr>
              <a:t>6    What is the biggest concern for the islands in the future? Why?</a:t>
            </a:r>
          </a:p>
          <a:p>
            <a:r>
              <a:rPr lang="en-US" b="1" dirty="0">
                <a:latin typeface="Times New Roman" panose="02020603050405020304" pitchFamily="18" charset="0"/>
                <a:cs typeface="Times New Roman" panose="02020603050405020304" pitchFamily="18" charset="0"/>
              </a:rPr>
              <a:t>6A  12  035   Complete the sentences with the correct relative pronouns. Then listen and check.      PG 62</a:t>
            </a:r>
          </a:p>
          <a:p>
            <a:r>
              <a:rPr lang="en-US" dirty="0">
                <a:latin typeface="Times New Roman" panose="02020603050405020304" pitchFamily="18" charset="0"/>
                <a:cs typeface="Times New Roman" panose="02020603050405020304" pitchFamily="18" charset="0"/>
              </a:rPr>
              <a:t>1   It’s certainly on the list of places .................... I’d like to visit.</a:t>
            </a:r>
          </a:p>
          <a:p>
            <a:r>
              <a:rPr lang="en-US" dirty="0">
                <a:latin typeface="Times New Roman" panose="02020603050405020304" pitchFamily="18" charset="0"/>
                <a:cs typeface="Times New Roman" panose="02020603050405020304" pitchFamily="18" charset="0"/>
              </a:rPr>
              <a:t>2   Human beings, ………………. are notorious for destroying the environment around them, have </a:t>
            </a:r>
          </a:p>
          <a:p>
            <a:r>
              <a:rPr lang="en-US" dirty="0">
                <a:latin typeface="Times New Roman" panose="02020603050405020304" pitchFamily="18" charset="0"/>
                <a:cs typeface="Times New Roman" panose="02020603050405020304" pitchFamily="18" charset="0"/>
              </a:rPr>
              <a:t>     only been living on the islands for a few hundred years.</a:t>
            </a:r>
          </a:p>
          <a:p>
            <a:pPr marL="0" indent="0">
              <a:buNone/>
            </a:pPr>
            <a:endParaRPr lang="en-US" dirty="0"/>
          </a:p>
        </p:txBody>
      </p:sp>
    </p:spTree>
    <p:extLst>
      <p:ext uri="{BB962C8B-B14F-4D97-AF65-F5344CB8AC3E}">
        <p14:creationId xmlns:p14="http://schemas.microsoft.com/office/powerpoint/2010/main" val="20571569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193F8D-9B4E-4B22-B603-43B134132294}"/>
              </a:ext>
            </a:extLst>
          </p:cNvPr>
          <p:cNvSpPr>
            <a:spLocks noGrp="1"/>
          </p:cNvSpPr>
          <p:nvPr>
            <p:ph idx="1"/>
          </p:nvPr>
        </p:nvSpPr>
        <p:spPr>
          <a:xfrm>
            <a:off x="114301" y="76200"/>
            <a:ext cx="11915774" cy="5390145"/>
          </a:xfrm>
        </p:spPr>
        <p:txBody>
          <a:bodyPr/>
          <a:lstStyle/>
          <a:p>
            <a:r>
              <a:rPr lang="en-US" dirty="0">
                <a:latin typeface="Times New Roman" panose="02020603050405020304" pitchFamily="18" charset="0"/>
                <a:cs typeface="Times New Roman" panose="02020603050405020304" pitchFamily="18" charset="0"/>
              </a:rPr>
              <a:t>3   It’s tourism ………………. pays most of their bills. </a:t>
            </a:r>
            <a:r>
              <a:rPr lang="en-US" b="1" dirty="0">
                <a:latin typeface="Times New Roman" panose="02020603050405020304" pitchFamily="18" charset="0"/>
                <a:cs typeface="Times New Roman" panose="02020603050405020304" pitchFamily="18" charset="0"/>
              </a:rPr>
              <a:t>                                                                         PG 62</a:t>
            </a:r>
          </a:p>
          <a:p>
            <a:r>
              <a:rPr lang="en-US" dirty="0">
                <a:latin typeface="Times New Roman" panose="02020603050405020304" pitchFamily="18" charset="0"/>
                <a:cs typeface="Times New Roman" panose="02020603050405020304" pitchFamily="18" charset="0"/>
              </a:rPr>
              <a:t>4   Just like the animals on the islands, …………………  evolved and adapted, the locals adjusted their behavior.</a:t>
            </a:r>
          </a:p>
          <a:p>
            <a:r>
              <a:rPr lang="en-US" dirty="0">
                <a:latin typeface="Times New Roman" panose="02020603050405020304" pitchFamily="18" charset="0"/>
                <a:cs typeface="Times New Roman" panose="02020603050405020304" pitchFamily="18" charset="0"/>
              </a:rPr>
              <a:t>5   The majority of residents , ……………….livelihood depend on tourism, were facing serious problems.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6   People …………………. would normally work in the tourist industry relocated to highland farming areas.</a:t>
            </a:r>
          </a:p>
          <a:p>
            <a:r>
              <a:rPr lang="en-US" dirty="0">
                <a:latin typeface="Times New Roman" panose="02020603050405020304" pitchFamily="18" charset="0"/>
                <a:cs typeface="Times New Roman" panose="02020603050405020304" pitchFamily="18" charset="0"/>
              </a:rPr>
              <a:t>7   The island authorities support hunters ………………… help keep the numbers of these animals under </a:t>
            </a:r>
          </a:p>
          <a:p>
            <a:r>
              <a:rPr lang="en-US" dirty="0">
                <a:latin typeface="Times New Roman" panose="02020603050405020304" pitchFamily="18" charset="0"/>
                <a:cs typeface="Times New Roman" panose="02020603050405020304" pitchFamily="18" charset="0"/>
              </a:rPr>
              <a:t>      control.</a:t>
            </a:r>
          </a:p>
          <a:p>
            <a:r>
              <a:rPr lang="en-US" dirty="0">
                <a:latin typeface="Times New Roman" panose="02020603050405020304" pitchFamily="18" charset="0"/>
                <a:cs typeface="Times New Roman" panose="02020603050405020304" pitchFamily="18" charset="0"/>
              </a:rPr>
              <a:t>8   My best memory is from the time ………………… a sealion joined me for a swim.</a:t>
            </a:r>
          </a:p>
        </p:txBody>
      </p:sp>
    </p:spTree>
    <p:extLst>
      <p:ext uri="{BB962C8B-B14F-4D97-AF65-F5344CB8AC3E}">
        <p14:creationId xmlns:p14="http://schemas.microsoft.com/office/powerpoint/2010/main" val="7497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B000E0-8007-405E-8E83-D7243152960E}"/>
              </a:ext>
            </a:extLst>
          </p:cNvPr>
          <p:cNvSpPr>
            <a:spLocks noGrp="1"/>
          </p:cNvSpPr>
          <p:nvPr>
            <p:ph idx="1"/>
          </p:nvPr>
        </p:nvSpPr>
        <p:spPr>
          <a:xfrm>
            <a:off x="133351" y="95250"/>
            <a:ext cx="10921504" cy="6210300"/>
          </a:xfrm>
        </p:spPr>
        <p:txBody>
          <a:bodyPr/>
          <a:lstStyle/>
          <a:p>
            <a:r>
              <a:rPr lang="en-US" dirty="0">
                <a:latin typeface="Times New Roman" panose="02020603050405020304" pitchFamily="18" charset="0"/>
                <a:cs typeface="Times New Roman" panose="02020603050405020304" pitchFamily="18" charset="0"/>
              </a:rPr>
              <a:t>14 Work with a partner. Read the pairs of sentences and discuss the questions.                           Pg 62 </a:t>
            </a:r>
          </a:p>
          <a:p>
            <a:r>
              <a:rPr lang="en-US" dirty="0">
                <a:latin typeface="Times New Roman" panose="02020603050405020304" pitchFamily="18" charset="0"/>
                <a:cs typeface="Times New Roman" panose="02020603050405020304" pitchFamily="18" charset="0"/>
              </a:rPr>
              <a:t>1   Both sentences are correct. Why does B use a defining relative clause.</a:t>
            </a:r>
          </a:p>
          <a:p>
            <a:r>
              <a:rPr lang="en-US" dirty="0">
                <a:latin typeface="Times New Roman" panose="02020603050405020304" pitchFamily="18" charset="0"/>
                <a:cs typeface="Times New Roman" panose="02020603050405020304" pitchFamily="18" charset="0"/>
              </a:rPr>
              <a:t>A:   My uncle, who is a conservationist, visits the islands once a year.</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B:    My uncle who is a conservationist visits the islands once a year.</a:t>
            </a:r>
          </a:p>
          <a:p>
            <a:r>
              <a:rPr lang="en-US" dirty="0">
                <a:latin typeface="Times New Roman" panose="02020603050405020304" pitchFamily="18" charset="0"/>
                <a:cs typeface="Times New Roman" panose="02020603050405020304" pitchFamily="18" charset="0"/>
              </a:rPr>
              <a:t>2   Which sentences doesn’t need a relative pronoun? Why?</a:t>
            </a:r>
          </a:p>
          <a:p>
            <a:r>
              <a:rPr lang="en-US" dirty="0">
                <a:latin typeface="Times New Roman" panose="02020603050405020304" pitchFamily="18" charset="0"/>
                <a:cs typeface="Times New Roman" panose="02020603050405020304" pitchFamily="18" charset="0"/>
              </a:rPr>
              <a:t>A:    The sealions are the animals that I’d most like to see.</a:t>
            </a:r>
          </a:p>
          <a:p>
            <a:r>
              <a:rPr lang="en-US" dirty="0">
                <a:latin typeface="Times New Roman" panose="02020603050405020304" pitchFamily="18" charset="0"/>
                <a:cs typeface="Times New Roman" panose="02020603050405020304" pitchFamily="18" charset="0"/>
              </a:rPr>
              <a:t>B;    The sealions are the animals that are the most confident.</a:t>
            </a:r>
          </a:p>
          <a:p>
            <a:r>
              <a:rPr lang="en-US" dirty="0">
                <a:latin typeface="Times New Roman" panose="02020603050405020304" pitchFamily="18" charset="0"/>
                <a:cs typeface="Times New Roman" panose="02020603050405020304" pitchFamily="18" charset="0"/>
              </a:rPr>
              <a:t>3  Which sentence definitely needs commas? If you add commas to the other sentence, how does the meaning change?</a:t>
            </a:r>
          </a:p>
          <a:p>
            <a:r>
              <a:rPr lang="en-US" dirty="0">
                <a:latin typeface="Times New Roman" panose="02020603050405020304" pitchFamily="18" charset="0"/>
                <a:cs typeface="Times New Roman" panose="02020603050405020304" pitchFamily="18" charset="0"/>
              </a:rPr>
              <a:t>A:    Tourists who leave rubbish everywhere are not welcome.</a:t>
            </a:r>
          </a:p>
          <a:p>
            <a:r>
              <a:rPr lang="en-US" dirty="0">
                <a:latin typeface="Times New Roman" panose="02020603050405020304" pitchFamily="18" charset="0"/>
                <a:cs typeface="Times New Roman" panose="02020603050405020304" pitchFamily="18" charset="0"/>
              </a:rPr>
              <a:t>B:    Tourism which generates a lot  of money for the islands provides 70% of the jobs.</a:t>
            </a:r>
          </a:p>
        </p:txBody>
      </p:sp>
    </p:spTree>
    <p:extLst>
      <p:ext uri="{BB962C8B-B14F-4D97-AF65-F5344CB8AC3E}">
        <p14:creationId xmlns:p14="http://schemas.microsoft.com/office/powerpoint/2010/main" val="25951534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4759A-DC42-4AA4-9857-44FD62106A83}"/>
              </a:ext>
            </a:extLst>
          </p:cNvPr>
          <p:cNvSpPr>
            <a:spLocks noGrp="1"/>
          </p:cNvSpPr>
          <p:nvPr>
            <p:ph type="title"/>
          </p:nvPr>
        </p:nvSpPr>
        <p:spPr>
          <a:xfrm>
            <a:off x="95250" y="2"/>
            <a:ext cx="12096749" cy="438148"/>
          </a:xfrm>
        </p:spPr>
        <p:txBody>
          <a:bodyPr>
            <a:normAutofit/>
          </a:bodyPr>
          <a:lstStyle/>
          <a:p>
            <a:r>
              <a:rPr lang="en-US" sz="2000" b="1" dirty="0">
                <a:latin typeface="Times New Roman" panose="02020603050405020304" pitchFamily="18" charset="0"/>
                <a:cs typeface="Times New Roman" panose="02020603050405020304" pitchFamily="18" charset="0"/>
              </a:rPr>
              <a:t>                                                                                                                                                                  PG 62</a:t>
            </a:r>
          </a:p>
        </p:txBody>
      </p:sp>
      <p:pic>
        <p:nvPicPr>
          <p:cNvPr id="5" name="Content Placeholder 4">
            <a:extLst>
              <a:ext uri="{FF2B5EF4-FFF2-40B4-BE49-F238E27FC236}">
                <a16:creationId xmlns:a16="http://schemas.microsoft.com/office/drawing/2014/main" id="{D575C592-F9BB-461B-BE19-500C23D0507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514350"/>
            <a:ext cx="7089853" cy="5476875"/>
          </a:xfrm>
        </p:spPr>
      </p:pic>
    </p:spTree>
    <p:extLst>
      <p:ext uri="{BB962C8B-B14F-4D97-AF65-F5344CB8AC3E}">
        <p14:creationId xmlns:p14="http://schemas.microsoft.com/office/powerpoint/2010/main" val="19427789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EAAB0-36E5-412E-9E2C-7A622AA15160}"/>
              </a:ext>
            </a:extLst>
          </p:cNvPr>
          <p:cNvSpPr>
            <a:spLocks noGrp="1"/>
          </p:cNvSpPr>
          <p:nvPr>
            <p:ph type="title"/>
          </p:nvPr>
        </p:nvSpPr>
        <p:spPr>
          <a:xfrm>
            <a:off x="0" y="1"/>
            <a:ext cx="12020549" cy="733424"/>
          </a:xfrm>
        </p:spPr>
        <p:txBody>
          <a:bodyPr>
            <a:normAutofit/>
          </a:bodyPr>
          <a:lstStyle/>
          <a:p>
            <a:r>
              <a:rPr lang="en-US" sz="2000" b="1" dirty="0">
                <a:latin typeface="Times New Roman" panose="02020603050405020304" pitchFamily="18" charset="0"/>
                <a:cs typeface="Times New Roman" panose="02020603050405020304" pitchFamily="18" charset="0"/>
              </a:rPr>
              <a:t>16   Find two relative clauses in the article. What type are they? can you change them to participle clauses?                                                                              PG 62                                          </a:t>
            </a:r>
          </a:p>
        </p:txBody>
      </p:sp>
      <p:sp>
        <p:nvSpPr>
          <p:cNvPr id="3" name="Content Placeholder 2">
            <a:extLst>
              <a:ext uri="{FF2B5EF4-FFF2-40B4-BE49-F238E27FC236}">
                <a16:creationId xmlns:a16="http://schemas.microsoft.com/office/drawing/2014/main" id="{B10E6184-91BD-4A6D-BBAA-4C56C804C3F3}"/>
              </a:ext>
            </a:extLst>
          </p:cNvPr>
          <p:cNvSpPr>
            <a:spLocks noGrp="1"/>
          </p:cNvSpPr>
          <p:nvPr>
            <p:ph idx="1"/>
          </p:nvPr>
        </p:nvSpPr>
        <p:spPr>
          <a:xfrm>
            <a:off x="76201" y="638175"/>
            <a:ext cx="10978654" cy="4828171"/>
          </a:xfrm>
        </p:spPr>
        <p:txBody>
          <a:bodyPr/>
          <a:lstStyle/>
          <a:p>
            <a:pPr marL="457200" indent="-457200">
              <a:buAutoNum type="arabicPlain" startAt="17"/>
            </a:pPr>
            <a:r>
              <a:rPr lang="en-US" dirty="0">
                <a:latin typeface="Times New Roman" panose="02020603050405020304" pitchFamily="18" charset="0"/>
                <a:cs typeface="Times New Roman" panose="02020603050405020304" pitchFamily="18" charset="0"/>
              </a:rPr>
              <a:t>Match the underlined adjectives in the article to their meanings.</a:t>
            </a:r>
          </a:p>
          <a:p>
            <a:pPr marL="457200" indent="-457200">
              <a:buAutoNum type="arabicPlain"/>
            </a:pPr>
            <a:r>
              <a:rPr lang="en-US" dirty="0">
                <a:latin typeface="Times New Roman" panose="02020603050405020304" pitchFamily="18" charset="0"/>
                <a:cs typeface="Times New Roman" panose="02020603050405020304" pitchFamily="18" charset="0"/>
              </a:rPr>
              <a:t>shining with small spots of light</a:t>
            </a:r>
          </a:p>
          <a:p>
            <a:pPr marL="457200" indent="-457200">
              <a:buAutoNum type="arabicPlain"/>
            </a:pPr>
            <a:endParaRPr lang="en-US" dirty="0">
              <a:latin typeface="Times New Roman" panose="02020603050405020304" pitchFamily="18" charset="0"/>
              <a:cs typeface="Times New Roman" panose="02020603050405020304" pitchFamily="18" charset="0"/>
            </a:endParaRPr>
          </a:p>
          <a:p>
            <a:pPr marL="457200" indent="-457200">
              <a:buAutoNum type="arabicPlain"/>
            </a:pPr>
            <a:r>
              <a:rPr lang="en-US" dirty="0">
                <a:latin typeface="Times New Roman" panose="02020603050405020304" pitchFamily="18" charset="0"/>
                <a:cs typeface="Times New Roman" panose="02020603050405020304" pitchFamily="18" charset="0"/>
              </a:rPr>
              <a:t>existing in large numbers</a:t>
            </a:r>
          </a:p>
          <a:p>
            <a:pPr marL="457200" indent="-457200">
              <a:buAutoNum type="arabicPlain"/>
            </a:pPr>
            <a:r>
              <a:rPr lang="en-US" dirty="0">
                <a:latin typeface="Times New Roman" panose="02020603050405020304" pitchFamily="18" charset="0"/>
                <a:cs typeface="Times New Roman" panose="02020603050405020304" pitchFamily="18" charset="0"/>
              </a:rPr>
              <a:t>still in good condition and not damaged </a:t>
            </a:r>
          </a:p>
          <a:p>
            <a:pPr marL="457200" indent="-457200">
              <a:buAutoNum type="arabicPlain"/>
            </a:pPr>
            <a:r>
              <a:rPr lang="en-US" dirty="0">
                <a:latin typeface="Times New Roman" panose="02020603050405020304" pitchFamily="18" charset="0"/>
                <a:cs typeface="Times New Roman" panose="02020603050405020304" pitchFamily="18" charset="0"/>
              </a:rPr>
              <a:t>perfect, without any faults</a:t>
            </a:r>
          </a:p>
          <a:p>
            <a:pPr marL="457200" indent="-457200">
              <a:buAutoNum type="arabicPlain"/>
            </a:pPr>
            <a:r>
              <a:rPr lang="en-US" dirty="0">
                <a:latin typeface="Times New Roman" panose="02020603050405020304" pitchFamily="18" charset="0"/>
                <a:cs typeface="Times New Roman" panose="02020603050405020304" pitchFamily="18" charset="0"/>
              </a:rPr>
              <a:t>calm and quiet      </a:t>
            </a:r>
          </a:p>
          <a:p>
            <a:pPr marL="457200" indent="-457200">
              <a:buAutoNum type="arabicPlain"/>
            </a:pPr>
            <a:r>
              <a:rPr lang="en-US" dirty="0">
                <a:latin typeface="Times New Roman" panose="02020603050405020304" pitchFamily="18" charset="0"/>
                <a:cs typeface="Times New Roman" panose="02020603050405020304" pitchFamily="18" charset="0"/>
              </a:rPr>
              <a:t>very exciting and surprising  </a:t>
            </a:r>
          </a:p>
          <a:p>
            <a:pPr marL="0" indent="0">
              <a:buNone/>
            </a:pPr>
            <a:r>
              <a:rPr lang="en-US" dirty="0">
                <a:latin typeface="Times New Roman" panose="02020603050405020304" pitchFamily="18" charset="0"/>
                <a:cs typeface="Times New Roman" panose="02020603050405020304" pitchFamily="18" charset="0"/>
              </a:rPr>
              <a:t>18   Think of a beautiful or unique place you have visited. Write a short paragraph about it. Use one relative clause and one participle clause and adjectives from exercise 17. Compare with </a:t>
            </a:r>
            <a:r>
              <a:rPr lang="en-US">
                <a:latin typeface="Times New Roman" panose="02020603050405020304" pitchFamily="18" charset="0"/>
                <a:cs typeface="Times New Roman" panose="02020603050405020304" pitchFamily="18" charset="0"/>
              </a:rPr>
              <a:t>a  partner.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6800981"/>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1274</TotalTime>
  <Words>1518</Words>
  <Application>Microsoft Office PowerPoint</Application>
  <PresentationFormat>Widescreen</PresentationFormat>
  <Paragraphs>119</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Gill Sans MT</vt:lpstr>
      <vt:lpstr>Times New Roman</vt:lpstr>
      <vt:lpstr>Gallery</vt:lpstr>
      <vt:lpstr>PowerPoint Presentation</vt:lpstr>
      <vt:lpstr>LESSON PLAN  for TODAY</vt:lpstr>
      <vt:lpstr>OBJECTIVES</vt:lpstr>
      <vt:lpstr>UNIT 6  TRAVEl </vt:lpstr>
      <vt:lpstr>4   Look at the underlined past and present participles in the first paragraph. Find and underline participles in the rest of the article.                                                                                                                 PG 60                                                              </vt:lpstr>
      <vt:lpstr>Living on the islands                                            PG 60</vt:lpstr>
      <vt:lpstr>5    Work with a partner. Read the grammar box and match uses 1-4 with sentences a-d below.                                                                                                               PG 61</vt:lpstr>
      <vt:lpstr>PowerPoint Presentation</vt:lpstr>
      <vt:lpstr>PowerPoint Presentation</vt:lpstr>
      <vt:lpstr>8  Think about interesting holiday ideas. Complete the sentences about      you or someone you know.                                                                                                 PG  61</vt:lpstr>
      <vt:lpstr>11  034   Listen again and answer the questions.     PG 61</vt:lpstr>
      <vt:lpstr>PowerPoint Presentation</vt:lpstr>
      <vt:lpstr>PowerPoint Presentation</vt:lpstr>
      <vt:lpstr>                                                                                                                                                                  PG 62</vt:lpstr>
      <vt:lpstr>16   Find two relative clauses in the article. What type are they? can you change them to participle clauses?                                                                              PG 62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6  TRAVEl</dc:title>
  <dc:creator>DAST</dc:creator>
  <cp:lastModifiedBy>DAST</cp:lastModifiedBy>
  <cp:revision>41</cp:revision>
  <dcterms:created xsi:type="dcterms:W3CDTF">2026-05-05T06:58:29Z</dcterms:created>
  <dcterms:modified xsi:type="dcterms:W3CDTF">2026-06-11T05:43:06Z</dcterms:modified>
</cp:coreProperties>
</file>