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5"/>
  </p:notesMasterIdLst>
  <p:sldIdLst>
    <p:sldId id="256" r:id="rId2"/>
    <p:sldId id="265" r:id="rId3"/>
    <p:sldId id="276" r:id="rId4"/>
    <p:sldId id="307" r:id="rId5"/>
    <p:sldId id="267" r:id="rId6"/>
    <p:sldId id="310" r:id="rId7"/>
    <p:sldId id="269" r:id="rId8"/>
    <p:sldId id="273" r:id="rId9"/>
    <p:sldId id="281" r:id="rId10"/>
    <p:sldId id="280" r:id="rId11"/>
    <p:sldId id="274" r:id="rId12"/>
    <p:sldId id="275" r:id="rId13"/>
    <p:sldId id="313" r:id="rId14"/>
    <p:sldId id="287" r:id="rId15"/>
    <p:sldId id="288" r:id="rId16"/>
    <p:sldId id="290" r:id="rId17"/>
    <p:sldId id="311" r:id="rId18"/>
    <p:sldId id="296" r:id="rId19"/>
    <p:sldId id="314" r:id="rId20"/>
    <p:sldId id="315" r:id="rId21"/>
    <p:sldId id="294" r:id="rId22"/>
    <p:sldId id="295" r:id="rId23"/>
    <p:sldId id="316" r:id="rId24"/>
    <p:sldId id="317" r:id="rId25"/>
    <p:sldId id="31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259" r:id="rId3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399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504" autoAdjust="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3FDCA-91AA-4804-9A07-6F0DDB6CA84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9CE79-09F1-4C6E-A96F-5EE19B97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9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6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6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6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6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6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6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6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6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69977C-7FC3-4284-B01B-324DE1D88BB8}" type="slidenum">
              <a:rPr lang="en-US" altLang="en-US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>
              <a:latin typeface="Calibri" pitchFamily="34" charset="0"/>
            </a:endParaRP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Calibri" pitchFamily="34" charset="0"/>
              </a:rPr>
              <a:t>YTU-IT Department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69977C-7FC3-4284-B01B-324DE1D88BB8}" type="slidenum">
              <a:rPr lang="en-US" altLang="en-US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>
              <a:latin typeface="Calibri" pitchFamily="34" charset="0"/>
            </a:endParaRP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Calibri" pitchFamily="34" charset="0"/>
              </a:rPr>
              <a:t>YTU-IT Department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6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69977C-7FC3-4284-B01B-324DE1D88BB8}" type="slidenum">
              <a:rPr lang="en-US" altLang="en-US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en-US">
              <a:latin typeface="Calibri" pitchFamily="34" charset="0"/>
            </a:endParaRP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Calibri" pitchFamily="34" charset="0"/>
              </a:rPr>
              <a:t>YTU-IT Department</a:t>
            </a:r>
          </a:p>
        </p:txBody>
      </p:sp>
    </p:spTree>
    <p:extLst>
      <p:ext uri="{BB962C8B-B14F-4D97-AF65-F5344CB8AC3E}">
        <p14:creationId xmlns:p14="http://schemas.microsoft.com/office/powerpoint/2010/main" val="1453953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69977C-7FC3-4284-B01B-324DE1D88BB8}" type="slidenum">
              <a:rPr lang="en-US" altLang="en-US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en-US">
              <a:latin typeface="Calibri" pitchFamily="34" charset="0"/>
            </a:endParaRP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Calibri" pitchFamily="34" charset="0"/>
              </a:rPr>
              <a:t>YTU-IT Department</a:t>
            </a:r>
          </a:p>
        </p:txBody>
      </p:sp>
    </p:spTree>
    <p:extLst>
      <p:ext uri="{BB962C8B-B14F-4D97-AF65-F5344CB8AC3E}">
        <p14:creationId xmlns:p14="http://schemas.microsoft.com/office/powerpoint/2010/main" val="2162708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69977C-7FC3-4284-B01B-324DE1D88BB8}" type="slidenum">
              <a:rPr lang="en-US" altLang="en-US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en-US">
              <a:latin typeface="Calibri" pitchFamily="34" charset="0"/>
            </a:endParaRP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Calibri" pitchFamily="34" charset="0"/>
              </a:rPr>
              <a:t>YTU-IT Department</a:t>
            </a:r>
          </a:p>
        </p:txBody>
      </p:sp>
    </p:spTree>
    <p:extLst>
      <p:ext uri="{BB962C8B-B14F-4D97-AF65-F5344CB8AC3E}">
        <p14:creationId xmlns:p14="http://schemas.microsoft.com/office/powerpoint/2010/main" val="2146135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485"/>
            <a:ext cx="7772400" cy="14689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185"/>
            <a:ext cx="7772400" cy="150071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018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79712" y="1316766"/>
            <a:ext cx="6912768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990056" y="2218994"/>
            <a:ext cx="6912768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058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508787"/>
            <a:ext cx="8496944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2411015"/>
            <a:ext cx="8496944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8" r:id="rId12"/>
    <p:sldLayoutId id="2147483699" r:id="rId13"/>
    <p:sldLayoutId id="2147483650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475656" y="1484784"/>
            <a:ext cx="633670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Programming Language III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137187"/>
            <a:ext cx="5791200" cy="1371600"/>
          </a:xfrm>
        </p:spPr>
        <p:txBody>
          <a:bodyPr>
            <a:normAutofit/>
          </a:bodyPr>
          <a:lstStyle/>
          <a:p>
            <a:r>
              <a:rPr lang="en-US" sz="3200" dirty="0"/>
              <a:t>Learning Outcomes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3498" y="6680827"/>
            <a:ext cx="533400" cy="244476"/>
          </a:xfrm>
        </p:spPr>
        <p:txBody>
          <a:bodyPr>
            <a:normAutofit fontScale="92500" lnSpcReduction="10000"/>
          </a:bodyPr>
          <a:lstStyle/>
          <a:p>
            <a:pPr algn="r"/>
            <a:fld id="{A0D09A74-B91A-40A4-90D1-93FE587BC1C3}" type="slidenum">
              <a:rPr lang="en-US" smtClean="0"/>
              <a:pPr algn="r"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233898"/>
              </p:ext>
            </p:extLst>
          </p:nvPr>
        </p:nvGraphicFramePr>
        <p:xfrm>
          <a:off x="237872" y="1340768"/>
          <a:ext cx="8640960" cy="4946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4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76922">
                <a:tc>
                  <a:txBody>
                    <a:bodyPr/>
                    <a:lstStyle/>
                    <a:p>
                      <a:pPr marL="0" marR="0" indent="0" algn="just" latinLnBrk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Bookman Old Style" pitchFamily="18" charset="0"/>
                        </a:rPr>
                        <a:t>1. Create Java application programs using sound OOP practices and proper program structuring 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Bookman Old Style" pitchFamily="18" charset="0"/>
                        <a:ea typeface="Calibri"/>
                        <a:cs typeface="Times New Roman"/>
                      </a:endParaRPr>
                    </a:p>
                  </a:txBody>
                  <a:tcPr marL="36830" marR="3683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692">
                <a:tc>
                  <a:txBody>
                    <a:bodyPr/>
                    <a:lstStyle/>
                    <a:p>
                      <a:pPr marL="0" marR="0" indent="0" algn="just" latinLnBrk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Bookman Old Style" pitchFamily="18" charset="0"/>
                        </a:rPr>
                        <a:t>2. Realize and use basic program controls and operators  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Bookman Old Style" pitchFamily="18" charset="0"/>
                        <a:ea typeface="Calibri"/>
                        <a:cs typeface="Times New Roman"/>
                      </a:endParaRPr>
                    </a:p>
                  </a:txBody>
                  <a:tcPr marL="36830" marR="3683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6922">
                <a:tc>
                  <a:txBody>
                    <a:bodyPr/>
                    <a:lstStyle/>
                    <a:p>
                      <a:pPr marL="0" marR="0" indent="0" algn="just" latinLnBrk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Bookman Old Style" pitchFamily="18" charset="0"/>
                        </a:rPr>
                        <a:t>3. Have competence in the use of the Java programming language for the development of small to medium sized application programs </a:t>
                      </a:r>
                    </a:p>
                    <a:p>
                      <a:pPr marL="0" marR="0" indent="0" algn="just" latinLnBrk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Bookman Old Style" pitchFamily="18" charset="0"/>
                        <a:ea typeface="Calibri"/>
                        <a:cs typeface="Times New Roman"/>
                      </a:endParaRPr>
                    </a:p>
                  </a:txBody>
                  <a:tcPr marL="36830" marR="3683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977">
                <a:tc>
                  <a:txBody>
                    <a:bodyPr/>
                    <a:lstStyle/>
                    <a:p>
                      <a:pPr marL="0" marR="0" indent="0" algn="just" latinLnBrk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Bookman Old Style" pitchFamily="18" charset="0"/>
                        </a:rPr>
                        <a:t>4. Understand basic principles of the object oriented development process and apply this understanding to the analysis and design of solutions for small scale problems.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Bookman Old Style" pitchFamily="18" charset="0"/>
                        <a:ea typeface="Calibri"/>
                        <a:cs typeface="Times New Roman"/>
                      </a:endParaRPr>
                    </a:p>
                  </a:txBody>
                  <a:tcPr marL="36830" marR="3683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53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185192"/>
            <a:ext cx="5791200" cy="1371600"/>
          </a:xfrm>
        </p:spPr>
        <p:txBody>
          <a:bodyPr>
            <a:normAutofit/>
          </a:bodyPr>
          <a:lstStyle/>
          <a:p>
            <a:r>
              <a:rPr lang="en-US" sz="3200" dirty="0"/>
              <a:t>Exam and Grading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3498" y="6680827"/>
            <a:ext cx="533400" cy="244476"/>
          </a:xfrm>
        </p:spPr>
        <p:txBody>
          <a:bodyPr>
            <a:normAutofit fontScale="92500" lnSpcReduction="10000"/>
          </a:bodyPr>
          <a:lstStyle/>
          <a:p>
            <a:pPr algn="r"/>
            <a:fld id="{A0D09A74-B91A-40A4-90D1-93FE587BC1C3}" type="slidenum">
              <a:rPr lang="en-US" smtClean="0"/>
              <a:pPr algn="r"/>
              <a:t>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232058"/>
              </p:ext>
            </p:extLst>
          </p:nvPr>
        </p:nvGraphicFramePr>
        <p:xfrm>
          <a:off x="539552" y="1508787"/>
          <a:ext cx="7704856" cy="3670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3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8421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Bookman Old Style" pitchFamily="18" charset="0"/>
                        </a:rPr>
                        <a:t>Task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Bookman Old Style" pitchFamily="18" charset="0"/>
                        </a:rPr>
                        <a:t>Mark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748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Bookman Old Style" pitchFamily="18" charset="0"/>
                        </a:rPr>
                        <a:t>Final Exam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Bookman Old Style" pitchFamily="18" charset="0"/>
                        </a:rPr>
                        <a:t>60%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41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Bookman Old Style" pitchFamily="18" charset="0"/>
                        </a:rPr>
                        <a:t>Practical</a:t>
                      </a:r>
                      <a:r>
                        <a:rPr lang="en-US" sz="2100" baseline="0" dirty="0">
                          <a:latin typeface="Bookman Old Style" pitchFamily="18" charset="0"/>
                        </a:rPr>
                        <a:t> Assignments</a:t>
                      </a:r>
                    </a:p>
                    <a:p>
                      <a:pPr algn="ctr"/>
                      <a:r>
                        <a:rPr lang="en-US" sz="2100" baseline="0" dirty="0">
                          <a:latin typeface="Bookman Old Style" pitchFamily="18" charset="0"/>
                        </a:rPr>
                        <a:t>(Project + Assignments)</a:t>
                      </a:r>
                      <a:endParaRPr lang="en-US" sz="2100" dirty="0">
                        <a:latin typeface="Bookman Old Style" pitchFamily="18" charset="0"/>
                      </a:endParaRP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Bookman Old Style" pitchFamily="18" charset="0"/>
                        </a:rPr>
                        <a:t>20%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741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Bookman Old Style" pitchFamily="18" charset="0"/>
                        </a:rPr>
                        <a:t>Lab Test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Bookman Old Style" pitchFamily="18" charset="0"/>
                        </a:rPr>
                        <a:t>20%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51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47664" y="1628800"/>
            <a:ext cx="7524328" cy="3240360"/>
          </a:xfrm>
        </p:spPr>
        <p:txBody>
          <a:bodyPr/>
          <a:lstStyle/>
          <a:p>
            <a:pPr algn="ctr">
              <a:spcAft>
                <a:spcPts val="1800"/>
              </a:spcAft>
            </a:pPr>
            <a:r>
              <a:rPr lang="en-US" dirty="0"/>
              <a:t>Lecture 1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Overview of Java, Variables, Data Types and Arrays</a:t>
            </a:r>
          </a:p>
        </p:txBody>
      </p:sp>
    </p:spTree>
    <p:extLst>
      <p:ext uri="{BB962C8B-B14F-4D97-AF65-F5344CB8AC3E}">
        <p14:creationId xmlns:p14="http://schemas.microsoft.com/office/powerpoint/2010/main" val="287903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164637"/>
            <a:ext cx="5791200" cy="1371600"/>
          </a:xfrm>
        </p:spPr>
        <p:txBody>
          <a:bodyPr>
            <a:normAutofit/>
          </a:bodyPr>
          <a:lstStyle/>
          <a:p>
            <a:r>
              <a:rPr lang="en-US" sz="3200" dirty="0"/>
              <a:t>Outline of Class (Lecture 1)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3384" y="1084040"/>
            <a:ext cx="8928216" cy="5609323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>
                <a:latin typeface="Bookman Old Style" pitchFamily="18" charset="0"/>
                <a:cs typeface="Cambria"/>
              </a:rPr>
              <a:t>Overview of Java</a:t>
            </a:r>
          </a:p>
          <a:p>
            <a:pPr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>
                <a:latin typeface="Bookman Old Style" pitchFamily="18" charset="0"/>
                <a:cs typeface="Cambria"/>
              </a:rPr>
              <a:t>Data types</a:t>
            </a:r>
          </a:p>
          <a:p>
            <a:pPr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>
                <a:latin typeface="Bookman Old Style" pitchFamily="18" charset="0"/>
                <a:cs typeface="Cambria"/>
              </a:rPr>
              <a:t>Variables </a:t>
            </a:r>
          </a:p>
          <a:p>
            <a:pPr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>
                <a:latin typeface="Bookman Old Style" pitchFamily="18" charset="0"/>
                <a:cs typeface="Cambria"/>
              </a:rPr>
              <a:t>Arrays</a:t>
            </a:r>
          </a:p>
          <a:p>
            <a:pPr>
              <a:lnSpc>
                <a:spcPct val="140000"/>
              </a:lnSpc>
              <a:buClr>
                <a:srgbClr val="D1282E"/>
              </a:buClr>
            </a:pPr>
            <a:endParaRPr lang="en-US" dirty="0">
              <a:cs typeface="Cambri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3498" y="6680827"/>
            <a:ext cx="533400" cy="244476"/>
          </a:xfrm>
        </p:spPr>
        <p:txBody>
          <a:bodyPr>
            <a:normAutofit fontScale="92500" lnSpcReduction="10000"/>
          </a:bodyPr>
          <a:lstStyle/>
          <a:p>
            <a:pPr algn="r"/>
            <a:fld id="{A0D09A74-B91A-40A4-90D1-93FE587BC1C3}" type="slidenum">
              <a:rPr lang="en-US" smtClean="0"/>
              <a:pPr algn="r"/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97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2270760"/>
            <a:ext cx="5791200" cy="1371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Topic 1</a:t>
            </a:r>
            <a:br>
              <a:rPr lang="en-US" dirty="0"/>
            </a:br>
            <a:r>
              <a:rPr lang="en-US" dirty="0"/>
              <a:t>Overview of Java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3498" y="6680827"/>
            <a:ext cx="533400" cy="244476"/>
          </a:xfrm>
        </p:spPr>
        <p:txBody>
          <a:bodyPr>
            <a:normAutofit fontScale="92500" lnSpcReduction="10000"/>
          </a:bodyPr>
          <a:lstStyle/>
          <a:p>
            <a:pPr algn="r"/>
            <a:fld id="{A0D09A74-B91A-40A4-90D1-93FE587BC1C3}" type="slidenum">
              <a:rPr lang="en-US" smtClean="0"/>
              <a:pPr algn="r"/>
              <a:t>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5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188640"/>
            <a:ext cx="5791200" cy="1371600"/>
          </a:xfrm>
        </p:spPr>
        <p:txBody>
          <a:bodyPr>
            <a:normAutofit/>
          </a:bodyPr>
          <a:lstStyle/>
          <a:p>
            <a:r>
              <a:rPr lang="en-US" sz="3200" dirty="0"/>
              <a:t>What is Java?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3384" y="1084040"/>
            <a:ext cx="8928216" cy="5609323"/>
          </a:xfrm>
        </p:spPr>
        <p:txBody>
          <a:bodyPr>
            <a:normAutofit/>
          </a:bodyPr>
          <a:lstStyle/>
          <a:p>
            <a:pPr latinLnBrk="0"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A programming language and a computing platform to develop applications</a:t>
            </a:r>
          </a:p>
          <a:p>
            <a:pPr latinLnBrk="0"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An object-oriented language similar to C++ with advanced and simplified features</a:t>
            </a:r>
          </a:p>
          <a:p>
            <a:pPr latinLnBrk="0"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Platform independent, “Write once, Run anywhere”</a:t>
            </a:r>
          </a:p>
          <a:p>
            <a:pPr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CN" sz="2000" dirty="0">
                <a:latin typeface="Bookman Old Style" pitchFamily="18" charset="0"/>
                <a:cs typeface="Cambria"/>
              </a:rPr>
              <a:t>Developed by Sun Microsystems </a:t>
            </a:r>
          </a:p>
          <a:p>
            <a:pPr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CN" sz="2000" dirty="0">
                <a:latin typeface="Bookman Old Style" pitchFamily="18" charset="0"/>
                <a:cs typeface="Cambria"/>
              </a:rPr>
              <a:t>Designed for easy Web/Internet applications</a:t>
            </a:r>
          </a:p>
          <a:p>
            <a:pPr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CN" sz="2000" dirty="0">
                <a:latin typeface="Bookman Old Style" pitchFamily="18" charset="0"/>
                <a:cs typeface="Cambria"/>
              </a:rPr>
              <a:t>Widespread acceptance</a:t>
            </a:r>
          </a:p>
          <a:p>
            <a:pPr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CN" sz="2000" dirty="0">
                <a:latin typeface="Bookman Old Style" pitchFamily="18" charset="0"/>
                <a:cs typeface="Cambria"/>
              </a:rPr>
              <a:t>Derive much characters from C and C++ </a:t>
            </a:r>
          </a:p>
          <a:p>
            <a:pPr latinLnBrk="0"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latinLnBrk="0"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latinLnBrk="0">
              <a:lnSpc>
                <a:spcPct val="140000"/>
              </a:lnSpc>
              <a:buClr>
                <a:srgbClr val="D1282E"/>
              </a:buClr>
            </a:pPr>
            <a:endParaRPr lang="en-US" sz="2000" dirty="0">
              <a:cs typeface="Cambri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3498" y="6680827"/>
            <a:ext cx="533400" cy="244476"/>
          </a:xfrm>
        </p:spPr>
        <p:txBody>
          <a:bodyPr>
            <a:normAutofit fontScale="92500" lnSpcReduction="10000"/>
          </a:bodyPr>
          <a:lstStyle/>
          <a:p>
            <a:pPr algn="r"/>
            <a:fld id="{A0D09A74-B91A-40A4-90D1-93FE587BC1C3}" type="slidenum">
              <a:rPr lang="en-US" smtClean="0"/>
              <a:pPr algn="r"/>
              <a:t>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3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205427"/>
            <a:ext cx="5791200" cy="1371600"/>
          </a:xfrm>
        </p:spPr>
        <p:txBody>
          <a:bodyPr>
            <a:normAutofit/>
          </a:bodyPr>
          <a:lstStyle/>
          <a:p>
            <a:r>
              <a:rPr lang="en-US" sz="3200" dirty="0"/>
              <a:t>Java Platform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3384" y="1084040"/>
            <a:ext cx="8928216" cy="5609323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200" dirty="0">
                <a:latin typeface="Bookman Old Style" pitchFamily="18" charset="0"/>
              </a:rPr>
              <a:t>The computing platform from Oracle that helps users to </a:t>
            </a:r>
            <a:r>
              <a:rPr lang="en-US" sz="2200" i="1" dirty="0">
                <a:latin typeface="Bookman Old Style" pitchFamily="18" charset="0"/>
              </a:rPr>
              <a:t>run</a:t>
            </a:r>
            <a:r>
              <a:rPr lang="en-US" sz="2200" dirty="0">
                <a:latin typeface="Bookman Old Style" pitchFamily="18" charset="0"/>
              </a:rPr>
              <a:t> and </a:t>
            </a:r>
            <a:r>
              <a:rPr lang="en-US" sz="2200" i="1" dirty="0">
                <a:latin typeface="Bookman Old Style" pitchFamily="18" charset="0"/>
              </a:rPr>
              <a:t>develop</a:t>
            </a:r>
            <a:r>
              <a:rPr lang="en-US" sz="2200" dirty="0">
                <a:latin typeface="Bookman Old Style" pitchFamily="18" charset="0"/>
              </a:rPr>
              <a:t> Java applications</a:t>
            </a:r>
          </a:p>
          <a:p>
            <a:pPr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200" dirty="0">
                <a:latin typeface="Bookman Old Style" pitchFamily="18" charset="0"/>
                <a:cs typeface="Cambria"/>
              </a:rPr>
              <a:t>Consists of two essential parts</a:t>
            </a:r>
          </a:p>
          <a:p>
            <a:pPr marL="800100" lvl="1" indent="-342900">
              <a:lnSpc>
                <a:spcPct val="14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800" b="1" dirty="0">
                <a:latin typeface="Bookman Old Style" pitchFamily="18" charset="0"/>
              </a:rPr>
              <a:t>Java Runtime Environment (JRE)</a:t>
            </a:r>
            <a:r>
              <a:rPr lang="en-US" sz="1800" dirty="0">
                <a:latin typeface="Bookman Old Style" pitchFamily="18" charset="0"/>
              </a:rPr>
              <a:t>, which is needed to </a:t>
            </a:r>
            <a:r>
              <a:rPr lang="en-US" sz="1800" i="1" dirty="0">
                <a:latin typeface="Bookman Old Style" pitchFamily="18" charset="0"/>
              </a:rPr>
              <a:t>run</a:t>
            </a:r>
            <a:r>
              <a:rPr lang="en-US" sz="1800" dirty="0">
                <a:latin typeface="Bookman Old Style" pitchFamily="18" charset="0"/>
              </a:rPr>
              <a:t> Java applications and applets; and, </a:t>
            </a:r>
          </a:p>
          <a:p>
            <a:pPr marL="800100" lvl="1" indent="-342900">
              <a:lnSpc>
                <a:spcPct val="14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800" b="1" dirty="0">
                <a:latin typeface="Bookman Old Style" pitchFamily="18" charset="0"/>
              </a:rPr>
              <a:t>Java Development Kit (JDK)</a:t>
            </a:r>
            <a:r>
              <a:rPr lang="en-US" sz="1800" dirty="0">
                <a:latin typeface="Bookman Old Style" pitchFamily="18" charset="0"/>
              </a:rPr>
              <a:t>, which is needed to </a:t>
            </a:r>
            <a:r>
              <a:rPr lang="en-US" sz="1800" i="1" dirty="0">
                <a:latin typeface="Bookman Old Style" pitchFamily="18" charset="0"/>
              </a:rPr>
              <a:t>develop</a:t>
            </a:r>
            <a:r>
              <a:rPr lang="en-US" sz="1800" dirty="0">
                <a:latin typeface="Bookman Old Style" pitchFamily="18" charset="0"/>
              </a:rPr>
              <a:t> those Java applications and applets</a:t>
            </a:r>
            <a:endParaRPr lang="en-US" sz="1800" dirty="0">
              <a:latin typeface="Bookman Old Style" pitchFamily="18" charset="0"/>
              <a:cs typeface="Cambri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3498" y="6680827"/>
            <a:ext cx="533400" cy="244476"/>
          </a:xfrm>
        </p:spPr>
        <p:txBody>
          <a:bodyPr>
            <a:normAutofit fontScale="92500" lnSpcReduction="10000"/>
          </a:bodyPr>
          <a:lstStyle/>
          <a:p>
            <a:pPr algn="r"/>
            <a:fld id="{A0D09A74-B91A-40A4-90D1-93FE587BC1C3}" type="slidenum">
              <a:rPr lang="en-US" smtClean="0"/>
              <a:pPr algn="r"/>
              <a:t>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37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16632"/>
            <a:ext cx="9001000" cy="6336771"/>
          </a:xfrm>
        </p:spPr>
        <p:txBody>
          <a:bodyPr>
            <a:normAutofit/>
          </a:bodyPr>
          <a:lstStyle/>
          <a:p>
            <a:pPr marL="457200" indent="-457200" latinLnBrk="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</a:rPr>
              <a:t>Java Runtime Environment (JRE) (</a:t>
            </a:r>
            <a:r>
              <a:rPr lang="en-US" sz="2000" dirty="0" err="1">
                <a:latin typeface="Bookman Old Style" pitchFamily="18" charset="0"/>
              </a:rPr>
              <a:t>cont</a:t>
            </a:r>
            <a:r>
              <a:rPr lang="en-US" sz="2000" dirty="0">
                <a:latin typeface="Bookman Old Style" pitchFamily="18" charset="0"/>
              </a:rPr>
              <a:t>’)</a:t>
            </a:r>
          </a:p>
          <a:p>
            <a:pPr marL="457200" lvl="1" latinLnBrk="0">
              <a:lnSpc>
                <a:spcPct val="150000"/>
              </a:lnSpc>
            </a:pPr>
            <a:r>
              <a:rPr lang="en-US" sz="2000" b="1" dirty="0">
                <a:latin typeface="Bookman Old Style" pitchFamily="18" charset="0"/>
              </a:rPr>
              <a:t>Just-in-time Compiler (JIT Compiler)</a:t>
            </a:r>
          </a:p>
          <a:p>
            <a:pPr marL="857250" lvl="2" latinLnBrk="0">
              <a:lnSpc>
                <a:spcPct val="150000"/>
              </a:lnSpc>
            </a:pPr>
            <a:r>
              <a:rPr lang="en-US" sz="1500" dirty="0">
                <a:latin typeface="Bookman Old Style" pitchFamily="18" charset="0"/>
              </a:rPr>
              <a:t>A more robust JVM introduced since version 1.2</a:t>
            </a:r>
          </a:p>
          <a:p>
            <a:pPr marL="857250" lvl="2" latinLnBrk="0">
              <a:lnSpc>
                <a:spcPct val="150000"/>
              </a:lnSpc>
            </a:pPr>
            <a:r>
              <a:rPr lang="en-US" sz="1500" dirty="0">
                <a:latin typeface="Bookman Old Style" pitchFamily="18" charset="0"/>
              </a:rPr>
              <a:t>Instead of interpreting byte-code, it down-right converts the code straight into equivalent native code for the local system, called JIT-compilation. </a:t>
            </a:r>
          </a:p>
          <a:p>
            <a:pPr marL="857250" lvl="2" latinLnBrk="0">
              <a:lnSpc>
                <a:spcPct val="150000"/>
              </a:lnSpc>
            </a:pPr>
            <a:r>
              <a:rPr lang="en-US" sz="1500" dirty="0">
                <a:latin typeface="Bookman Old Style" pitchFamily="18" charset="0"/>
              </a:rPr>
              <a:t>This process only occurs when the byte-code is executed for the first time.</a:t>
            </a:r>
          </a:p>
          <a:p>
            <a:pPr marL="857250" lvl="2" latinLnBrk="0">
              <a:lnSpc>
                <a:spcPct val="150000"/>
              </a:lnSpc>
            </a:pPr>
            <a:r>
              <a:rPr lang="en-US" sz="1500" dirty="0">
                <a:latin typeface="Bookman Old Style" pitchFamily="18" charset="0"/>
              </a:rPr>
              <a:t>Unless the byte-code itself is changed, the JVM uses the compiled version of the byte-code on every successive execution. </a:t>
            </a:r>
          </a:p>
          <a:p>
            <a:pPr marL="857250" lvl="2" latinLnBrk="0">
              <a:lnSpc>
                <a:spcPct val="150000"/>
              </a:lnSpc>
            </a:pPr>
            <a:r>
              <a:rPr lang="en-US" sz="1500" dirty="0">
                <a:latin typeface="Bookman Old Style" pitchFamily="18" charset="0"/>
              </a:rPr>
              <a:t>Saves a lot of time and processor effort, allowing applications to execute much faster at the cost of a small delay on first execution. </a:t>
            </a:r>
          </a:p>
        </p:txBody>
      </p:sp>
      <p:sp>
        <p:nvSpPr>
          <p:cNvPr id="2067" name="Slide Number Placeholder 2066"/>
          <p:cNvSpPr>
            <a:spLocks noGrp="1"/>
          </p:cNvSpPr>
          <p:nvPr>
            <p:ph type="sldNum" sz="quarter" idx="12"/>
          </p:nvPr>
        </p:nvSpPr>
        <p:spPr>
          <a:xfrm>
            <a:off x="8820472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9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12952" y="5012806"/>
            <a:ext cx="936104" cy="770745"/>
            <a:chOff x="683568" y="5359036"/>
            <a:chExt cx="936104" cy="864096"/>
          </a:xfrm>
        </p:grpSpPr>
        <p:sp>
          <p:nvSpPr>
            <p:cNvPr id="2" name="Rectangle 1"/>
            <p:cNvSpPr/>
            <p:nvPr/>
          </p:nvSpPr>
          <p:spPr>
            <a:xfrm>
              <a:off x="683568" y="5359036"/>
              <a:ext cx="936104" cy="864096"/>
            </a:xfrm>
            <a:prstGeom prst="rect">
              <a:avLst/>
            </a:prstGeom>
            <a:ln>
              <a:solidFill>
                <a:srgbClr val="3399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683568" y="5359036"/>
              <a:ext cx="936104" cy="144016"/>
            </a:xfrm>
            <a:prstGeom prst="rect">
              <a:avLst/>
            </a:prstGeom>
            <a:solidFill>
              <a:srgbClr val="3399FF"/>
            </a:solidFill>
            <a:ln>
              <a:solidFill>
                <a:srgbClr val="33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1534016" y="5394316"/>
              <a:ext cx="64008" cy="6402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4283968" y="4218929"/>
            <a:ext cx="2952328" cy="2283450"/>
          </a:xfrm>
          <a:prstGeom prst="rect">
            <a:avLst/>
          </a:prstGeom>
          <a:solidFill>
            <a:srgbClr val="3399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91980" y="4569321"/>
            <a:ext cx="2772308" cy="1933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3399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762" y="5804646"/>
            <a:ext cx="151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ookman Old Style" pitchFamily="18" charset="0"/>
              </a:rPr>
              <a:t>Java Byte-code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3968" y="4216290"/>
            <a:ext cx="2954655" cy="338554"/>
          </a:xfrm>
          <a:prstGeom prst="rect">
            <a:avLst/>
          </a:prstGeom>
          <a:solidFill>
            <a:srgbClr val="3399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ookman Old Style" pitchFamily="18" charset="0"/>
              </a:rPr>
              <a:t>Java Runtime Environment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588224" y="5227041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740352" y="4774031"/>
            <a:ext cx="1224136" cy="8848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Bookman Old Style" pitchFamily="18" charset="0"/>
              </a:rPr>
              <a:t>Local </a:t>
            </a:r>
          </a:p>
          <a:p>
            <a:pPr algn="ctr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Bookman Old Style" pitchFamily="18" charset="0"/>
              </a:rPr>
              <a:t>Machine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80" y="4938639"/>
            <a:ext cx="1897680" cy="288402"/>
          </a:xfrm>
          <a:prstGeom prst="rect">
            <a:avLst/>
          </a:prstGeom>
          <a:solidFill>
            <a:srgbClr val="3399FF"/>
          </a:solidFill>
          <a:ln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Bookman Old Style" pitchFamily="18" charset="0"/>
              </a:rPr>
              <a:t>First 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87911" y="5497287"/>
            <a:ext cx="1901449" cy="402654"/>
          </a:xfrm>
          <a:prstGeom prst="rect">
            <a:avLst/>
          </a:prstGeom>
          <a:solidFill>
            <a:srgbClr val="3399FF"/>
          </a:solidFill>
          <a:ln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Bookman Old Style" pitchFamily="18" charset="0"/>
              </a:rPr>
              <a:t>Successive Use</a:t>
            </a:r>
          </a:p>
        </p:txBody>
      </p:sp>
      <p:pic>
        <p:nvPicPr>
          <p:cNvPr id="2054" name="Picture 6" descr="Image result for compile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57" b="11599"/>
          <a:stretch/>
        </p:blipFill>
        <p:spPr bwMode="auto">
          <a:xfrm>
            <a:off x="4747080" y="4888159"/>
            <a:ext cx="576064" cy="55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69624" y="4613181"/>
            <a:ext cx="13147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latin typeface="Bookman Old Style" pitchFamily="18" charset="0"/>
              </a:rPr>
              <a:t>JIT Compiler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2489" y="6221618"/>
            <a:ext cx="20633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ookman Old Style" pitchFamily="18" charset="0"/>
              </a:rPr>
              <a:t>Java Virtual Machine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165497" y="4938639"/>
            <a:ext cx="720080" cy="518236"/>
            <a:chOff x="683568" y="5359036"/>
            <a:chExt cx="936104" cy="864096"/>
          </a:xfrm>
        </p:grpSpPr>
        <p:sp>
          <p:nvSpPr>
            <p:cNvPr id="25" name="Rectangle 24"/>
            <p:cNvSpPr/>
            <p:nvPr/>
          </p:nvSpPr>
          <p:spPr>
            <a:xfrm>
              <a:off x="683568" y="5359036"/>
              <a:ext cx="936104" cy="864096"/>
            </a:xfrm>
            <a:prstGeom prst="rect">
              <a:avLst/>
            </a:prstGeom>
            <a:ln>
              <a:solidFill>
                <a:srgbClr val="3399F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3568" y="5359036"/>
              <a:ext cx="936104" cy="144016"/>
            </a:xfrm>
            <a:prstGeom prst="rect">
              <a:avLst/>
            </a:prstGeom>
            <a:solidFill>
              <a:srgbClr val="3399FF"/>
            </a:solidFill>
            <a:ln>
              <a:solidFill>
                <a:srgbClr val="33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1534016" y="5394316"/>
              <a:ext cx="64008" cy="6402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5959516" y="4650792"/>
            <a:ext cx="11320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latin typeface="Bookman Old Style" pitchFamily="18" charset="0"/>
              </a:rPr>
              <a:t>Native App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71038" y="5901887"/>
            <a:ext cx="1617186" cy="261073"/>
          </a:xfrm>
          <a:prstGeom prst="rect">
            <a:avLst/>
          </a:prstGeom>
          <a:solidFill>
            <a:srgbClr val="3399FF"/>
          </a:solidFill>
          <a:ln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Bookman Old Style" pitchFamily="18" charset="0"/>
              </a:rPr>
              <a:t>Bypass compilation</a:t>
            </a:r>
          </a:p>
        </p:txBody>
      </p:sp>
      <p:cxnSp>
        <p:nvCxnSpPr>
          <p:cNvPr id="2049" name="Straight Arrow Connector 2048"/>
          <p:cNvCxnSpPr/>
          <p:nvPr/>
        </p:nvCxnSpPr>
        <p:spPr>
          <a:xfrm>
            <a:off x="1368046" y="5091146"/>
            <a:ext cx="360040" cy="0"/>
          </a:xfrm>
          <a:prstGeom prst="straightConnector1">
            <a:avLst/>
          </a:prstGeom>
          <a:ln w="6350">
            <a:solidFill>
              <a:srgbClr val="3399FF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3" name="Straight Arrow Connector 2052"/>
          <p:cNvCxnSpPr/>
          <p:nvPr/>
        </p:nvCxnSpPr>
        <p:spPr>
          <a:xfrm>
            <a:off x="1349056" y="5685978"/>
            <a:ext cx="356616" cy="0"/>
          </a:xfrm>
          <a:prstGeom prst="straightConnector1">
            <a:avLst/>
          </a:prstGeom>
          <a:ln>
            <a:solidFill>
              <a:srgbClr val="3399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2" idx="3"/>
          </p:cNvCxnSpPr>
          <p:nvPr/>
        </p:nvCxnSpPr>
        <p:spPr>
          <a:xfrm flipV="1">
            <a:off x="3589360" y="5077035"/>
            <a:ext cx="1157720" cy="5805"/>
          </a:xfrm>
          <a:prstGeom prst="straightConnector1">
            <a:avLst/>
          </a:prstGeom>
          <a:ln w="6350">
            <a:solidFill>
              <a:srgbClr val="3399FF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5365321" y="5049987"/>
            <a:ext cx="800176" cy="2904"/>
          </a:xfrm>
          <a:prstGeom prst="straightConnector1">
            <a:avLst/>
          </a:prstGeom>
          <a:ln w="6350">
            <a:solidFill>
              <a:srgbClr val="3399FF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9" name="Elbow Connector 2058"/>
          <p:cNvCxnSpPr>
            <a:stCxn id="20" idx="3"/>
            <a:endCxn id="29" idx="1"/>
          </p:cNvCxnSpPr>
          <p:nvPr/>
        </p:nvCxnSpPr>
        <p:spPr>
          <a:xfrm>
            <a:off x="3589360" y="5698614"/>
            <a:ext cx="1381678" cy="333810"/>
          </a:xfrm>
          <a:prstGeom prst="bentConnector3">
            <a:avLst>
              <a:gd name="adj1" fmla="val 29257"/>
            </a:avLst>
          </a:prstGeom>
          <a:ln>
            <a:solidFill>
              <a:srgbClr val="33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Elbow Connector 2060"/>
          <p:cNvCxnSpPr>
            <a:stCxn id="29" idx="3"/>
            <a:endCxn id="25" idx="2"/>
          </p:cNvCxnSpPr>
          <p:nvPr/>
        </p:nvCxnSpPr>
        <p:spPr>
          <a:xfrm flipH="1" flipV="1">
            <a:off x="6525537" y="5456875"/>
            <a:ext cx="62687" cy="575549"/>
          </a:xfrm>
          <a:prstGeom prst="bentConnector4">
            <a:avLst>
              <a:gd name="adj1" fmla="val -364669"/>
              <a:gd name="adj2" fmla="val 61340"/>
            </a:avLst>
          </a:prstGeom>
          <a:ln>
            <a:solidFill>
              <a:srgbClr val="3399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7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260581"/>
            <a:ext cx="9001000" cy="6336771"/>
          </a:xfrm>
        </p:spPr>
        <p:txBody>
          <a:bodyPr>
            <a:normAutofit/>
          </a:bodyPr>
          <a:lstStyle/>
          <a:p>
            <a:pPr marL="457200" indent="-457200" latinLnBrk="0">
              <a:lnSpc>
                <a:spcPct val="150000"/>
              </a:lnSpc>
              <a:buFont typeface="+mj-lt"/>
              <a:buAutoNum type="arabicPeriod" startAt="2"/>
            </a:pPr>
            <a:r>
              <a:rPr lang="en-US" sz="2000" dirty="0">
                <a:latin typeface="Bookman Old Style" pitchFamily="18" charset="0"/>
              </a:rPr>
              <a:t>Java Development Kit (JDK)</a:t>
            </a:r>
          </a:p>
          <a:p>
            <a:pPr marL="457200" lvl="1" latinLnBrk="0">
              <a:lnSpc>
                <a:spcPct val="150000"/>
              </a:lnSpc>
            </a:pPr>
            <a:r>
              <a:rPr lang="en-US" sz="1600" dirty="0">
                <a:latin typeface="Bookman Old Style" pitchFamily="18" charset="0"/>
              </a:rPr>
              <a:t>For writing pure code in Java which can then be converted into Java byte-code for mass deployment</a:t>
            </a:r>
          </a:p>
          <a:p>
            <a:pPr marL="457200" lvl="1" latinLnBrk="0">
              <a:lnSpc>
                <a:spcPct val="150000"/>
              </a:lnSpc>
            </a:pPr>
            <a:r>
              <a:rPr lang="en-US" sz="1600" dirty="0">
                <a:latin typeface="Bookman Old Style" pitchFamily="18" charset="0"/>
              </a:rPr>
              <a:t>A tool to compile, document and package java programs.</a:t>
            </a:r>
          </a:p>
          <a:p>
            <a:pPr marL="457200" lvl="1" latinLnBrk="0">
              <a:lnSpc>
                <a:spcPct val="150000"/>
              </a:lnSpc>
            </a:pPr>
            <a:r>
              <a:rPr lang="en-US" sz="1600" b="1" dirty="0">
                <a:latin typeface="Bookman Old Style" pitchFamily="18" charset="0"/>
              </a:rPr>
              <a:t>Java Compiler</a:t>
            </a:r>
          </a:p>
          <a:p>
            <a:pPr marL="857250" lvl="2" latinLnBrk="0">
              <a:lnSpc>
                <a:spcPct val="150000"/>
              </a:lnSpc>
            </a:pPr>
            <a:r>
              <a:rPr lang="en-US" sz="1600" dirty="0">
                <a:latin typeface="Bookman Old Style" pitchFamily="18" charset="0"/>
              </a:rPr>
              <a:t>The Java compiler tool (named </a:t>
            </a:r>
            <a:r>
              <a:rPr lang="en-US" sz="1600" b="1" dirty="0" err="1">
                <a:latin typeface="Bookman Old Style" pitchFamily="18" charset="0"/>
              </a:rPr>
              <a:t>javac</a:t>
            </a:r>
            <a:r>
              <a:rPr lang="en-US" sz="1600" dirty="0">
                <a:latin typeface="Bookman Old Style" pitchFamily="18" charset="0"/>
              </a:rPr>
              <a:t> in the JDK) is the most important utility found with the JDK to compile Java Source files to Java Byte-code.</a:t>
            </a:r>
          </a:p>
          <a:p>
            <a:pPr marL="857250" lvl="2" latinLnBrk="0">
              <a:lnSpc>
                <a:spcPct val="150000"/>
              </a:lnSpc>
            </a:pPr>
            <a:r>
              <a:rPr lang="en-US" sz="1600" dirty="0">
                <a:latin typeface="Bookman Old Style" pitchFamily="18" charset="0"/>
              </a:rPr>
              <a:t>This process of converting Java source files into their equivalent byte-codes is known as compilation. </a:t>
            </a:r>
          </a:p>
          <a:p>
            <a:pPr marL="857250" lvl="2" latinLnBrk="0">
              <a:lnSpc>
                <a:spcPct val="150000"/>
              </a:lnSpc>
            </a:pP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dirty="0" err="1">
                <a:latin typeface="Bookman Old Style" pitchFamily="18" charset="0"/>
              </a:rPr>
              <a:t>e.g</a:t>
            </a:r>
            <a:r>
              <a:rPr lang="en-US" sz="1600" dirty="0">
                <a:latin typeface="Bookman Old Style" pitchFamily="18" charset="0"/>
              </a:rPr>
              <a:t>, </a:t>
            </a:r>
          </a:p>
          <a:p>
            <a:pPr marL="628650" lvl="2" indent="0" latinLnBrk="0">
              <a:lnSpc>
                <a:spcPct val="150000"/>
              </a:lnSpc>
              <a:buNone/>
            </a:pPr>
            <a:r>
              <a:rPr lang="en-US" sz="1600" b="1" dirty="0">
                <a:latin typeface="Bookman Old Style" pitchFamily="18" charset="0"/>
              </a:rPr>
              <a:t>     </a:t>
            </a:r>
            <a:r>
              <a:rPr lang="en-US" sz="1600" b="1" dirty="0" err="1">
                <a:latin typeface="Bookman Old Style" pitchFamily="18" charset="0"/>
              </a:rPr>
              <a:t>javac</a:t>
            </a:r>
            <a:r>
              <a:rPr lang="en-US" sz="1600" b="1" dirty="0">
                <a:latin typeface="Bookman Old Style" pitchFamily="18" charset="0"/>
              </a:rPr>
              <a:t> SampleProgram.java          </a:t>
            </a:r>
            <a:r>
              <a:rPr lang="en-US" sz="1600" b="1" dirty="0">
                <a:latin typeface="Bookman Old Style" pitchFamily="18" charset="0"/>
                <a:sym typeface="Wingdings" pitchFamily="2" charset="2"/>
              </a:rPr>
              <a:t>            </a:t>
            </a:r>
            <a:r>
              <a:rPr lang="en-US" sz="1600" b="1" dirty="0" err="1">
                <a:latin typeface="Bookman Old Style" pitchFamily="18" charset="0"/>
                <a:sym typeface="Wingdings" pitchFamily="2" charset="2"/>
              </a:rPr>
              <a:t>SampleProgram.class</a:t>
            </a:r>
            <a:endParaRPr lang="en-US" sz="1600" b="1" dirty="0">
              <a:latin typeface="Bookman Old Style" pitchFamily="18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775888" y="6619512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10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696656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Java Compilation Basics.sv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58" b="26073"/>
          <a:stretch/>
        </p:blipFill>
        <p:spPr bwMode="auto">
          <a:xfrm>
            <a:off x="1691680" y="5437814"/>
            <a:ext cx="6064056" cy="84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55530" y="5198879"/>
            <a:ext cx="224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SampleProgram.java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0736" y="6218318"/>
            <a:ext cx="1414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Bookman Old Style" pitchFamily="18" charset="0"/>
              </a:rPr>
              <a:t>Java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9738" y="6222792"/>
            <a:ext cx="162416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Java Compiler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3603" y="6225009"/>
            <a:ext cx="1750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Bookman Old Style" pitchFamily="18" charset="0"/>
              </a:rPr>
              <a:t>Java Byte-Code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2120" y="5157192"/>
            <a:ext cx="2337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Bookman Old Style" pitchFamily="18" charset="0"/>
              </a:rPr>
              <a:t>SampleProgram.class</a:t>
            </a:r>
            <a:endParaRPr lang="en-US" sz="16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759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76400" y="188640"/>
            <a:ext cx="5791200" cy="1371600"/>
          </a:xfrm>
        </p:spPr>
        <p:txBody>
          <a:bodyPr>
            <a:normAutofit/>
          </a:bodyPr>
          <a:lstStyle/>
          <a:p>
            <a:r>
              <a:rPr lang="en-US" sz="3200" dirty="0"/>
              <a:t>Major Editions of Java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35496" y="1204053"/>
            <a:ext cx="8973112" cy="5609323"/>
          </a:xfrm>
        </p:spPr>
        <p:txBody>
          <a:bodyPr>
            <a:normAutofit fontScale="70000" lnSpcReduction="20000"/>
          </a:bodyPr>
          <a:lstStyle/>
          <a:p>
            <a:pPr algn="just" latinLnBrk="0"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  <a:cs typeface="Cambria"/>
              </a:rPr>
              <a:t>Java 2 Standard Edition (J2SE</a:t>
            </a:r>
            <a:r>
              <a:rPr lang="en-US" dirty="0">
                <a:latin typeface="Bookman Old Style" pitchFamily="18" charset="0"/>
                <a:cs typeface="Cambria"/>
              </a:rPr>
              <a:t>): This is the most commonly used form of Java technology. Also referred to as Java Development Kit (JDK), J2SE is a software development kit that includes a set of APIs, tools, and a runtime for developing general-purpose applications.</a:t>
            </a:r>
          </a:p>
          <a:p>
            <a:pPr algn="just" latinLnBrk="0"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  <a:cs typeface="Cambria"/>
              </a:rPr>
              <a:t>Java 2 Enterprise Edition (J2EE)</a:t>
            </a:r>
            <a:r>
              <a:rPr lang="en-US" dirty="0">
                <a:latin typeface="Bookman Old Style" pitchFamily="18" charset="0"/>
                <a:cs typeface="Cambria"/>
              </a:rPr>
              <a:t>: J2EE is the basis for Java-based enterprise applications which specifies a standard for developing multi-tier distributed component-based applications. It provides an integrated technical framework for developing Internet-enabled enterprise, and e-commerce applications.</a:t>
            </a:r>
          </a:p>
          <a:p>
            <a:pPr algn="just" latinLnBrk="0">
              <a:lnSpc>
                <a:spcPct val="14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  <a:cs typeface="Cambria"/>
              </a:rPr>
              <a:t>Java 2 Micro Edition (J2ME)</a:t>
            </a:r>
            <a:r>
              <a:rPr lang="en-US" dirty="0">
                <a:latin typeface="Bookman Old Style" pitchFamily="18" charset="0"/>
                <a:cs typeface="Cambria"/>
              </a:rPr>
              <a:t>: J2ME provides a lightweight and optimized Java environment for developing applications for mobile devices.</a:t>
            </a:r>
          </a:p>
          <a:p>
            <a:pPr algn="just" latinLnBrk="0">
              <a:lnSpc>
                <a:spcPct val="140000"/>
              </a:lnSpc>
              <a:buClr>
                <a:srgbClr val="D1282E"/>
              </a:buClr>
            </a:pPr>
            <a:endParaRPr lang="en-US" dirty="0">
              <a:cs typeface="Cambri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3498" y="6680827"/>
            <a:ext cx="533400" cy="244476"/>
          </a:xfrm>
        </p:spPr>
        <p:txBody>
          <a:bodyPr>
            <a:normAutofit fontScale="92500" lnSpcReduction="10000"/>
          </a:bodyPr>
          <a:lstStyle/>
          <a:p>
            <a:pPr algn="r"/>
            <a:fld id="{A0D09A74-B91A-40A4-90D1-93FE587BC1C3}" type="slidenum">
              <a:rPr lang="en-US" smtClean="0"/>
              <a:pPr algn="r"/>
              <a:t>11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3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40296" y="188640"/>
            <a:ext cx="7648128" cy="1371600"/>
          </a:xfrm>
        </p:spPr>
        <p:txBody>
          <a:bodyPr>
            <a:normAutofit/>
          </a:bodyPr>
          <a:lstStyle/>
          <a:p>
            <a:r>
              <a:rPr lang="en-US" sz="3200" dirty="0"/>
              <a:t>Four Main OOP Principles 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-180528" y="1636101"/>
            <a:ext cx="8928216" cy="5609323"/>
          </a:xfrm>
        </p:spPr>
        <p:txBody>
          <a:bodyPr>
            <a:normAutofit/>
          </a:bodyPr>
          <a:lstStyle/>
          <a:p>
            <a:pPr marL="914400" lvl="1" indent="-457200">
              <a:lnSpc>
                <a:spcPct val="150000"/>
              </a:lnSpc>
              <a:spcBef>
                <a:spcPts val="1200"/>
              </a:spcBef>
              <a:buAutoNum type="arabicParenBoth"/>
            </a:pPr>
            <a:r>
              <a:rPr lang="en-US" sz="2400" dirty="0">
                <a:latin typeface="Bookman Old Style" pitchFamily="18" charset="0"/>
                <a:cs typeface="Cambria"/>
              </a:rPr>
              <a:t>Abstraction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buAutoNum type="arabicParenBoth"/>
            </a:pPr>
            <a:r>
              <a:rPr lang="en-US" sz="2400" dirty="0">
                <a:latin typeface="Bookman Old Style" pitchFamily="18" charset="0"/>
                <a:cs typeface="Cambria"/>
              </a:rPr>
              <a:t>Encapsulation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buAutoNum type="arabicParenBoth"/>
            </a:pPr>
            <a:r>
              <a:rPr lang="en-US" sz="2400" dirty="0">
                <a:latin typeface="Bookman Old Style" pitchFamily="18" charset="0"/>
                <a:cs typeface="Cambria"/>
              </a:rPr>
              <a:t>Inheritance and 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buAutoNum type="arabicParenBoth"/>
            </a:pPr>
            <a:r>
              <a:rPr lang="en-US" sz="2400" dirty="0">
                <a:latin typeface="Bookman Old Style" pitchFamily="18" charset="0"/>
                <a:cs typeface="Cambria"/>
              </a:rPr>
              <a:t>Polymorphism</a:t>
            </a:r>
          </a:p>
          <a:p>
            <a:pPr marL="457200" lvl="1" indent="0">
              <a:lnSpc>
                <a:spcPct val="150000"/>
              </a:lnSpc>
              <a:spcBef>
                <a:spcPts val="1200"/>
              </a:spcBef>
              <a:buNone/>
            </a:pPr>
            <a:endParaRPr lang="en-US" sz="2400" dirty="0">
              <a:latin typeface="Bookman Old Style" pitchFamily="18" charset="0"/>
              <a:cs typeface="Cambri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3498" y="6680827"/>
            <a:ext cx="533400" cy="244476"/>
          </a:xfrm>
        </p:spPr>
        <p:txBody>
          <a:bodyPr>
            <a:normAutofit fontScale="92500" lnSpcReduction="10000"/>
          </a:bodyPr>
          <a:lstStyle/>
          <a:p>
            <a:pPr algn="r"/>
            <a:fld id="{A0D09A74-B91A-40A4-90D1-93FE587BC1C3}" type="slidenum">
              <a:rPr lang="en-US" smtClean="0"/>
              <a:pPr algn="r"/>
              <a:t>12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Image result for four main oop princip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700808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137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 of Java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91128" y="6640908"/>
            <a:ext cx="533400" cy="244476"/>
          </a:xfrm>
        </p:spPr>
        <p:txBody>
          <a:bodyPr/>
          <a:lstStyle/>
          <a:p>
            <a:fld id="{A0D09A74-B91A-40A4-90D1-93FE587BC1C3}" type="slidenum">
              <a:rPr lang="en-US" sz="1200" smtClean="0"/>
              <a:t>13</a:t>
            </a:fld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79512" y="1064747"/>
            <a:ext cx="8784976" cy="5460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</a:rPr>
              <a:t>Case Sensitivity</a:t>
            </a:r>
            <a:r>
              <a:rPr lang="en-US" dirty="0">
                <a:latin typeface="Bookman Old Style" pitchFamily="18" charset="0"/>
              </a:rPr>
              <a:t> − Java is case sensitive, which means identifier </a:t>
            </a:r>
            <a:r>
              <a:rPr lang="en-US" b="1" dirty="0">
                <a:latin typeface="Bookman Old Style" pitchFamily="18" charset="0"/>
              </a:rPr>
              <a:t>Hello</a:t>
            </a:r>
            <a:r>
              <a:rPr lang="en-US" dirty="0">
                <a:latin typeface="Bookman Old Style" pitchFamily="18" charset="0"/>
              </a:rPr>
              <a:t> and </a:t>
            </a:r>
            <a:r>
              <a:rPr lang="en-US" b="1" dirty="0">
                <a:latin typeface="Bookman Old Style" pitchFamily="18" charset="0"/>
              </a:rPr>
              <a:t>hello</a:t>
            </a:r>
            <a:r>
              <a:rPr lang="en-US" dirty="0">
                <a:latin typeface="Bookman Old Style" pitchFamily="18" charset="0"/>
              </a:rPr>
              <a:t> would have different meaning in Java.</a:t>
            </a:r>
          </a:p>
          <a:p>
            <a:pPr marL="285750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</a:rPr>
              <a:t>Class Names</a:t>
            </a:r>
            <a:r>
              <a:rPr lang="en-US" dirty="0">
                <a:latin typeface="Bookman Old Style" pitchFamily="18" charset="0"/>
              </a:rPr>
              <a:t> − For all class names the first letter should be in Upper Case. If several words are used to form a name of the class, each inner word's first letter should be in Upper Case.  </a:t>
            </a:r>
            <a:r>
              <a:rPr lang="en-US" dirty="0" err="1">
                <a:latin typeface="Bookman Old Style" pitchFamily="18" charset="0"/>
              </a:rPr>
              <a:t>Eg</a:t>
            </a:r>
            <a:r>
              <a:rPr lang="en-US" dirty="0">
                <a:latin typeface="Bookman Old Style" pitchFamily="18" charset="0"/>
              </a:rPr>
              <a:t>. </a:t>
            </a:r>
            <a:r>
              <a:rPr lang="en-US" i="1" dirty="0">
                <a:latin typeface="Bookman Old Style" pitchFamily="18" charset="0"/>
              </a:rPr>
              <a:t>class </a:t>
            </a:r>
            <a:r>
              <a:rPr lang="en-US" i="1" dirty="0" err="1">
                <a:latin typeface="Bookman Old Style" pitchFamily="18" charset="0"/>
              </a:rPr>
              <a:t>MyFirstJavaClass</a:t>
            </a:r>
            <a:endParaRPr lang="en-US" dirty="0">
              <a:latin typeface="Bookman Old Style" pitchFamily="18" charset="0"/>
            </a:endParaRPr>
          </a:p>
          <a:p>
            <a:pPr marL="285750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</a:rPr>
              <a:t>Method Names</a:t>
            </a:r>
            <a:r>
              <a:rPr lang="en-US" dirty="0">
                <a:latin typeface="Bookman Old Style" pitchFamily="18" charset="0"/>
              </a:rPr>
              <a:t> − All method names should start with a Lower Case letter. If several words are used to form the name of the method, then each inner word's first letter should be in Upper Case. </a:t>
            </a:r>
            <a:r>
              <a:rPr lang="en-US" dirty="0" err="1">
                <a:latin typeface="Bookman Old Style" pitchFamily="18" charset="0"/>
              </a:rPr>
              <a:t>Eg</a:t>
            </a:r>
            <a:r>
              <a:rPr lang="en-US" dirty="0">
                <a:latin typeface="Bookman Old Style" pitchFamily="18" charset="0"/>
              </a:rPr>
              <a:t>. </a:t>
            </a:r>
            <a:r>
              <a:rPr lang="en-US" i="1" dirty="0">
                <a:latin typeface="Bookman Old Style" pitchFamily="18" charset="0"/>
              </a:rPr>
              <a:t>public void </a:t>
            </a:r>
            <a:r>
              <a:rPr lang="en-US" i="1" dirty="0" err="1">
                <a:latin typeface="Bookman Old Style" pitchFamily="18" charset="0"/>
              </a:rPr>
              <a:t>myMethodName</a:t>
            </a:r>
            <a:r>
              <a:rPr lang="en-US" i="1" dirty="0">
                <a:latin typeface="Bookman Old Style" pitchFamily="18" charset="0"/>
              </a:rPr>
              <a:t>()</a:t>
            </a:r>
            <a:endParaRPr lang="en-US" dirty="0">
              <a:latin typeface="Bookman Old Style" pitchFamily="18" charset="0"/>
            </a:endParaRPr>
          </a:p>
          <a:p>
            <a:pPr marL="285750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</a:rPr>
              <a:t>Program File Name</a:t>
            </a:r>
            <a:r>
              <a:rPr lang="en-US" dirty="0">
                <a:latin typeface="Bookman Old Style" pitchFamily="18" charset="0"/>
              </a:rPr>
              <a:t> − Name of the program file should exactly match the class name.(if the file name and the class name do not match, your program will not compile). </a:t>
            </a:r>
            <a:r>
              <a:rPr lang="en-US" dirty="0" err="1">
                <a:latin typeface="Bookman Old Style" pitchFamily="18" charset="0"/>
              </a:rPr>
              <a:t>E.g</a:t>
            </a:r>
            <a:r>
              <a:rPr lang="en-US" dirty="0">
                <a:latin typeface="Bookman Old Style" pitchFamily="18" charset="0"/>
              </a:rPr>
              <a:t> Assume '</a:t>
            </a:r>
            <a:r>
              <a:rPr lang="en-US" dirty="0" err="1">
                <a:latin typeface="Bookman Old Style" pitchFamily="18" charset="0"/>
              </a:rPr>
              <a:t>MyFirstJavaProgram</a:t>
            </a:r>
            <a:r>
              <a:rPr lang="en-US" dirty="0">
                <a:latin typeface="Bookman Old Style" pitchFamily="18" charset="0"/>
              </a:rPr>
              <a:t>' is the class name. Then the file should be saved as </a:t>
            </a:r>
            <a:r>
              <a:rPr lang="en-US" i="1" dirty="0">
                <a:latin typeface="Bookman Old Style" pitchFamily="18" charset="0"/>
              </a:rPr>
              <a:t>'MyFirstJavaProgram.java'</a:t>
            </a:r>
            <a:endParaRPr lang="en-US" dirty="0">
              <a:latin typeface="Bookman Old Style" pitchFamily="18" charset="0"/>
            </a:endParaRPr>
          </a:p>
          <a:p>
            <a:pPr marL="285750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</a:rPr>
              <a:t>public static void main(String </a:t>
            </a:r>
            <a:r>
              <a:rPr lang="en-US" b="1" dirty="0" err="1">
                <a:latin typeface="Bookman Old Style" pitchFamily="18" charset="0"/>
              </a:rPr>
              <a:t>args</a:t>
            </a:r>
            <a:r>
              <a:rPr lang="en-US" b="1" dirty="0">
                <a:latin typeface="Bookman Old Style" pitchFamily="18" charset="0"/>
              </a:rPr>
              <a:t>[])</a:t>
            </a:r>
            <a:r>
              <a:rPr lang="en-US" dirty="0">
                <a:latin typeface="Bookman Old Style" pitchFamily="18" charset="0"/>
              </a:rPr>
              <a:t> − Java program processing starts from the main() method which is a mandatory part of every Java program.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59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9694" y="1988840"/>
            <a:ext cx="8305800" cy="335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>
              <a:defRPr/>
            </a:pP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Basic syntax of a Java Class</a:t>
            </a:r>
          </a:p>
          <a:p>
            <a:pPr eaLnBrk="0" hangingPunct="0">
              <a:defRPr/>
            </a:pPr>
            <a:endParaRPr lang="en-US" sz="24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  <a:p>
            <a:pPr eaLnBrk="0" hangingPunct="0">
              <a:defRPr/>
            </a:pP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	&lt; modifier&gt; class &lt; name&gt; </a:t>
            </a:r>
          </a:p>
          <a:p>
            <a:pPr eaLnBrk="0" hangingPunct="0">
              <a:defRPr/>
            </a:pP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	{</a:t>
            </a:r>
          </a:p>
          <a:p>
            <a:pPr eaLnBrk="0" hangingPunct="0">
              <a:defRPr/>
            </a:pP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		&lt; </a:t>
            </a:r>
            <a:r>
              <a:rPr lang="en-US" sz="2400" dirty="0" err="1">
                <a:solidFill>
                  <a:srgbClr val="000000"/>
                </a:solidFill>
                <a:latin typeface="Bookman Old Style" pitchFamily="18" charset="0"/>
              </a:rPr>
              <a:t>attribute_declaration</a:t>
            </a: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&gt;*</a:t>
            </a:r>
          </a:p>
          <a:p>
            <a:pPr eaLnBrk="0" hangingPunct="0">
              <a:defRPr/>
            </a:pP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		&lt; </a:t>
            </a:r>
            <a:r>
              <a:rPr lang="en-US" sz="2400" dirty="0" err="1">
                <a:solidFill>
                  <a:srgbClr val="000000"/>
                </a:solidFill>
                <a:latin typeface="Bookman Old Style" pitchFamily="18" charset="0"/>
              </a:rPr>
              <a:t>constructor_declaration</a:t>
            </a: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&gt;*</a:t>
            </a:r>
          </a:p>
          <a:p>
            <a:pPr eaLnBrk="0" hangingPunct="0">
              <a:defRPr/>
            </a:pP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		&lt; </a:t>
            </a:r>
            <a:r>
              <a:rPr lang="en-US" sz="2400" dirty="0" err="1">
                <a:solidFill>
                  <a:srgbClr val="000000"/>
                </a:solidFill>
                <a:latin typeface="Bookman Old Style" pitchFamily="18" charset="0"/>
              </a:rPr>
              <a:t>method_declaration</a:t>
            </a: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&gt;*</a:t>
            </a:r>
          </a:p>
          <a:p>
            <a:pPr eaLnBrk="0" hangingPunct="0">
              <a:defRPr/>
            </a:pPr>
            <a:r>
              <a:rPr lang="en-US" sz="2400" dirty="0">
                <a:solidFill>
                  <a:srgbClr val="000000"/>
                </a:solidFill>
                <a:latin typeface="Bookman Old Style" pitchFamily="18" charset="0"/>
              </a:rPr>
              <a:t>	}</a:t>
            </a:r>
          </a:p>
          <a:p>
            <a:pPr algn="ctr"/>
            <a:endParaRPr lang="en-US" sz="2400" dirty="0">
              <a:latin typeface="Bookman Old Style" pitchFamily="18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>
          <a:xfrm>
            <a:off x="1170384" y="210344"/>
            <a:ext cx="68580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 cap="all" spc="120" baseline="0">
                <a:solidFill>
                  <a:schemeClr val="tx2"/>
                </a:solidFill>
                <a:latin typeface="+mj-lt"/>
                <a:ea typeface="+mn-ea"/>
                <a:cs typeface="Cambria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/>
                <a:ea typeface="+mn-ea"/>
                <a:cs typeface="Cambria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/>
                <a:ea typeface="+mn-ea"/>
                <a:cs typeface="Cambria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/>
                <a:ea typeface="+mn-ea"/>
                <a:cs typeface="Cambria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Cambria"/>
                <a:ea typeface="+mn-ea"/>
                <a:cs typeface="Cambria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1"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A Simple Java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775888" y="6633160"/>
            <a:ext cx="548640" cy="396240"/>
          </a:xfrm>
        </p:spPr>
        <p:txBody>
          <a:bodyPr/>
          <a:lstStyle/>
          <a:p>
            <a:fld id="{D7E63A33-8271-4DD0-9C48-789913D7C115}" type="slidenum">
              <a:rPr lang="en-US" sz="1200" smtClean="0"/>
              <a:pPr/>
              <a:t>14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68624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403648" y="1268760"/>
            <a:ext cx="6320297" cy="42473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/*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This is a simple Java program.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Call this file "Example.java".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Bookman Old Style" pitchFamily="18" charset="0"/>
              </a:rPr>
              <a:t>class</a:t>
            </a:r>
            <a:r>
              <a:rPr lang="en-US" dirty="0">
                <a:latin typeface="Bookman Old Style" pitchFamily="18" charset="0"/>
              </a:rPr>
              <a:t> Example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// Your program begins with a call to main().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public static void </a:t>
            </a:r>
            <a:r>
              <a:rPr lang="en-US" b="1" dirty="0">
                <a:latin typeface="Bookman Old Style" pitchFamily="18" charset="0"/>
              </a:rPr>
              <a:t>main</a:t>
            </a:r>
            <a:r>
              <a:rPr lang="en-US" dirty="0">
                <a:latin typeface="Bookman Old Style" pitchFamily="18" charset="0"/>
              </a:rPr>
              <a:t>(String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[]) {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("This is a simple Java program.");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7430" y="1978941"/>
            <a:ext cx="2224933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Bookman Old Style" pitchFamily="18" charset="0"/>
              </a:rPr>
              <a:t>Block comments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111605" y="2163607"/>
            <a:ext cx="990600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59851" y="2636912"/>
            <a:ext cx="1517073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Bookman Old Style" pitchFamily="18" charset="0"/>
              </a:rPr>
              <a:t>Class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2240" y="3450486"/>
            <a:ext cx="2377440" cy="3385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Bookman Old Style" pitchFamily="18" charset="0"/>
              </a:rPr>
              <a:t>Single line Comment</a:t>
            </a:r>
          </a:p>
        </p:txBody>
      </p:sp>
      <p:cxnSp>
        <p:nvCxnSpPr>
          <p:cNvPr id="23" name="Straight Arrow Connector 22"/>
          <p:cNvCxnSpPr>
            <a:stCxn id="22" idx="1"/>
          </p:cNvCxnSpPr>
          <p:nvPr/>
        </p:nvCxnSpPr>
        <p:spPr>
          <a:xfrm flipH="1">
            <a:off x="6444208" y="3619763"/>
            <a:ext cx="288032" cy="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7503" y="5750672"/>
            <a:ext cx="187220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Bookman Old Style" pitchFamily="18" charset="0"/>
              </a:rPr>
              <a:t>Main Method</a:t>
            </a:r>
          </a:p>
        </p:txBody>
      </p:sp>
      <p:sp>
        <p:nvSpPr>
          <p:cNvPr id="12" name="Subtitle 3"/>
          <p:cNvSpPr txBox="1">
            <a:spLocks/>
          </p:cNvSpPr>
          <p:nvPr/>
        </p:nvSpPr>
        <p:spPr>
          <a:xfrm>
            <a:off x="1170384" y="170553"/>
            <a:ext cx="68580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 cap="all" spc="120" baseline="0">
                <a:solidFill>
                  <a:schemeClr val="tx2"/>
                </a:solidFill>
                <a:latin typeface="+mj-lt"/>
                <a:ea typeface="+mn-ea"/>
                <a:cs typeface="Cambria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/>
                <a:ea typeface="+mn-ea"/>
                <a:cs typeface="Cambria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/>
                <a:ea typeface="+mn-ea"/>
                <a:cs typeface="Cambria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/>
                <a:ea typeface="+mn-ea"/>
                <a:cs typeface="Cambria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Cambria"/>
                <a:ea typeface="+mn-ea"/>
                <a:cs typeface="Cambria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1"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rPr>
              <a:t>A Simple Java Program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877738" y="2821578"/>
            <a:ext cx="990600" cy="210506"/>
            <a:chOff x="2877738" y="2636912"/>
            <a:chExt cx="990600" cy="395172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2891386" y="2636912"/>
              <a:ext cx="0" cy="395172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2877738" y="2646447"/>
              <a:ext cx="990600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 rot="5400000">
            <a:off x="415221" y="4579983"/>
            <a:ext cx="1635353" cy="520347"/>
            <a:chOff x="2877738" y="1922513"/>
            <a:chExt cx="990600" cy="723934"/>
          </a:xfrm>
        </p:grpSpPr>
        <p:cxnSp>
          <p:nvCxnSpPr>
            <p:cNvPr id="36" name="Straight Arrow Connector 35"/>
            <p:cNvCxnSpPr/>
            <p:nvPr/>
          </p:nvCxnSpPr>
          <p:spPr>
            <a:xfrm rot="16200000">
              <a:off x="2534188" y="2279711"/>
              <a:ext cx="714398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2877738" y="2646447"/>
              <a:ext cx="990600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>
          <a:xfrm>
            <a:off x="8775888" y="6633160"/>
            <a:ext cx="548640" cy="396240"/>
          </a:xfrm>
        </p:spPr>
        <p:txBody>
          <a:bodyPr/>
          <a:lstStyle/>
          <a:p>
            <a:fld id="{D7E63A33-8271-4DD0-9C48-789913D7C115}" type="slidenum">
              <a:rPr lang="en-US" sz="1200" smtClean="0"/>
              <a:pPr/>
              <a:t>15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9625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22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7"/>
            <a:ext cx="9144000" cy="1143000"/>
          </a:xfrm>
        </p:spPr>
        <p:txBody>
          <a:bodyPr/>
          <a:lstStyle/>
          <a:p>
            <a:pPr latinLnBrk="0"/>
            <a:r>
              <a:rPr lang="en-US" b="0" dirty="0"/>
              <a:t>Programming Errors</a:t>
            </a:r>
            <a:endParaRPr lang="en-US" dirty="0"/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>
          <a:xfrm>
            <a:off x="8775888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16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5496" y="1124745"/>
            <a:ext cx="9073008" cy="5596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Syntax Error or Compiled Error</a:t>
            </a:r>
          </a:p>
          <a:p>
            <a:pPr lvl="1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  <a:cs typeface="Cambria"/>
              </a:rPr>
              <a:t>Errors that are detected by the compiler </a:t>
            </a: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18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Runtime Errors</a:t>
            </a:r>
          </a:p>
          <a:p>
            <a:pPr lvl="1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  <a:cs typeface="Cambria"/>
              </a:rPr>
              <a:t>Runtime errors are errors that cause a program to terminate abnormally</a:t>
            </a:r>
          </a:p>
          <a:p>
            <a:pPr lvl="2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800" dirty="0" err="1">
                <a:latin typeface="Bookman Old Style" pitchFamily="18" charset="0"/>
                <a:cs typeface="Cambria"/>
              </a:rPr>
              <a:t>Eg</a:t>
            </a:r>
            <a:r>
              <a:rPr lang="en-US" sz="1800" dirty="0">
                <a:latin typeface="Bookman Old Style" pitchFamily="18" charset="0"/>
                <a:cs typeface="Cambria"/>
              </a:rPr>
              <a:t>. input error, division by zero </a:t>
            </a: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Logic Errors</a:t>
            </a:r>
          </a:p>
          <a:p>
            <a:pPr lvl="1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  <a:cs typeface="Cambria"/>
              </a:rPr>
              <a:t>Logic errors occur when a program does not perform the way it was intended to</a:t>
            </a: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  <a:cs typeface="Cambria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763688" y="2092780"/>
            <a:ext cx="6479841" cy="1708160"/>
            <a:chOff x="2123728" y="1772816"/>
            <a:chExt cx="6479841" cy="1708160"/>
          </a:xfrm>
        </p:grpSpPr>
        <p:sp>
          <p:nvSpPr>
            <p:cNvPr id="3" name="Rectangle 2"/>
            <p:cNvSpPr/>
            <p:nvPr/>
          </p:nvSpPr>
          <p:spPr>
            <a:xfrm>
              <a:off x="2123728" y="1772816"/>
              <a:ext cx="4572000" cy="170816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dirty="0">
                  <a:latin typeface="Bookman Old Style" pitchFamily="18" charset="0"/>
                </a:rPr>
                <a:t> </a:t>
              </a:r>
              <a:r>
                <a:rPr lang="en-US" sz="1400" b="1" dirty="0">
                  <a:latin typeface="Bookman Old Style" pitchFamily="18" charset="0"/>
                </a:rPr>
                <a:t>public class </a:t>
              </a:r>
              <a:r>
                <a:rPr lang="en-US" sz="1400" dirty="0" err="1">
                  <a:latin typeface="Bookman Old Style" pitchFamily="18" charset="0"/>
                </a:rPr>
                <a:t>ShowSyntaxErrors</a:t>
              </a:r>
              <a:r>
                <a:rPr lang="en-US" sz="1400" dirty="0">
                  <a:latin typeface="Bookman Old Style" pitchFamily="18" charset="0"/>
                </a:rPr>
                <a:t> {</a:t>
              </a:r>
            </a:p>
            <a:p>
              <a:pPr>
                <a:lnSpc>
                  <a:spcPct val="150000"/>
                </a:lnSpc>
              </a:pPr>
              <a:r>
                <a:rPr lang="en-US" sz="1400" dirty="0">
                  <a:latin typeface="Bookman Old Style" pitchFamily="18" charset="0"/>
                </a:rPr>
                <a:t>   </a:t>
              </a:r>
              <a:r>
                <a:rPr lang="en-US" sz="1400" b="1" dirty="0">
                  <a:latin typeface="Bookman Old Style" pitchFamily="18" charset="0"/>
                </a:rPr>
                <a:t>public static </a:t>
              </a:r>
              <a:r>
                <a:rPr lang="en-US" sz="1400" dirty="0">
                  <a:latin typeface="Bookman Old Style" pitchFamily="18" charset="0"/>
                </a:rPr>
                <a:t>main(String[] </a:t>
              </a:r>
              <a:r>
                <a:rPr lang="en-US" sz="1400" dirty="0" err="1">
                  <a:latin typeface="Bookman Old Style" pitchFamily="18" charset="0"/>
                </a:rPr>
                <a:t>args</a:t>
              </a:r>
              <a:r>
                <a:rPr lang="en-US" sz="1400" dirty="0">
                  <a:latin typeface="Bookman Old Style" pitchFamily="18" charset="0"/>
                </a:rPr>
                <a:t>) {</a:t>
              </a:r>
            </a:p>
            <a:p>
              <a:pPr>
                <a:lnSpc>
                  <a:spcPct val="150000"/>
                </a:lnSpc>
              </a:pPr>
              <a:r>
                <a:rPr lang="en-US" sz="1400" dirty="0">
                  <a:latin typeface="Bookman Old Style" pitchFamily="18" charset="0"/>
                </a:rPr>
                <a:t>     </a:t>
              </a:r>
              <a:r>
                <a:rPr lang="en-US" sz="1400" dirty="0" err="1">
                  <a:latin typeface="Bookman Old Style" pitchFamily="18" charset="0"/>
                </a:rPr>
                <a:t>System.out.println</a:t>
              </a:r>
              <a:r>
                <a:rPr lang="en-US" sz="1400" dirty="0">
                  <a:latin typeface="Bookman Old Style" pitchFamily="18" charset="0"/>
                </a:rPr>
                <a:t>(</a:t>
              </a:r>
              <a:r>
                <a:rPr lang="en-US" sz="1400" b="1" dirty="0">
                  <a:latin typeface="Bookman Old Style" pitchFamily="18" charset="0"/>
                </a:rPr>
                <a:t>"Welcome to Java</a:t>
              </a:r>
              <a:r>
                <a:rPr lang="en-US" sz="1400" dirty="0">
                  <a:latin typeface="Bookman Old Style" pitchFamily="18" charset="0"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sz="1400" dirty="0">
                  <a:latin typeface="Bookman Old Style" pitchFamily="18" charset="0"/>
                </a:rPr>
                <a:t>   }</a:t>
              </a:r>
            </a:p>
            <a:p>
              <a:pPr>
                <a:lnSpc>
                  <a:spcPct val="150000"/>
                </a:lnSpc>
              </a:pPr>
              <a:r>
                <a:rPr lang="en-US" sz="1400" dirty="0">
                  <a:latin typeface="Bookman Old Style" pitchFamily="18" charset="0"/>
                </a:rPr>
                <a:t> }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012160" y="1969095"/>
              <a:ext cx="1279517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Bookman Old Style" pitchFamily="18" charset="0"/>
                </a:rPr>
                <a:t>missing void</a:t>
              </a: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3676840" y="2105560"/>
              <a:ext cx="2376264" cy="216024"/>
              <a:chOff x="3635896" y="2132856"/>
              <a:chExt cx="2376264" cy="216024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>
                <a:off x="3635896" y="2132856"/>
                <a:ext cx="0" cy="21602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3635896" y="2132856"/>
                <a:ext cx="2376264" cy="0"/>
              </a:xfrm>
              <a:prstGeom prst="line">
                <a:avLst/>
              </a:prstGeom>
              <a:ln w="28575">
                <a:solidFill>
                  <a:srgbClr val="3399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 flipV="1">
              <a:off x="5895326" y="2704790"/>
              <a:ext cx="800402" cy="288570"/>
              <a:chOff x="3635896" y="2132856"/>
              <a:chExt cx="2376264" cy="216024"/>
            </a:xfrm>
          </p:grpSpPr>
          <p:cxnSp>
            <p:nvCxnSpPr>
              <p:cNvPr id="29" name="Straight Arrow Connector 28"/>
              <p:cNvCxnSpPr/>
              <p:nvPr/>
            </p:nvCxnSpPr>
            <p:spPr>
              <a:xfrm>
                <a:off x="3635896" y="2132856"/>
                <a:ext cx="0" cy="21602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3635896" y="2132856"/>
                <a:ext cx="2376264" cy="0"/>
              </a:xfrm>
              <a:prstGeom prst="line">
                <a:avLst/>
              </a:prstGeom>
              <a:ln w="28575">
                <a:solidFill>
                  <a:srgbClr val="3399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/>
            <p:cNvSpPr txBox="1"/>
            <p:nvPr/>
          </p:nvSpPr>
          <p:spPr>
            <a:xfrm>
              <a:off x="5652120" y="2974156"/>
              <a:ext cx="2951449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Bookman Old Style" pitchFamily="18" charset="0"/>
                </a:rPr>
                <a:t>missing closing quotation 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2891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99592" y="2270760"/>
            <a:ext cx="7488832" cy="1371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Topic 2</a:t>
            </a:r>
            <a:br>
              <a:rPr lang="en-US" dirty="0"/>
            </a:br>
            <a:r>
              <a:rPr lang="en-US" dirty="0"/>
              <a:t>Variables, Data Types and Arrays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3498" y="6680827"/>
            <a:ext cx="533400" cy="244476"/>
          </a:xfrm>
        </p:spPr>
        <p:txBody>
          <a:bodyPr>
            <a:normAutofit fontScale="92500" lnSpcReduction="10000"/>
          </a:bodyPr>
          <a:lstStyle/>
          <a:p>
            <a:pPr algn="r"/>
            <a:fld id="{A0D09A74-B91A-40A4-90D1-93FE587BC1C3}" type="slidenum">
              <a:rPr lang="en-US" smtClean="0"/>
              <a:pPr algn="r"/>
              <a:t>17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33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776" y="197768"/>
            <a:ext cx="7620000" cy="1143000"/>
          </a:xfrm>
        </p:spPr>
        <p:txBody>
          <a:bodyPr/>
          <a:lstStyle/>
          <a:p>
            <a:r>
              <a:rPr lang="en-US" dirty="0"/>
              <a:t>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712968" cy="5544616"/>
          </a:xfrm>
        </p:spPr>
        <p:txBody>
          <a:bodyPr>
            <a:normAutofit lnSpcReduction="10000"/>
          </a:bodyPr>
          <a:lstStyle/>
          <a:p>
            <a:pPr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Bookman Old Style" pitchFamily="18" charset="0"/>
              </a:rPr>
              <a:t>Identifiers are the names that identify the elements such as classes, methods, and variables in a program.</a:t>
            </a:r>
          </a:p>
          <a:p>
            <a:pPr lvl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err="1">
                <a:latin typeface="Bookman Old Style" pitchFamily="18" charset="0"/>
              </a:rPr>
              <a:t>Eg</a:t>
            </a:r>
            <a:r>
              <a:rPr lang="en-US" sz="2000" dirty="0">
                <a:latin typeface="Bookman Old Style" pitchFamily="18" charset="0"/>
              </a:rPr>
              <a:t>. class </a:t>
            </a:r>
            <a:r>
              <a:rPr lang="en-US" sz="2000" b="1" dirty="0" err="1">
                <a:latin typeface="Bookman Old Style" pitchFamily="18" charset="0"/>
              </a:rPr>
              <a:t>MyProgram</a:t>
            </a:r>
            <a:endParaRPr lang="en-US" sz="2000" b="1" dirty="0">
              <a:latin typeface="Bookman Old Style" pitchFamily="18" charset="0"/>
            </a:endParaRPr>
          </a:p>
          <a:p>
            <a:pPr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Bookman Old Style" pitchFamily="18" charset="0"/>
              </a:rPr>
              <a:t>All identifiers must obey the following rules:</a:t>
            </a:r>
          </a:p>
          <a:p>
            <a:pPr lvl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 A sequence of characters that consists of letters, digits, underscores (_), and dollar signs ($).</a:t>
            </a:r>
          </a:p>
          <a:p>
            <a:pPr lvl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Must start with a letter, an underscore (_), or a dollar sign ($). It cannot start with a digit.</a:t>
            </a:r>
          </a:p>
          <a:p>
            <a:pPr lvl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Cannot be a reserved word. </a:t>
            </a:r>
          </a:p>
          <a:p>
            <a:pPr lvl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Cannot be true, false, or null.</a:t>
            </a:r>
          </a:p>
          <a:p>
            <a:pPr lvl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Can be of any length.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5888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18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85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274637"/>
            <a:ext cx="7620000" cy="1143000"/>
          </a:xfrm>
        </p:spPr>
        <p:txBody>
          <a:bodyPr/>
          <a:lstStyle/>
          <a:p>
            <a:r>
              <a:rPr lang="en-US" dirty="0"/>
              <a:t>Primitive Data Types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03880" y="6597352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19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15008" y="1139930"/>
            <a:ext cx="8928992" cy="5472609"/>
            <a:chOff x="251520" y="1196751"/>
            <a:chExt cx="8928992" cy="5472609"/>
          </a:xfrm>
        </p:grpSpPr>
        <p:pic>
          <p:nvPicPr>
            <p:cNvPr id="14338" name="Picture 2" descr="DataType - Java Tutorial - Edureka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26"/>
            <a:stretch/>
          </p:blipFill>
          <p:spPr bwMode="auto">
            <a:xfrm>
              <a:off x="251520" y="1196751"/>
              <a:ext cx="8892481" cy="5117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467544" y="5805264"/>
              <a:ext cx="223224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771800" y="4437112"/>
              <a:ext cx="259228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37677" y="3573016"/>
              <a:ext cx="223224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406437" y="3933056"/>
              <a:ext cx="1774075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50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188640"/>
            <a:ext cx="7620000" cy="1143000"/>
          </a:xfrm>
        </p:spPr>
        <p:txBody>
          <a:bodyPr/>
          <a:lstStyle/>
          <a:p>
            <a:r>
              <a:rPr lang="en-US" dirty="0"/>
              <a:t>Range of Data Types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775888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20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67544" y="3573016"/>
            <a:ext cx="8712968" cy="3096344"/>
            <a:chOff x="467544" y="3573016"/>
            <a:chExt cx="8712968" cy="3096344"/>
          </a:xfrm>
        </p:grpSpPr>
        <p:sp>
          <p:nvSpPr>
            <p:cNvPr id="4" name="Rectangle 3"/>
            <p:cNvSpPr/>
            <p:nvPr/>
          </p:nvSpPr>
          <p:spPr>
            <a:xfrm>
              <a:off x="467544" y="5805264"/>
              <a:ext cx="223224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771800" y="4437112"/>
              <a:ext cx="259228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37677" y="3573016"/>
              <a:ext cx="223224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406437" y="3933056"/>
              <a:ext cx="1774075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36" y="2011856"/>
            <a:ext cx="7315200" cy="1709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47589" y="1622199"/>
            <a:ext cx="1334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Bookman Old Style" pitchFamily="18" charset="0"/>
              </a:rPr>
              <a:t>Integer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216" y="4028081"/>
            <a:ext cx="7315200" cy="112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47589" y="3653231"/>
            <a:ext cx="2571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Bookman Old Style" pitchFamily="18" charset="0"/>
              </a:rPr>
              <a:t>Floating-point </a:t>
            </a:r>
          </a:p>
        </p:txBody>
      </p:sp>
    </p:spTree>
    <p:extLst>
      <p:ext uri="{BB962C8B-B14F-4D97-AF65-F5344CB8AC3E}">
        <p14:creationId xmlns:p14="http://schemas.microsoft.com/office/powerpoint/2010/main" val="3271599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52" y="332656"/>
            <a:ext cx="9036496" cy="1152128"/>
          </a:xfrm>
        </p:spPr>
        <p:txBody>
          <a:bodyPr>
            <a:normAutofit fontScale="92500" lnSpcReduction="20000"/>
          </a:bodyPr>
          <a:lstStyle/>
          <a:p>
            <a:pPr marL="0" indent="0" latinLnBrk="0">
              <a:buNone/>
            </a:pPr>
            <a:r>
              <a:rPr lang="en-US" sz="2000" dirty="0">
                <a:solidFill>
                  <a:srgbClr val="0000CC"/>
                </a:solidFill>
                <a:latin typeface="Bookman Old Style" pitchFamily="18" charset="0"/>
              </a:rPr>
              <a:t>Example 1</a:t>
            </a:r>
            <a:r>
              <a:rPr lang="en-US" sz="2000" dirty="0">
                <a:latin typeface="Bookman Old Style" pitchFamily="18" charset="0"/>
              </a:rPr>
              <a:t>: Write a program that computes the number of miles that light will travel in 1000 days. Approximate speed of light in miles per second is 186000.</a:t>
            </a:r>
          </a:p>
          <a:p>
            <a:pPr marL="0" indent="0" latinLnBrk="0">
              <a:buNone/>
            </a:pPr>
            <a:r>
              <a:rPr lang="en-US" sz="2000" dirty="0">
                <a:latin typeface="Bookman Old Style" pitchFamily="18" charset="0"/>
              </a:rPr>
              <a:t>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847896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21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1412776"/>
            <a:ext cx="770485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Bookman Old Style" pitchFamily="18" charset="0"/>
              </a:rPr>
              <a:t>// Compute distance light travels using long variables.</a:t>
            </a:r>
          </a:p>
          <a:p>
            <a:r>
              <a:rPr lang="en-US" dirty="0">
                <a:latin typeface="Bookman Old Style" pitchFamily="18" charset="0"/>
              </a:rPr>
              <a:t>class Light {</a:t>
            </a:r>
          </a:p>
          <a:p>
            <a:r>
              <a:rPr lang="en-US" dirty="0">
                <a:latin typeface="Bookman Old Style" pitchFamily="18" charset="0"/>
              </a:rPr>
              <a:t>  public static void main(String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[]) {</a:t>
            </a:r>
          </a:p>
          <a:p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lightspeed</a:t>
            </a:r>
            <a:r>
              <a:rPr lang="en-US" dirty="0">
                <a:latin typeface="Bookman Old Style" pitchFamily="18" charset="0"/>
              </a:rPr>
              <a:t>;</a:t>
            </a:r>
          </a:p>
          <a:p>
            <a:r>
              <a:rPr lang="en-US" dirty="0">
                <a:latin typeface="Bookman Old Style" pitchFamily="18" charset="0"/>
              </a:rPr>
              <a:t>    long days;</a:t>
            </a:r>
          </a:p>
          <a:p>
            <a:r>
              <a:rPr lang="en-US" dirty="0">
                <a:latin typeface="Bookman Old Style" pitchFamily="18" charset="0"/>
              </a:rPr>
              <a:t>    long seconds;</a:t>
            </a:r>
          </a:p>
          <a:p>
            <a:r>
              <a:rPr lang="en-US" dirty="0">
                <a:latin typeface="Bookman Old Style" pitchFamily="18" charset="0"/>
              </a:rPr>
              <a:t>    </a:t>
            </a:r>
            <a:r>
              <a:rPr lang="en-US" b="1" dirty="0">
                <a:latin typeface="Bookman Old Style" pitchFamily="18" charset="0"/>
              </a:rPr>
              <a:t>long</a:t>
            </a:r>
            <a:r>
              <a:rPr lang="en-US" dirty="0">
                <a:latin typeface="Bookman Old Style" pitchFamily="18" charset="0"/>
              </a:rPr>
              <a:t> distance;</a:t>
            </a:r>
          </a:p>
          <a:p>
            <a:r>
              <a:rPr lang="en-US" dirty="0">
                <a:latin typeface="Bookman Old Style" pitchFamily="18" charset="0"/>
              </a:rPr>
              <a:t>    // approximate speed of light in miles per second</a:t>
            </a:r>
          </a:p>
          <a:p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lightspeed</a:t>
            </a:r>
            <a:r>
              <a:rPr lang="en-US" dirty="0">
                <a:latin typeface="Bookman Old Style" pitchFamily="18" charset="0"/>
              </a:rPr>
              <a:t> = 186000;</a:t>
            </a:r>
          </a:p>
          <a:p>
            <a:r>
              <a:rPr lang="en-US" dirty="0">
                <a:latin typeface="Bookman Old Style" pitchFamily="18" charset="0"/>
              </a:rPr>
              <a:t>    days = 1000;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ookman Old Style" pitchFamily="18" charset="0"/>
              </a:rPr>
              <a:t>// specify number of days here</a:t>
            </a:r>
          </a:p>
          <a:p>
            <a:r>
              <a:rPr lang="en-US" dirty="0">
                <a:latin typeface="Bookman Old Style" pitchFamily="18" charset="0"/>
              </a:rPr>
              <a:t>    seconds = days * 24 * 60 * 60;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ookman Old Style" pitchFamily="18" charset="0"/>
              </a:rPr>
              <a:t>// convert to seconds</a:t>
            </a:r>
          </a:p>
          <a:p>
            <a:r>
              <a:rPr lang="en-US" dirty="0">
                <a:latin typeface="Bookman Old Style" pitchFamily="18" charset="0"/>
              </a:rPr>
              <a:t>    distance = </a:t>
            </a:r>
            <a:r>
              <a:rPr lang="en-US" dirty="0" err="1">
                <a:latin typeface="Bookman Old Style" pitchFamily="18" charset="0"/>
              </a:rPr>
              <a:t>lightspeed</a:t>
            </a:r>
            <a:r>
              <a:rPr lang="en-US" dirty="0">
                <a:latin typeface="Bookman Old Style" pitchFamily="18" charset="0"/>
              </a:rPr>
              <a:t> * seconds;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ookman Old Style" pitchFamily="18" charset="0"/>
              </a:rPr>
              <a:t>// compute distance</a:t>
            </a:r>
          </a:p>
          <a:p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System.out.print</a:t>
            </a:r>
            <a:r>
              <a:rPr lang="en-US" dirty="0">
                <a:latin typeface="Bookman Old Style" pitchFamily="18" charset="0"/>
              </a:rPr>
              <a:t>("In " + days);</a:t>
            </a:r>
          </a:p>
          <a:p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System.out.print</a:t>
            </a:r>
            <a:r>
              <a:rPr lang="en-US" dirty="0">
                <a:latin typeface="Bookman Old Style" pitchFamily="18" charset="0"/>
              </a:rPr>
              <a:t>(" days light will travel about ");</a:t>
            </a:r>
          </a:p>
          <a:p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(distance + " miles.");</a:t>
            </a:r>
          </a:p>
          <a:p>
            <a:r>
              <a:rPr lang="en-US" dirty="0">
                <a:latin typeface="Bookman Old Style" pitchFamily="18" charset="0"/>
              </a:rPr>
              <a:t>  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75856" y="6198701"/>
            <a:ext cx="5616624" cy="3077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Bookman Old Style" pitchFamily="18" charset="0"/>
              </a:rPr>
              <a:t>In 1000 days light will travel about 16070400000000 miles.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4797" y="6217567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ookman Old Style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31458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985" y="484514"/>
            <a:ext cx="8758037" cy="936104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0000CC"/>
                </a:solidFill>
                <a:latin typeface="Bookman Old Style" pitchFamily="18" charset="0"/>
              </a:rPr>
              <a:t>Example 2</a:t>
            </a:r>
            <a:r>
              <a:rPr lang="en-US" sz="2000" dirty="0">
                <a:latin typeface="Bookman Old Style" pitchFamily="18" charset="0"/>
              </a:rPr>
              <a:t>: Write a program to compute the area of the circle. Size of radius is 10.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775888" y="6638296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22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99592" y="1484784"/>
            <a:ext cx="7416824" cy="3660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i="1" dirty="0">
                <a:latin typeface="Bookman Old Style" pitchFamily="18" charset="0"/>
              </a:rPr>
              <a:t>// Compute the area of a circle.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Bookman Old Style" pitchFamily="18" charset="0"/>
              </a:rPr>
              <a:t>class Area {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Bookman Old Style" pitchFamily="18" charset="0"/>
              </a:rPr>
              <a:t>  public static void main(String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[]) {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Bookman Old Style" pitchFamily="18" charset="0"/>
              </a:rPr>
              <a:t>    double pi, r, a;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Bookman Old Style" pitchFamily="18" charset="0"/>
              </a:rPr>
              <a:t>    r = 10.8;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ookman Old Style" pitchFamily="18" charset="0"/>
              </a:rPr>
              <a:t>// radius of circle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Bookman Old Style" pitchFamily="18" charset="0"/>
              </a:rPr>
              <a:t>    pi = 3.1416;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ookman Old Style" pitchFamily="18" charset="0"/>
              </a:rPr>
              <a:t>// pi, approximately</a:t>
            </a:r>
          </a:p>
          <a:p>
            <a:pPr>
              <a:lnSpc>
                <a:spcPct val="130000"/>
              </a:lnSpc>
            </a:pPr>
            <a:r>
              <a:rPr lang="pt-BR" dirty="0">
                <a:latin typeface="Bookman Old Style" pitchFamily="18" charset="0"/>
              </a:rPr>
              <a:t>    a = pi * r * r; 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  <a:latin typeface="Bookman Old Style" pitchFamily="18" charset="0"/>
              </a:rPr>
              <a:t>// compute area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("Area of circle is " + a);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Bookman Old Style" pitchFamily="18" charset="0"/>
              </a:rPr>
              <a:t>  }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Bookman Old Style" pitchFamily="18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5624" y="5733256"/>
            <a:ext cx="2638864" cy="30777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sz="1400" dirty="0">
                <a:latin typeface="Bookman Old Style" pitchFamily="18" charset="0"/>
              </a:rPr>
              <a:t>Area of circle is 366.436224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3651" y="5733256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ookman Old Style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29865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188640"/>
            <a:ext cx="7620000" cy="1143000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775888" y="6635722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23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67544" y="3573016"/>
            <a:ext cx="8712968" cy="3096344"/>
            <a:chOff x="467544" y="3573016"/>
            <a:chExt cx="8712968" cy="3096344"/>
          </a:xfrm>
        </p:grpSpPr>
        <p:sp>
          <p:nvSpPr>
            <p:cNvPr id="4" name="Rectangle 3"/>
            <p:cNvSpPr/>
            <p:nvPr/>
          </p:nvSpPr>
          <p:spPr>
            <a:xfrm>
              <a:off x="467544" y="5805264"/>
              <a:ext cx="223224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771800" y="4437112"/>
              <a:ext cx="259228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37677" y="3573016"/>
              <a:ext cx="223224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406437" y="3933056"/>
              <a:ext cx="1774075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5496" y="1217374"/>
            <a:ext cx="9073008" cy="5596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A memory location with a name and can be manipulated by programs</a:t>
            </a: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For representing data of a certain type</a:t>
            </a:r>
          </a:p>
          <a:p>
            <a:pPr marL="0" indent="0" algn="just" latinLnBrk="0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2000" dirty="0">
                <a:latin typeface="Bookman Old Style" pitchFamily="18" charset="0"/>
                <a:cs typeface="Cambria"/>
              </a:rPr>
              <a:t>	</a:t>
            </a:r>
            <a:r>
              <a:rPr lang="en-US" sz="1800" b="1" dirty="0" err="1">
                <a:latin typeface="Bookman Old Style" pitchFamily="18" charset="0"/>
                <a:cs typeface="Cambria"/>
              </a:rPr>
              <a:t>datatype</a:t>
            </a:r>
            <a:r>
              <a:rPr lang="en-US" sz="1800" dirty="0">
                <a:latin typeface="Bookman Old Style" pitchFamily="18" charset="0"/>
                <a:cs typeface="Cambria"/>
              </a:rPr>
              <a:t>  identifier;</a:t>
            </a:r>
          </a:p>
          <a:p>
            <a:pPr marL="457200" lvl="1" indent="0" algn="just" latinLnBrk="0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800" dirty="0">
                <a:latin typeface="Bookman Old Style" pitchFamily="18" charset="0"/>
                <a:cs typeface="Cambria"/>
              </a:rPr>
              <a:t>	</a:t>
            </a:r>
            <a:r>
              <a:rPr lang="en-US" sz="1800" b="1" dirty="0" err="1">
                <a:latin typeface="Bookman Old Style" pitchFamily="18" charset="0"/>
                <a:cs typeface="Cambria"/>
              </a:rPr>
              <a:t>datatype</a:t>
            </a:r>
            <a:r>
              <a:rPr lang="en-US" sz="1800" dirty="0">
                <a:latin typeface="Bookman Old Style" pitchFamily="18" charset="0"/>
                <a:cs typeface="Cambria"/>
              </a:rPr>
              <a:t>  identifier1, identifier2, … , </a:t>
            </a:r>
            <a:r>
              <a:rPr lang="en-US" sz="1800" dirty="0" err="1">
                <a:latin typeface="Bookman Old Style" pitchFamily="18" charset="0"/>
                <a:cs typeface="Cambria"/>
              </a:rPr>
              <a:t>identifier_n</a:t>
            </a:r>
            <a:r>
              <a:rPr lang="en-US" sz="1800" dirty="0">
                <a:latin typeface="Bookman Old Style" pitchFamily="18" charset="0"/>
                <a:cs typeface="Cambria"/>
              </a:rPr>
              <a:t>;</a:t>
            </a:r>
          </a:p>
          <a:p>
            <a:pPr marL="400050" lvl="2" indent="0" algn="just" latinLnBrk="0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800" dirty="0">
                <a:latin typeface="Bookman Old Style" pitchFamily="18" charset="0"/>
                <a:cs typeface="Cambria"/>
              </a:rPr>
              <a:t>	</a:t>
            </a:r>
            <a:r>
              <a:rPr lang="en-US" sz="1800" b="1" dirty="0" err="1">
                <a:latin typeface="Bookman Old Style" pitchFamily="18" charset="0"/>
                <a:cs typeface="Cambria"/>
              </a:rPr>
              <a:t>int</a:t>
            </a:r>
            <a:r>
              <a:rPr lang="en-US" sz="1800" dirty="0">
                <a:latin typeface="Bookman Old Style" pitchFamily="18" charset="0"/>
                <a:cs typeface="Cambria"/>
              </a:rPr>
              <a:t> a, b, c; // declares three </a:t>
            </a:r>
            <a:r>
              <a:rPr lang="en-US" sz="1800" dirty="0" err="1">
                <a:latin typeface="Bookman Old Style" pitchFamily="18" charset="0"/>
                <a:cs typeface="Cambria"/>
              </a:rPr>
              <a:t>ints</a:t>
            </a:r>
            <a:r>
              <a:rPr lang="en-US" sz="1800" dirty="0">
                <a:latin typeface="Bookman Old Style" pitchFamily="18" charset="0"/>
                <a:cs typeface="Cambria"/>
              </a:rPr>
              <a:t>, a, b, and c.</a:t>
            </a:r>
          </a:p>
          <a:p>
            <a:pPr marL="400050" lvl="2" indent="0" algn="just" latinLnBrk="0">
              <a:lnSpc>
                <a:spcPct val="112000"/>
              </a:lnSpc>
              <a:spcBef>
                <a:spcPts val="0"/>
              </a:spcBef>
              <a:buNone/>
            </a:pPr>
            <a:r>
              <a:rPr lang="en-US" sz="1800" dirty="0">
                <a:latin typeface="Bookman Old Style" pitchFamily="18" charset="0"/>
                <a:cs typeface="Cambria"/>
              </a:rPr>
              <a:t>	</a:t>
            </a:r>
            <a:r>
              <a:rPr lang="en-US" sz="1800" b="1" dirty="0" err="1">
                <a:latin typeface="Bookman Old Style" pitchFamily="18" charset="0"/>
                <a:cs typeface="Cambria"/>
              </a:rPr>
              <a:t>int</a:t>
            </a:r>
            <a:r>
              <a:rPr lang="en-US" sz="1800" dirty="0">
                <a:latin typeface="Bookman Old Style" pitchFamily="18" charset="0"/>
                <a:cs typeface="Cambria"/>
              </a:rPr>
              <a:t> d = 3, e, f = 5; // declares three more </a:t>
            </a:r>
            <a:r>
              <a:rPr lang="en-US" sz="1800" dirty="0" err="1">
                <a:latin typeface="Bookman Old Style" pitchFamily="18" charset="0"/>
                <a:cs typeface="Cambria"/>
              </a:rPr>
              <a:t>ints</a:t>
            </a:r>
            <a:r>
              <a:rPr lang="en-US" sz="1800" dirty="0">
                <a:latin typeface="Bookman Old Style" pitchFamily="18" charset="0"/>
                <a:cs typeface="Cambria"/>
              </a:rPr>
              <a:t>, initializing d and f.</a:t>
            </a:r>
          </a:p>
          <a:p>
            <a:pPr marL="400050" lvl="2" indent="0" algn="just" latinLnBrk="0">
              <a:lnSpc>
                <a:spcPct val="112000"/>
              </a:lnSpc>
              <a:spcBef>
                <a:spcPts val="0"/>
              </a:spcBef>
              <a:buNone/>
            </a:pPr>
            <a:endParaRPr lang="en-US" sz="2000" dirty="0">
              <a:latin typeface="Bookman Old Style" pitchFamily="18" charset="0"/>
              <a:cs typeface="Cambria"/>
            </a:endParaRPr>
          </a:p>
          <a:p>
            <a:pPr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Four kinds of variables in Java</a:t>
            </a:r>
          </a:p>
          <a:p>
            <a:pPr marL="914400" lvl="1" indent="-457200" algn="just" latinLnBrk="0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  <a:cs typeface="Cambria"/>
              </a:rPr>
              <a:t>Static </a:t>
            </a:r>
          </a:p>
          <a:p>
            <a:pPr marL="914400" lvl="1" indent="-457200" algn="just" latinLnBrk="0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  <a:cs typeface="Cambria"/>
              </a:rPr>
              <a:t>Non-static</a:t>
            </a:r>
          </a:p>
          <a:p>
            <a:pPr marL="914400" lvl="1" indent="-457200" algn="just" latinLnBrk="0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  <a:cs typeface="Cambria"/>
              </a:rPr>
              <a:t>Local</a:t>
            </a:r>
          </a:p>
          <a:p>
            <a:pPr marL="914400" lvl="1" indent="-457200" algn="just" latinLnBrk="0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  <a:cs typeface="Cambria"/>
              </a:rPr>
              <a:t>Parameters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87896" y="1277145"/>
            <a:ext cx="9073008" cy="5596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latinLnBrk="0">
              <a:lnSpc>
                <a:spcPct val="9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1700" dirty="0">
              <a:latin typeface="Bookman Old Style" pitchFamily="18" charset="0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81322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188640"/>
            <a:ext cx="7620000" cy="1143000"/>
          </a:xfrm>
        </p:spPr>
        <p:txBody>
          <a:bodyPr/>
          <a:lstStyle/>
          <a:p>
            <a:r>
              <a:rPr lang="en-US" dirty="0"/>
              <a:t>Variables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775888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24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-324544" y="1062433"/>
            <a:ext cx="9073008" cy="5596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algn="just" latinLnBrk="0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  <a:cs typeface="Cambria"/>
              </a:rPr>
              <a:t>Static</a:t>
            </a:r>
          </a:p>
          <a:p>
            <a:pPr marL="1314450" lvl="2" indent="-457200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dirty="0">
                <a:latin typeface="Bookman Old Style" pitchFamily="18" charset="0"/>
                <a:cs typeface="Cambria"/>
              </a:rPr>
              <a:t>Variables declared inside the class and outside methods, with the modifier “</a:t>
            </a:r>
            <a:r>
              <a:rPr lang="en-US" sz="1600" b="1" dirty="0">
                <a:latin typeface="Bookman Old Style" pitchFamily="18" charset="0"/>
                <a:cs typeface="Cambria"/>
              </a:rPr>
              <a:t>static</a:t>
            </a:r>
            <a:r>
              <a:rPr lang="en-US" sz="1600" dirty="0">
                <a:latin typeface="Bookman Old Style" pitchFamily="18" charset="0"/>
                <a:cs typeface="Cambria"/>
              </a:rPr>
              <a:t>”</a:t>
            </a:r>
          </a:p>
          <a:p>
            <a:pPr marL="1314450" lvl="2" indent="-457200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dirty="0">
                <a:latin typeface="Bookman Old Style" pitchFamily="18" charset="0"/>
                <a:cs typeface="Cambria"/>
              </a:rPr>
              <a:t>Any changes on static variable by an instance of the class is reflected in all other instances of the class</a:t>
            </a:r>
          </a:p>
          <a:p>
            <a:pPr marL="1314450" lvl="2" indent="-457200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dirty="0">
                <a:latin typeface="Bookman Old Style" pitchFamily="18" charset="0"/>
                <a:cs typeface="Cambria"/>
              </a:rPr>
              <a:t>“final” modifier should be used during variable declaration to avoid changing the value and to keep it constant</a:t>
            </a:r>
          </a:p>
          <a:p>
            <a:pPr marL="914400" lvl="1" indent="-457200" algn="just" latinLnBrk="0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  <a:cs typeface="Cambria"/>
              </a:rPr>
              <a:t>Non-static </a:t>
            </a:r>
          </a:p>
          <a:p>
            <a:pPr marL="1314450" lvl="2" indent="-457200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dirty="0">
                <a:latin typeface="Bookman Old Style" pitchFamily="18" charset="0"/>
                <a:cs typeface="Cambria"/>
              </a:rPr>
              <a:t>Variables declared inside the class and outside methods, without the modifier “static”</a:t>
            </a:r>
          </a:p>
          <a:p>
            <a:pPr marL="1314450" lvl="2" indent="-457200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dirty="0">
                <a:latin typeface="Bookman Old Style" pitchFamily="18" charset="0"/>
                <a:cs typeface="Cambria"/>
              </a:rPr>
              <a:t>Variable value could differ from one instance to another instance of the same class</a:t>
            </a:r>
          </a:p>
          <a:p>
            <a:pPr marL="914400" lvl="1" indent="-457200" algn="just" latinLnBrk="0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  <a:cs typeface="Cambria"/>
              </a:rPr>
              <a:t>Local</a:t>
            </a:r>
          </a:p>
          <a:p>
            <a:pPr marL="1314450" lvl="2" indent="-457200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dirty="0">
                <a:latin typeface="Bookman Old Style" pitchFamily="18" charset="0"/>
                <a:cs typeface="Cambria"/>
              </a:rPr>
              <a:t>Variables declared inside methods</a:t>
            </a:r>
          </a:p>
          <a:p>
            <a:pPr marL="914400" lvl="1" indent="-457200" algn="just" latinLnBrk="0">
              <a:lnSpc>
                <a:spcPct val="112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  <a:cs typeface="Cambria"/>
              </a:rPr>
              <a:t>Parameters</a:t>
            </a:r>
          </a:p>
          <a:p>
            <a:pPr marL="1314450" lvl="2" indent="-457200" algn="just" latinLnBrk="0">
              <a:lnSpc>
                <a:spcPct val="112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dirty="0">
                <a:latin typeface="Bookman Old Style" pitchFamily="18" charset="0"/>
                <a:cs typeface="Cambria"/>
              </a:rPr>
              <a:t>These variables are declared in the signature of a method or constructor or even in exception handlers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87896" y="1277145"/>
            <a:ext cx="9073008" cy="5596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latinLnBrk="0">
              <a:lnSpc>
                <a:spcPct val="9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1700" dirty="0">
              <a:latin typeface="Bookman Old Style" pitchFamily="18" charset="0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15929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2184" y="1059674"/>
            <a:ext cx="8892480" cy="534524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public class Employee {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public String name; //Non-static variable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static final String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dept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= “IT”;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  <a:cs typeface="Arial" pitchFamily="34" charset="0"/>
              </a:rPr>
              <a:t>//Static variable which cannot be changed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private double salary;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  <a:cs typeface="Arial" pitchFamily="34" charset="0"/>
              </a:rPr>
              <a:t>//Non-static variable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public Employee (String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empName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) 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  <a:cs typeface="Arial" pitchFamily="34" charset="0"/>
              </a:rPr>
              <a:t>//Parameter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{      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	name =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empName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;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}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public void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setSalary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(double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empSal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) {</a:t>
            </a:r>
          </a:p>
          <a:p>
            <a:pPr lvl="1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 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rate=40;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  <a:cs typeface="Arial" pitchFamily="34" charset="0"/>
              </a:rPr>
              <a:t>//Local variable</a:t>
            </a:r>
          </a:p>
          <a:p>
            <a:pPr lvl="1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  salary =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empSal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* rate;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}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public static void main(String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args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[]) {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  Employee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empOne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= new Employee("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Ransika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");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 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empOne.setSalary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(1000);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}</a:t>
            </a:r>
          </a:p>
          <a:p>
            <a:pPr lvl="0" fontAlgn="base" latinLnBrk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}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itchFamily="18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68424" y="188640"/>
            <a:ext cx="76200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Variables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818584" y="6638296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25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855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6258" y="836712"/>
            <a:ext cx="8382000" cy="53361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class Scope {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z;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//Known to all instances of the class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public static void main(String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args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[]) {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x;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 known to all code within main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x = 10;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if(x == 10) {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y = 20;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 known only to this block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	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 x and y both known here.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("x and y: " + x + " " + y);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	x = y * 2;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}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              y = 100;   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 Error! y not known here</a:t>
            </a:r>
          </a:p>
          <a:p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		 </a:t>
            </a:r>
            <a:r>
              <a:rPr lang="en-US" dirty="0" err="1">
                <a:solidFill>
                  <a:srgbClr val="000000"/>
                </a:solidFill>
                <a:latin typeface="Bookman Old Style" pitchFamily="18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Bookman Old Style" pitchFamily="18" charset="0"/>
              </a:rPr>
              <a:t> y=100;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//Error! Cannot declare a variable to have   </a:t>
            </a:r>
          </a:p>
          <a:p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			      the same name as one in an outer scope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 x is still known here.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("x is " + x);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}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}</a:t>
            </a:r>
            <a:endParaRPr lang="en-US" b="1" dirty="0">
              <a:solidFill>
                <a:schemeClr val="tx1"/>
              </a:solidFill>
              <a:latin typeface="Bookman Old Style" pitchFamily="18" charset="0"/>
            </a:endParaRP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565320" y="310086"/>
            <a:ext cx="8121480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6504" y="191933"/>
            <a:ext cx="8382000" cy="1143000"/>
          </a:xfrm>
        </p:spPr>
        <p:txBody>
          <a:bodyPr/>
          <a:lstStyle/>
          <a:p>
            <a:pPr marL="0" indent="0"/>
            <a:r>
              <a:rPr lang="en-US" sz="3200" dirty="0"/>
              <a:t>The Scope and Lifetime of Variables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820472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26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036677"/>
            <a:ext cx="914400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  <a:latin typeface="Bookman Old Style" pitchFamily="18" charset="0"/>
              </a:rPr>
              <a:t>“ Variables declared inside a scope are not visible (that is, accessible) to</a:t>
            </a:r>
          </a:p>
          <a:p>
            <a:pPr algn="ctr"/>
            <a:r>
              <a:rPr lang="en-US" dirty="0">
                <a:solidFill>
                  <a:srgbClr val="0000CC"/>
                </a:solidFill>
                <a:latin typeface="Bookman Old Style" pitchFamily="18" charset="0"/>
              </a:rPr>
              <a:t>code that is defined outside that scope”</a:t>
            </a:r>
          </a:p>
        </p:txBody>
      </p:sp>
    </p:spTree>
    <p:extLst>
      <p:ext uri="{BB962C8B-B14F-4D97-AF65-F5344CB8AC3E}">
        <p14:creationId xmlns:p14="http://schemas.microsoft.com/office/powerpoint/2010/main" val="163668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6504" y="1124744"/>
            <a:ext cx="8686800" cy="48768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// Demonstrate lifetime of a variable.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class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LifeTime</a:t>
            </a:r>
            <a:endParaRPr lang="en-US" dirty="0">
              <a:solidFill>
                <a:schemeClr val="tx1"/>
              </a:solidFill>
              <a:latin typeface="Bookman Old Style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public static void main(String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args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[]) 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{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x;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for(x = 0; x &lt; 3; x++) 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{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   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y = -1;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 y is initialized each time block is entered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   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("y is: " + y);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 this always prints -1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    y = 100;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   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("y is now: " + y);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}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}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}</a:t>
            </a:r>
            <a:endParaRPr lang="en-US" b="1" dirty="0">
              <a:solidFill>
                <a:schemeClr val="tx1"/>
              </a:solidFill>
              <a:latin typeface="Bookman Old Style" pitchFamily="18" charset="0"/>
            </a:endParaRPr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316504" y="191933"/>
            <a:ext cx="8719992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200" dirty="0"/>
              <a:t>The Scope and Lifetime of Variables (</a:t>
            </a:r>
            <a:r>
              <a:rPr lang="en-US" sz="3200" dirty="0" err="1"/>
              <a:t>cont</a:t>
            </a:r>
            <a:r>
              <a:rPr lang="en-US" sz="3200" dirty="0"/>
              <a:t>’)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32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27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540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32" y="179101"/>
            <a:ext cx="7620000" cy="1143000"/>
          </a:xfrm>
        </p:spPr>
        <p:txBody>
          <a:bodyPr/>
          <a:lstStyle/>
          <a:p>
            <a:r>
              <a:rPr lang="en-US" dirty="0"/>
              <a:t>Type Conversion and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7620000" cy="5328592"/>
          </a:xfrm>
        </p:spPr>
        <p:txBody>
          <a:bodyPr>
            <a:noAutofit/>
          </a:bodyPr>
          <a:lstStyle/>
          <a:p>
            <a:pPr latinLnBrk="0"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Automatic Conversion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The two types are compatible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The destination type is larger than the source type</a:t>
            </a:r>
          </a:p>
          <a:p>
            <a:pPr marL="457200" lvl="1" indent="0" latinLnBrk="0">
              <a:buNone/>
            </a:pP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dirty="0" err="1">
                <a:latin typeface="Bookman Old Style" pitchFamily="18" charset="0"/>
              </a:rPr>
              <a:t>eg</a:t>
            </a:r>
            <a:r>
              <a:rPr lang="en-US" sz="1600" dirty="0">
                <a:latin typeface="Bookman Old Style" pitchFamily="18" charset="0"/>
              </a:rPr>
              <a:t>. double d; </a:t>
            </a:r>
          </a:p>
          <a:p>
            <a:pPr marL="457200" lvl="1" indent="0" latinLnBrk="0">
              <a:buNone/>
            </a:pPr>
            <a:r>
              <a:rPr lang="en-US" sz="1600" dirty="0">
                <a:latin typeface="Bookman Old Style" pitchFamily="18" charset="0"/>
              </a:rPr>
              <a:t>      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i=90;</a:t>
            </a:r>
          </a:p>
          <a:p>
            <a:pPr marL="457200" lvl="1" indent="0" latinLnBrk="0">
              <a:buNone/>
            </a:pPr>
            <a:r>
              <a:rPr lang="en-US" sz="1600" dirty="0">
                <a:latin typeface="Bookman Old Style" pitchFamily="18" charset="0"/>
              </a:rPr>
              <a:t>	d=i;</a:t>
            </a:r>
          </a:p>
          <a:p>
            <a:pPr latinLnBrk="0"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Casting Incompatible Types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(</a:t>
            </a:r>
            <a:r>
              <a:rPr lang="en-US" sz="1600" b="1" dirty="0">
                <a:solidFill>
                  <a:srgbClr val="FF0000"/>
                </a:solidFill>
                <a:latin typeface="Bookman Old Style" pitchFamily="18" charset="0"/>
              </a:rPr>
              <a:t>target type</a:t>
            </a:r>
            <a:r>
              <a:rPr lang="en-US" sz="1600" dirty="0">
                <a:latin typeface="Bookman Old Style" pitchFamily="18" charset="0"/>
              </a:rPr>
              <a:t>) value</a:t>
            </a:r>
          </a:p>
          <a:p>
            <a:pPr marL="914400" lvl="3" indent="0" latinLnBrk="0">
              <a:buNone/>
            </a:pP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a;</a:t>
            </a:r>
          </a:p>
          <a:p>
            <a:pPr marL="914400" lvl="3" indent="0" latinLnBrk="0">
              <a:buNone/>
            </a:pPr>
            <a:r>
              <a:rPr lang="en-US" sz="1600" dirty="0">
                <a:latin typeface="Bookman Old Style" pitchFamily="18" charset="0"/>
              </a:rPr>
              <a:t>byte b;</a:t>
            </a:r>
          </a:p>
          <a:p>
            <a:pPr marL="914400" lvl="3" indent="0" latinLnBrk="0">
              <a:buNone/>
            </a:pPr>
            <a:r>
              <a:rPr lang="en-US" sz="1600" dirty="0">
                <a:latin typeface="Bookman Old Style" pitchFamily="18" charset="0"/>
              </a:rPr>
              <a:t>b=(byte) a; </a:t>
            </a:r>
          </a:p>
          <a:p>
            <a:pPr latinLnBrk="0"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Automatic Type Promotion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All byte and short values are promoted to int. 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If one operand is a long, the whole expression is promoted to long.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If one operand is a float, the entire expression is promoted to float. 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If any of the operands is double, the result is double.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20472" y="6631598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28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70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793304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29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7688" y="404664"/>
            <a:ext cx="8686800" cy="49782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CC"/>
                </a:solidFill>
                <a:latin typeface="Bookman Old Style" pitchFamily="18" charset="0"/>
              </a:rPr>
              <a:t>// Demonstrate Type casts.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class Conversion{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public static void main(String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args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[]) {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byte b;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= 257;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double d = 323.142;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("\n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Conversion of </a:t>
            </a:r>
            <a:r>
              <a:rPr lang="en-US" dirty="0" err="1">
                <a:solidFill>
                  <a:srgbClr val="FF0000"/>
                </a:solidFill>
                <a:latin typeface="Bookman Old Style" pitchFamily="18" charset="0"/>
              </a:rPr>
              <a:t>int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 to byte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.");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b = </a:t>
            </a:r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(byte)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and b " +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+ " " + b);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("\</a:t>
            </a:r>
            <a:r>
              <a:rPr lang="en-US" dirty="0" err="1">
                <a:solidFill>
                  <a:srgbClr val="FF0000"/>
                </a:solidFill>
                <a:latin typeface="Bookman Old Style" pitchFamily="18" charset="0"/>
              </a:rPr>
              <a:t>nConversion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 of double to int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.");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= </a:t>
            </a:r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(</a:t>
            </a:r>
            <a:r>
              <a:rPr lang="en-US" b="1" dirty="0" err="1">
                <a:solidFill>
                  <a:schemeClr val="tx1"/>
                </a:solidFill>
                <a:latin typeface="Bookman Old Style" pitchFamily="18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)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d;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("d and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" + d + " " + 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);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("\n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Conversion of double to byte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.");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b = </a:t>
            </a:r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(byte)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 d;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	</a:t>
            </a:r>
            <a:r>
              <a:rPr lang="en-US" dirty="0" err="1">
                <a:solidFill>
                  <a:schemeClr val="tx1"/>
                </a:solidFill>
                <a:latin typeface="Bookman Old Style" pitchFamily="18" charset="0"/>
              </a:rPr>
              <a:t>System.out.println</a:t>
            </a:r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("d and b " + d + " " + b);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	}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}</a:t>
            </a:r>
            <a:endParaRPr lang="en-US" b="1" dirty="0">
              <a:solidFill>
                <a:schemeClr val="tx1"/>
              </a:solidFill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08104" y="5517232"/>
            <a:ext cx="3441968" cy="92333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 and b     257            1 </a:t>
            </a:r>
          </a:p>
          <a:p>
            <a:r>
              <a:rPr lang="en-US" dirty="0">
                <a:latin typeface="Bookman Old Style" pitchFamily="18" charset="0"/>
              </a:rPr>
              <a:t>d and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     323.142    323</a:t>
            </a:r>
          </a:p>
          <a:p>
            <a:r>
              <a:rPr lang="en-US" dirty="0">
                <a:latin typeface="Bookman Old Style" pitchFamily="18" charset="0"/>
              </a:rPr>
              <a:t>d and b    323.142    67  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4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07504" y="318524"/>
            <a:ext cx="8938665" cy="6230010"/>
            <a:chOff x="107504" y="318524"/>
            <a:chExt cx="8938665" cy="6230010"/>
          </a:xfrm>
        </p:grpSpPr>
        <p:sp>
          <p:nvSpPr>
            <p:cNvPr id="3" name="TextBox 2"/>
            <p:cNvSpPr txBox="1"/>
            <p:nvPr/>
          </p:nvSpPr>
          <p:spPr>
            <a:xfrm>
              <a:off x="107504" y="318524"/>
              <a:ext cx="8938665" cy="470898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CC"/>
                  </a:solidFill>
                  <a:latin typeface="Bookman Old Style" pitchFamily="18" charset="0"/>
                </a:rPr>
                <a:t>//Demonstrate type promotion</a:t>
              </a:r>
            </a:p>
            <a:p>
              <a:r>
                <a:rPr lang="en-US" sz="2000" dirty="0">
                  <a:latin typeface="Bookman Old Style" pitchFamily="18" charset="0"/>
                </a:rPr>
                <a:t>class Promote {</a:t>
              </a:r>
            </a:p>
            <a:p>
              <a:r>
                <a:rPr lang="en-US" sz="2000" dirty="0">
                  <a:latin typeface="Bookman Old Style" pitchFamily="18" charset="0"/>
                </a:rPr>
                <a:t>	public static void main(String </a:t>
              </a:r>
              <a:r>
                <a:rPr lang="en-US" sz="2000" dirty="0" err="1">
                  <a:latin typeface="Bookman Old Style" pitchFamily="18" charset="0"/>
                </a:rPr>
                <a:t>args</a:t>
              </a:r>
              <a:r>
                <a:rPr lang="en-US" sz="2000" dirty="0">
                  <a:latin typeface="Bookman Old Style" pitchFamily="18" charset="0"/>
                </a:rPr>
                <a:t>[]) </a:t>
              </a:r>
            </a:p>
            <a:p>
              <a:r>
                <a:rPr lang="en-US" sz="2000" dirty="0">
                  <a:latin typeface="Bookman Old Style" pitchFamily="18" charset="0"/>
                </a:rPr>
                <a:t>	{</a:t>
              </a:r>
            </a:p>
            <a:p>
              <a:r>
                <a:rPr lang="en-US" sz="2000" dirty="0">
                  <a:latin typeface="Bookman Old Style" pitchFamily="18" charset="0"/>
                </a:rPr>
                <a:t>		byte b = 42;</a:t>
              </a:r>
            </a:p>
            <a:p>
              <a:r>
                <a:rPr lang="en-US" sz="2000" dirty="0">
                  <a:latin typeface="Bookman Old Style" pitchFamily="18" charset="0"/>
                </a:rPr>
                <a:t>		char c = 'a';</a:t>
              </a:r>
            </a:p>
            <a:p>
              <a:r>
                <a:rPr lang="en-US" sz="2000" dirty="0">
                  <a:latin typeface="Bookman Old Style" pitchFamily="18" charset="0"/>
                </a:rPr>
                <a:t>		short s = 1024;</a:t>
              </a:r>
            </a:p>
            <a:p>
              <a:r>
                <a:rPr lang="en-US" sz="2000" dirty="0">
                  <a:latin typeface="Bookman Old Style" pitchFamily="18" charset="0"/>
                </a:rPr>
                <a:t>		</a:t>
              </a:r>
              <a:r>
                <a:rPr lang="en-US" sz="2000" dirty="0" err="1">
                  <a:latin typeface="Bookman Old Style" pitchFamily="18" charset="0"/>
                </a:rPr>
                <a:t>int</a:t>
              </a:r>
              <a:r>
                <a:rPr lang="en-US" sz="2000" dirty="0">
                  <a:latin typeface="Bookman Old Style" pitchFamily="18" charset="0"/>
                </a:rPr>
                <a:t> </a:t>
              </a:r>
              <a:r>
                <a:rPr lang="en-US" sz="2000" dirty="0" err="1">
                  <a:latin typeface="Bookman Old Style" pitchFamily="18" charset="0"/>
                </a:rPr>
                <a:t>i</a:t>
              </a:r>
              <a:r>
                <a:rPr lang="en-US" sz="2000" dirty="0">
                  <a:latin typeface="Bookman Old Style" pitchFamily="18" charset="0"/>
                </a:rPr>
                <a:t> = 50000;</a:t>
              </a:r>
            </a:p>
            <a:p>
              <a:r>
                <a:rPr lang="en-US" sz="2000" dirty="0">
                  <a:latin typeface="Bookman Old Style" pitchFamily="18" charset="0"/>
                </a:rPr>
                <a:t>		float f = 5.67f;</a:t>
              </a:r>
            </a:p>
            <a:p>
              <a:r>
                <a:rPr lang="en-US" sz="2000" dirty="0">
                  <a:latin typeface="Bookman Old Style" pitchFamily="18" charset="0"/>
                </a:rPr>
                <a:t>		double d = .1234;</a:t>
              </a:r>
            </a:p>
            <a:p>
              <a:r>
                <a:rPr lang="en-US" sz="2000" dirty="0">
                  <a:latin typeface="Bookman Old Style" pitchFamily="18" charset="0"/>
                </a:rPr>
                <a:t>		</a:t>
              </a:r>
              <a:r>
                <a:rPr lang="en-US" sz="2000" b="1" dirty="0">
                  <a:solidFill>
                    <a:srgbClr val="FF0000"/>
                  </a:solidFill>
                  <a:latin typeface="Bookman Old Style" pitchFamily="18" charset="0"/>
                </a:rPr>
                <a:t>double</a:t>
              </a:r>
              <a:r>
                <a:rPr lang="en-US" sz="2000" dirty="0">
                  <a:latin typeface="Bookman Old Style" pitchFamily="18" charset="0"/>
                </a:rPr>
                <a:t> </a:t>
              </a:r>
              <a:r>
                <a:rPr lang="en-US" sz="2000" b="1" dirty="0">
                  <a:latin typeface="Bookman Old Style" pitchFamily="18" charset="0"/>
                </a:rPr>
                <a:t>result</a:t>
              </a:r>
              <a:r>
                <a:rPr lang="en-US" sz="2000" dirty="0">
                  <a:latin typeface="Bookman Old Style" pitchFamily="18" charset="0"/>
                </a:rPr>
                <a:t> =  (f * b)  +   (</a:t>
              </a:r>
              <a:r>
                <a:rPr lang="en-US" sz="2000" dirty="0" err="1">
                  <a:latin typeface="Bookman Old Style" pitchFamily="18" charset="0"/>
                </a:rPr>
                <a:t>i</a:t>
              </a:r>
              <a:r>
                <a:rPr lang="en-US" sz="2000" dirty="0">
                  <a:latin typeface="Bookman Old Style" pitchFamily="18" charset="0"/>
                </a:rPr>
                <a:t> / c)  -  (d * s);</a:t>
              </a:r>
            </a:p>
            <a:p>
              <a:r>
                <a:rPr lang="en-US" sz="2000" dirty="0">
                  <a:latin typeface="Bookman Old Style" pitchFamily="18" charset="0"/>
                </a:rPr>
                <a:t>		</a:t>
              </a:r>
              <a:r>
                <a:rPr lang="en-US" sz="2000" dirty="0" err="1">
                  <a:latin typeface="Bookman Old Style" pitchFamily="18" charset="0"/>
                </a:rPr>
                <a:t>System.out.println</a:t>
              </a:r>
              <a:r>
                <a:rPr lang="en-US" sz="2000" dirty="0">
                  <a:latin typeface="Bookman Old Style" pitchFamily="18" charset="0"/>
                </a:rPr>
                <a:t>((f * b) + " + " + (</a:t>
              </a:r>
              <a:r>
                <a:rPr lang="en-US" sz="2000" dirty="0" err="1">
                  <a:latin typeface="Bookman Old Style" pitchFamily="18" charset="0"/>
                </a:rPr>
                <a:t>i</a:t>
              </a:r>
              <a:r>
                <a:rPr lang="en-US" sz="2000" dirty="0">
                  <a:latin typeface="Bookman Old Style" pitchFamily="18" charset="0"/>
                </a:rPr>
                <a:t> / c) + " - " + (d * s));</a:t>
              </a:r>
            </a:p>
            <a:p>
              <a:r>
                <a:rPr lang="en-US" sz="2000" dirty="0">
                  <a:latin typeface="Bookman Old Style" pitchFamily="18" charset="0"/>
                </a:rPr>
                <a:t>		</a:t>
              </a:r>
              <a:r>
                <a:rPr lang="en-US" sz="2000" dirty="0" err="1">
                  <a:latin typeface="Bookman Old Style" pitchFamily="18" charset="0"/>
                </a:rPr>
                <a:t>System.out.println</a:t>
              </a:r>
              <a:r>
                <a:rPr lang="en-US" sz="2000" dirty="0">
                  <a:latin typeface="Bookman Old Style" pitchFamily="18" charset="0"/>
                </a:rPr>
                <a:t>("result = " + result);</a:t>
              </a:r>
            </a:p>
            <a:p>
              <a:r>
                <a:rPr lang="en-US" sz="2000" dirty="0">
                  <a:latin typeface="Bookman Old Style" pitchFamily="18" charset="0"/>
                </a:rPr>
                <a:t>	}</a:t>
              </a:r>
            </a:p>
            <a:p>
              <a:r>
                <a:rPr lang="en-US" sz="2000" dirty="0">
                  <a:latin typeface="Bookman Old Style" pitchFamily="18" charset="0"/>
                </a:rPr>
                <a:t>}</a:t>
              </a:r>
              <a:endParaRPr lang="en-US" sz="2000" b="1" dirty="0">
                <a:latin typeface="Bookman Old Style" pitchFamily="18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275856" y="5138751"/>
              <a:ext cx="679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ookman Old Style" pitchFamily="18" charset="0"/>
                </a:rPr>
                <a:t>float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209855" y="5141012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Bookman Old Style" pitchFamily="18" charset="0"/>
                </a:rPr>
                <a:t>int</a:t>
              </a:r>
              <a:endParaRPr lang="en-US" dirty="0">
                <a:latin typeface="Bookman Old Style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07377" y="5139122"/>
              <a:ext cx="946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ookman Old Style" pitchFamily="18" charset="0"/>
                </a:rPr>
                <a:t>double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063194" y="3356992"/>
              <a:ext cx="811428" cy="3779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ookman Old Style" pitchFamily="18" charset="0"/>
              </a:endParaRPr>
            </a:p>
          </p:txBody>
        </p:sp>
        <p:cxnSp>
          <p:nvCxnSpPr>
            <p:cNvPr id="11" name="Straight Arrow Connector 10"/>
            <p:cNvCxnSpPr>
              <a:stCxn id="6" idx="2"/>
              <a:endCxn id="5" idx="0"/>
            </p:cNvCxnSpPr>
            <p:nvPr/>
          </p:nvCxnSpPr>
          <p:spPr>
            <a:xfrm flipH="1">
              <a:off x="3615853" y="3734959"/>
              <a:ext cx="853055" cy="140379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5262006" y="3356992"/>
              <a:ext cx="811428" cy="3779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ookman Old Style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00147" y="3356992"/>
              <a:ext cx="811428" cy="3779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ookman Old Style" pitchFamily="18" charset="0"/>
              </a:endParaRPr>
            </a:p>
          </p:txBody>
        </p:sp>
        <p:cxnSp>
          <p:nvCxnSpPr>
            <p:cNvPr id="14" name="Straight Arrow Connector 13"/>
            <p:cNvCxnSpPr>
              <a:endCxn id="8" idx="0"/>
            </p:cNvCxnSpPr>
            <p:nvPr/>
          </p:nvCxnSpPr>
          <p:spPr>
            <a:xfrm flipH="1">
              <a:off x="5456878" y="3746229"/>
              <a:ext cx="199156" cy="139478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3" idx="2"/>
              <a:endCxn id="9" idx="0"/>
            </p:cNvCxnSpPr>
            <p:nvPr/>
          </p:nvCxnSpPr>
          <p:spPr>
            <a:xfrm>
              <a:off x="6805861" y="3734959"/>
              <a:ext cx="274563" cy="140416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ight Brace 22"/>
            <p:cNvSpPr/>
            <p:nvPr/>
          </p:nvSpPr>
          <p:spPr>
            <a:xfrm rot="5400000">
              <a:off x="5173287" y="4277395"/>
              <a:ext cx="441027" cy="3362585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Bookman Old Style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874622" y="6179202"/>
              <a:ext cx="18870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ookman Old Style" pitchFamily="18" charset="0"/>
                </a:rPr>
                <a:t>result = double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816832" y="6624648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30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823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Reading Input from the Console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424936" cy="4800600"/>
          </a:xfrm>
        </p:spPr>
        <p:txBody>
          <a:bodyPr>
            <a:normAutofit/>
          </a:bodyPr>
          <a:lstStyle/>
          <a:p>
            <a:pPr latinLnBrk="0">
              <a:spcBef>
                <a:spcPts val="800"/>
              </a:spcBef>
              <a:buFont typeface="Wingdings" pitchFamily="2" charset="2"/>
              <a:buChar char="§"/>
            </a:pPr>
            <a:r>
              <a:rPr lang="en-US" sz="2000" dirty="0" err="1">
                <a:latin typeface="Bookman Old Style" pitchFamily="18" charset="0"/>
              </a:rPr>
              <a:t>System.out</a:t>
            </a:r>
            <a:r>
              <a:rPr lang="en-US" sz="2000" dirty="0">
                <a:latin typeface="Bookman Old Style" pitchFamily="18" charset="0"/>
              </a:rPr>
              <a:t> </a:t>
            </a:r>
            <a:r>
              <a:rPr lang="en-US" sz="2000" dirty="0">
                <a:latin typeface="Bookman Old Style" pitchFamily="18" charset="0"/>
                <a:sym typeface="Wingdings"/>
              </a:rPr>
              <a:t>: </a:t>
            </a:r>
            <a:r>
              <a:rPr lang="en-US" sz="2000" dirty="0">
                <a:latin typeface="Bookman Old Style" pitchFamily="18" charset="0"/>
              </a:rPr>
              <a:t>the standard output device (display monitor )</a:t>
            </a:r>
          </a:p>
          <a:p>
            <a:pPr latinLnBrk="0">
              <a:spcBef>
                <a:spcPts val="80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System.in </a:t>
            </a:r>
            <a:r>
              <a:rPr lang="en-US" sz="2000" dirty="0">
                <a:latin typeface="Bookman Old Style" pitchFamily="18" charset="0"/>
                <a:sym typeface="Wingdings"/>
              </a:rPr>
              <a:t>: </a:t>
            </a:r>
            <a:r>
              <a:rPr lang="en-US" sz="2000" dirty="0">
                <a:latin typeface="Bookman Old Style" pitchFamily="18" charset="0"/>
              </a:rPr>
              <a:t> the standard input device (the keyboard)</a:t>
            </a:r>
          </a:p>
          <a:p>
            <a:pPr latinLnBrk="0">
              <a:spcBef>
                <a:spcPts val="80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</a:rPr>
              <a:t>Console input is not directly supported in Java, but can use the </a:t>
            </a:r>
            <a:r>
              <a:rPr lang="en-US" sz="2000" dirty="0">
                <a:solidFill>
                  <a:srgbClr val="FF0000"/>
                </a:solidFill>
                <a:latin typeface="Bookman Old Style" pitchFamily="18" charset="0"/>
              </a:rPr>
              <a:t>Scanner</a:t>
            </a:r>
            <a:r>
              <a:rPr lang="en-US" sz="2000" dirty="0">
                <a:latin typeface="Bookman Old Style" pitchFamily="18" charset="0"/>
              </a:rPr>
              <a:t>  class to create an object to read input from System.in </a:t>
            </a:r>
          </a:p>
          <a:p>
            <a:pPr marL="0" indent="0" latinLnBrk="0">
              <a:spcBef>
                <a:spcPts val="800"/>
              </a:spcBef>
              <a:buNone/>
            </a:pPr>
            <a:r>
              <a:rPr lang="en-US" sz="2000" dirty="0">
                <a:latin typeface="Bookman Old Style" pitchFamily="18" charset="0"/>
              </a:rPr>
              <a:t>		</a:t>
            </a:r>
            <a:r>
              <a:rPr lang="pl-PL" sz="2000" b="1" dirty="0">
                <a:latin typeface="Bookman Old Style" pitchFamily="18" charset="0"/>
              </a:rPr>
              <a:t>Scanner input = new Scanner(System.in);</a:t>
            </a:r>
            <a:endParaRPr lang="en-US" sz="2000" b="1" dirty="0">
              <a:latin typeface="Bookman Old Style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772120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31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845000" y="3356992"/>
            <a:ext cx="7556313" cy="3228699"/>
            <a:chOff x="1115615" y="3492048"/>
            <a:chExt cx="7556313" cy="3228699"/>
          </a:xfrm>
        </p:grpSpPr>
        <p:pic>
          <p:nvPicPr>
            <p:cNvPr id="5" name="Content Placeholder 3"/>
            <p:cNvPicPr>
              <a:picLocks noChangeAspect="1"/>
            </p:cNvPicPr>
            <p:nvPr/>
          </p:nvPicPr>
          <p:blipFill rotWithShape="1">
            <a:blip r:embed="rId2"/>
            <a:srcRect t="10970" b="285"/>
            <a:stretch/>
          </p:blipFill>
          <p:spPr>
            <a:xfrm>
              <a:off x="1115615" y="3861380"/>
              <a:ext cx="7556313" cy="2859367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1223441" y="3492048"/>
              <a:ext cx="33329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0">
                <a:spcBef>
                  <a:spcPts val="800"/>
                </a:spcBef>
              </a:pPr>
              <a:r>
                <a:rPr lang="en-US" dirty="0">
                  <a:latin typeface="Bookman Old Style" pitchFamily="18" charset="0"/>
                </a:rPr>
                <a:t>Methods for Scanner Object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0588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4800600"/>
          </a:xfrm>
          <a:solidFill>
            <a:srgbClr val="FFFFFF"/>
          </a:solidFill>
        </p:spPr>
        <p:txBody>
          <a:bodyPr/>
          <a:lstStyle/>
          <a:p>
            <a:pPr marL="0" indent="0" latinLnBrk="0">
              <a:buNone/>
            </a:pPr>
            <a:r>
              <a:rPr lang="en-US" sz="2000" dirty="0">
                <a:solidFill>
                  <a:srgbClr val="0000CC"/>
                </a:solidFill>
                <a:latin typeface="Bookman Old Style" pitchFamily="18" charset="0"/>
              </a:rPr>
              <a:t>Example 3: </a:t>
            </a:r>
            <a:r>
              <a:rPr lang="en-US" sz="2000" dirty="0">
                <a:latin typeface="Bookman Old Style" pitchFamily="18" charset="0"/>
              </a:rPr>
              <a:t>Write a program that reads radius input from the keyboard and computes the area of the circle.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816704" y="6632241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32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1196752"/>
            <a:ext cx="8023350" cy="48013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dirty="0">
                <a:solidFill>
                  <a:srgbClr val="0000CC"/>
                </a:solidFill>
                <a:latin typeface="Bookman Old Style" pitchFamily="18" charset="0"/>
              </a:rPr>
              <a:t>//Read radius input from keyboard and compute area of circle.</a:t>
            </a:r>
          </a:p>
          <a:p>
            <a:r>
              <a:rPr lang="hr-HR" dirty="0">
                <a:latin typeface="Bookman Old Style" pitchFamily="18" charset="0"/>
              </a:rPr>
              <a:t>import java.util.*;</a:t>
            </a:r>
          </a:p>
          <a:p>
            <a:r>
              <a:rPr lang="en-US" dirty="0">
                <a:latin typeface="Bookman Old Style" pitchFamily="18" charset="0"/>
              </a:rPr>
              <a:t>public class </a:t>
            </a:r>
            <a:r>
              <a:rPr lang="en-US" dirty="0" err="1">
                <a:latin typeface="Bookman Old Style" pitchFamily="18" charset="0"/>
              </a:rPr>
              <a:t>ComputeArea</a:t>
            </a:r>
            <a:r>
              <a:rPr lang="en-US" dirty="0">
                <a:latin typeface="Bookman Old Style" pitchFamily="18" charset="0"/>
              </a:rPr>
              <a:t>{</a:t>
            </a:r>
          </a:p>
          <a:p>
            <a:r>
              <a:rPr lang="fi-FI" dirty="0">
                <a:latin typeface="Bookman Old Style" pitchFamily="18" charset="0"/>
              </a:rPr>
              <a:t>	</a:t>
            </a:r>
            <a:r>
              <a:rPr lang="fi-FI" dirty="0" err="1">
                <a:latin typeface="Bookman Old Style" pitchFamily="18" charset="0"/>
              </a:rPr>
              <a:t>public</a:t>
            </a:r>
            <a:r>
              <a:rPr lang="fi-FI" dirty="0">
                <a:latin typeface="Bookman Old Style" pitchFamily="18" charset="0"/>
              </a:rPr>
              <a:t> </a:t>
            </a:r>
            <a:r>
              <a:rPr lang="fi-FI" dirty="0" err="1">
                <a:latin typeface="Bookman Old Style" pitchFamily="18" charset="0"/>
              </a:rPr>
              <a:t>static</a:t>
            </a:r>
            <a:r>
              <a:rPr lang="fi-FI" dirty="0">
                <a:latin typeface="Bookman Old Style" pitchFamily="18" charset="0"/>
              </a:rPr>
              <a:t> </a:t>
            </a:r>
            <a:r>
              <a:rPr lang="fi-FI" dirty="0" err="1">
                <a:latin typeface="Bookman Old Style" pitchFamily="18" charset="0"/>
              </a:rPr>
              <a:t>void</a:t>
            </a:r>
            <a:r>
              <a:rPr lang="fi-FI" dirty="0">
                <a:latin typeface="Bookman Old Style" pitchFamily="18" charset="0"/>
              </a:rPr>
              <a:t> </a:t>
            </a:r>
            <a:r>
              <a:rPr lang="fi-FI" dirty="0" err="1">
                <a:latin typeface="Bookman Old Style" pitchFamily="18" charset="0"/>
              </a:rPr>
              <a:t>main(String</a:t>
            </a:r>
            <a:r>
              <a:rPr lang="fi-FI" dirty="0">
                <a:latin typeface="Bookman Old Style" pitchFamily="18" charset="0"/>
              </a:rPr>
              <a:t>[] </a:t>
            </a:r>
            <a:r>
              <a:rPr lang="fi-FI" dirty="0" err="1">
                <a:latin typeface="Bookman Old Style" pitchFamily="18" charset="0"/>
              </a:rPr>
              <a:t>args</a:t>
            </a:r>
            <a:r>
              <a:rPr lang="fi-FI" dirty="0">
                <a:latin typeface="Bookman Old Style" pitchFamily="18" charset="0"/>
              </a:rPr>
              <a:t>) {</a:t>
            </a:r>
          </a:p>
          <a:p>
            <a:r>
              <a:rPr lang="en-US" dirty="0">
                <a:latin typeface="Bookman Old Style" pitchFamily="18" charset="0"/>
              </a:rPr>
              <a:t>		</a:t>
            </a:r>
            <a:r>
              <a:rPr lang="en-US" dirty="0">
                <a:solidFill>
                  <a:srgbClr val="F7901E"/>
                </a:solidFill>
                <a:latin typeface="Bookman Old Style" pitchFamily="18" charset="0"/>
              </a:rPr>
              <a:t>// Create a Scanner object</a:t>
            </a:r>
          </a:p>
          <a:p>
            <a:r>
              <a:rPr lang="pl-PL" dirty="0">
                <a:latin typeface="Bookman Old Style" pitchFamily="18" charset="0"/>
              </a:rPr>
              <a:t>		</a:t>
            </a:r>
            <a:r>
              <a:rPr lang="pl-PL" dirty="0" err="1">
                <a:latin typeface="Bookman Old Style" pitchFamily="18" charset="0"/>
              </a:rPr>
              <a:t>Scanner</a:t>
            </a:r>
            <a:r>
              <a:rPr lang="pl-PL" dirty="0">
                <a:latin typeface="Bookman Old Style" pitchFamily="18" charset="0"/>
              </a:rPr>
              <a:t> </a:t>
            </a:r>
            <a:r>
              <a:rPr lang="pl-PL" dirty="0" err="1">
                <a:latin typeface="Bookman Old Style" pitchFamily="18" charset="0"/>
              </a:rPr>
              <a:t>input</a:t>
            </a:r>
            <a:r>
              <a:rPr lang="pl-PL" dirty="0">
                <a:latin typeface="Bookman Old Style" pitchFamily="18" charset="0"/>
              </a:rPr>
              <a:t> = </a:t>
            </a:r>
            <a:r>
              <a:rPr lang="pl-PL" dirty="0" err="1">
                <a:latin typeface="Bookman Old Style" pitchFamily="18" charset="0"/>
              </a:rPr>
              <a:t>new</a:t>
            </a:r>
            <a:r>
              <a:rPr lang="pl-PL" dirty="0">
                <a:latin typeface="Bookman Old Style" pitchFamily="18" charset="0"/>
              </a:rPr>
              <a:t> </a:t>
            </a:r>
            <a:r>
              <a:rPr lang="pl-PL" dirty="0" err="1">
                <a:latin typeface="Bookman Old Style" pitchFamily="18" charset="0"/>
              </a:rPr>
              <a:t>Scanner</a:t>
            </a:r>
            <a:r>
              <a:rPr lang="pl-PL" dirty="0">
                <a:latin typeface="Bookman Old Style" pitchFamily="18" charset="0"/>
              </a:rPr>
              <a:t>(</a:t>
            </a:r>
            <a:r>
              <a:rPr lang="pl-PL" dirty="0" err="1">
                <a:latin typeface="Bookman Old Style" pitchFamily="18" charset="0"/>
              </a:rPr>
              <a:t>System.</a:t>
            </a:r>
            <a:r>
              <a:rPr lang="pl-PL" i="1" dirty="0" err="1">
                <a:latin typeface="Bookman Old Style" pitchFamily="18" charset="0"/>
              </a:rPr>
              <a:t>in</a:t>
            </a:r>
            <a:r>
              <a:rPr lang="pl-PL" i="1" dirty="0">
                <a:latin typeface="Bookman Old Style" pitchFamily="18" charset="0"/>
              </a:rPr>
              <a:t>);</a:t>
            </a:r>
          </a:p>
          <a:p>
            <a:r>
              <a:rPr lang="en-US" dirty="0">
                <a:latin typeface="Bookman Old Style" pitchFamily="18" charset="0"/>
              </a:rPr>
              <a:t>		</a:t>
            </a:r>
            <a:r>
              <a:rPr lang="en-US" dirty="0">
                <a:solidFill>
                  <a:srgbClr val="F7901E"/>
                </a:solidFill>
                <a:latin typeface="Bookman Old Style" pitchFamily="18" charset="0"/>
              </a:rPr>
              <a:t>// Prompt the user to enter a radius</a:t>
            </a:r>
          </a:p>
          <a:p>
            <a:r>
              <a:rPr lang="en-US" dirty="0">
                <a:latin typeface="Bookman Old Style" pitchFamily="18" charset="0"/>
              </a:rPr>
              <a:t>		</a:t>
            </a:r>
            <a:r>
              <a:rPr lang="en-US" dirty="0" err="1">
                <a:latin typeface="Bookman Old Style" pitchFamily="18" charset="0"/>
              </a:rPr>
              <a:t>System.</a:t>
            </a:r>
            <a:r>
              <a:rPr lang="en-US" i="1" dirty="0" err="1">
                <a:latin typeface="Bookman Old Style" pitchFamily="18" charset="0"/>
              </a:rPr>
              <a:t>out.print</a:t>
            </a:r>
            <a:r>
              <a:rPr lang="en-US" i="1" dirty="0">
                <a:latin typeface="Bookman Old Style" pitchFamily="18" charset="0"/>
              </a:rPr>
              <a:t>("Enter a number for radius: ");</a:t>
            </a:r>
          </a:p>
          <a:p>
            <a:r>
              <a:rPr lang="en-US" dirty="0">
                <a:latin typeface="Bookman Old Style" pitchFamily="18" charset="0"/>
              </a:rPr>
              <a:t>		</a:t>
            </a:r>
            <a:r>
              <a:rPr lang="en-US" dirty="0">
                <a:solidFill>
                  <a:srgbClr val="F7901E"/>
                </a:solidFill>
                <a:latin typeface="Bookman Old Style" pitchFamily="18" charset="0"/>
              </a:rPr>
              <a:t>// Read double input</a:t>
            </a:r>
            <a:r>
              <a:rPr lang="en-US" dirty="0">
                <a:latin typeface="Bookman Old Style" pitchFamily="18" charset="0"/>
              </a:rPr>
              <a:t>		</a:t>
            </a:r>
          </a:p>
          <a:p>
            <a:r>
              <a:rPr lang="en-US" dirty="0">
                <a:latin typeface="Bookman Old Style" pitchFamily="18" charset="0"/>
              </a:rPr>
              <a:t>		double radius =</a:t>
            </a:r>
            <a:r>
              <a:rPr lang="en-US" dirty="0" err="1">
                <a:latin typeface="Bookman Old Style" pitchFamily="18" charset="0"/>
              </a:rPr>
              <a:t>input.nextDouble</a:t>
            </a:r>
            <a:r>
              <a:rPr lang="en-US" dirty="0">
                <a:latin typeface="Bookman Old Style" pitchFamily="18" charset="0"/>
              </a:rPr>
              <a:t>();</a:t>
            </a:r>
          </a:p>
          <a:p>
            <a:r>
              <a:rPr lang="en-US" dirty="0">
                <a:latin typeface="Bookman Old Style" pitchFamily="18" charset="0"/>
              </a:rPr>
              <a:t>		/</a:t>
            </a:r>
            <a:r>
              <a:rPr lang="en-US" dirty="0">
                <a:solidFill>
                  <a:srgbClr val="F7901E"/>
                </a:solidFill>
                <a:latin typeface="Bookman Old Style" pitchFamily="18" charset="0"/>
              </a:rPr>
              <a:t>/ Compute area</a:t>
            </a:r>
          </a:p>
          <a:p>
            <a:r>
              <a:rPr lang="ro-RO" dirty="0">
                <a:latin typeface="Bookman Old Style" pitchFamily="18" charset="0"/>
              </a:rPr>
              <a:t>		double area = radius * radius * 3.14159;</a:t>
            </a:r>
          </a:p>
          <a:p>
            <a:r>
              <a:rPr lang="en-US" dirty="0">
                <a:latin typeface="Bookman Old Style" pitchFamily="18" charset="0"/>
              </a:rPr>
              <a:t>		/</a:t>
            </a:r>
            <a:r>
              <a:rPr lang="en-US" dirty="0">
                <a:solidFill>
                  <a:srgbClr val="F7901E"/>
                </a:solidFill>
                <a:latin typeface="Bookman Old Style" pitchFamily="18" charset="0"/>
              </a:rPr>
              <a:t>/ Display results</a:t>
            </a:r>
          </a:p>
          <a:p>
            <a:r>
              <a:rPr lang="en-US" dirty="0">
                <a:latin typeface="Bookman Old Style" pitchFamily="18" charset="0"/>
              </a:rPr>
              <a:t>		</a:t>
            </a:r>
            <a:r>
              <a:rPr lang="en-US" dirty="0" err="1">
                <a:latin typeface="Bookman Old Style" pitchFamily="18" charset="0"/>
              </a:rPr>
              <a:t>System.</a:t>
            </a:r>
            <a:r>
              <a:rPr lang="en-US" i="1" dirty="0" err="1">
                <a:latin typeface="Bookman Old Style" pitchFamily="18" charset="0"/>
              </a:rPr>
              <a:t>out.println</a:t>
            </a:r>
            <a:r>
              <a:rPr lang="en-US" i="1" dirty="0">
                <a:latin typeface="Bookman Old Style" pitchFamily="18" charset="0"/>
              </a:rPr>
              <a:t>("The area for the circle of radius " +</a:t>
            </a:r>
          </a:p>
          <a:p>
            <a:r>
              <a:rPr lang="en-US" dirty="0">
                <a:latin typeface="Bookman Old Style" pitchFamily="18" charset="0"/>
              </a:rPr>
              <a:t>		radius + " is " + area);</a:t>
            </a:r>
          </a:p>
          <a:p>
            <a:r>
              <a:rPr lang="en-US" dirty="0">
                <a:latin typeface="Bookman Old Style" pitchFamily="18" charset="0"/>
              </a:rPr>
              <a:t>	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69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Next Week Lecture</a:t>
            </a:r>
            <a:endParaRPr lang="ko-KR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35696" y="1556792"/>
            <a:ext cx="6912768" cy="614197"/>
          </a:xfrm>
        </p:spPr>
        <p:txBody>
          <a:bodyPr>
            <a:normAutofit fontScale="55000" lnSpcReduction="20000"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</a:rPr>
              <a:t>Operators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</a:rPr>
              <a:t>Control Statements</a:t>
            </a:r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5850396" y="5778104"/>
            <a:ext cx="3762164" cy="117928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US" altLang="ko-KR" sz="3200" dirty="0"/>
              <a:t>Thank you!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791076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3651</TotalTime>
  <Words>2776</Words>
  <Application>Microsoft Office PowerPoint</Application>
  <PresentationFormat>On-screen Show (4:3)</PresentationFormat>
  <Paragraphs>393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Bookman Old Style</vt:lpstr>
      <vt:lpstr>Calibri</vt:lpstr>
      <vt:lpstr>Wingdings</vt:lpstr>
      <vt:lpstr>Custom Design</vt:lpstr>
      <vt:lpstr>PowerPoint Presentation</vt:lpstr>
      <vt:lpstr>Learning Outcomes</vt:lpstr>
      <vt:lpstr>Exam and Grading System</vt:lpstr>
      <vt:lpstr>Lecture 1  Overview of Java, Variables, Data Types and Arrays</vt:lpstr>
      <vt:lpstr>Outline of Class (Lecture 1)</vt:lpstr>
      <vt:lpstr>Topic 1 Overview of Java</vt:lpstr>
      <vt:lpstr>What is Java?</vt:lpstr>
      <vt:lpstr>Java Platform</vt:lpstr>
      <vt:lpstr>PowerPoint Presentation</vt:lpstr>
      <vt:lpstr>PowerPoint Presentation</vt:lpstr>
      <vt:lpstr>Major Editions of Java</vt:lpstr>
      <vt:lpstr>Four Main OOP Principles </vt:lpstr>
      <vt:lpstr>Basic Syntax of Java</vt:lpstr>
      <vt:lpstr>PowerPoint Presentation</vt:lpstr>
      <vt:lpstr>PowerPoint Presentation</vt:lpstr>
      <vt:lpstr>Programming Errors</vt:lpstr>
      <vt:lpstr>Topic 2 Variables, Data Types and Arrays</vt:lpstr>
      <vt:lpstr>Identifiers</vt:lpstr>
      <vt:lpstr>Primitive Data Types</vt:lpstr>
      <vt:lpstr>Range of Data Types</vt:lpstr>
      <vt:lpstr>PowerPoint Presentation</vt:lpstr>
      <vt:lpstr>PowerPoint Presentation</vt:lpstr>
      <vt:lpstr>Variables</vt:lpstr>
      <vt:lpstr>Variables (cont’)</vt:lpstr>
      <vt:lpstr>PowerPoint Presentation</vt:lpstr>
      <vt:lpstr>The Scope and Lifetime of Variables</vt:lpstr>
      <vt:lpstr>PowerPoint Presentation</vt:lpstr>
      <vt:lpstr>Type Conversion and Casting</vt:lpstr>
      <vt:lpstr>PowerPoint Presentation</vt:lpstr>
      <vt:lpstr>PowerPoint Presentation</vt:lpstr>
      <vt:lpstr>Reading Input from the Console</vt:lpstr>
      <vt:lpstr>PowerPoint Presentation</vt:lpstr>
      <vt:lpstr>Next Week Lecture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Khaing Zar Myint Aung</cp:lastModifiedBy>
  <cp:revision>119</cp:revision>
  <dcterms:created xsi:type="dcterms:W3CDTF">2014-04-01T16:27:38Z</dcterms:created>
  <dcterms:modified xsi:type="dcterms:W3CDTF">2026-06-08T02:27:53Z</dcterms:modified>
</cp:coreProperties>
</file>