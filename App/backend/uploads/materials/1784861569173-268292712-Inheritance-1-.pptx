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0"/>
  </p:notesMasterIdLst>
  <p:sldIdLst>
    <p:sldId id="256" r:id="rId3"/>
    <p:sldId id="367" r:id="rId4"/>
    <p:sldId id="331" r:id="rId5"/>
    <p:sldId id="333" r:id="rId6"/>
    <p:sldId id="338" r:id="rId7"/>
    <p:sldId id="332" r:id="rId8"/>
    <p:sldId id="334" r:id="rId9"/>
    <p:sldId id="335" r:id="rId10"/>
    <p:sldId id="336" r:id="rId11"/>
    <p:sldId id="337" r:id="rId12"/>
    <p:sldId id="339" r:id="rId13"/>
    <p:sldId id="345" r:id="rId14"/>
    <p:sldId id="347" r:id="rId15"/>
    <p:sldId id="348" r:id="rId16"/>
    <p:sldId id="344" r:id="rId17"/>
    <p:sldId id="346" r:id="rId18"/>
    <p:sldId id="340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3399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504" autoAdjust="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3FDCA-91AA-4804-9A07-6F0DDB6CA845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9CE79-09F1-4C6E-A96F-5EE19B97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92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7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276999"/>
          </a:xfrm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7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276999"/>
          </a:xfrm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5536" y="1508787"/>
            <a:ext cx="8496944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405880" y="2411015"/>
            <a:ext cx="8496944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79712" y="1316766"/>
            <a:ext cx="6912768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1990056" y="2218994"/>
            <a:ext cx="6912768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280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76200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7551353" y="1645920"/>
            <a:ext cx="2438399" cy="365760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7586912" y="4048760"/>
            <a:ext cx="2367281" cy="365760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68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620559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62055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620559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620559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620559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670158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670158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513684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485"/>
            <a:ext cx="7772400" cy="14689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5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30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185"/>
            <a:ext cx="7772400" cy="150071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11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29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584"/>
            <a:ext cx="4040188" cy="641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934"/>
            <a:ext cx="4040188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4584"/>
            <a:ext cx="4041775" cy="641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5934"/>
            <a:ext cx="4041775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109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354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2"/>
            <a:ext cx="3008313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2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05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49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726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3833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867"/>
            <a:ext cx="5486400" cy="8043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09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716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167"/>
            <a:ext cx="2057400" cy="58504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167"/>
            <a:ext cx="6019800" cy="58504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12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0559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0559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1046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755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4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10" r:id="rId31"/>
    <p:sldLayoutId id="2147483711" r:id="rId32"/>
    <p:sldLayoutId id="2147483715" r:id="rId33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703" r:id="rId12"/>
    <p:sldLayoutId id="2147483704" r:id="rId13"/>
    <p:sldLayoutId id="2147483708" r:id="rId14"/>
    <p:sldLayoutId id="2147483709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3523454" y="3129354"/>
            <a:ext cx="550810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Programming in Java</a:t>
            </a:r>
          </a:p>
        </p:txBody>
      </p:sp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 txBox="1">
            <a:spLocks/>
          </p:cNvSpPr>
          <p:nvPr/>
        </p:nvSpPr>
        <p:spPr>
          <a:xfrm>
            <a:off x="1547664" y="1628800"/>
            <a:ext cx="7524328" cy="324036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 latinLnBrk="0">
              <a:spcAft>
                <a:spcPts val="1800"/>
              </a:spcAft>
            </a:pPr>
            <a:r>
              <a:rPr lang="en-US" dirty="0"/>
              <a:t>Topic 1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1957321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1268760"/>
            <a:ext cx="8784976" cy="4800600"/>
          </a:xfrm>
        </p:spPr>
        <p:txBody>
          <a:bodyPr/>
          <a:lstStyle/>
          <a:p>
            <a:pPr algn="just" latinLnBrk="0">
              <a:buFont typeface="Wingdings" pitchFamily="2" charset="2"/>
              <a:buChar char="§"/>
            </a:pPr>
            <a:r>
              <a:rPr lang="en-US" sz="2200" dirty="0">
                <a:latin typeface="Bookman Old Style" pitchFamily="18" charset="0"/>
              </a:rPr>
              <a:t>Object-oriented programming allows you to define new classes from existing classes, called inheritance.</a:t>
            </a:r>
          </a:p>
          <a:p>
            <a:pPr algn="just" latinLnBrk="0">
              <a:buFont typeface="Wingdings" pitchFamily="2" charset="2"/>
              <a:buChar char="§"/>
            </a:pPr>
            <a:r>
              <a:rPr lang="en-US" sz="2200" dirty="0">
                <a:latin typeface="Bookman Old Style" pitchFamily="18" charset="0"/>
              </a:rPr>
              <a:t>It helps to reuse the code and establish a relationship between different classes.</a:t>
            </a:r>
          </a:p>
          <a:p>
            <a:pPr algn="just" latinLnBrk="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200" dirty="0">
                <a:latin typeface="Bookman Old Style" pitchFamily="18" charset="0"/>
                <a:cs typeface="Cambria"/>
              </a:rPr>
              <a:t>A class can be defined as a "subclass" of another class.</a:t>
            </a:r>
          </a:p>
          <a:p>
            <a:pPr lvl="1" algn="just" latinLnBrk="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  <a:cs typeface="Cambria"/>
              </a:rPr>
              <a:t>The subclass inherits all data attributes of its superclass</a:t>
            </a:r>
          </a:p>
          <a:p>
            <a:pPr lvl="1" algn="just" latinLnBrk="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  <a:cs typeface="Cambria"/>
              </a:rPr>
              <a:t>The subclass inherits all methods of its superclass</a:t>
            </a:r>
          </a:p>
          <a:p>
            <a:pPr lvl="1" algn="just" latinLnBrk="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  <a:cs typeface="Cambria"/>
              </a:rPr>
              <a:t>The subclass inherits all associations of its superclass</a:t>
            </a:r>
          </a:p>
          <a:p>
            <a:pPr algn="just" latinLnBrk="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200" dirty="0">
                <a:latin typeface="Bookman Old Style" pitchFamily="18" charset="0"/>
                <a:cs typeface="Cambria"/>
              </a:rPr>
              <a:t>The subclass can:</a:t>
            </a:r>
          </a:p>
          <a:p>
            <a:pPr lvl="1" algn="just" latinLnBrk="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  <a:cs typeface="Cambria"/>
              </a:rPr>
              <a:t>Add new functionality</a:t>
            </a:r>
          </a:p>
          <a:p>
            <a:pPr lvl="1" algn="just" latinLnBrk="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  <a:cs typeface="Cambria"/>
              </a:rPr>
              <a:t>Use inherited functionality</a:t>
            </a:r>
          </a:p>
          <a:p>
            <a:pPr lvl="1" algn="just" latinLnBrk="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  <a:cs typeface="Cambria"/>
              </a:rPr>
              <a:t>Override inherited functionality</a:t>
            </a:r>
          </a:p>
          <a:p>
            <a:pPr algn="just" latinLnBrk="0">
              <a:buFont typeface="Wingdings" pitchFamily="2" charset="2"/>
              <a:buChar char="§"/>
            </a:pPr>
            <a:endParaRPr lang="en-US" sz="2400" dirty="0">
              <a:latin typeface="Bookman Old Style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2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32" y="274637"/>
            <a:ext cx="7620000" cy="1143000"/>
          </a:xfrm>
        </p:spPr>
        <p:txBody>
          <a:bodyPr/>
          <a:lstStyle/>
          <a:p>
            <a:r>
              <a:rPr lang="en-US" dirty="0"/>
              <a:t>Terms used in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64704"/>
            <a:ext cx="5266928" cy="4800600"/>
          </a:xfrm>
        </p:spPr>
        <p:txBody>
          <a:bodyPr/>
          <a:lstStyle/>
          <a:p>
            <a:pPr algn="just" latinLnBrk="0"/>
            <a:r>
              <a:rPr lang="en-US" sz="2200" b="1" dirty="0">
                <a:latin typeface="Bookman Old Style" pitchFamily="18" charset="0"/>
              </a:rPr>
              <a:t>Class:</a:t>
            </a:r>
            <a:r>
              <a:rPr lang="en-US" sz="2200" dirty="0">
                <a:latin typeface="Bookman Old Style" pitchFamily="18" charset="0"/>
              </a:rPr>
              <a:t> A class is a group of objects which have common properties. It is a template or blueprint from which objects are created.</a:t>
            </a:r>
          </a:p>
          <a:p>
            <a:pPr algn="just" latinLnBrk="0"/>
            <a:r>
              <a:rPr lang="en-US" sz="2200" b="1" dirty="0">
                <a:latin typeface="Bookman Old Style" pitchFamily="18" charset="0"/>
              </a:rPr>
              <a:t>Sub Class/Child Class:</a:t>
            </a:r>
            <a:r>
              <a:rPr lang="en-US" sz="2200" dirty="0">
                <a:latin typeface="Bookman Old Style" pitchFamily="18" charset="0"/>
              </a:rPr>
              <a:t> Subclass is a class which inherits the other class. It is also called a derived class, extended class, or child class.</a:t>
            </a:r>
          </a:p>
          <a:p>
            <a:pPr algn="just" latinLnBrk="0"/>
            <a:r>
              <a:rPr lang="en-US" sz="2200" b="1" dirty="0">
                <a:latin typeface="Bookman Old Style" pitchFamily="18" charset="0"/>
              </a:rPr>
              <a:t>Super Class/Parent Class:</a:t>
            </a:r>
            <a:r>
              <a:rPr lang="en-US" sz="2200" dirty="0">
                <a:latin typeface="Bookman Old Style" pitchFamily="18" charset="0"/>
              </a:rPr>
              <a:t> Superclass is the class from where a subclass inherits the features. It is also called a base class or a parent class.</a:t>
            </a:r>
          </a:p>
          <a:p>
            <a:pPr algn="just" latinLnBrk="0"/>
            <a:endParaRPr lang="en-US" sz="2400" dirty="0">
              <a:latin typeface="Bookman Old Style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5950496" y="1971341"/>
            <a:ext cx="2808311" cy="984885"/>
          </a:xfrm>
          <a:prstGeom prst="roundRect">
            <a:avLst>
              <a:gd name="adj" fmla="val 134"/>
            </a:avLst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square"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600" dirty="0">
                <a:latin typeface="Bookman Old Style" pitchFamily="18" charset="0"/>
              </a:rPr>
              <a:t>Person</a:t>
            </a:r>
          </a:p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600" dirty="0">
                <a:latin typeface="Bookman Old Style" pitchFamily="18" charset="0"/>
              </a:rPr>
              <a:t>- name: String          </a:t>
            </a:r>
          </a:p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600" dirty="0">
                <a:latin typeface="Bookman Old Style" pitchFamily="18" charset="0"/>
              </a:rPr>
              <a:t>- dob: Date</a:t>
            </a:r>
          </a:p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endParaRPr lang="en-GB" sz="1600" dirty="0">
              <a:latin typeface="Bookman Old Style" pitchFamily="18" charset="0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 flipV="1">
            <a:off x="7354651" y="2956226"/>
            <a:ext cx="0" cy="39982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945" tIns="41473" rIns="82945" bIns="41473"/>
          <a:lstStyle/>
          <a:p>
            <a:endParaRPr lang="en-US" sz="1600">
              <a:latin typeface="Bookman Old Style" pitchFamily="18" charset="0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5950496" y="3643356"/>
            <a:ext cx="2808311" cy="984885"/>
          </a:xfrm>
          <a:prstGeom prst="roundRect">
            <a:avLst>
              <a:gd name="adj" fmla="val 139"/>
            </a:avLst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square"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600" dirty="0">
                <a:latin typeface="Bookman Old Style" pitchFamily="18" charset="0"/>
              </a:rPr>
              <a:t>Employee</a:t>
            </a:r>
          </a:p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600" dirty="0">
                <a:latin typeface="Bookman Old Style" pitchFamily="18" charset="0"/>
              </a:rPr>
              <a:t>- </a:t>
            </a:r>
            <a:r>
              <a:rPr lang="en-GB" sz="1600" dirty="0" err="1">
                <a:latin typeface="Bookman Old Style" pitchFamily="18" charset="0"/>
              </a:rPr>
              <a:t>employeeID</a:t>
            </a:r>
            <a:r>
              <a:rPr lang="en-GB" sz="1600" dirty="0">
                <a:latin typeface="Bookman Old Style" pitchFamily="18" charset="0"/>
              </a:rPr>
              <a:t>: </a:t>
            </a:r>
            <a:r>
              <a:rPr lang="en-GB" sz="1600" dirty="0" err="1">
                <a:latin typeface="Bookman Old Style" pitchFamily="18" charset="0"/>
              </a:rPr>
              <a:t>int</a:t>
            </a:r>
            <a:endParaRPr lang="en-GB" sz="1600" dirty="0">
              <a:latin typeface="Bookman Old Style" pitchFamily="18" charset="0"/>
            </a:endParaRPr>
          </a:p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600" dirty="0">
                <a:latin typeface="Bookman Old Style" pitchFamily="18" charset="0"/>
              </a:rPr>
              <a:t>- salary: </a:t>
            </a:r>
            <a:r>
              <a:rPr lang="en-GB" sz="1600" dirty="0" err="1">
                <a:latin typeface="Bookman Old Style" pitchFamily="18" charset="0"/>
              </a:rPr>
              <a:t>int</a:t>
            </a:r>
            <a:endParaRPr lang="en-GB" sz="1600" dirty="0">
              <a:latin typeface="Bookman Old Style" pitchFamily="18" charset="0"/>
            </a:endParaRPr>
          </a:p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600" dirty="0">
                <a:latin typeface="Bookman Old Style" pitchFamily="18" charset="0"/>
              </a:rPr>
              <a:t>- </a:t>
            </a:r>
            <a:r>
              <a:rPr lang="en-GB" sz="1600" dirty="0" err="1">
                <a:latin typeface="Bookman Old Style" pitchFamily="18" charset="0"/>
              </a:rPr>
              <a:t>startDate</a:t>
            </a:r>
            <a:r>
              <a:rPr lang="en-GB" sz="1600" dirty="0">
                <a:latin typeface="Bookman Old Style" pitchFamily="18" charset="0"/>
              </a:rPr>
              <a:t>: Date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794016" y="1535596"/>
            <a:ext cx="13469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Clr>
                <a:srgbClr val="000000"/>
              </a:buClr>
              <a:buSzPct val="67000"/>
              <a:buFont typeface="StarBats" charset="0"/>
              <a:buNone/>
            </a:pPr>
            <a:r>
              <a:rPr lang="en-GB" sz="1600" dirty="0">
                <a:latin typeface="Bookman Old Style" pitchFamily="18" charset="0"/>
              </a:rPr>
              <a:t>superclass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7058548" y="3356046"/>
            <a:ext cx="1108498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Clr>
                <a:srgbClr val="000000"/>
              </a:buClr>
              <a:buSzPct val="67000"/>
              <a:buFont typeface="StarBats" charset="0"/>
              <a:buNone/>
            </a:pPr>
            <a:r>
              <a:rPr lang="en-GB" sz="1600" dirty="0">
                <a:latin typeface="Bookman Old Style" pitchFamily="18" charset="0"/>
              </a:rPr>
              <a:t>subclass</a:t>
            </a:r>
          </a:p>
        </p:txBody>
      </p:sp>
    </p:spTree>
    <p:extLst>
      <p:ext uri="{BB962C8B-B14F-4D97-AF65-F5344CB8AC3E}">
        <p14:creationId xmlns:p14="http://schemas.microsoft.com/office/powerpoint/2010/main" val="1521619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424" y="274637"/>
            <a:ext cx="7620000" cy="1143000"/>
          </a:xfrm>
        </p:spPr>
        <p:txBody>
          <a:bodyPr/>
          <a:lstStyle/>
          <a:p>
            <a:r>
              <a:rPr lang="en-US" dirty="0"/>
              <a:t>How inheritance is used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268760"/>
            <a:ext cx="7620000" cy="4800600"/>
          </a:xfrm>
        </p:spPr>
        <p:txBody>
          <a:bodyPr/>
          <a:lstStyle/>
          <a:p>
            <a:r>
              <a:rPr lang="en-US" sz="2400" dirty="0">
                <a:latin typeface="Bookman Old Style" pitchFamily="18" charset="0"/>
              </a:rPr>
              <a:t>Inheritance is declared using the "</a:t>
            </a:r>
            <a:r>
              <a:rPr lang="en-US" sz="2400" b="1" dirty="0">
                <a:latin typeface="Bookman Old Style" pitchFamily="18" charset="0"/>
              </a:rPr>
              <a:t>extends</a:t>
            </a:r>
            <a:r>
              <a:rPr lang="en-US" sz="2400" dirty="0">
                <a:latin typeface="Bookman Old Style" pitchFamily="18" charset="0"/>
              </a:rPr>
              <a:t>" keyword</a:t>
            </a:r>
          </a:p>
          <a:p>
            <a:pPr lvl="1"/>
            <a:r>
              <a:rPr lang="en-US" sz="2000" dirty="0">
                <a:latin typeface="Bookman Old Style" pitchFamily="18" charset="0"/>
              </a:rPr>
              <a:t>If inheritance is not defined, the class extends a class called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Bookman Old Style" pitchFamily="18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6372200" y="3467268"/>
            <a:ext cx="1759680" cy="861774"/>
          </a:xfrm>
          <a:prstGeom prst="roundRect">
            <a:avLst>
              <a:gd name="adj" fmla="val 134"/>
            </a:avLst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400">
                <a:latin typeface="Bookman Old Style" pitchFamily="18" charset="0"/>
              </a:rPr>
              <a:t>Person</a:t>
            </a:r>
          </a:p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400">
                <a:latin typeface="Bookman Old Style" pitchFamily="18" charset="0"/>
              </a:rPr>
              <a:t>- name: String          </a:t>
            </a:r>
          </a:p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400">
                <a:latin typeface="Bookman Old Style" pitchFamily="18" charset="0"/>
              </a:rPr>
              <a:t>- dob: Date</a:t>
            </a:r>
          </a:p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endParaRPr lang="en-GB" sz="1400">
              <a:latin typeface="Bookman Old Style" pitchFamily="18" charset="0"/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7256360" y="4451894"/>
            <a:ext cx="0" cy="74599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945" tIns="41473" rIns="82945" bIns="41473"/>
          <a:lstStyle/>
          <a:p>
            <a:endParaRPr lang="en-US" sz="1400">
              <a:latin typeface="Bookman Old Style" pitchFamily="18" charset="0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372200" y="5139283"/>
            <a:ext cx="1759680" cy="861774"/>
          </a:xfrm>
          <a:prstGeom prst="roundRect">
            <a:avLst>
              <a:gd name="adj" fmla="val 139"/>
            </a:avLst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400">
                <a:latin typeface="Bookman Old Style" pitchFamily="18" charset="0"/>
              </a:rPr>
              <a:t>Employee</a:t>
            </a:r>
          </a:p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400">
                <a:latin typeface="Bookman Old Style" pitchFamily="18" charset="0"/>
              </a:rPr>
              <a:t>- employeeID: int</a:t>
            </a:r>
          </a:p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400">
                <a:latin typeface="Bookman Old Style" pitchFamily="18" charset="0"/>
              </a:rPr>
              <a:t>- salary: int</a:t>
            </a:r>
          </a:p>
          <a:p>
            <a:pPr>
              <a:buClr>
                <a:srgbClr val="000000"/>
              </a:buClr>
              <a:buSzPct val="67000"/>
              <a:tabLst>
                <a:tab pos="656650" algn="l"/>
                <a:tab pos="1313299" algn="l"/>
              </a:tabLst>
            </a:pPr>
            <a:r>
              <a:rPr lang="en-GB" sz="1400">
                <a:latin typeface="Bookman Old Style" pitchFamily="18" charset="0"/>
              </a:rPr>
              <a:t>- startDate: Date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19317" y="3099505"/>
            <a:ext cx="2993760" cy="1310311"/>
          </a:xfrm>
          <a:prstGeom prst="roundRect">
            <a:avLst>
              <a:gd name="adj" fmla="val 97"/>
            </a:avLst>
          </a:prstGeom>
          <a:solidFill>
            <a:srgbClr val="FFFF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 sz="1400">
              <a:latin typeface="Bookman Old Style" pitchFamily="18" charset="0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834628" y="3175414"/>
            <a:ext cx="2648160" cy="117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400" dirty="0">
                <a:latin typeface="Bookman Old Style" pitchFamily="18" charset="0"/>
              </a:rPr>
              <a:t>public class Person</a:t>
            </a:r>
          </a:p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400" dirty="0">
                <a:latin typeface="Bookman Old Style" pitchFamily="18" charset="0"/>
              </a:rPr>
              <a:t>{</a:t>
            </a:r>
          </a:p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400" dirty="0">
                <a:latin typeface="Bookman Old Style" pitchFamily="18" charset="0"/>
              </a:rPr>
              <a:t>	private String name;</a:t>
            </a:r>
          </a:p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400" dirty="0">
                <a:latin typeface="Bookman Old Style" pitchFamily="18" charset="0"/>
              </a:rPr>
              <a:t>	private Date dob;</a:t>
            </a:r>
          </a:p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400" dirty="0">
                <a:latin typeface="Bookman Old Style" pitchFamily="18" charset="0"/>
              </a:rPr>
              <a:t>	[...]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614309" y="4552858"/>
            <a:ext cx="4335840" cy="1477461"/>
          </a:xfrm>
          <a:prstGeom prst="roundRect">
            <a:avLst>
              <a:gd name="adj" fmla="val 88"/>
            </a:avLst>
          </a:prstGeom>
          <a:solidFill>
            <a:srgbClr val="FFFF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 sz="1400">
              <a:latin typeface="Bookman Old Style" pitchFamily="18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843268" y="4580155"/>
            <a:ext cx="3657600" cy="14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400" dirty="0">
                <a:latin typeface="Bookman Old Style" pitchFamily="18" charset="0"/>
              </a:rPr>
              <a:t>public class Employee </a:t>
            </a:r>
            <a:r>
              <a:rPr lang="en-GB" sz="1400" b="1" dirty="0">
                <a:latin typeface="Bookman Old Style" pitchFamily="18" charset="0"/>
              </a:rPr>
              <a:t>extends</a:t>
            </a:r>
            <a:r>
              <a:rPr lang="en-GB" sz="1400" dirty="0">
                <a:latin typeface="Bookman Old Style" pitchFamily="18" charset="0"/>
              </a:rPr>
              <a:t> Person</a:t>
            </a:r>
          </a:p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400" dirty="0">
                <a:latin typeface="Bookman Old Style" pitchFamily="18" charset="0"/>
              </a:rPr>
              <a:t>{</a:t>
            </a:r>
          </a:p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400" dirty="0">
                <a:latin typeface="Bookman Old Style" pitchFamily="18" charset="0"/>
              </a:rPr>
              <a:t>	private </a:t>
            </a:r>
            <a:r>
              <a:rPr lang="en-GB" sz="1400" dirty="0" err="1">
                <a:latin typeface="Bookman Old Style" pitchFamily="18" charset="0"/>
              </a:rPr>
              <a:t>int</a:t>
            </a:r>
            <a:r>
              <a:rPr lang="en-GB" sz="1400" dirty="0">
                <a:latin typeface="Bookman Old Style" pitchFamily="18" charset="0"/>
              </a:rPr>
              <a:t> </a:t>
            </a:r>
            <a:r>
              <a:rPr lang="en-GB" sz="1400" dirty="0" err="1">
                <a:latin typeface="Bookman Old Style" pitchFamily="18" charset="0"/>
              </a:rPr>
              <a:t>employeID</a:t>
            </a:r>
            <a:r>
              <a:rPr lang="en-GB" sz="1400" dirty="0">
                <a:latin typeface="Bookman Old Style" pitchFamily="18" charset="0"/>
              </a:rPr>
              <a:t>;</a:t>
            </a:r>
          </a:p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400" dirty="0">
                <a:latin typeface="Bookman Old Style" pitchFamily="18" charset="0"/>
              </a:rPr>
              <a:t>	private </a:t>
            </a:r>
            <a:r>
              <a:rPr lang="en-GB" sz="1400" dirty="0" err="1">
                <a:latin typeface="Bookman Old Style" pitchFamily="18" charset="0"/>
              </a:rPr>
              <a:t>int</a:t>
            </a:r>
            <a:r>
              <a:rPr lang="en-GB" sz="1400" dirty="0">
                <a:latin typeface="Bookman Old Style" pitchFamily="18" charset="0"/>
              </a:rPr>
              <a:t> salary;</a:t>
            </a:r>
          </a:p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400" dirty="0">
                <a:latin typeface="Bookman Old Style" pitchFamily="18" charset="0"/>
              </a:rPr>
              <a:t>	private Date </a:t>
            </a:r>
            <a:r>
              <a:rPr lang="en-GB" sz="1400" dirty="0" err="1">
                <a:latin typeface="Bookman Old Style" pitchFamily="18" charset="0"/>
              </a:rPr>
              <a:t>startDate</a:t>
            </a:r>
            <a:r>
              <a:rPr lang="en-GB" sz="1400" dirty="0">
                <a:latin typeface="Bookman Old Style" pitchFamily="18" charset="0"/>
              </a:rPr>
              <a:t>;</a:t>
            </a:r>
          </a:p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400" dirty="0">
                <a:latin typeface="Bookman Old Style" pitchFamily="18" charset="0"/>
              </a:rPr>
              <a:t>	[...]</a:t>
            </a:r>
          </a:p>
        </p:txBody>
      </p: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614309" y="6154152"/>
            <a:ext cx="4335840" cy="433716"/>
            <a:chOff x="910" y="3428"/>
            <a:chExt cx="3011" cy="479"/>
          </a:xfrm>
        </p:grpSpPr>
        <p:sp>
          <p:nvSpPr>
            <p:cNvPr id="14" name="AutoShape 12"/>
            <p:cNvSpPr>
              <a:spLocks noChangeArrowheads="1"/>
            </p:cNvSpPr>
            <p:nvPr/>
          </p:nvSpPr>
          <p:spPr bwMode="auto">
            <a:xfrm>
              <a:off x="910" y="3428"/>
              <a:ext cx="3011" cy="479"/>
            </a:xfrm>
            <a:prstGeom prst="roundRect">
              <a:avLst>
                <a:gd name="adj" fmla="val 278"/>
              </a:avLst>
            </a:prstGeom>
            <a:solidFill>
              <a:srgbClr val="FFFF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Bookman Old Style" pitchFamily="18" charset="0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1063" y="3518"/>
              <a:ext cx="254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211138" indent="-211138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ts val="249"/>
                </a:spcBef>
                <a:buClr>
                  <a:srgbClr val="000000"/>
                </a:buClr>
                <a:buSzPct val="174000"/>
              </a:pPr>
              <a:r>
                <a:rPr lang="en-GB" sz="1400" dirty="0">
                  <a:latin typeface="Bookman Old Style" pitchFamily="18" charset="0"/>
                </a:rPr>
                <a:t>Employee </a:t>
              </a:r>
              <a:r>
                <a:rPr lang="en-GB" sz="1400" dirty="0" err="1">
                  <a:latin typeface="Bookman Old Style" pitchFamily="18" charset="0"/>
                </a:rPr>
                <a:t>anEmployee</a:t>
              </a:r>
              <a:r>
                <a:rPr lang="en-GB" sz="1400" dirty="0">
                  <a:latin typeface="Bookman Old Style" pitchFamily="18" charset="0"/>
                </a:rPr>
                <a:t> = new Employee();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47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274637"/>
            <a:ext cx="7620000" cy="1143000"/>
          </a:xfrm>
        </p:spPr>
        <p:txBody>
          <a:bodyPr/>
          <a:lstStyle/>
          <a:p>
            <a:r>
              <a:rPr lang="en-US" dirty="0"/>
              <a:t>Types of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Bookman Old Style" pitchFamily="18" charset="0"/>
              </a:rPr>
              <a:t>Single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Bookman Old Style" pitchFamily="18" charset="0"/>
              </a:rPr>
              <a:t>Multilevel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Bookman Old Style" pitchFamily="18" charset="0"/>
              </a:rPr>
              <a:t>Hierarchical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Bookman Old Style" pitchFamily="18" charset="0"/>
              </a:rPr>
              <a:t>Hybrid</a:t>
            </a:r>
          </a:p>
        </p:txBody>
      </p:sp>
      <p:pic>
        <p:nvPicPr>
          <p:cNvPr id="5" name="Picture 2" descr="Inheritance - object oriented programming - Edurek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51" y="3717032"/>
            <a:ext cx="7917037" cy="268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1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424" y="274637"/>
            <a:ext cx="7620000" cy="1143000"/>
          </a:xfrm>
        </p:spPr>
        <p:txBody>
          <a:bodyPr/>
          <a:lstStyle/>
          <a:p>
            <a:r>
              <a:rPr lang="en-US" dirty="0"/>
              <a:t>Types of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Bookman Old Style" pitchFamily="18" charset="0"/>
              </a:rPr>
              <a:t>Single Level Inheritance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42" b="46558"/>
          <a:stretch/>
        </p:blipFill>
        <p:spPr bwMode="auto">
          <a:xfrm>
            <a:off x="899592" y="2996952"/>
            <a:ext cx="1782908" cy="2025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3456384" y="2339002"/>
            <a:ext cx="5580112" cy="397031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Bookman Old Style" pitchFamily="18" charset="0"/>
              </a:rPr>
              <a:t>class</a:t>
            </a:r>
            <a:r>
              <a:rPr lang="en-US" dirty="0">
                <a:latin typeface="Bookman Old Style" pitchFamily="18" charset="0"/>
              </a:rPr>
              <a:t> Animal{  </a:t>
            </a:r>
          </a:p>
          <a:p>
            <a:pPr lvl="1"/>
            <a:r>
              <a:rPr lang="en-US" b="1" dirty="0">
                <a:latin typeface="Bookman Old Style" pitchFamily="18" charset="0"/>
              </a:rPr>
              <a:t>void</a:t>
            </a:r>
            <a:r>
              <a:rPr lang="en-US" dirty="0">
                <a:latin typeface="Bookman Old Style" pitchFamily="18" charset="0"/>
              </a:rPr>
              <a:t> eat(){</a:t>
            </a:r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("eating...");}  </a:t>
            </a:r>
          </a:p>
          <a:p>
            <a:pPr lvl="1"/>
            <a:r>
              <a:rPr lang="en-US" dirty="0">
                <a:latin typeface="Bookman Old Style" pitchFamily="18" charset="0"/>
              </a:rPr>
              <a:t>}  </a:t>
            </a:r>
          </a:p>
          <a:p>
            <a:pPr lvl="1"/>
            <a:r>
              <a:rPr lang="en-US" b="1" dirty="0">
                <a:latin typeface="Bookman Old Style" pitchFamily="18" charset="0"/>
              </a:rPr>
              <a:t>class</a:t>
            </a:r>
            <a:r>
              <a:rPr lang="en-US" dirty="0">
                <a:latin typeface="Bookman Old Style" pitchFamily="18" charset="0"/>
              </a:rPr>
              <a:t> Dog </a:t>
            </a:r>
            <a:r>
              <a:rPr lang="en-US" b="1" dirty="0">
                <a:latin typeface="Bookman Old Style" pitchFamily="18" charset="0"/>
              </a:rPr>
              <a:t>extends</a:t>
            </a:r>
            <a:r>
              <a:rPr lang="en-US" dirty="0">
                <a:latin typeface="Bookman Old Style" pitchFamily="18" charset="0"/>
              </a:rPr>
              <a:t> Animal{  </a:t>
            </a:r>
          </a:p>
          <a:p>
            <a:pPr lvl="1"/>
            <a:r>
              <a:rPr lang="en-US" b="1" dirty="0">
                <a:latin typeface="Bookman Old Style" pitchFamily="18" charset="0"/>
              </a:rPr>
              <a:t>void</a:t>
            </a:r>
            <a:r>
              <a:rPr lang="en-US" dirty="0">
                <a:latin typeface="Bookman Old Style" pitchFamily="18" charset="0"/>
              </a:rPr>
              <a:t> bark(){</a:t>
            </a:r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("barking...");}  </a:t>
            </a:r>
          </a:p>
          <a:p>
            <a:pPr lvl="1"/>
            <a:r>
              <a:rPr lang="en-US" dirty="0">
                <a:latin typeface="Bookman Old Style" pitchFamily="18" charset="0"/>
              </a:rPr>
              <a:t>}  </a:t>
            </a:r>
          </a:p>
          <a:p>
            <a:pPr lvl="1"/>
            <a:r>
              <a:rPr lang="en-US" b="1" dirty="0">
                <a:latin typeface="Bookman Old Style" pitchFamily="18" charset="0"/>
              </a:rPr>
              <a:t>class</a:t>
            </a:r>
            <a:r>
              <a:rPr lang="en-US" dirty="0">
                <a:latin typeface="Bookman Old Style" pitchFamily="18" charset="0"/>
              </a:rPr>
              <a:t> </a:t>
            </a:r>
            <a:r>
              <a:rPr lang="en-US" dirty="0" err="1">
                <a:latin typeface="Bookman Old Style" pitchFamily="18" charset="0"/>
              </a:rPr>
              <a:t>TestInheritance</a:t>
            </a:r>
            <a:r>
              <a:rPr lang="en-US" dirty="0">
                <a:latin typeface="Bookman Old Style" pitchFamily="18" charset="0"/>
              </a:rPr>
              <a:t>{  </a:t>
            </a:r>
          </a:p>
          <a:p>
            <a:pPr lvl="2"/>
            <a:r>
              <a:rPr lang="en-US" b="1" dirty="0">
                <a:latin typeface="Bookman Old Style" pitchFamily="18" charset="0"/>
              </a:rPr>
              <a:t>public</a:t>
            </a:r>
            <a:r>
              <a:rPr lang="en-US" dirty="0">
                <a:latin typeface="Bookman Old Style" pitchFamily="18" charset="0"/>
              </a:rPr>
              <a:t> </a:t>
            </a:r>
            <a:r>
              <a:rPr lang="en-US" b="1" dirty="0">
                <a:latin typeface="Bookman Old Style" pitchFamily="18" charset="0"/>
              </a:rPr>
              <a:t>static</a:t>
            </a:r>
            <a:r>
              <a:rPr lang="en-US" dirty="0">
                <a:latin typeface="Bookman Old Style" pitchFamily="18" charset="0"/>
              </a:rPr>
              <a:t> </a:t>
            </a:r>
            <a:r>
              <a:rPr lang="en-US" b="1" dirty="0">
                <a:latin typeface="Bookman Old Style" pitchFamily="18" charset="0"/>
              </a:rPr>
              <a:t>void</a:t>
            </a:r>
            <a:r>
              <a:rPr lang="en-US" dirty="0">
                <a:latin typeface="Bookman Old Style" pitchFamily="18" charset="0"/>
              </a:rPr>
              <a:t> main(String </a:t>
            </a:r>
            <a:r>
              <a:rPr lang="en-US" dirty="0" err="1">
                <a:latin typeface="Bookman Old Style" pitchFamily="18" charset="0"/>
              </a:rPr>
              <a:t>args</a:t>
            </a:r>
            <a:r>
              <a:rPr lang="en-US" dirty="0">
                <a:latin typeface="Bookman Old Style" pitchFamily="18" charset="0"/>
              </a:rPr>
              <a:t>[]){  </a:t>
            </a:r>
          </a:p>
          <a:p>
            <a:pPr lvl="2"/>
            <a:r>
              <a:rPr lang="en-US" dirty="0">
                <a:latin typeface="Bookman Old Style" pitchFamily="18" charset="0"/>
              </a:rPr>
              <a:t>Dog d=</a:t>
            </a:r>
            <a:r>
              <a:rPr lang="en-US" b="1" dirty="0">
                <a:latin typeface="Bookman Old Style" pitchFamily="18" charset="0"/>
              </a:rPr>
              <a:t>new</a:t>
            </a:r>
            <a:r>
              <a:rPr lang="en-US" dirty="0">
                <a:latin typeface="Bookman Old Style" pitchFamily="18" charset="0"/>
              </a:rPr>
              <a:t> Dog();  </a:t>
            </a:r>
          </a:p>
          <a:p>
            <a:pPr lvl="2"/>
            <a:r>
              <a:rPr lang="en-US" dirty="0" err="1">
                <a:latin typeface="Bookman Old Style" pitchFamily="18" charset="0"/>
              </a:rPr>
              <a:t>d.</a:t>
            </a:r>
            <a:r>
              <a:rPr lang="en-US" b="1" dirty="0" err="1">
                <a:latin typeface="Bookman Old Style" pitchFamily="18" charset="0"/>
              </a:rPr>
              <a:t>bark</a:t>
            </a:r>
            <a:r>
              <a:rPr lang="en-US" dirty="0">
                <a:latin typeface="Bookman Old Style" pitchFamily="18" charset="0"/>
              </a:rPr>
              <a:t>();  </a:t>
            </a:r>
          </a:p>
          <a:p>
            <a:pPr lvl="2"/>
            <a:r>
              <a:rPr lang="en-US" dirty="0" err="1">
                <a:latin typeface="Bookman Old Style" pitchFamily="18" charset="0"/>
              </a:rPr>
              <a:t>d.</a:t>
            </a:r>
            <a:r>
              <a:rPr lang="en-US" b="1" dirty="0" err="1">
                <a:latin typeface="Bookman Old Style" pitchFamily="18" charset="0"/>
              </a:rPr>
              <a:t>eat</a:t>
            </a:r>
            <a:r>
              <a:rPr lang="en-US" dirty="0">
                <a:latin typeface="Bookman Old Style" pitchFamily="18" charset="0"/>
              </a:rPr>
              <a:t>();  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208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60648"/>
            <a:ext cx="7620000" cy="1143000"/>
          </a:xfrm>
        </p:spPr>
        <p:txBody>
          <a:bodyPr/>
          <a:lstStyle/>
          <a:p>
            <a:r>
              <a:rPr lang="en-US" dirty="0"/>
              <a:t>Types of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Bookman Old Style" pitchFamily="18" charset="0"/>
              </a:rPr>
              <a:t>2. Multilevel Inheritance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427984" y="2132856"/>
            <a:ext cx="4572000" cy="4524315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r>
              <a:rPr lang="en-US" sz="1600" b="1" dirty="0">
                <a:latin typeface="Bookman Old Style" pitchFamily="18" charset="0"/>
              </a:rPr>
              <a:t>class</a:t>
            </a:r>
            <a:r>
              <a:rPr lang="en-US" sz="1600" dirty="0">
                <a:latin typeface="Bookman Old Style" pitchFamily="18" charset="0"/>
              </a:rPr>
              <a:t> Animal{  </a:t>
            </a:r>
          </a:p>
          <a:p>
            <a:r>
              <a:rPr lang="en-US" sz="1600" b="1" dirty="0">
                <a:latin typeface="Bookman Old Style" pitchFamily="18" charset="0"/>
              </a:rPr>
              <a:t>void</a:t>
            </a:r>
            <a:r>
              <a:rPr lang="en-US" sz="1600" dirty="0">
                <a:latin typeface="Bookman Old Style" pitchFamily="18" charset="0"/>
              </a:rPr>
              <a:t> eat(){</a:t>
            </a:r>
            <a:r>
              <a:rPr lang="en-US" sz="1600" dirty="0" err="1">
                <a:latin typeface="Bookman Old Style" pitchFamily="18" charset="0"/>
              </a:rPr>
              <a:t>System.out.println</a:t>
            </a:r>
            <a:r>
              <a:rPr lang="en-US" sz="1600" dirty="0">
                <a:latin typeface="Bookman Old Style" pitchFamily="18" charset="0"/>
              </a:rPr>
              <a:t>("eating...");}  </a:t>
            </a:r>
          </a:p>
          <a:p>
            <a:r>
              <a:rPr lang="en-US" sz="1600" dirty="0">
                <a:latin typeface="Bookman Old Style" pitchFamily="18" charset="0"/>
              </a:rPr>
              <a:t>}  </a:t>
            </a:r>
          </a:p>
          <a:p>
            <a:r>
              <a:rPr lang="en-US" sz="1600" b="1" dirty="0">
                <a:latin typeface="Bookman Old Style" pitchFamily="18" charset="0"/>
              </a:rPr>
              <a:t>class</a:t>
            </a:r>
            <a:r>
              <a:rPr lang="en-US" sz="1600" dirty="0">
                <a:latin typeface="Bookman Old Style" pitchFamily="18" charset="0"/>
              </a:rPr>
              <a:t> Dog </a:t>
            </a:r>
            <a:r>
              <a:rPr lang="en-US" sz="1600" b="1" dirty="0">
                <a:latin typeface="Bookman Old Style" pitchFamily="18" charset="0"/>
              </a:rPr>
              <a:t>extends</a:t>
            </a:r>
            <a:r>
              <a:rPr lang="en-US" sz="1600" dirty="0">
                <a:latin typeface="Bookman Old Style" pitchFamily="18" charset="0"/>
              </a:rPr>
              <a:t> Animal{  </a:t>
            </a:r>
          </a:p>
          <a:p>
            <a:r>
              <a:rPr lang="en-US" sz="1600" b="1" dirty="0">
                <a:latin typeface="Bookman Old Style" pitchFamily="18" charset="0"/>
              </a:rPr>
              <a:t>void</a:t>
            </a:r>
            <a:r>
              <a:rPr lang="en-US" sz="1600" dirty="0">
                <a:latin typeface="Bookman Old Style" pitchFamily="18" charset="0"/>
              </a:rPr>
              <a:t> bark(){</a:t>
            </a:r>
            <a:r>
              <a:rPr lang="en-US" sz="1600" dirty="0" err="1">
                <a:latin typeface="Bookman Old Style" pitchFamily="18" charset="0"/>
              </a:rPr>
              <a:t>System.out.println</a:t>
            </a:r>
            <a:r>
              <a:rPr lang="en-US" sz="1600" dirty="0">
                <a:latin typeface="Bookman Old Style" pitchFamily="18" charset="0"/>
              </a:rPr>
              <a:t>("barking...");}  </a:t>
            </a:r>
          </a:p>
          <a:p>
            <a:r>
              <a:rPr lang="en-US" sz="1600" dirty="0">
                <a:latin typeface="Bookman Old Style" pitchFamily="18" charset="0"/>
              </a:rPr>
              <a:t>}  </a:t>
            </a:r>
          </a:p>
          <a:p>
            <a:r>
              <a:rPr lang="en-US" sz="1600" b="1" dirty="0">
                <a:latin typeface="Bookman Old Style" pitchFamily="18" charset="0"/>
              </a:rPr>
              <a:t>class</a:t>
            </a:r>
            <a:r>
              <a:rPr lang="en-US" sz="1600" dirty="0">
                <a:latin typeface="Bookman Old Style" pitchFamily="18" charset="0"/>
              </a:rPr>
              <a:t> </a:t>
            </a:r>
            <a:r>
              <a:rPr lang="en-US" sz="1600" dirty="0" err="1">
                <a:latin typeface="Bookman Old Style" pitchFamily="18" charset="0"/>
              </a:rPr>
              <a:t>BabyDog</a:t>
            </a:r>
            <a:r>
              <a:rPr lang="en-US" sz="1600" dirty="0">
                <a:latin typeface="Bookman Old Style" pitchFamily="18" charset="0"/>
              </a:rPr>
              <a:t> </a:t>
            </a:r>
            <a:r>
              <a:rPr lang="en-US" sz="1600" b="1" dirty="0">
                <a:latin typeface="Bookman Old Style" pitchFamily="18" charset="0"/>
              </a:rPr>
              <a:t>extends</a:t>
            </a:r>
            <a:r>
              <a:rPr lang="en-US" sz="1600" dirty="0">
                <a:latin typeface="Bookman Old Style" pitchFamily="18" charset="0"/>
              </a:rPr>
              <a:t> Dog{  </a:t>
            </a:r>
          </a:p>
          <a:p>
            <a:r>
              <a:rPr lang="en-US" sz="1600" b="1" dirty="0">
                <a:latin typeface="Bookman Old Style" pitchFamily="18" charset="0"/>
              </a:rPr>
              <a:t>void</a:t>
            </a:r>
            <a:r>
              <a:rPr lang="en-US" sz="1600" dirty="0">
                <a:latin typeface="Bookman Old Style" pitchFamily="18" charset="0"/>
              </a:rPr>
              <a:t> weep(){</a:t>
            </a:r>
            <a:r>
              <a:rPr lang="en-US" sz="1600" dirty="0" err="1">
                <a:latin typeface="Bookman Old Style" pitchFamily="18" charset="0"/>
              </a:rPr>
              <a:t>System.out.println</a:t>
            </a:r>
            <a:r>
              <a:rPr lang="en-US" sz="1600" dirty="0">
                <a:latin typeface="Bookman Old Style" pitchFamily="18" charset="0"/>
              </a:rPr>
              <a:t>("weeping...");}  </a:t>
            </a:r>
          </a:p>
          <a:p>
            <a:r>
              <a:rPr lang="en-US" sz="1600" dirty="0">
                <a:latin typeface="Bookman Old Style" pitchFamily="18" charset="0"/>
              </a:rPr>
              <a:t>}  </a:t>
            </a:r>
          </a:p>
          <a:p>
            <a:r>
              <a:rPr lang="en-US" sz="1600" b="1" dirty="0">
                <a:latin typeface="Bookman Old Style" pitchFamily="18" charset="0"/>
              </a:rPr>
              <a:t>class</a:t>
            </a:r>
            <a:r>
              <a:rPr lang="en-US" sz="1600" dirty="0">
                <a:latin typeface="Bookman Old Style" pitchFamily="18" charset="0"/>
              </a:rPr>
              <a:t> TestInheritance2{  </a:t>
            </a:r>
          </a:p>
          <a:p>
            <a:r>
              <a:rPr lang="en-US" sz="1600" b="1" dirty="0">
                <a:latin typeface="Bookman Old Style" pitchFamily="18" charset="0"/>
              </a:rPr>
              <a:t>public</a:t>
            </a:r>
            <a:r>
              <a:rPr lang="en-US" sz="1600" dirty="0">
                <a:latin typeface="Bookman Old Style" pitchFamily="18" charset="0"/>
              </a:rPr>
              <a:t> </a:t>
            </a:r>
            <a:r>
              <a:rPr lang="en-US" sz="1600" b="1" dirty="0">
                <a:latin typeface="Bookman Old Style" pitchFamily="18" charset="0"/>
              </a:rPr>
              <a:t>static</a:t>
            </a:r>
            <a:r>
              <a:rPr lang="en-US" sz="1600" dirty="0">
                <a:latin typeface="Bookman Old Style" pitchFamily="18" charset="0"/>
              </a:rPr>
              <a:t> </a:t>
            </a:r>
            <a:r>
              <a:rPr lang="en-US" sz="1600" b="1" dirty="0">
                <a:latin typeface="Bookman Old Style" pitchFamily="18" charset="0"/>
              </a:rPr>
              <a:t>void</a:t>
            </a:r>
            <a:r>
              <a:rPr lang="en-US" sz="1600" dirty="0">
                <a:latin typeface="Bookman Old Style" pitchFamily="18" charset="0"/>
              </a:rPr>
              <a:t> main(String </a:t>
            </a:r>
            <a:r>
              <a:rPr lang="en-US" sz="1600" dirty="0" err="1">
                <a:latin typeface="Bookman Old Style" pitchFamily="18" charset="0"/>
              </a:rPr>
              <a:t>args</a:t>
            </a:r>
            <a:r>
              <a:rPr lang="en-US" sz="1600" dirty="0">
                <a:latin typeface="Bookman Old Style" pitchFamily="18" charset="0"/>
              </a:rPr>
              <a:t>[]){  </a:t>
            </a:r>
          </a:p>
          <a:p>
            <a:r>
              <a:rPr lang="en-US" sz="1600" dirty="0" err="1">
                <a:latin typeface="Bookman Old Style" pitchFamily="18" charset="0"/>
              </a:rPr>
              <a:t>BabyDog</a:t>
            </a:r>
            <a:r>
              <a:rPr lang="en-US" sz="1600" dirty="0">
                <a:latin typeface="Bookman Old Style" pitchFamily="18" charset="0"/>
              </a:rPr>
              <a:t> d=</a:t>
            </a:r>
            <a:r>
              <a:rPr lang="en-US" sz="1600" b="1" dirty="0">
                <a:latin typeface="Bookman Old Style" pitchFamily="18" charset="0"/>
              </a:rPr>
              <a:t>new</a:t>
            </a:r>
            <a:r>
              <a:rPr lang="en-US" sz="1600" dirty="0">
                <a:latin typeface="Bookman Old Style" pitchFamily="18" charset="0"/>
              </a:rPr>
              <a:t> </a:t>
            </a:r>
            <a:r>
              <a:rPr lang="en-US" sz="1600" dirty="0" err="1">
                <a:latin typeface="Bookman Old Style" pitchFamily="18" charset="0"/>
              </a:rPr>
              <a:t>BabyDog</a:t>
            </a:r>
            <a:r>
              <a:rPr lang="en-US" sz="1600" dirty="0">
                <a:latin typeface="Bookman Old Style" pitchFamily="18" charset="0"/>
              </a:rPr>
              <a:t>();  </a:t>
            </a:r>
          </a:p>
          <a:p>
            <a:r>
              <a:rPr lang="en-US" sz="1600" dirty="0" err="1">
                <a:latin typeface="Bookman Old Style" pitchFamily="18" charset="0"/>
              </a:rPr>
              <a:t>d.weep</a:t>
            </a:r>
            <a:r>
              <a:rPr lang="en-US" sz="1600" dirty="0">
                <a:latin typeface="Bookman Old Style" pitchFamily="18" charset="0"/>
              </a:rPr>
              <a:t>();  </a:t>
            </a:r>
          </a:p>
          <a:p>
            <a:r>
              <a:rPr lang="en-US" sz="1600" dirty="0" err="1">
                <a:latin typeface="Bookman Old Style" pitchFamily="18" charset="0"/>
              </a:rPr>
              <a:t>d.bark</a:t>
            </a:r>
            <a:r>
              <a:rPr lang="en-US" sz="1600" dirty="0">
                <a:latin typeface="Bookman Old Style" pitchFamily="18" charset="0"/>
              </a:rPr>
              <a:t>();  </a:t>
            </a:r>
          </a:p>
          <a:p>
            <a:r>
              <a:rPr lang="en-US" sz="1600" dirty="0" err="1">
                <a:latin typeface="Bookman Old Style" pitchFamily="18" charset="0"/>
              </a:rPr>
              <a:t>d.eat</a:t>
            </a:r>
            <a:r>
              <a:rPr lang="en-US" sz="1600" dirty="0">
                <a:latin typeface="Bookman Old Style" pitchFamily="18" charset="0"/>
              </a:rPr>
              <a:t>();  </a:t>
            </a:r>
          </a:p>
          <a:p>
            <a:r>
              <a:rPr lang="en-US" sz="1600" dirty="0">
                <a:latin typeface="Bookman Old Style" pitchFamily="18" charset="0"/>
              </a:rPr>
              <a:t>}}  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80" t="1" r="48039" b="13511"/>
          <a:stretch/>
        </p:blipFill>
        <p:spPr bwMode="auto">
          <a:xfrm>
            <a:off x="1331640" y="2420888"/>
            <a:ext cx="1855961" cy="3278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208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424" y="197768"/>
            <a:ext cx="7620000" cy="1143000"/>
          </a:xfrm>
        </p:spPr>
        <p:txBody>
          <a:bodyPr/>
          <a:lstStyle/>
          <a:p>
            <a:r>
              <a:rPr lang="en-US" dirty="0"/>
              <a:t>Types of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Bookman Old Style" pitchFamily="18" charset="0"/>
              </a:rPr>
              <a:t>3. Hierarchical Inheritance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55976" y="2060848"/>
            <a:ext cx="4572000" cy="4524315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r>
              <a:rPr lang="en-US" sz="1600" b="1" dirty="0">
                <a:latin typeface="Bookman Old Style" pitchFamily="18" charset="0"/>
              </a:rPr>
              <a:t>class</a:t>
            </a:r>
            <a:r>
              <a:rPr lang="en-US" sz="1600" dirty="0">
                <a:latin typeface="Bookman Old Style" pitchFamily="18" charset="0"/>
              </a:rPr>
              <a:t> Animal{  </a:t>
            </a:r>
          </a:p>
          <a:p>
            <a:r>
              <a:rPr lang="en-US" sz="1600" b="1" dirty="0">
                <a:latin typeface="Bookman Old Style" pitchFamily="18" charset="0"/>
              </a:rPr>
              <a:t>void</a:t>
            </a:r>
            <a:r>
              <a:rPr lang="en-US" sz="1600" dirty="0">
                <a:latin typeface="Bookman Old Style" pitchFamily="18" charset="0"/>
              </a:rPr>
              <a:t> eat(){</a:t>
            </a:r>
            <a:r>
              <a:rPr lang="en-US" sz="1600" dirty="0" err="1">
                <a:latin typeface="Bookman Old Style" pitchFamily="18" charset="0"/>
              </a:rPr>
              <a:t>System.out.println</a:t>
            </a:r>
            <a:r>
              <a:rPr lang="en-US" sz="1600" dirty="0">
                <a:latin typeface="Bookman Old Style" pitchFamily="18" charset="0"/>
              </a:rPr>
              <a:t>("eating...");}  </a:t>
            </a:r>
          </a:p>
          <a:p>
            <a:r>
              <a:rPr lang="en-US" sz="1600" dirty="0">
                <a:latin typeface="Bookman Old Style" pitchFamily="18" charset="0"/>
              </a:rPr>
              <a:t>}  </a:t>
            </a:r>
          </a:p>
          <a:p>
            <a:r>
              <a:rPr lang="en-US" sz="1600" b="1" dirty="0">
                <a:latin typeface="Bookman Old Style" pitchFamily="18" charset="0"/>
              </a:rPr>
              <a:t>class</a:t>
            </a:r>
            <a:r>
              <a:rPr lang="en-US" sz="1600" dirty="0">
                <a:latin typeface="Bookman Old Style" pitchFamily="18" charset="0"/>
              </a:rPr>
              <a:t> Dog </a:t>
            </a:r>
            <a:r>
              <a:rPr lang="en-US" sz="1600" b="1" dirty="0">
                <a:latin typeface="Bookman Old Style" pitchFamily="18" charset="0"/>
              </a:rPr>
              <a:t>extends</a:t>
            </a:r>
            <a:r>
              <a:rPr lang="en-US" sz="1600" dirty="0">
                <a:latin typeface="Bookman Old Style" pitchFamily="18" charset="0"/>
              </a:rPr>
              <a:t> Animal{  </a:t>
            </a:r>
          </a:p>
          <a:p>
            <a:r>
              <a:rPr lang="en-US" sz="1600" b="1" dirty="0">
                <a:latin typeface="Bookman Old Style" pitchFamily="18" charset="0"/>
              </a:rPr>
              <a:t>void</a:t>
            </a:r>
            <a:r>
              <a:rPr lang="en-US" sz="1600" dirty="0">
                <a:latin typeface="Bookman Old Style" pitchFamily="18" charset="0"/>
              </a:rPr>
              <a:t> bark(){</a:t>
            </a:r>
            <a:r>
              <a:rPr lang="en-US" sz="1600" dirty="0" err="1">
                <a:latin typeface="Bookman Old Style" pitchFamily="18" charset="0"/>
              </a:rPr>
              <a:t>System.out.println</a:t>
            </a:r>
            <a:r>
              <a:rPr lang="en-US" sz="1600" dirty="0">
                <a:latin typeface="Bookman Old Style" pitchFamily="18" charset="0"/>
              </a:rPr>
              <a:t>("barking...");}  </a:t>
            </a:r>
          </a:p>
          <a:p>
            <a:r>
              <a:rPr lang="en-US" sz="1600" dirty="0">
                <a:latin typeface="Bookman Old Style" pitchFamily="18" charset="0"/>
              </a:rPr>
              <a:t>}  </a:t>
            </a:r>
          </a:p>
          <a:p>
            <a:r>
              <a:rPr lang="en-US" sz="1600" b="1" dirty="0">
                <a:latin typeface="Bookman Old Style" pitchFamily="18" charset="0"/>
              </a:rPr>
              <a:t>class</a:t>
            </a:r>
            <a:r>
              <a:rPr lang="en-US" sz="1600" dirty="0">
                <a:latin typeface="Bookman Old Style" pitchFamily="18" charset="0"/>
              </a:rPr>
              <a:t> Cat </a:t>
            </a:r>
            <a:r>
              <a:rPr lang="en-US" sz="1600" b="1" dirty="0">
                <a:latin typeface="Bookman Old Style" pitchFamily="18" charset="0"/>
              </a:rPr>
              <a:t>extends</a:t>
            </a:r>
            <a:r>
              <a:rPr lang="en-US" sz="1600" dirty="0">
                <a:latin typeface="Bookman Old Style" pitchFamily="18" charset="0"/>
              </a:rPr>
              <a:t> Animal{  </a:t>
            </a:r>
          </a:p>
          <a:p>
            <a:r>
              <a:rPr lang="en-US" sz="1600" b="1" dirty="0">
                <a:latin typeface="Bookman Old Style" pitchFamily="18" charset="0"/>
              </a:rPr>
              <a:t>void</a:t>
            </a:r>
            <a:r>
              <a:rPr lang="en-US" sz="1600" dirty="0">
                <a:latin typeface="Bookman Old Style" pitchFamily="18" charset="0"/>
              </a:rPr>
              <a:t> meow(){</a:t>
            </a:r>
            <a:r>
              <a:rPr lang="en-US" sz="1600" dirty="0" err="1">
                <a:latin typeface="Bookman Old Style" pitchFamily="18" charset="0"/>
              </a:rPr>
              <a:t>System.out.println</a:t>
            </a:r>
            <a:r>
              <a:rPr lang="en-US" sz="1600" dirty="0">
                <a:latin typeface="Bookman Old Style" pitchFamily="18" charset="0"/>
              </a:rPr>
              <a:t>("meowing...");}  </a:t>
            </a:r>
          </a:p>
          <a:p>
            <a:r>
              <a:rPr lang="en-US" sz="1600" dirty="0">
                <a:latin typeface="Bookman Old Style" pitchFamily="18" charset="0"/>
              </a:rPr>
              <a:t>}  </a:t>
            </a:r>
          </a:p>
          <a:p>
            <a:r>
              <a:rPr lang="en-US" sz="1600" b="1" dirty="0">
                <a:latin typeface="Bookman Old Style" pitchFamily="18" charset="0"/>
              </a:rPr>
              <a:t>class</a:t>
            </a:r>
            <a:r>
              <a:rPr lang="en-US" sz="1600" dirty="0">
                <a:latin typeface="Bookman Old Style" pitchFamily="18" charset="0"/>
              </a:rPr>
              <a:t> TestInheritance3{  </a:t>
            </a:r>
          </a:p>
          <a:p>
            <a:r>
              <a:rPr lang="en-US" sz="1600" b="1" dirty="0">
                <a:latin typeface="Bookman Old Style" pitchFamily="18" charset="0"/>
              </a:rPr>
              <a:t>public</a:t>
            </a:r>
            <a:r>
              <a:rPr lang="en-US" sz="1600" dirty="0">
                <a:latin typeface="Bookman Old Style" pitchFamily="18" charset="0"/>
              </a:rPr>
              <a:t> </a:t>
            </a:r>
            <a:r>
              <a:rPr lang="en-US" sz="1600" b="1" dirty="0">
                <a:latin typeface="Bookman Old Style" pitchFamily="18" charset="0"/>
              </a:rPr>
              <a:t>static</a:t>
            </a:r>
            <a:r>
              <a:rPr lang="en-US" sz="1600" dirty="0">
                <a:latin typeface="Bookman Old Style" pitchFamily="18" charset="0"/>
              </a:rPr>
              <a:t> </a:t>
            </a:r>
            <a:r>
              <a:rPr lang="en-US" sz="1600" b="1" dirty="0">
                <a:latin typeface="Bookman Old Style" pitchFamily="18" charset="0"/>
              </a:rPr>
              <a:t>void</a:t>
            </a:r>
            <a:r>
              <a:rPr lang="en-US" sz="1600" dirty="0">
                <a:latin typeface="Bookman Old Style" pitchFamily="18" charset="0"/>
              </a:rPr>
              <a:t> main(String </a:t>
            </a:r>
            <a:r>
              <a:rPr lang="en-US" sz="1600" dirty="0" err="1">
                <a:latin typeface="Bookman Old Style" pitchFamily="18" charset="0"/>
              </a:rPr>
              <a:t>args</a:t>
            </a:r>
            <a:r>
              <a:rPr lang="en-US" sz="1600" dirty="0">
                <a:latin typeface="Bookman Old Style" pitchFamily="18" charset="0"/>
              </a:rPr>
              <a:t>[]){  </a:t>
            </a:r>
          </a:p>
          <a:p>
            <a:r>
              <a:rPr lang="en-US" sz="1600" dirty="0">
                <a:latin typeface="Bookman Old Style" pitchFamily="18" charset="0"/>
              </a:rPr>
              <a:t>Cat c=</a:t>
            </a:r>
            <a:r>
              <a:rPr lang="en-US" sz="1600" b="1" dirty="0">
                <a:latin typeface="Bookman Old Style" pitchFamily="18" charset="0"/>
              </a:rPr>
              <a:t>new</a:t>
            </a:r>
            <a:r>
              <a:rPr lang="en-US" sz="1600" dirty="0">
                <a:latin typeface="Bookman Old Style" pitchFamily="18" charset="0"/>
              </a:rPr>
              <a:t> Cat();  </a:t>
            </a:r>
          </a:p>
          <a:p>
            <a:r>
              <a:rPr lang="en-US" sz="1600" dirty="0" err="1">
                <a:latin typeface="Bookman Old Style" pitchFamily="18" charset="0"/>
              </a:rPr>
              <a:t>c.meow</a:t>
            </a:r>
            <a:r>
              <a:rPr lang="en-US" sz="1600" dirty="0">
                <a:latin typeface="Bookman Old Style" pitchFamily="18" charset="0"/>
              </a:rPr>
              <a:t>();  </a:t>
            </a:r>
          </a:p>
          <a:p>
            <a:r>
              <a:rPr lang="en-US" sz="1600" dirty="0" err="1">
                <a:latin typeface="Bookman Old Style" pitchFamily="18" charset="0"/>
              </a:rPr>
              <a:t>c.eat</a:t>
            </a:r>
            <a:r>
              <a:rPr lang="en-US" sz="1600" dirty="0">
                <a:latin typeface="Bookman Old Style" pitchFamily="18" charset="0"/>
              </a:rPr>
              <a:t>();  </a:t>
            </a:r>
          </a:p>
          <a:p>
            <a:r>
              <a:rPr lang="en-US" sz="1600" dirty="0">
                <a:latin typeface="Bookman Old Style" pitchFamily="18" charset="0"/>
              </a:rPr>
              <a:t>//</a:t>
            </a:r>
            <a:r>
              <a:rPr lang="en-US" sz="1600" dirty="0" err="1">
                <a:latin typeface="Bookman Old Style" pitchFamily="18" charset="0"/>
              </a:rPr>
              <a:t>c.bark</a:t>
            </a:r>
            <a:r>
              <a:rPr lang="en-US" sz="1600" dirty="0">
                <a:latin typeface="Bookman Old Style" pitchFamily="18" charset="0"/>
              </a:rPr>
              <a:t>();//Error  </a:t>
            </a:r>
          </a:p>
          <a:p>
            <a:r>
              <a:rPr lang="en-US" sz="1600" dirty="0">
                <a:latin typeface="Bookman Old Style" pitchFamily="18" charset="0"/>
              </a:rPr>
              <a:t>}}  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72" t="1" r="1149" b="46135"/>
          <a:stretch/>
        </p:blipFill>
        <p:spPr bwMode="auto">
          <a:xfrm>
            <a:off x="755576" y="2708920"/>
            <a:ext cx="3234520" cy="2041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2089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587" y="193955"/>
            <a:ext cx="7620000" cy="1143000"/>
          </a:xfrm>
        </p:spPr>
        <p:txBody>
          <a:bodyPr/>
          <a:lstStyle/>
          <a:p>
            <a:r>
              <a:rPr lang="en-US" dirty="0"/>
              <a:t>Types of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50904" cy="4800600"/>
          </a:xfrm>
        </p:spPr>
        <p:txBody>
          <a:bodyPr>
            <a:normAutofit fontScale="85000" lnSpcReduction="10000"/>
          </a:bodyPr>
          <a:lstStyle/>
          <a:p>
            <a:pPr marL="0" indent="0" latinLnBrk="0">
              <a:lnSpc>
                <a:spcPct val="150000"/>
              </a:lnSpc>
              <a:buNone/>
            </a:pPr>
            <a:r>
              <a:rPr lang="en-US" sz="2400" dirty="0">
                <a:latin typeface="Bookman Old Style" pitchFamily="18" charset="0"/>
              </a:rPr>
              <a:t>4. Hybrid </a:t>
            </a:r>
          </a:p>
          <a:p>
            <a:pPr lvl="1" latinLnBrk="0">
              <a:lnSpc>
                <a:spcPct val="150000"/>
              </a:lnSpc>
            </a:pPr>
            <a:r>
              <a:rPr lang="en-US" sz="2000" dirty="0">
                <a:latin typeface="Bookman Old Style" pitchFamily="18" charset="0"/>
              </a:rPr>
              <a:t>Not supported in Java, only possible with ‘interfaces’</a:t>
            </a:r>
          </a:p>
          <a:p>
            <a:pPr lvl="1" latinLnBrk="0">
              <a:lnSpc>
                <a:spcPct val="150000"/>
              </a:lnSpc>
            </a:pPr>
            <a:r>
              <a:rPr lang="en-US" sz="2000" dirty="0">
                <a:latin typeface="Bookman Old Style" pitchFamily="18" charset="0"/>
              </a:rPr>
              <a:t>E.g. Class D inherits both Class B and Class C</a:t>
            </a:r>
          </a:p>
          <a:p>
            <a:pPr lvl="1" latinLnBrk="0">
              <a:lnSpc>
                <a:spcPct val="150000"/>
              </a:lnSpc>
            </a:pPr>
            <a:r>
              <a:rPr lang="en-US" sz="2000" dirty="0">
                <a:latin typeface="Bookman Old Style" pitchFamily="18" charset="0"/>
              </a:rPr>
              <a:t>If B and C classes have the same method and you call it from child class object, there will be ambiguity to call the method of A or B class</a:t>
            </a:r>
          </a:p>
          <a:p>
            <a:pPr lvl="1" latinLnBrk="0">
              <a:lnSpc>
                <a:spcPct val="150000"/>
              </a:lnSpc>
            </a:pPr>
            <a:r>
              <a:rPr lang="en-US" sz="2000" dirty="0">
                <a:latin typeface="Bookman Old Style" pitchFamily="18" charset="0"/>
              </a:rPr>
              <a:t>Java renders compile-time error if you inherit 2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17135"/>
          <a:stretch/>
        </p:blipFill>
        <p:spPr bwMode="auto">
          <a:xfrm>
            <a:off x="5837080" y="3933056"/>
            <a:ext cx="2799384" cy="2604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75" r="51773" b="40075"/>
          <a:stretch/>
        </p:blipFill>
        <p:spPr bwMode="auto">
          <a:xfrm>
            <a:off x="6076737" y="1656572"/>
            <a:ext cx="2664296" cy="183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809520" y="6351415"/>
            <a:ext cx="930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Hybrid</a:t>
            </a:r>
          </a:p>
        </p:txBody>
      </p:sp>
    </p:spTree>
    <p:extLst>
      <p:ext uri="{BB962C8B-B14F-4D97-AF65-F5344CB8AC3E}">
        <p14:creationId xmlns:p14="http://schemas.microsoft.com/office/powerpoint/2010/main" val="1522089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97112" y="1196752"/>
            <a:ext cx="8767376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325438" indent="-2286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 The keyword super refers to the superclass and can be used to invoke the superclass’s methods and constructors</a:t>
            </a:r>
          </a:p>
          <a:p>
            <a:pPr marL="325438" indent="-2286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It can be used in two ways:</a:t>
            </a:r>
          </a:p>
          <a:p>
            <a:pPr marL="546100" lvl="1" indent="-2286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To call a superclass constructor</a:t>
            </a:r>
          </a:p>
          <a:p>
            <a:pPr marL="546100" lvl="1" indent="-2286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To call a superclass method</a:t>
            </a:r>
          </a:p>
          <a:p>
            <a:pPr marL="325438" indent="-2286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Calling Superclass Constructors</a:t>
            </a:r>
          </a:p>
          <a:p>
            <a:pPr marL="546100" lvl="1" indent="-2286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Unlike properties and methods, the constructors of a superclass are not inherited by a subclass. </a:t>
            </a:r>
          </a:p>
          <a:p>
            <a:pPr marL="546100" lvl="1" indent="-2286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They can only be invoked from the constructors of the subclasses using the keyword </a:t>
            </a:r>
            <a:r>
              <a:rPr lang="en-US" sz="2000" b="1" dirty="0"/>
              <a:t>super</a:t>
            </a:r>
            <a:r>
              <a:rPr lang="en-US" sz="2000" dirty="0"/>
              <a:t>. (</a:t>
            </a:r>
            <a:r>
              <a:rPr lang="en-US" sz="2000" i="1" dirty="0">
                <a:solidFill>
                  <a:srgbClr val="FF0000"/>
                </a:solidFill>
              </a:rPr>
              <a:t>*Default constructor of parent class is invoked by child class automatically)</a:t>
            </a:r>
            <a:endParaRPr lang="en-GB" sz="2000" i="1" dirty="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11" y="44624"/>
            <a:ext cx="7556313" cy="1116106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Arial" pitchFamily="34" charset="0"/>
                <a:cs typeface="Arial" pitchFamily="34" charset="0"/>
              </a:rPr>
              <a:t>Using Super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339752" y="5589240"/>
            <a:ext cx="4344459" cy="430887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none">
            <a:spAutoFit/>
          </a:bodyPr>
          <a:lstStyle/>
          <a:p>
            <a:r>
              <a:rPr lang="en-US" sz="2200" b="1" dirty="0">
                <a:latin typeface="Bookman Old Style" pitchFamily="18" charset="0"/>
              </a:rPr>
              <a:t>super</a:t>
            </a:r>
            <a:r>
              <a:rPr lang="en-US" sz="2200" dirty="0">
                <a:latin typeface="Bookman Old Style" pitchFamily="18" charset="0"/>
              </a:rPr>
              <a:t>(), or </a:t>
            </a:r>
            <a:r>
              <a:rPr lang="en-US" sz="2200" b="1" dirty="0">
                <a:latin typeface="Bookman Old Style" pitchFamily="18" charset="0"/>
              </a:rPr>
              <a:t>super</a:t>
            </a:r>
            <a:r>
              <a:rPr lang="en-US" sz="2200" dirty="0">
                <a:latin typeface="Bookman Old Style" pitchFamily="18" charset="0"/>
              </a:rPr>
              <a:t>(parameters);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96" y="6212448"/>
            <a:ext cx="44764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Bookman Old Style" pitchFamily="18" charset="0"/>
              </a:rPr>
              <a:t>invokes the no-</a:t>
            </a:r>
            <a:r>
              <a:rPr lang="en-US" sz="1400" dirty="0" err="1">
                <a:latin typeface="Bookman Old Style" pitchFamily="18" charset="0"/>
              </a:rPr>
              <a:t>arg</a:t>
            </a:r>
            <a:r>
              <a:rPr lang="en-US" sz="1400" dirty="0">
                <a:latin typeface="Bookman Old Style" pitchFamily="18" charset="0"/>
              </a:rPr>
              <a:t> constructor of its superclass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4048" y="6165304"/>
            <a:ext cx="4139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Bookman Old Style" pitchFamily="18" charset="0"/>
              </a:rPr>
              <a:t>invokes the superclass constructor that matches the </a:t>
            </a:r>
            <a:r>
              <a:rPr lang="en-US" sz="1400" b="1" dirty="0">
                <a:latin typeface="Bookman Old Style" pitchFamily="18" charset="0"/>
              </a:rPr>
              <a:t>arguments</a:t>
            </a:r>
            <a:endParaRPr lang="en-US" sz="1400" dirty="0">
              <a:latin typeface="Bookman Old Style" pitchFamily="18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047247" y="6020127"/>
            <a:ext cx="508529" cy="28919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5508104" y="5949280"/>
            <a:ext cx="1565920" cy="3128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003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843387" y="484094"/>
            <a:ext cx="4261597" cy="617070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/>
          <a:srcRect t="3656"/>
          <a:stretch/>
        </p:blipFill>
        <p:spPr>
          <a:xfrm>
            <a:off x="154077" y="709684"/>
            <a:ext cx="4635500" cy="5945116"/>
          </a:xfrm>
          <a:prstGeom prst="rect">
            <a:avLst/>
          </a:prstGeom>
          <a:ln>
            <a:solidFill>
              <a:srgbClr val="2B142D"/>
            </a:solidFill>
          </a:ln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971" y="518762"/>
            <a:ext cx="4261597" cy="2184400"/>
          </a:xfrm>
          <a:prstGeom prst="rect">
            <a:avLst/>
          </a:prstGeom>
          <a:ln>
            <a:noFill/>
          </a:ln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016" y="2569223"/>
            <a:ext cx="4224968" cy="2933700"/>
          </a:xfrm>
          <a:prstGeom prst="rect">
            <a:avLst/>
          </a:prstGeom>
          <a:ln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8054787" y="5022365"/>
            <a:ext cx="1018227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ookman Old Style" pitchFamily="18" charset="0"/>
              </a:rPr>
              <a:t>width=w;</a:t>
            </a:r>
          </a:p>
          <a:p>
            <a:r>
              <a:rPr lang="en-US" sz="1400" dirty="0">
                <a:latin typeface="Bookman Old Style" pitchFamily="18" charset="0"/>
              </a:rPr>
              <a:t>height=h;</a:t>
            </a:r>
          </a:p>
          <a:p>
            <a:r>
              <a:rPr lang="en-US" sz="1400" dirty="0">
                <a:latin typeface="Bookman Old Style" pitchFamily="18" charset="0"/>
              </a:rPr>
              <a:t>depth=d;</a:t>
            </a:r>
          </a:p>
        </p:txBody>
      </p:sp>
      <p:cxnSp>
        <p:nvCxnSpPr>
          <p:cNvPr id="25" name="Straight Arrow Connector 24"/>
          <p:cNvCxnSpPr>
            <a:stCxn id="23" idx="0"/>
          </p:cNvCxnSpPr>
          <p:nvPr/>
        </p:nvCxnSpPr>
        <p:spPr>
          <a:xfrm flipH="1" flipV="1">
            <a:off x="8541259" y="2859229"/>
            <a:ext cx="22642" cy="216313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4315720" y="1600200"/>
            <a:ext cx="871754" cy="1970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3637690" y="2816181"/>
            <a:ext cx="1549784" cy="1002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4046661" y="3832959"/>
            <a:ext cx="1140814" cy="2673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282531" y="4799793"/>
            <a:ext cx="1904943" cy="55961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5496" y="44624"/>
            <a:ext cx="8758037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b="1" dirty="0">
                <a:solidFill>
                  <a:srgbClr val="0000CC"/>
                </a:solidFill>
                <a:latin typeface="Bookman Old Style" pitchFamily="18" charset="0"/>
              </a:rPr>
              <a:t>Example 4.1</a:t>
            </a:r>
            <a:r>
              <a:rPr lang="en-US" sz="2000" dirty="0">
                <a:latin typeface="Bookman Old Style" pitchFamily="18" charset="0"/>
              </a:rPr>
              <a:t>: </a:t>
            </a:r>
            <a:r>
              <a:rPr lang="en-US" sz="2000" b="1" dirty="0">
                <a:latin typeface="Bookman Old Style" pitchFamily="18" charset="0"/>
              </a:rPr>
              <a:t>Demonstrate the use of Super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39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54" y="279194"/>
            <a:ext cx="7300646" cy="6253472"/>
          </a:xfrm>
          <a:prstGeom prst="rect">
            <a:avLst/>
          </a:prstGeom>
          <a:ln>
            <a:solidFill>
              <a:srgbClr val="2B142D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76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433411" y="5058747"/>
            <a:ext cx="91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5496" y="44624"/>
            <a:ext cx="8758037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0000CC"/>
                </a:solidFill>
                <a:latin typeface="Bookman Old Style" pitchFamily="18" charset="0"/>
              </a:rPr>
              <a:t>Example 4.2</a:t>
            </a:r>
            <a:r>
              <a:rPr lang="en-US" sz="2000" dirty="0">
                <a:latin typeface="Bookman Old Style" pitchFamily="18" charset="0"/>
              </a:rPr>
              <a:t>: Using super to access Superclass’s instance variables and methods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23528" y="836712"/>
            <a:ext cx="6768752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Bookman Old Style" pitchFamily="18" charset="0"/>
              </a:rPr>
              <a:t>class A {</a:t>
            </a:r>
          </a:p>
          <a:p>
            <a:r>
              <a:rPr lang="en-US" sz="1600" dirty="0">
                <a:latin typeface="Bookman Old Style" pitchFamily="18" charset="0"/>
              </a:rPr>
              <a:t>	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i;</a:t>
            </a:r>
          </a:p>
          <a:p>
            <a:r>
              <a:rPr lang="en-US" sz="1600" dirty="0">
                <a:latin typeface="Bookman Old Style" pitchFamily="18" charset="0"/>
              </a:rPr>
              <a:t>} </a:t>
            </a:r>
          </a:p>
          <a:p>
            <a:r>
              <a:rPr lang="en-US" sz="1600" dirty="0">
                <a:latin typeface="Bookman Old Style" pitchFamily="18" charset="0"/>
              </a:rPr>
              <a:t>// Create a subclass by extending class A.</a:t>
            </a:r>
          </a:p>
          <a:p>
            <a:r>
              <a:rPr lang="en-US" sz="1600" dirty="0">
                <a:latin typeface="Bookman Old Style" pitchFamily="18" charset="0"/>
              </a:rPr>
              <a:t>class B extends A {</a:t>
            </a:r>
          </a:p>
          <a:p>
            <a:r>
              <a:rPr lang="en-US" sz="1600" dirty="0">
                <a:latin typeface="Bookman Old Style" pitchFamily="18" charset="0"/>
              </a:rPr>
              <a:t>	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i; 			</a:t>
            </a:r>
            <a:r>
              <a:rPr lang="en-US" sz="1600" b="1" dirty="0">
                <a:solidFill>
                  <a:srgbClr val="0000CC"/>
                </a:solidFill>
                <a:latin typeface="Bookman Old Style" pitchFamily="18" charset="0"/>
              </a:rPr>
              <a:t>// this i hides the i in A</a:t>
            </a:r>
          </a:p>
          <a:p>
            <a:r>
              <a:rPr lang="en-US" sz="1600" dirty="0">
                <a:latin typeface="Bookman Old Style" pitchFamily="18" charset="0"/>
              </a:rPr>
              <a:t>	B(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a, 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b) {</a:t>
            </a:r>
          </a:p>
          <a:p>
            <a:pPr lvl="3"/>
            <a:r>
              <a:rPr lang="it-IT" sz="1600" b="1" dirty="0">
                <a:latin typeface="Bookman Old Style" pitchFamily="18" charset="0"/>
              </a:rPr>
              <a:t>super.i</a:t>
            </a:r>
            <a:r>
              <a:rPr lang="it-IT" sz="1600" dirty="0">
                <a:latin typeface="Bookman Old Style" pitchFamily="18" charset="0"/>
              </a:rPr>
              <a:t> = a; 		</a:t>
            </a:r>
            <a:r>
              <a:rPr lang="it-IT" sz="1600" b="1" dirty="0">
                <a:solidFill>
                  <a:srgbClr val="0000CC"/>
                </a:solidFill>
                <a:latin typeface="Bookman Old Style" pitchFamily="18" charset="0"/>
              </a:rPr>
              <a:t>// i in A</a:t>
            </a:r>
          </a:p>
          <a:p>
            <a:pPr lvl="3"/>
            <a:r>
              <a:rPr lang="it-IT" sz="1600" b="1" dirty="0">
                <a:latin typeface="Bookman Old Style" pitchFamily="18" charset="0"/>
              </a:rPr>
              <a:t>i</a:t>
            </a:r>
            <a:r>
              <a:rPr lang="it-IT" sz="1600" dirty="0">
                <a:latin typeface="Bookman Old Style" pitchFamily="18" charset="0"/>
              </a:rPr>
              <a:t> = b; 		</a:t>
            </a:r>
            <a:r>
              <a:rPr lang="it-IT" sz="1600" b="1" dirty="0">
                <a:solidFill>
                  <a:srgbClr val="0000CC"/>
                </a:solidFill>
                <a:latin typeface="Bookman Old Style" pitchFamily="18" charset="0"/>
              </a:rPr>
              <a:t>// i in B</a:t>
            </a:r>
          </a:p>
          <a:p>
            <a:r>
              <a:rPr lang="en-US" sz="1600" dirty="0">
                <a:latin typeface="Bookman Old Style" pitchFamily="18" charset="0"/>
              </a:rPr>
              <a:t>	}</a:t>
            </a:r>
          </a:p>
          <a:p>
            <a:r>
              <a:rPr lang="en-US" sz="1600" dirty="0">
                <a:latin typeface="Bookman Old Style" pitchFamily="18" charset="0"/>
              </a:rPr>
              <a:t>	void show() {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System.out.println</a:t>
            </a:r>
            <a:r>
              <a:rPr lang="en-US" sz="1600" dirty="0">
                <a:latin typeface="Bookman Old Style" pitchFamily="18" charset="0"/>
              </a:rPr>
              <a:t>("i in superclass: " + </a:t>
            </a:r>
            <a:r>
              <a:rPr lang="en-US" sz="1600" b="1" dirty="0" err="1">
                <a:latin typeface="Bookman Old Style" pitchFamily="18" charset="0"/>
              </a:rPr>
              <a:t>super.i</a:t>
            </a:r>
            <a:r>
              <a:rPr lang="en-US" sz="1600" dirty="0">
                <a:latin typeface="Bookman Old Style" pitchFamily="18" charset="0"/>
              </a:rPr>
              <a:t>);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System.out.println</a:t>
            </a:r>
            <a:r>
              <a:rPr lang="en-US" sz="1600" dirty="0">
                <a:latin typeface="Bookman Old Style" pitchFamily="18" charset="0"/>
              </a:rPr>
              <a:t>("i in subclass: " + </a:t>
            </a:r>
            <a:r>
              <a:rPr lang="en-US" sz="1600" b="1" dirty="0">
                <a:latin typeface="Bookman Old Style" pitchFamily="18" charset="0"/>
              </a:rPr>
              <a:t>i</a:t>
            </a:r>
            <a:r>
              <a:rPr lang="en-US" sz="1600" dirty="0">
                <a:latin typeface="Bookman Old Style" pitchFamily="18" charset="0"/>
              </a:rPr>
              <a:t>);</a:t>
            </a:r>
          </a:p>
          <a:p>
            <a:pPr lvl="3"/>
            <a:r>
              <a:rPr lang="en-US" sz="1600" dirty="0">
                <a:latin typeface="Bookman Old Style" pitchFamily="18" charset="0"/>
              </a:rPr>
              <a:t>}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  <a:p>
            <a:r>
              <a:rPr lang="en-US" sz="1600" dirty="0">
                <a:latin typeface="Bookman Old Style" pitchFamily="18" charset="0"/>
              </a:rPr>
              <a:t>class </a:t>
            </a:r>
            <a:r>
              <a:rPr lang="en-US" sz="1600" dirty="0" err="1">
                <a:latin typeface="Bookman Old Style" pitchFamily="18" charset="0"/>
              </a:rPr>
              <a:t>UseSuper</a:t>
            </a:r>
            <a:r>
              <a:rPr lang="en-US" sz="1600" dirty="0">
                <a:latin typeface="Bookman Old Style" pitchFamily="18" charset="0"/>
              </a:rPr>
              <a:t> 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public static void main(String </a:t>
            </a:r>
            <a:r>
              <a:rPr lang="en-US" sz="1600" dirty="0" err="1">
                <a:latin typeface="Bookman Old Style" pitchFamily="18" charset="0"/>
              </a:rPr>
              <a:t>args</a:t>
            </a:r>
            <a:r>
              <a:rPr lang="en-US" sz="1600" dirty="0">
                <a:latin typeface="Bookman Old Style" pitchFamily="18" charset="0"/>
              </a:rPr>
              <a:t>[]) 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B </a:t>
            </a:r>
            <a:r>
              <a:rPr lang="en-US" sz="1600" dirty="0" err="1">
                <a:latin typeface="Bookman Old Style" pitchFamily="18" charset="0"/>
              </a:rPr>
              <a:t>subOb</a:t>
            </a:r>
            <a:r>
              <a:rPr lang="en-US" sz="1600" dirty="0">
                <a:latin typeface="Bookman Old Style" pitchFamily="18" charset="0"/>
              </a:rPr>
              <a:t> = new B(1, 2);</a:t>
            </a:r>
          </a:p>
          <a:p>
            <a:pPr lvl="1"/>
            <a:r>
              <a:rPr lang="en-US" sz="1600" dirty="0" err="1">
                <a:latin typeface="Bookman Old Style" pitchFamily="18" charset="0"/>
              </a:rPr>
              <a:t>subOb.show</a:t>
            </a:r>
            <a:r>
              <a:rPr lang="en-US" sz="1600" dirty="0">
                <a:latin typeface="Bookman Old Style" pitchFamily="18" charset="0"/>
              </a:rPr>
              <a:t>();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}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877" y="5428079"/>
            <a:ext cx="2146300" cy="4699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711635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99577" y="1109107"/>
            <a:ext cx="8764911" cy="529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325438" indent="-2286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latin typeface="Bookman Old Style" pitchFamily="18" charset="0"/>
              </a:rPr>
              <a:t> </a:t>
            </a:r>
            <a:r>
              <a:rPr lang="en-US" sz="2000" dirty="0">
                <a:latin typeface="Bookman Old Style" pitchFamily="18" charset="0"/>
                <a:ea typeface="+mn-ea"/>
                <a:cs typeface="+mn-cs"/>
              </a:rPr>
              <a:t>When constructing an object of a subclass</a:t>
            </a:r>
          </a:p>
          <a:p>
            <a:pPr marL="660400" lvl="1" indent="-3429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Symbol" pitchFamily="18" charset="2"/>
              <a:buChar char="-"/>
            </a:pPr>
            <a:r>
              <a:rPr lang="en-US" sz="2000" dirty="0">
                <a:latin typeface="Bookman Old Style" pitchFamily="18" charset="0"/>
                <a:ea typeface="+mn-ea"/>
              </a:rPr>
              <a:t>The subclass constructor first invokes its superclass constructor before performing its own tasks.</a:t>
            </a:r>
          </a:p>
          <a:p>
            <a:pPr marL="660400" lvl="1" indent="-3429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Symbol" pitchFamily="18" charset="2"/>
              <a:buChar char="-"/>
            </a:pPr>
            <a:r>
              <a:rPr lang="en-US" sz="2000" dirty="0">
                <a:latin typeface="Bookman Old Style" pitchFamily="18" charset="0"/>
                <a:ea typeface="+mn-ea"/>
              </a:rPr>
              <a:t>If the superclass is derived from another class, the superclass constructor invokes its parent-class constructor before performing its own tasks. </a:t>
            </a:r>
          </a:p>
          <a:p>
            <a:pPr marL="660400" lvl="1" indent="-3429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Symbol" pitchFamily="18" charset="2"/>
              <a:buChar char="-"/>
            </a:pPr>
            <a:r>
              <a:rPr lang="en-US" sz="2000" dirty="0">
                <a:latin typeface="Bookman Old Style" pitchFamily="18" charset="0"/>
                <a:ea typeface="+mn-ea"/>
              </a:rPr>
              <a:t>This process continues until the last constructor along the inheritance hierarchy is called. This is called </a:t>
            </a:r>
            <a:r>
              <a:rPr lang="en-US" sz="2000" b="1" dirty="0">
                <a:latin typeface="Bookman Old Style" pitchFamily="18" charset="0"/>
                <a:ea typeface="+mn-ea"/>
              </a:rPr>
              <a:t>constructor chaining </a:t>
            </a:r>
            <a:r>
              <a:rPr lang="en-US" sz="2000" dirty="0">
                <a:latin typeface="Bookman Old Style" pitchFamily="18" charset="0"/>
                <a:ea typeface="+mn-ea"/>
              </a:rPr>
              <a:t>.</a:t>
            </a:r>
            <a:endParaRPr lang="en-GB" sz="2000" dirty="0">
              <a:latin typeface="Bookman Old Style" pitchFamily="18" charset="0"/>
              <a:ea typeface="+mn-ea"/>
            </a:endParaRPr>
          </a:p>
          <a:p>
            <a:pPr marL="325438" indent="-2286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Wingdings" pitchFamily="2" charset="2"/>
              <a:buChar char="n"/>
            </a:pPr>
            <a:r>
              <a:rPr lang="en-GB" sz="2000" dirty="0">
                <a:latin typeface="Bookman Old Style" pitchFamily="18" charset="0"/>
                <a:ea typeface="+mn-ea"/>
                <a:cs typeface="+mn-cs"/>
              </a:rPr>
              <a:t>If a call to super is not made, the system will automatically attempt to invoke the no-argument constructor of the superclass.</a:t>
            </a:r>
          </a:p>
          <a:p>
            <a:pPr marL="660400" lvl="1" indent="-342900" latinLnBrk="0">
              <a:lnSpc>
                <a:spcPct val="130000"/>
              </a:lnSpc>
              <a:spcBef>
                <a:spcPts val="249"/>
              </a:spcBef>
              <a:buClr>
                <a:srgbClr val="000000"/>
              </a:buClr>
              <a:buSzPct val="75000"/>
              <a:buFont typeface="Symbol" pitchFamily="18" charset="2"/>
              <a:buChar char="-"/>
            </a:pPr>
            <a:r>
              <a:rPr lang="en-US" sz="2000" dirty="0">
                <a:latin typeface="Bookman Old Style" pitchFamily="18" charset="0"/>
                <a:ea typeface="+mn-ea"/>
              </a:rPr>
              <a:t>If a class is designed to be extended, it is better to provide a no-</a:t>
            </a:r>
            <a:r>
              <a:rPr lang="en-US" sz="2000" dirty="0" err="1">
                <a:latin typeface="Bookman Old Style" pitchFamily="18" charset="0"/>
                <a:ea typeface="+mn-ea"/>
              </a:rPr>
              <a:t>arg</a:t>
            </a:r>
            <a:r>
              <a:rPr lang="en-US" sz="2000" dirty="0">
                <a:latin typeface="Bookman Old Style" pitchFamily="18" charset="0"/>
                <a:ea typeface="+mn-ea"/>
              </a:rPr>
              <a:t> constructor to avoid programming errors.</a:t>
            </a:r>
            <a:endParaRPr lang="en-GB" sz="2000" dirty="0">
              <a:latin typeface="Bookman Old Style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103" y="44624"/>
            <a:ext cx="7556313" cy="1116106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Arial" pitchFamily="34" charset="0"/>
                <a:cs typeface="Arial" pitchFamily="34" charset="0"/>
              </a:rPr>
              <a:t>Constructor Chaining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48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83" y="4695533"/>
            <a:ext cx="8023587" cy="1500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7504" y="332656"/>
            <a:ext cx="4896544" cy="206210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latin typeface="Bookman Old Style" pitchFamily="18" charset="0"/>
              </a:rPr>
              <a:t>public class </a:t>
            </a:r>
            <a:r>
              <a:rPr lang="en-US" sz="1600" b="1" dirty="0">
                <a:latin typeface="Bookman Old Style" pitchFamily="18" charset="0"/>
              </a:rPr>
              <a:t>Faculty</a:t>
            </a:r>
            <a:r>
              <a:rPr lang="en-US" sz="1600" dirty="0">
                <a:latin typeface="Bookman Old Style" pitchFamily="18" charset="0"/>
              </a:rPr>
              <a:t> extends </a:t>
            </a:r>
            <a:r>
              <a:rPr lang="en-US" sz="1600" b="1" dirty="0">
                <a:latin typeface="Bookman Old Style" pitchFamily="18" charset="0"/>
              </a:rPr>
              <a:t>Employee</a:t>
            </a:r>
            <a:r>
              <a:rPr lang="en-US" sz="1600" dirty="0">
                <a:latin typeface="Bookman Old Style" pitchFamily="18" charset="0"/>
              </a:rPr>
              <a:t>{</a:t>
            </a:r>
          </a:p>
          <a:p>
            <a:r>
              <a:rPr lang="en-US" sz="1600" dirty="0">
                <a:latin typeface="Bookman Old Style" pitchFamily="18" charset="0"/>
              </a:rPr>
              <a:t>public static void main(String[] </a:t>
            </a:r>
            <a:r>
              <a:rPr lang="en-US" sz="1600" dirty="0" err="1">
                <a:latin typeface="Bookman Old Style" pitchFamily="18" charset="0"/>
              </a:rPr>
              <a:t>args</a:t>
            </a:r>
            <a:r>
              <a:rPr lang="en-US" sz="1600" dirty="0">
                <a:latin typeface="Bookman Old Style" pitchFamily="18" charset="0"/>
              </a:rPr>
              <a:t>) {</a:t>
            </a:r>
          </a:p>
          <a:p>
            <a:r>
              <a:rPr lang="en-US" sz="1600" dirty="0">
                <a:latin typeface="Bookman Old Style" pitchFamily="18" charset="0"/>
              </a:rPr>
              <a:t> new Faculty();</a:t>
            </a:r>
          </a:p>
          <a:p>
            <a:r>
              <a:rPr lang="en-US" sz="1600" dirty="0">
                <a:latin typeface="Bookman Old Style" pitchFamily="18" charset="0"/>
              </a:rPr>
              <a:t> }</a:t>
            </a:r>
          </a:p>
          <a:p>
            <a:r>
              <a:rPr lang="en-US" sz="1600" dirty="0">
                <a:latin typeface="Bookman Old Style" pitchFamily="18" charset="0"/>
              </a:rPr>
              <a:t> public Faculty() {</a:t>
            </a:r>
          </a:p>
          <a:p>
            <a:r>
              <a:rPr lang="en-US" sz="1600" dirty="0">
                <a:latin typeface="Bookman Old Style" pitchFamily="18" charset="0"/>
              </a:rPr>
              <a:t> </a:t>
            </a:r>
            <a:r>
              <a:rPr lang="en-US" sz="1400" dirty="0" err="1">
                <a:latin typeface="Bookman Old Style" pitchFamily="18" charset="0"/>
              </a:rPr>
              <a:t>System.out.println</a:t>
            </a:r>
            <a:r>
              <a:rPr lang="en-US" sz="1400" dirty="0">
                <a:latin typeface="Bookman Old Style" pitchFamily="18" charset="0"/>
              </a:rPr>
              <a:t>("</a:t>
            </a:r>
            <a:r>
              <a:rPr lang="en-US" sz="1400" dirty="0">
                <a:solidFill>
                  <a:srgbClr val="FF0000"/>
                </a:solidFill>
                <a:latin typeface="Bookman Old Style" pitchFamily="18" charset="0"/>
              </a:rPr>
              <a:t>(4) Performs Faculty's tasks</a:t>
            </a:r>
            <a:r>
              <a:rPr lang="en-US" sz="1400" dirty="0">
                <a:latin typeface="Bookman Old Style" pitchFamily="18" charset="0"/>
              </a:rPr>
              <a:t>");</a:t>
            </a:r>
          </a:p>
          <a:p>
            <a:r>
              <a:rPr lang="en-US" sz="1600" dirty="0">
                <a:latin typeface="Bookman Old Style" pitchFamily="18" charset="0"/>
              </a:rPr>
              <a:t> }</a:t>
            </a:r>
          </a:p>
          <a:p>
            <a:r>
              <a:rPr lang="en-US" sz="1600" dirty="0">
                <a:latin typeface="Bookman Old Style" pitchFamily="18" charset="0"/>
              </a:rPr>
              <a:t> }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2636912"/>
            <a:ext cx="4896544" cy="203132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Bookman Old Style" pitchFamily="18" charset="0"/>
              </a:rPr>
              <a:t>class </a:t>
            </a:r>
            <a:r>
              <a:rPr lang="en-US" sz="1400" b="1" dirty="0">
                <a:latin typeface="Bookman Old Style" pitchFamily="18" charset="0"/>
              </a:rPr>
              <a:t>Employee</a:t>
            </a:r>
            <a:r>
              <a:rPr lang="en-US" sz="1400" dirty="0">
                <a:latin typeface="Bookman Old Style" pitchFamily="18" charset="0"/>
              </a:rPr>
              <a:t> extends </a:t>
            </a:r>
            <a:r>
              <a:rPr lang="en-US" sz="1400" b="1" dirty="0">
                <a:latin typeface="Bookman Old Style" pitchFamily="18" charset="0"/>
              </a:rPr>
              <a:t>Person</a:t>
            </a:r>
            <a:r>
              <a:rPr lang="en-US" sz="1400" dirty="0">
                <a:latin typeface="Bookman Old Style" pitchFamily="18" charset="0"/>
              </a:rPr>
              <a:t> {</a:t>
            </a:r>
          </a:p>
          <a:p>
            <a:r>
              <a:rPr lang="en-US" sz="1400" dirty="0">
                <a:latin typeface="Bookman Old Style" pitchFamily="18" charset="0"/>
              </a:rPr>
              <a:t>public Employee(){</a:t>
            </a:r>
          </a:p>
          <a:p>
            <a:r>
              <a:rPr lang="en-US" sz="1400" dirty="0">
                <a:latin typeface="Bookman Old Style" pitchFamily="18" charset="0"/>
              </a:rPr>
              <a:t>this("(</a:t>
            </a:r>
            <a:r>
              <a:rPr lang="en-US" sz="1400" dirty="0">
                <a:solidFill>
                  <a:srgbClr val="FF0000"/>
                </a:solidFill>
                <a:latin typeface="Bookman Old Style" pitchFamily="18" charset="0"/>
              </a:rPr>
              <a:t>2) Invoke Employee's overloaded constructor</a:t>
            </a:r>
            <a:r>
              <a:rPr lang="en-US" sz="1400" dirty="0">
                <a:latin typeface="Bookman Old Style" pitchFamily="18" charset="0"/>
              </a:rPr>
              <a:t>");</a:t>
            </a:r>
          </a:p>
          <a:p>
            <a:r>
              <a:rPr lang="en-US" sz="1400" dirty="0" err="1">
                <a:latin typeface="Bookman Old Style" pitchFamily="18" charset="0"/>
              </a:rPr>
              <a:t>System.out.println</a:t>
            </a:r>
            <a:r>
              <a:rPr lang="en-US" sz="1400" dirty="0">
                <a:solidFill>
                  <a:srgbClr val="FF0000"/>
                </a:solidFill>
                <a:latin typeface="Bookman Old Style" pitchFamily="18" charset="0"/>
              </a:rPr>
              <a:t>("(3) Performs Employee's tasks </a:t>
            </a:r>
            <a:r>
              <a:rPr lang="en-US" sz="1400" dirty="0">
                <a:latin typeface="Bookman Old Style" pitchFamily="18" charset="0"/>
              </a:rPr>
              <a:t>");</a:t>
            </a:r>
          </a:p>
          <a:p>
            <a:r>
              <a:rPr lang="en-US" sz="1400" dirty="0">
                <a:latin typeface="Bookman Old Style" pitchFamily="18" charset="0"/>
              </a:rPr>
              <a:t>}</a:t>
            </a:r>
          </a:p>
          <a:p>
            <a:r>
              <a:rPr lang="en-US" sz="1400" dirty="0">
                <a:latin typeface="Bookman Old Style" pitchFamily="18" charset="0"/>
              </a:rPr>
              <a:t>public Employee(String s){</a:t>
            </a:r>
          </a:p>
          <a:p>
            <a:r>
              <a:rPr lang="en-US" sz="1400" dirty="0" err="1">
                <a:latin typeface="Bookman Old Style" pitchFamily="18" charset="0"/>
              </a:rPr>
              <a:t>System.out.println</a:t>
            </a:r>
            <a:r>
              <a:rPr lang="en-US" sz="1400" dirty="0">
                <a:latin typeface="Bookman Old Style" pitchFamily="18" charset="0"/>
              </a:rPr>
              <a:t>(s);</a:t>
            </a:r>
          </a:p>
          <a:p>
            <a:r>
              <a:rPr lang="en-US" sz="1400" dirty="0">
                <a:latin typeface="Bookman Old Style" pitchFamily="18" charset="0"/>
              </a:rPr>
              <a:t>}</a:t>
            </a:r>
          </a:p>
          <a:p>
            <a:r>
              <a:rPr lang="en-US" sz="1400" dirty="0">
                <a:latin typeface="Bookman Old Style" pitchFamily="18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8064" y="1844824"/>
            <a:ext cx="3888432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latin typeface="Bookman Old Style" pitchFamily="18" charset="0"/>
              </a:rPr>
              <a:t>class Person {</a:t>
            </a:r>
          </a:p>
          <a:p>
            <a:r>
              <a:rPr lang="en-US" sz="1600" dirty="0">
                <a:latin typeface="Bookman Old Style" pitchFamily="18" charset="0"/>
              </a:rPr>
              <a:t>public Person(){</a:t>
            </a:r>
          </a:p>
          <a:p>
            <a:r>
              <a:rPr lang="en-US" sz="1600" dirty="0" err="1">
                <a:latin typeface="Bookman Old Style" pitchFamily="18" charset="0"/>
              </a:rPr>
              <a:t>System.out.println</a:t>
            </a:r>
            <a:r>
              <a:rPr lang="en-US" sz="1600" dirty="0">
                <a:latin typeface="Bookman Old Style" pitchFamily="18" charset="0"/>
              </a:rPr>
              <a:t>("</a:t>
            </a:r>
            <a:r>
              <a:rPr lang="en-US" sz="1600" dirty="0">
                <a:solidFill>
                  <a:srgbClr val="FF0000"/>
                </a:solidFill>
                <a:latin typeface="Bookman Old Style" pitchFamily="18" charset="0"/>
              </a:rPr>
              <a:t>(1) Performs Person's tasks</a:t>
            </a:r>
            <a:r>
              <a:rPr lang="en-US" sz="1600" dirty="0">
                <a:latin typeface="Bookman Old Style" pitchFamily="18" charset="0"/>
              </a:rPr>
              <a:t>");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395562" y="6165561"/>
            <a:ext cx="4227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Bookman Old Style" pitchFamily="18" charset="0"/>
              </a:rPr>
              <a:t>Constructor Chaining</a:t>
            </a:r>
          </a:p>
        </p:txBody>
      </p:sp>
    </p:spTree>
    <p:extLst>
      <p:ext uri="{BB962C8B-B14F-4D97-AF65-F5344CB8AC3E}">
        <p14:creationId xmlns:p14="http://schemas.microsoft.com/office/powerpoint/2010/main" val="1408917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701046" y="4941168"/>
            <a:ext cx="2442476" cy="17210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98116" y="831599"/>
            <a:ext cx="5468735" cy="5160091"/>
            <a:chOff x="332196" y="651317"/>
            <a:chExt cx="4775200" cy="4415983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5244" y="651317"/>
              <a:ext cx="4635500" cy="1143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196" y="1778000"/>
              <a:ext cx="4775200" cy="3289300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484308" y="735183"/>
            <a:ext cx="5768644" cy="5549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 rot="10800000">
            <a:off x="548625" y="2755038"/>
            <a:ext cx="247796" cy="2709320"/>
            <a:chOff x="7136084" y="3603834"/>
            <a:chExt cx="247796" cy="2387856"/>
          </a:xfrm>
        </p:grpSpPr>
        <p:cxnSp>
          <p:nvCxnSpPr>
            <p:cNvPr id="32" name="Straight Arrow Connector 31"/>
            <p:cNvCxnSpPr/>
            <p:nvPr/>
          </p:nvCxnSpPr>
          <p:spPr>
            <a:xfrm rot="10800000">
              <a:off x="7136084" y="5991690"/>
              <a:ext cx="24779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7166908" y="3603834"/>
              <a:ext cx="19326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7373118" y="3603834"/>
              <a:ext cx="0" cy="238785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 rot="10800000">
            <a:off x="796421" y="1415086"/>
            <a:ext cx="216973" cy="1339952"/>
            <a:chOff x="7136084" y="3421359"/>
            <a:chExt cx="247796" cy="2570331"/>
          </a:xfrm>
        </p:grpSpPr>
        <p:cxnSp>
          <p:nvCxnSpPr>
            <p:cNvPr id="17" name="Straight Arrow Connector 16"/>
            <p:cNvCxnSpPr/>
            <p:nvPr/>
          </p:nvCxnSpPr>
          <p:spPr>
            <a:xfrm rot="10800000">
              <a:off x="7136084" y="5991690"/>
              <a:ext cx="24779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 flipH="1" flipV="1">
              <a:off x="7136084" y="3421359"/>
              <a:ext cx="224090" cy="18247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373118" y="3603834"/>
              <a:ext cx="0" cy="238785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6701046" y="5476468"/>
            <a:ext cx="229582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ookman Old Style" pitchFamily="18" charset="0"/>
              </a:rPr>
              <a:t>Inside A’s constructor.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1185" y="5067533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ookman Old Style" pitchFamily="18" charset="0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967" y="5799633"/>
            <a:ext cx="230704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ookman Old Style" pitchFamily="18" charset="0"/>
              </a:rPr>
              <a:t>Inside B’s constructor.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1205" y="6093979"/>
            <a:ext cx="230704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ookman Old Style" pitchFamily="18" charset="0"/>
              </a:rPr>
              <a:t>Inside C’s constructor.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35496" y="44624"/>
            <a:ext cx="8758037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b="1" dirty="0">
                <a:solidFill>
                  <a:srgbClr val="0000CC"/>
                </a:solidFill>
                <a:latin typeface="Bookman Old Style" pitchFamily="18" charset="0"/>
              </a:rPr>
              <a:t>Example 4.3</a:t>
            </a:r>
            <a:r>
              <a:rPr lang="en-US" sz="2000" dirty="0">
                <a:latin typeface="Bookman Old Style" pitchFamily="18" charset="0"/>
              </a:rPr>
              <a:t>: Demonstrate constructor chaining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9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  <p:bldP spid="2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6873</TotalTime>
  <Words>1138</Words>
  <Application>Microsoft Office PowerPoint</Application>
  <PresentationFormat>On-screen Show (4:3)</PresentationFormat>
  <Paragraphs>184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맑은 고딕</vt:lpstr>
      <vt:lpstr>Arial</vt:lpstr>
      <vt:lpstr>Bookman Old Style</vt:lpstr>
      <vt:lpstr>Calibri</vt:lpstr>
      <vt:lpstr>StarBats</vt:lpstr>
      <vt:lpstr>Symbol</vt:lpstr>
      <vt:lpstr>Times New Roman</vt:lpstr>
      <vt:lpstr>Wingdings</vt:lpstr>
      <vt:lpstr>Office Theme</vt:lpstr>
      <vt:lpstr>Custom Design</vt:lpstr>
      <vt:lpstr>PowerPoint Presentation</vt:lpstr>
      <vt:lpstr>PowerPoint Presentation</vt:lpstr>
      <vt:lpstr>Inheritance</vt:lpstr>
      <vt:lpstr>Terms used in Inheritance</vt:lpstr>
      <vt:lpstr>How inheritance is used in Java</vt:lpstr>
      <vt:lpstr>Types of Inheritance</vt:lpstr>
      <vt:lpstr>Types of Inheritance</vt:lpstr>
      <vt:lpstr>Types of Inheritance</vt:lpstr>
      <vt:lpstr>Types of Inheritance</vt:lpstr>
      <vt:lpstr>Types of Inheritance</vt:lpstr>
      <vt:lpstr>Using Super</vt:lpstr>
      <vt:lpstr>PowerPoint Presentation</vt:lpstr>
      <vt:lpstr>PowerPoint Presentation</vt:lpstr>
      <vt:lpstr>PowerPoint Presentation</vt:lpstr>
      <vt:lpstr>Constructor Chaining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Khaing Zar Myint Aung</cp:lastModifiedBy>
  <cp:revision>156</cp:revision>
  <dcterms:created xsi:type="dcterms:W3CDTF">2014-04-01T16:27:38Z</dcterms:created>
  <dcterms:modified xsi:type="dcterms:W3CDTF">2026-06-29T06:40:44Z</dcterms:modified>
</cp:coreProperties>
</file>