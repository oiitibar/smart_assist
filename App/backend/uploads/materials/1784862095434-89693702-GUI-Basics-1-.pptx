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704" r:id="rId1"/>
  </p:sldMasterIdLst>
  <p:notesMasterIdLst>
    <p:notesMasterId r:id="rId52"/>
  </p:notesMasterIdLst>
  <p:sldIdLst>
    <p:sldId id="304" r:id="rId2"/>
    <p:sldId id="309" r:id="rId3"/>
    <p:sldId id="436" r:id="rId4"/>
    <p:sldId id="462" r:id="rId5"/>
    <p:sldId id="463" r:id="rId6"/>
    <p:sldId id="464" r:id="rId7"/>
    <p:sldId id="465" r:id="rId8"/>
    <p:sldId id="437" r:id="rId9"/>
    <p:sldId id="444" r:id="rId10"/>
    <p:sldId id="445" r:id="rId11"/>
    <p:sldId id="446" r:id="rId12"/>
    <p:sldId id="447" r:id="rId13"/>
    <p:sldId id="448" r:id="rId14"/>
    <p:sldId id="449" r:id="rId15"/>
    <p:sldId id="450" r:id="rId16"/>
    <p:sldId id="451" r:id="rId17"/>
    <p:sldId id="466" r:id="rId18"/>
    <p:sldId id="467" r:id="rId19"/>
    <p:sldId id="453" r:id="rId20"/>
    <p:sldId id="454" r:id="rId21"/>
    <p:sldId id="468" r:id="rId22"/>
    <p:sldId id="455" r:id="rId23"/>
    <p:sldId id="456" r:id="rId24"/>
    <p:sldId id="457" r:id="rId25"/>
    <p:sldId id="470" r:id="rId26"/>
    <p:sldId id="471" r:id="rId27"/>
    <p:sldId id="472" r:id="rId28"/>
    <p:sldId id="473" r:id="rId29"/>
    <p:sldId id="474" r:id="rId30"/>
    <p:sldId id="475" r:id="rId31"/>
    <p:sldId id="476" r:id="rId32"/>
    <p:sldId id="477" r:id="rId33"/>
    <p:sldId id="478" r:id="rId34"/>
    <p:sldId id="479" r:id="rId35"/>
    <p:sldId id="480" r:id="rId36"/>
    <p:sldId id="481" r:id="rId37"/>
    <p:sldId id="482" r:id="rId38"/>
    <p:sldId id="483" r:id="rId39"/>
    <p:sldId id="484" r:id="rId40"/>
    <p:sldId id="485" r:id="rId41"/>
    <p:sldId id="486" r:id="rId42"/>
    <p:sldId id="487" r:id="rId43"/>
    <p:sldId id="488" r:id="rId44"/>
    <p:sldId id="489" r:id="rId45"/>
    <p:sldId id="490" r:id="rId46"/>
    <p:sldId id="495" r:id="rId47"/>
    <p:sldId id="493" r:id="rId48"/>
    <p:sldId id="496" r:id="rId49"/>
    <p:sldId id="497" r:id="rId50"/>
    <p:sldId id="313" r:id="rId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41D2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14" autoAdjust="0"/>
    <p:restoredTop sz="86508" autoAdjust="0"/>
  </p:normalViewPr>
  <p:slideViewPr>
    <p:cSldViewPr snapToGrid="0" snapToObjects="1">
      <p:cViewPr varScale="1">
        <p:scale>
          <a:sx n="72" d="100"/>
          <a:sy n="72" d="100"/>
        </p:scale>
        <p:origin x="142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48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F144E-DA3A-8E47-BD9A-77AA71E80E51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80A22-0A66-CA46-AF8C-F32EA2D83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762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Jframe</a:t>
            </a:r>
            <a:r>
              <a:rPr lang="en-US" dirty="0"/>
              <a:t> default layout</a:t>
            </a:r>
            <a:r>
              <a:rPr lang="en-US" baseline="0" dirty="0"/>
              <a:t> is Border Layout, that’s why when you are adding a button, it is adding to the center and expanding the whole frame </a:t>
            </a:r>
          </a:p>
          <a:p>
            <a:r>
              <a:rPr lang="en-US" baseline="0" dirty="0"/>
              <a:t>Border layout does not respect </a:t>
            </a:r>
            <a:r>
              <a:rPr lang="en-US" baseline="0" dirty="0" err="1"/>
              <a:t>setSize</a:t>
            </a:r>
            <a:r>
              <a:rPr lang="en-US" baseline="0" dirty="0"/>
              <a:t>( ) method.</a:t>
            </a:r>
          </a:p>
          <a:p>
            <a:r>
              <a:rPr lang="en-US" baseline="0" dirty="0"/>
              <a:t>Change to </a:t>
            </a:r>
            <a:r>
              <a:rPr lang="en-US" baseline="0" dirty="0" err="1"/>
              <a:t>FlowLayout</a:t>
            </a:r>
            <a:r>
              <a:rPr lang="en-US" baseline="0" dirty="0"/>
              <a:t> or </a:t>
            </a:r>
            <a:r>
              <a:rPr lang="en-US" baseline="0" dirty="0" err="1"/>
              <a:t>GridLayout</a:t>
            </a:r>
            <a:r>
              <a:rPr lang="en-US" baseline="0" dirty="0"/>
              <a:t> and use </a:t>
            </a:r>
            <a:r>
              <a:rPr lang="en-US" baseline="0" dirty="0" err="1"/>
              <a:t>SetPreferredSize</a:t>
            </a:r>
            <a:r>
              <a:rPr lang="en-US" baseline="0" dirty="0"/>
              <a:t>( )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480A22-0A66-CA46-AF8C-F32EA2D836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54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86953" y="268288"/>
            <a:ext cx="5669280" cy="3900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8940" y="268288"/>
            <a:ext cx="18288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0" y="4208929"/>
            <a:ext cx="5458968" cy="1048684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0" y="5257800"/>
            <a:ext cx="5458968" cy="62179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Clr>
                <a:schemeClr val="accent1"/>
              </a:buClr>
              <a:buSzPct val="100000"/>
              <a:buFont typeface="Wingdings 2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76600" y="390525"/>
            <a:ext cx="5504688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22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8E80666-FB37-4B36-9149-507F3B0178E3}" type="datetimeFigureOut">
              <a:rPr lang="en-US" smtClean="0"/>
              <a:pPr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18688" y="6356350"/>
            <a:ext cx="4736592" cy="365125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6494" y="6356350"/>
            <a:ext cx="6858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212106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12106" y="6356350"/>
            <a:ext cx="1752600" cy="365125"/>
          </a:xfr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86953" y="268288"/>
            <a:ext cx="5669280" cy="2560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399" y="4171950"/>
            <a:ext cx="5457919" cy="1085850"/>
          </a:xfrm>
        </p:spPr>
        <p:txBody>
          <a:bodyPr>
            <a:normAutofit/>
          </a:bodyPr>
          <a:lstStyle>
            <a:lvl1pPr>
              <a:defRPr sz="4600"/>
            </a:lvl1pPr>
          </a:lstStyle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1" y="5257799"/>
            <a:ext cx="5457918" cy="618565"/>
          </a:xfrm>
        </p:spPr>
        <p:txBody>
          <a:bodyPr>
            <a:normAutofit/>
          </a:bodyPr>
          <a:lstStyle>
            <a:lvl1pPr marL="0" indent="0" algn="l">
              <a:spcBef>
                <a:spcPct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spcBef>
                <a:spcPct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76600" y="389965"/>
            <a:ext cx="5499847" cy="365125"/>
          </a:xfrm>
        </p:spPr>
        <p:txBody>
          <a:bodyPr/>
          <a:lstStyle>
            <a:lvl1pPr>
              <a:defRPr sz="2200" b="0" baseline="0">
                <a:solidFill>
                  <a:schemeClr val="bg1"/>
                </a:solidFill>
              </a:defRPr>
            </a:lvl1pPr>
          </a:lstStyle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9/22/2022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13847" y="6356350"/>
            <a:ext cx="4734112" cy="365125"/>
          </a:xfrm>
        </p:spPr>
        <p:txBody>
          <a:bodyPr/>
          <a:lstStyle/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5459" y="6356350"/>
            <a:ext cx="6858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200400" y="2877671"/>
            <a:ext cx="5646867" cy="128016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x-none"/>
              <a:t>Drag picture to placeholder or click icon to add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8940" y="268288"/>
            <a:ext cx="18288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9875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8423" y="914400"/>
            <a:ext cx="6508377" cy="1143000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8423" y="2209800"/>
            <a:ext cx="6508377" cy="391636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12106" y="6356350"/>
            <a:ext cx="1752600" cy="365125"/>
          </a:xfr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9/22/2022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8423" y="6356350"/>
            <a:ext cx="4926852" cy="365125"/>
          </a:xfrm>
        </p:spPr>
        <p:txBody>
          <a:bodyPr/>
          <a:lstStyle/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31694" y="361016"/>
            <a:ext cx="506506" cy="365125"/>
          </a:xfrm>
        </p:spPr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69875" y="1976718"/>
            <a:ext cx="1645920" cy="46257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x-none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58952" y="268288"/>
            <a:ext cx="1099073" cy="635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1" y="3429000"/>
            <a:ext cx="4966446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9801" y="4824414"/>
            <a:ext cx="4966446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600" y="6356350"/>
            <a:ext cx="1622612" cy="365125"/>
          </a:xfrm>
        </p:spPr>
        <p:txBody>
          <a:bodyPr/>
          <a:lstStyle/>
          <a:p>
            <a:fld id="{28E80666-FB37-4B36-9149-507F3B0178E3}" type="datetimeFigureOut">
              <a:rPr lang="en-US" smtClean="0"/>
              <a:pPr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4812" y="6356350"/>
            <a:ext cx="531158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9875" y="4773706"/>
            <a:ext cx="2971800" cy="18445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354" y="3429001"/>
            <a:ext cx="4966446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354" y="4824414"/>
            <a:ext cx="4966446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1212" y="6104965"/>
            <a:ext cx="506506" cy="365125"/>
          </a:xfrm>
        </p:spPr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69874" y="268288"/>
            <a:ext cx="2971800" cy="44386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x-none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8244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88352" cy="1143000"/>
          </a:xfrm>
        </p:spPr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54132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689411"/>
            <a:ext cx="356616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79391" y="2054132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79391" y="2689411"/>
            <a:ext cx="356616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2214562"/>
            <a:ext cx="7396163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9/22/2022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57199" y="4224973"/>
            <a:ext cx="7396163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244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9/22/2022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28244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45720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244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9/22/2022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28244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45720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45720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95082"/>
            <a:ext cx="356616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052" y="990600"/>
            <a:ext cx="3566160" cy="51355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2057400"/>
            <a:ext cx="356616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746811" y="268288"/>
            <a:ext cx="4114800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95082"/>
            <a:ext cx="356616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2057400"/>
            <a:ext cx="356616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1365" y="6124014"/>
            <a:ext cx="1752600" cy="365125"/>
          </a:xfrm>
        </p:spPr>
        <p:txBody>
          <a:bodyPr/>
          <a:lstStyle>
            <a:lvl1pPr algn="l">
              <a:defRPr/>
            </a:lvl1pPr>
          </a:lstStyle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4812" y="6356350"/>
            <a:ext cx="3863788" cy="365125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800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760258" y="990600"/>
            <a:ext cx="4096512" cy="561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x-none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216775" y="268288"/>
            <a:ext cx="1639457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88" y="4267200"/>
            <a:ext cx="6477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9874" y="268288"/>
            <a:ext cx="6858000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8788" y="4840941"/>
            <a:ext cx="6475412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9/22/2022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35471" y="268288"/>
            <a:ext cx="720761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88" y="4267200"/>
            <a:ext cx="6477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9874" y="268288"/>
            <a:ext cx="3006726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8788" y="4840941"/>
            <a:ext cx="6475412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9/22/2022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>
            <a:off x="3352800" y="268288"/>
            <a:ext cx="47019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/>
              <a:t>Drag picture to placeholder or click icon to add</a:t>
            </a:r>
            <a:endParaRPr/>
          </a:p>
        </p:txBody>
      </p:sp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3352800" y="2131935"/>
            <a:ext cx="23042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/>
              <a:t>Drag picture to placeholder or click icon to add</a:t>
            </a:r>
            <a:endParaRPr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/>
          </p:nvPr>
        </p:nvSpPr>
        <p:spPr>
          <a:xfrm>
            <a:off x="5750500" y="2131935"/>
            <a:ext cx="23042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212106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43799" y="1035424"/>
            <a:ext cx="1322295" cy="5090739"/>
          </a:xfrm>
        </p:spPr>
        <p:txBody>
          <a:bodyPr vert="eaVert" anchor="t" anchorCtr="0"/>
          <a:lstStyle/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35424"/>
            <a:ext cx="6019800" cy="5109789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2209800"/>
            <a:ext cx="6508377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9/22/2022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56494" y="361016"/>
            <a:ext cx="5065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 b="1">
                <a:solidFill>
                  <a:schemeClr val="bg1"/>
                </a:solidFill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05" r:id="rId1"/>
    <p:sldLayoutId id="2147484706" r:id="rId2"/>
    <p:sldLayoutId id="2147484707" r:id="rId3"/>
    <p:sldLayoutId id="2147484708" r:id="rId4"/>
    <p:sldLayoutId id="2147484709" r:id="rId5"/>
    <p:sldLayoutId id="2147484710" r:id="rId6"/>
    <p:sldLayoutId id="2147484711" r:id="rId7"/>
    <p:sldLayoutId id="2147484712" r:id="rId8"/>
    <p:sldLayoutId id="2147484713" r:id="rId9"/>
    <p:sldLayoutId id="2147484714" r:id="rId10"/>
    <p:sldLayoutId id="2147484715" r:id="rId11"/>
    <p:sldLayoutId id="2147484716" r:id="rId12"/>
    <p:sldLayoutId id="2147484717" r:id="rId13"/>
    <p:sldLayoutId id="2147484718" r:id="rId14"/>
    <p:sldLayoutId id="2147484719" r:id="rId15"/>
    <p:sldLayoutId id="2147484720" r:id="rId16"/>
    <p:sldLayoutId id="2147484721" r:id="rId17"/>
    <p:sldLayoutId id="2147484722" r:id="rId18"/>
    <p:sldLayoutId id="2147484723" r:id="rId19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800"/>
        </a:spcBef>
        <a:buClr>
          <a:schemeClr val="accent1"/>
        </a:buClr>
        <a:buSzPct val="100000"/>
        <a:buFont typeface="Wingdings 2" pitchFamily="18" charset="2"/>
        <a:buChar char="¡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2780" y="1528602"/>
            <a:ext cx="10851396" cy="454837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solidFill>
                  <a:schemeClr val="bg1"/>
                </a:solidFill>
              </a:rPr>
              <a:t>Programming Language IV</a:t>
            </a:r>
            <a:br>
              <a:rPr lang="en-US" sz="240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			</a:t>
            </a:r>
          </a:p>
          <a:p>
            <a:pPr algn="ctr"/>
            <a:endParaRPr lang="en-US" sz="2400" dirty="0">
              <a:solidFill>
                <a:schemeClr val="tx1"/>
              </a:solidFill>
            </a:endParaRPr>
          </a:p>
          <a:p>
            <a:pPr algn="ctr"/>
            <a:endParaRPr lang="en-US" sz="2400" dirty="0">
              <a:solidFill>
                <a:schemeClr val="tx1"/>
              </a:solidFill>
            </a:endParaRPr>
          </a:p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11343" y="3997881"/>
            <a:ext cx="8447708" cy="1048684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GUI Basics</a:t>
            </a:r>
          </a:p>
        </p:txBody>
      </p:sp>
    </p:spTree>
    <p:extLst>
      <p:ext uri="{BB962C8B-B14F-4D97-AF65-F5344CB8AC3E}">
        <p14:creationId xmlns:p14="http://schemas.microsoft.com/office/powerpoint/2010/main" val="14276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7556313" cy="1116106"/>
          </a:xfrm>
        </p:spPr>
        <p:txBody>
          <a:bodyPr/>
          <a:lstStyle/>
          <a:p>
            <a:r>
              <a:rPr lang="en-US" dirty="0"/>
              <a:t>Outline of Class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1"/>
          </p:nvPr>
        </p:nvSpPr>
        <p:spPr>
          <a:xfrm>
            <a:off x="326019" y="1333642"/>
            <a:ext cx="7556313" cy="4144963"/>
          </a:xfrm>
        </p:spPr>
        <p:txBody>
          <a:bodyPr>
            <a:normAutofit/>
          </a:bodyPr>
          <a:lstStyle/>
          <a:p>
            <a:r>
              <a:rPr lang="en-US" sz="2800" dirty="0"/>
              <a:t>Swing and AWT</a:t>
            </a:r>
          </a:p>
          <a:p>
            <a:r>
              <a:rPr lang="en-US" sz="2600" dirty="0"/>
              <a:t>GUI API Hierarchy</a:t>
            </a:r>
          </a:p>
          <a:p>
            <a:r>
              <a:rPr lang="en-US" sz="2600" dirty="0"/>
              <a:t>GUI Components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52455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048" y="-340272"/>
            <a:ext cx="8383364" cy="1371600"/>
          </a:xfrm>
        </p:spPr>
        <p:txBody>
          <a:bodyPr/>
          <a:lstStyle/>
          <a:p>
            <a:r>
              <a:rPr lang="en-US" dirty="0"/>
              <a:t>Java Graphical 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68" y="1283312"/>
            <a:ext cx="8751056" cy="5315653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/>
            <a:r>
              <a:rPr lang="en-US" dirty="0"/>
              <a:t>There are two sets of Java APIs for graphics programming: </a:t>
            </a:r>
          </a:p>
          <a:p>
            <a:pPr marL="457200" lvl="2" algn="just">
              <a:spcBef>
                <a:spcPts val="1800"/>
              </a:spcBef>
            </a:pPr>
            <a:r>
              <a:rPr lang="en-US" sz="2000" dirty="0"/>
              <a:t>AWT (Abstract Windowing Toolkit) and Swing.</a:t>
            </a:r>
          </a:p>
          <a:p>
            <a:pPr algn="just"/>
            <a:r>
              <a:rPr lang="en-US" b="0" dirty="0"/>
              <a:t>AWT API was introduced in JDK 1.0. </a:t>
            </a:r>
            <a:r>
              <a:rPr lang="en-US" dirty="0"/>
              <a:t>AWT is fine for developing simple graphical user interfaces, but not for developing comprehensive GUI projects. </a:t>
            </a:r>
            <a:r>
              <a:rPr lang="en-US" b="0" dirty="0"/>
              <a:t>Most of the AWT components have become obsolete and should be replaced by newer Swing components.</a:t>
            </a:r>
          </a:p>
          <a:p>
            <a:pPr algn="just"/>
            <a:r>
              <a:rPr lang="en-US" b="0" dirty="0"/>
              <a:t>Swing API introduces a much more comprehensive set of graphics libraries that enhances the AWT</a:t>
            </a:r>
          </a:p>
        </p:txBody>
      </p:sp>
    </p:spTree>
    <p:extLst>
      <p:ext uri="{BB962C8B-B14F-4D97-AF65-F5344CB8AC3E}">
        <p14:creationId xmlns:p14="http://schemas.microsoft.com/office/powerpoint/2010/main" val="2049958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818" y="-272133"/>
            <a:ext cx="6508377" cy="1143000"/>
          </a:xfrm>
        </p:spPr>
        <p:txBody>
          <a:bodyPr/>
          <a:lstStyle/>
          <a:p>
            <a:r>
              <a:rPr lang="en-US" dirty="0"/>
              <a:t>Java GUI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336924"/>
            <a:ext cx="8548952" cy="4789239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 The GUI API contains classes that can be classified into three groups: </a:t>
            </a:r>
          </a:p>
          <a:p>
            <a:pPr lvl="1"/>
            <a:r>
              <a:rPr lang="en-US" sz="2000" b="1" dirty="0"/>
              <a:t>Component classes</a:t>
            </a:r>
          </a:p>
          <a:p>
            <a:pPr lvl="2"/>
            <a:r>
              <a:rPr lang="en-US" sz="2000" dirty="0"/>
              <a:t>Components are elementary GUI entities (such as Button, Label, and </a:t>
            </a:r>
            <a:r>
              <a:rPr lang="en-US" sz="2000" dirty="0" err="1"/>
              <a:t>TextField</a:t>
            </a:r>
            <a:r>
              <a:rPr lang="en-US" sz="2000" dirty="0"/>
              <a:t>.)</a:t>
            </a:r>
          </a:p>
          <a:p>
            <a:pPr lvl="1"/>
            <a:r>
              <a:rPr lang="en-US" sz="2000" b="1" dirty="0"/>
              <a:t>Container classes </a:t>
            </a:r>
          </a:p>
          <a:p>
            <a:pPr lvl="2"/>
            <a:r>
              <a:rPr lang="en-US" sz="2000" dirty="0"/>
              <a:t>Containers (such as Frame and Panel) are used to hold components in a specific layout </a:t>
            </a:r>
          </a:p>
          <a:p>
            <a:pPr lvl="1"/>
            <a:r>
              <a:rPr lang="en-US" sz="2000" b="1" dirty="0"/>
              <a:t>Helper classes </a:t>
            </a:r>
          </a:p>
          <a:p>
            <a:pPr lvl="2"/>
            <a:r>
              <a:rPr lang="en-US" sz="2000" dirty="0"/>
              <a:t>classes, such as Graphics , Color , Font , </a:t>
            </a:r>
            <a:r>
              <a:rPr lang="en-US" sz="2000" dirty="0" err="1"/>
              <a:t>FontMetrics</a:t>
            </a:r>
            <a:r>
              <a:rPr lang="en-US" sz="2000" dirty="0"/>
              <a:t> , and Dimension , are called helper classes  used to support GUI components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57437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761" y="-184940"/>
            <a:ext cx="6508377" cy="1143000"/>
          </a:xfrm>
        </p:spPr>
        <p:txBody>
          <a:bodyPr/>
          <a:lstStyle/>
          <a:p>
            <a:r>
              <a:rPr lang="en-US" dirty="0"/>
              <a:t>(1) 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809" y="1204174"/>
            <a:ext cx="8934215" cy="544351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 An instance of Container  can hold instances of Component</a:t>
            </a:r>
          </a:p>
          <a:p>
            <a:pPr lvl="1">
              <a:lnSpc>
                <a:spcPct val="120000"/>
              </a:lnSpc>
            </a:pPr>
            <a:r>
              <a:rPr lang="en-US" b="1" dirty="0" err="1"/>
              <a:t>javax.swing.Jframe</a:t>
            </a:r>
            <a:endParaRPr lang="en-US" b="1" dirty="0"/>
          </a:p>
          <a:p>
            <a:pPr lvl="2">
              <a:lnSpc>
                <a:spcPct val="120000"/>
              </a:lnSpc>
            </a:pPr>
            <a:r>
              <a:rPr lang="en-US" dirty="0"/>
              <a:t>a top-level container for holding other Swing user-interface components in Java GUI applications.</a:t>
            </a:r>
          </a:p>
          <a:p>
            <a:pPr lvl="1">
              <a:lnSpc>
                <a:spcPct val="120000"/>
              </a:lnSpc>
            </a:pPr>
            <a:r>
              <a:rPr lang="en-US" b="1" dirty="0" err="1"/>
              <a:t>javax.swing.Jpanel</a:t>
            </a:r>
            <a:endParaRPr lang="en-US" b="1" dirty="0"/>
          </a:p>
          <a:p>
            <a:pPr lvl="2">
              <a:lnSpc>
                <a:spcPct val="120000"/>
              </a:lnSpc>
            </a:pPr>
            <a:r>
              <a:rPr lang="en-US" dirty="0"/>
              <a:t>an invisible container for grouping user-interface components. Panels can be nested. You can place panels inside another panel. </a:t>
            </a:r>
            <a:r>
              <a:rPr lang="en-US" dirty="0" err="1"/>
              <a:t>JPanel</a:t>
            </a:r>
            <a:r>
              <a:rPr lang="en-US" dirty="0"/>
              <a:t> is also often used as a canvas to draw graphics.</a:t>
            </a:r>
          </a:p>
          <a:p>
            <a:pPr lvl="1">
              <a:lnSpc>
                <a:spcPct val="120000"/>
              </a:lnSpc>
            </a:pPr>
            <a:r>
              <a:rPr lang="en-US" b="1" dirty="0" err="1"/>
              <a:t>javax.swing.Japplet</a:t>
            </a:r>
            <a:endParaRPr lang="en-US" b="1" dirty="0"/>
          </a:p>
          <a:p>
            <a:pPr lvl="2">
              <a:lnSpc>
                <a:spcPct val="120000"/>
              </a:lnSpc>
            </a:pPr>
            <a:r>
              <a:rPr lang="en-US" dirty="0"/>
              <a:t>a base class for creating a Java applet using Swing components.</a:t>
            </a:r>
          </a:p>
          <a:p>
            <a:pPr lvl="1">
              <a:lnSpc>
                <a:spcPct val="120000"/>
              </a:lnSpc>
            </a:pPr>
            <a:r>
              <a:rPr lang="en-US" b="1" dirty="0" err="1"/>
              <a:t>javax.swing.Jdialog</a:t>
            </a:r>
            <a:endParaRPr lang="en-US" b="1" dirty="0"/>
          </a:p>
          <a:p>
            <a:pPr lvl="2">
              <a:lnSpc>
                <a:spcPct val="120000"/>
              </a:lnSpc>
            </a:pPr>
            <a:r>
              <a:rPr lang="en-US" dirty="0"/>
              <a:t>a popup window generally used as a temporary window to receive additional information from the user or to provide notification to the user.</a:t>
            </a:r>
          </a:p>
        </p:txBody>
      </p:sp>
    </p:spTree>
    <p:extLst>
      <p:ext uri="{BB962C8B-B14F-4D97-AF65-F5344CB8AC3E}">
        <p14:creationId xmlns:p14="http://schemas.microsoft.com/office/powerpoint/2010/main" val="1488379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4068594"/>
              </p:ext>
            </p:extLst>
          </p:nvPr>
        </p:nvGraphicFramePr>
        <p:xfrm>
          <a:off x="152400" y="762000"/>
          <a:ext cx="8763000" cy="579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007864" imgH="3314700" progId="Word.Picture.8">
                  <p:embed/>
                </p:oleObj>
              </mc:Choice>
              <mc:Fallback>
                <p:oleObj name="Picture" r:id="rId2" imgW="5007864" imgH="33147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762000"/>
                        <a:ext cx="8763000" cy="579755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761" y="-184940"/>
            <a:ext cx="6508377" cy="1143000"/>
          </a:xfrm>
        </p:spPr>
        <p:txBody>
          <a:bodyPr/>
          <a:lstStyle/>
          <a:p>
            <a:r>
              <a:rPr lang="en-US" dirty="0"/>
              <a:t>(2) Components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665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>
          <a:xfrm>
            <a:off x="275765" y="-234425"/>
            <a:ext cx="6508377" cy="1143000"/>
          </a:xfrm>
          <a:noFill/>
          <a:ln/>
        </p:spPr>
        <p:txBody>
          <a:bodyPr>
            <a:normAutofit/>
          </a:bodyPr>
          <a:lstStyle/>
          <a:p>
            <a:r>
              <a:rPr lang="en-US" sz="4000" dirty="0"/>
              <a:t>(3) GUI Helper Classes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4812" y="1123147"/>
            <a:ext cx="8730096" cy="5734853"/>
          </a:xfrm>
          <a:solidFill>
            <a:srgbClr val="FFFFFF"/>
          </a:solidFill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solidFill>
                  <a:srgbClr val="000000"/>
                </a:solidFill>
                <a:cs typeface="Times New Roman" charset="0"/>
              </a:rPr>
              <a:t>The helper classes are not subclasses of </a:t>
            </a:r>
            <a:r>
              <a:rPr lang="en-US" sz="1600" u="sng" dirty="0">
                <a:solidFill>
                  <a:srgbClr val="000000"/>
                </a:solidFill>
                <a:cs typeface="Times New Roman" charset="0"/>
              </a:rPr>
              <a:t>Component</a:t>
            </a:r>
            <a:r>
              <a:rPr lang="en-US" sz="1600" dirty="0">
                <a:solidFill>
                  <a:srgbClr val="000000"/>
                </a:solidFill>
                <a:cs typeface="Times New Roman" charset="0"/>
              </a:rPr>
              <a:t>. They are used to describe the properties of GUI components such as graphics context, colors, fonts, and dimension.</a:t>
            </a:r>
            <a:endParaRPr lang="en-US" sz="1600" dirty="0"/>
          </a:p>
          <a:p>
            <a:pPr>
              <a:spcBef>
                <a:spcPts val="0"/>
              </a:spcBef>
            </a:pPr>
            <a:r>
              <a:rPr lang="en-US" sz="1600" b="1" dirty="0" err="1"/>
              <a:t>java.awt.Graphics</a:t>
            </a:r>
            <a:endParaRPr lang="en-US" sz="1600" b="1" dirty="0"/>
          </a:p>
          <a:p>
            <a:pPr lvl="1">
              <a:spcBef>
                <a:spcPts val="0"/>
              </a:spcBef>
            </a:pPr>
            <a:r>
              <a:rPr lang="en-US" sz="1600" dirty="0"/>
              <a:t>an abstract class that provides the methods for drawing strings, lines, and simple shapes.</a:t>
            </a:r>
          </a:p>
          <a:p>
            <a:pPr>
              <a:spcBef>
                <a:spcPts val="0"/>
              </a:spcBef>
            </a:pPr>
            <a:r>
              <a:rPr lang="en-US" sz="1600" b="1" dirty="0" err="1"/>
              <a:t>java.awt.Color</a:t>
            </a:r>
            <a:endParaRPr lang="en-US" sz="1600" b="1" dirty="0"/>
          </a:p>
          <a:p>
            <a:pPr lvl="1">
              <a:spcBef>
                <a:spcPts val="0"/>
              </a:spcBef>
            </a:pPr>
            <a:r>
              <a:rPr lang="en-US" sz="1600" dirty="0"/>
              <a:t>deals with the colors of GUI components. For example, you can specify background or foreground colors in components like </a:t>
            </a:r>
            <a:r>
              <a:rPr lang="en-US" sz="1600" dirty="0" err="1"/>
              <a:t>JFrame</a:t>
            </a:r>
            <a:r>
              <a:rPr lang="en-US" sz="1600" dirty="0"/>
              <a:t> and </a:t>
            </a:r>
            <a:r>
              <a:rPr lang="en-US" sz="1600" dirty="0" err="1"/>
              <a:t>JPanel</a:t>
            </a:r>
            <a:r>
              <a:rPr lang="en-US" sz="1600" dirty="0"/>
              <a:t>, or you can specify colors of lines, shapes, and strings in drawings.</a:t>
            </a:r>
          </a:p>
          <a:p>
            <a:pPr>
              <a:spcBef>
                <a:spcPts val="0"/>
              </a:spcBef>
            </a:pPr>
            <a:r>
              <a:rPr lang="en-US" sz="1600" b="1" dirty="0" err="1"/>
              <a:t>java.awt.Font</a:t>
            </a:r>
            <a:r>
              <a:rPr lang="en-US" sz="1600" b="1" dirty="0"/>
              <a:t> 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specifies fonts for the text and drawings on GUI components. For example, you can specify the font type (e.g., </a:t>
            </a:r>
            <a:r>
              <a:rPr lang="en-US" sz="1600" dirty="0" err="1"/>
              <a:t>SansSerif</a:t>
            </a:r>
            <a:r>
              <a:rPr lang="en-US" sz="1600" dirty="0"/>
              <a:t>), style (e.g., bold), and size (e.g., 24 points) for the text on a button.</a:t>
            </a:r>
          </a:p>
          <a:p>
            <a:pPr>
              <a:spcBef>
                <a:spcPts val="0"/>
              </a:spcBef>
            </a:pPr>
            <a:r>
              <a:rPr lang="en-US" sz="1600" b="1" dirty="0" err="1"/>
              <a:t>java.awt.FontMetrics</a:t>
            </a:r>
            <a:endParaRPr lang="en-US" sz="1600" b="1" dirty="0"/>
          </a:p>
          <a:p>
            <a:pPr lvl="1">
              <a:spcBef>
                <a:spcPts val="0"/>
              </a:spcBef>
            </a:pPr>
            <a:r>
              <a:rPr lang="en-US" sz="1600" dirty="0"/>
              <a:t>an abstract class used to get the properties of the fonts.</a:t>
            </a:r>
          </a:p>
          <a:p>
            <a:pPr>
              <a:spcBef>
                <a:spcPts val="0"/>
              </a:spcBef>
            </a:pPr>
            <a:r>
              <a:rPr lang="en-US" sz="1600" b="1" dirty="0" err="1"/>
              <a:t>java.awt.Dimension</a:t>
            </a:r>
            <a:r>
              <a:rPr lang="en-US" sz="1600" dirty="0"/>
              <a:t> 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encapsulates the width and height of a component (in integer precision) in a single object.</a:t>
            </a:r>
          </a:p>
          <a:p>
            <a:pPr>
              <a:spcBef>
                <a:spcPts val="0"/>
              </a:spcBef>
            </a:pPr>
            <a:r>
              <a:rPr lang="en-US" sz="1600" b="1" dirty="0" err="1"/>
              <a:t>java.awt.LayoutManager</a:t>
            </a:r>
            <a:r>
              <a:rPr lang="en-US" sz="1600" b="1" dirty="0"/>
              <a:t> 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specifies how components are arranged in a container.</a:t>
            </a:r>
          </a:p>
        </p:txBody>
      </p:sp>
    </p:spTree>
    <p:extLst>
      <p:ext uri="{BB962C8B-B14F-4D97-AF65-F5344CB8AC3E}">
        <p14:creationId xmlns:p14="http://schemas.microsoft.com/office/powerpoint/2010/main" val="126491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855" y="-82839"/>
            <a:ext cx="8298329" cy="1371600"/>
          </a:xfrm>
        </p:spPr>
        <p:txBody>
          <a:bodyPr>
            <a:normAutofit/>
          </a:bodyPr>
          <a:lstStyle/>
          <a:p>
            <a:r>
              <a:rPr lang="en-US" sz="2800" dirty="0"/>
              <a:t>Basic GUI Programming Steps in Java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151" y="1414206"/>
            <a:ext cx="8654014" cy="502051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0" dirty="0"/>
              <a:t>Declare a container and components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0" dirty="0"/>
              <a:t>Add components to one or more containers using a layout manager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0" dirty="0"/>
              <a:t>Register event listener(s) with the components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0" dirty="0"/>
              <a:t>Create event listener method(s)	</a:t>
            </a:r>
          </a:p>
        </p:txBody>
      </p:sp>
    </p:spTree>
    <p:extLst>
      <p:ext uri="{BB962C8B-B14F-4D97-AF65-F5344CB8AC3E}">
        <p14:creationId xmlns:p14="http://schemas.microsoft.com/office/powerpoint/2010/main" val="3980093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82D6CD-76DF-0C42-A4D2-44E4ADD385E1}" type="slidenum">
              <a:rPr lang="en-US"/>
              <a:pPr/>
              <a:t>9</a:t>
            </a:fld>
            <a:endParaRPr lang="en-US"/>
          </a:p>
        </p:txBody>
      </p:sp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>
          <a:xfrm>
            <a:off x="242223" y="-468928"/>
            <a:ext cx="7772400" cy="1428750"/>
          </a:xfrm>
          <a:noFill/>
          <a:ln/>
        </p:spPr>
        <p:txBody>
          <a:bodyPr/>
          <a:lstStyle/>
          <a:p>
            <a:r>
              <a:rPr lang="en-US" dirty="0"/>
              <a:t>Frames</a:t>
            </a:r>
          </a:p>
        </p:txBody>
      </p:sp>
      <p:sp>
        <p:nvSpPr>
          <p:cNvPr id="364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2740" y="1116644"/>
            <a:ext cx="8780131" cy="4953000"/>
          </a:xfrm>
          <a:solidFill>
            <a:srgbClr val="FFFFFF"/>
          </a:solidFill>
          <a:ln/>
        </p:spPr>
        <p:txBody>
          <a:bodyPr/>
          <a:lstStyle/>
          <a:p>
            <a:pPr>
              <a:spcAft>
                <a:spcPts val="1200"/>
              </a:spcAft>
              <a:buFont typeface="Wingdings" charset="2"/>
              <a:buChar char="§"/>
            </a:pPr>
            <a:r>
              <a:rPr lang="en-US" dirty="0"/>
              <a:t> A frame is a window for holding other GUI components</a:t>
            </a:r>
            <a:endParaRPr lang="en-US" b="0" dirty="0"/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9354501"/>
              </p:ext>
            </p:extLst>
          </p:nvPr>
        </p:nvGraphicFramePr>
        <p:xfrm>
          <a:off x="0" y="1863990"/>
          <a:ext cx="9144000" cy="3084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806696" imgH="1600200" progId="Word.Picture.8">
                  <p:embed/>
                </p:oleObj>
              </mc:Choice>
              <mc:Fallback>
                <p:oleObj name="Picture" r:id="rId2" imgW="4806696" imgH="16002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863990"/>
                        <a:ext cx="9144000" cy="308465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70765" y="2896591"/>
            <a:ext cx="693206" cy="307777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Times New Roman"/>
                <a:cs typeface="Times New Roman"/>
              </a:rPr>
              <a:t>setSize</a:t>
            </a:r>
            <a:endParaRPr lang="en-US" sz="1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52995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31" name="Rectangle 7"/>
          <p:cNvSpPr>
            <a:spLocks noChangeArrowheads="1"/>
          </p:cNvSpPr>
          <p:nvPr/>
        </p:nvSpPr>
        <p:spPr bwMode="auto">
          <a:xfrm>
            <a:off x="-10200" y="99584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92257" y="995846"/>
            <a:ext cx="8647627" cy="369331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javax.swing</a:t>
            </a:r>
            <a:r>
              <a:rPr lang="en-US" dirty="0"/>
              <a:t>.*;</a:t>
            </a:r>
          </a:p>
          <a:p>
            <a:r>
              <a:rPr lang="en-US" dirty="0"/>
              <a:t>public class </a:t>
            </a:r>
            <a:r>
              <a:rPr lang="en-US" dirty="0" err="1"/>
              <a:t>MyFrame</a:t>
            </a:r>
            <a:r>
              <a:rPr lang="en-US" dirty="0"/>
              <a:t> {</a:t>
            </a:r>
          </a:p>
          <a:p>
            <a:endParaRPr lang="en-US" dirty="0"/>
          </a:p>
          <a:p>
            <a:r>
              <a:rPr lang="en-US" dirty="0"/>
              <a:t>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b="1" dirty="0" err="1">
                <a:solidFill>
                  <a:srgbClr val="FF0000"/>
                </a:solidFill>
              </a:rPr>
              <a:t>JFrame</a:t>
            </a:r>
            <a:r>
              <a:rPr lang="en-US" b="1" dirty="0">
                <a:solidFill>
                  <a:srgbClr val="FF0000"/>
                </a:solidFill>
              </a:rPr>
              <a:t> frame = new </a:t>
            </a:r>
            <a:r>
              <a:rPr lang="en-US" b="1" dirty="0" err="1">
                <a:solidFill>
                  <a:srgbClr val="FF0000"/>
                </a:solidFill>
              </a:rPr>
              <a:t>JFrame</a:t>
            </a:r>
            <a:r>
              <a:rPr lang="en-US" b="1" dirty="0">
                <a:solidFill>
                  <a:srgbClr val="FF0000"/>
                </a:solidFill>
              </a:rPr>
              <a:t>("</a:t>
            </a:r>
            <a:r>
              <a:rPr lang="en-US" b="1" dirty="0" err="1">
                <a:solidFill>
                  <a:srgbClr val="FF0000"/>
                </a:solidFill>
              </a:rPr>
              <a:t>MyFrame</a:t>
            </a:r>
            <a:r>
              <a:rPr lang="en-US" b="1" dirty="0">
                <a:solidFill>
                  <a:srgbClr val="FF0000"/>
                </a:solidFill>
              </a:rPr>
              <a:t>"); </a:t>
            </a:r>
            <a:r>
              <a:rPr lang="en-US" dirty="0"/>
              <a:t>// Create a frame</a:t>
            </a:r>
          </a:p>
          <a:p>
            <a:r>
              <a:rPr lang="en-US" dirty="0"/>
              <a:t>    </a:t>
            </a:r>
            <a:r>
              <a:rPr lang="en-US" dirty="0" err="1"/>
              <a:t>frame.setSize</a:t>
            </a:r>
            <a:r>
              <a:rPr lang="en-US" dirty="0"/>
              <a:t>(400, 300); // Set the frame size</a:t>
            </a:r>
          </a:p>
          <a:p>
            <a:r>
              <a:rPr lang="en-US" dirty="0"/>
              <a:t>    </a:t>
            </a:r>
            <a:r>
              <a:rPr lang="en-US" dirty="0" err="1"/>
              <a:t>frame.setLocationRelativeTo</a:t>
            </a:r>
            <a:r>
              <a:rPr lang="en-US" dirty="0"/>
              <a:t>(null); // New since JDK 1.4</a:t>
            </a:r>
          </a:p>
          <a:p>
            <a:r>
              <a:rPr lang="en-US" dirty="0"/>
              <a:t>    </a:t>
            </a:r>
            <a:r>
              <a:rPr lang="en-US" dirty="0" err="1"/>
              <a:t>frame.setDefaultCloseOperation</a:t>
            </a:r>
            <a:r>
              <a:rPr lang="en-US" dirty="0"/>
              <a:t>(</a:t>
            </a:r>
            <a:r>
              <a:rPr lang="en-US" dirty="0" err="1"/>
              <a:t>JFrame.EXIT_ON_CLOSE</a:t>
            </a:r>
            <a:r>
              <a:rPr lang="en-US" dirty="0"/>
              <a:t>);</a:t>
            </a:r>
          </a:p>
          <a:p>
            <a:r>
              <a:rPr lang="en-US" dirty="0"/>
              <a:t>    </a:t>
            </a:r>
            <a:r>
              <a:rPr lang="en-US" dirty="0" err="1"/>
              <a:t>frame.setVisible</a:t>
            </a:r>
            <a:r>
              <a:rPr lang="en-US" dirty="0"/>
              <a:t>(true); // Display the frame</a:t>
            </a:r>
          </a:p>
          <a:p>
            <a:endParaRPr lang="en-US" dirty="0"/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257" y="175020"/>
            <a:ext cx="23036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>
                <a:solidFill>
                  <a:srgbClr val="0000FF"/>
                </a:solidFill>
              </a:rPr>
              <a:t>Example</a:t>
            </a:r>
            <a:r>
              <a:rPr lang="en-US" sz="2000" u="sng" dirty="0"/>
              <a:t>: </a:t>
            </a:r>
            <a:r>
              <a:rPr lang="en-US" sz="2000" u="sng" dirty="0" err="1"/>
              <a:t>JFrame</a:t>
            </a:r>
            <a:endParaRPr lang="en-US" sz="2000" u="sng" dirty="0"/>
          </a:p>
        </p:txBody>
      </p:sp>
      <p:pic>
        <p:nvPicPr>
          <p:cNvPr id="7" name="Picture 6" descr="Screen Shot 2016-07-12 at 9.27.57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671" y="4410401"/>
            <a:ext cx="4123017" cy="210877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53095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435" y="-326746"/>
            <a:ext cx="8283388" cy="1371600"/>
          </a:xfrm>
        </p:spPr>
        <p:txBody>
          <a:bodyPr>
            <a:normAutofit/>
          </a:bodyPr>
          <a:lstStyle/>
          <a:p>
            <a:r>
              <a:rPr lang="en-US" sz="3200" dirty="0"/>
              <a:t>Adding components to a 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02195" y="1310278"/>
            <a:ext cx="8590553" cy="4801315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javax.swing</a:t>
            </a:r>
            <a:r>
              <a:rPr lang="en-US" dirty="0"/>
              <a:t>.*;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MyFrameWithComponents</a:t>
            </a:r>
            <a:r>
              <a:rPr lang="en-US" dirty="0"/>
              <a:t> {</a:t>
            </a:r>
          </a:p>
          <a:p>
            <a:r>
              <a:rPr lang="en-US" dirty="0"/>
              <a:t>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b="1" dirty="0" err="1"/>
              <a:t>JFrame</a:t>
            </a:r>
            <a:r>
              <a:rPr lang="en-US" b="1" dirty="0"/>
              <a:t> frame = new </a:t>
            </a:r>
            <a:r>
              <a:rPr lang="en-US" b="1" dirty="0" err="1"/>
              <a:t>JFrame</a:t>
            </a:r>
            <a:r>
              <a:rPr lang="en-US" b="1" dirty="0"/>
              <a:t>("My Frame With Components");</a:t>
            </a:r>
          </a:p>
          <a:p>
            <a:r>
              <a:rPr lang="en-US" dirty="0"/>
              <a:t>    // Add a button into the frame</a:t>
            </a:r>
          </a:p>
          <a:p>
            <a:r>
              <a:rPr lang="en-US" dirty="0"/>
              <a:t>  </a:t>
            </a:r>
            <a:r>
              <a:rPr lang="en-US" b="1" dirty="0">
                <a:solidFill>
                  <a:srgbClr val="0000FF"/>
                </a:solidFill>
              </a:rPr>
              <a:t>  </a:t>
            </a:r>
            <a:r>
              <a:rPr lang="en-US" b="1" dirty="0" err="1">
                <a:solidFill>
                  <a:srgbClr val="0000FF"/>
                </a:solidFill>
              </a:rPr>
              <a:t>JButton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jbtOK</a:t>
            </a:r>
            <a:r>
              <a:rPr lang="en-US" b="1" dirty="0">
                <a:solidFill>
                  <a:srgbClr val="0000FF"/>
                </a:solidFill>
              </a:rPr>
              <a:t> = new </a:t>
            </a:r>
            <a:r>
              <a:rPr lang="en-US" b="1" dirty="0" err="1">
                <a:solidFill>
                  <a:srgbClr val="0000FF"/>
                </a:solidFill>
              </a:rPr>
              <a:t>JButton</a:t>
            </a:r>
            <a:r>
              <a:rPr lang="en-US" b="1" dirty="0">
                <a:solidFill>
                  <a:srgbClr val="0000FF"/>
                </a:solidFill>
              </a:rPr>
              <a:t>("OK");</a:t>
            </a:r>
          </a:p>
          <a:p>
            <a:r>
              <a:rPr lang="en-US" dirty="0"/>
              <a:t>    </a:t>
            </a:r>
            <a:r>
              <a:rPr lang="en-US" dirty="0" err="1"/>
              <a:t>frame</a:t>
            </a:r>
            <a:r>
              <a:rPr lang="en-US" b="1" dirty="0" err="1">
                <a:solidFill>
                  <a:srgbClr val="0000FF"/>
                </a:solidFill>
              </a:rPr>
              <a:t>.add</a:t>
            </a:r>
            <a:r>
              <a:rPr lang="en-US" dirty="0"/>
              <a:t>(</a:t>
            </a:r>
            <a:r>
              <a:rPr lang="en-US" dirty="0" err="1"/>
              <a:t>jbtOK</a:t>
            </a:r>
            <a:r>
              <a:rPr lang="en-US" dirty="0"/>
              <a:t>);</a:t>
            </a:r>
          </a:p>
          <a:p>
            <a:r>
              <a:rPr lang="en-US" dirty="0"/>
              <a:t>    </a:t>
            </a:r>
            <a:r>
              <a:rPr lang="en-US" dirty="0" err="1"/>
              <a:t>frame.setSize</a:t>
            </a:r>
            <a:r>
              <a:rPr lang="en-US" dirty="0"/>
              <a:t>(400, 300);</a:t>
            </a:r>
          </a:p>
          <a:p>
            <a:r>
              <a:rPr lang="en-US" dirty="0"/>
              <a:t>    </a:t>
            </a:r>
            <a:r>
              <a:rPr lang="en-US" dirty="0" err="1"/>
              <a:t>frame.setDefaultCloseOperation</a:t>
            </a:r>
            <a:r>
              <a:rPr lang="en-US" dirty="0"/>
              <a:t>(</a:t>
            </a:r>
            <a:r>
              <a:rPr lang="en-US" dirty="0" err="1"/>
              <a:t>JFrame.EXIT_ON_CLOSE</a:t>
            </a:r>
            <a:r>
              <a:rPr lang="en-US" dirty="0"/>
              <a:t>);</a:t>
            </a:r>
          </a:p>
          <a:p>
            <a:r>
              <a:rPr lang="en-US" dirty="0"/>
              <a:t>    </a:t>
            </a:r>
            <a:r>
              <a:rPr lang="en-US" dirty="0" err="1"/>
              <a:t>frame.setLocationRelativeTo</a:t>
            </a:r>
            <a:r>
              <a:rPr lang="en-US" dirty="0"/>
              <a:t>(null); // Center the frame</a:t>
            </a:r>
          </a:p>
          <a:p>
            <a:r>
              <a:rPr lang="en-US" dirty="0"/>
              <a:t>    </a:t>
            </a:r>
            <a:r>
              <a:rPr lang="en-US" dirty="0" err="1"/>
              <a:t>frame.setVisible</a:t>
            </a:r>
            <a:r>
              <a:rPr lang="en-US" dirty="0"/>
              <a:t>(true);</a:t>
            </a:r>
          </a:p>
          <a:p>
            <a:r>
              <a:rPr lang="en-US" dirty="0"/>
              <a:t>  }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pic>
        <p:nvPicPr>
          <p:cNvPr id="8" name="Picture 7" descr="Screen Shot 2016-07-12 at 2.11.1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900" y="4812005"/>
            <a:ext cx="3760442" cy="199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595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62859" y="-495927"/>
            <a:ext cx="7772400" cy="1428750"/>
          </a:xfrm>
          <a:noFill/>
          <a:ln/>
        </p:spPr>
        <p:txBody>
          <a:bodyPr/>
          <a:lstStyle/>
          <a:p>
            <a:r>
              <a:rPr lang="en-US" dirty="0"/>
              <a:t>Layout Managers</a:t>
            </a:r>
            <a:endParaRPr lang="en-US" b="1" dirty="0"/>
          </a:p>
        </p:txBody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2859" y="1147485"/>
            <a:ext cx="8752541" cy="5024715"/>
          </a:xfrm>
          <a:noFill/>
          <a:ln/>
        </p:spPr>
        <p:txBody>
          <a:bodyPr>
            <a:normAutofit/>
          </a:bodyPr>
          <a:lstStyle/>
          <a:p>
            <a:pPr lvl="1"/>
            <a:r>
              <a:rPr lang="en-US" sz="2400" dirty="0"/>
              <a:t>Provided for arranging GUI components</a:t>
            </a:r>
          </a:p>
          <a:p>
            <a:pPr lvl="1"/>
            <a:r>
              <a:rPr lang="en-US" sz="2400" dirty="0"/>
              <a:t>Provide basic layout capabilities</a:t>
            </a:r>
          </a:p>
          <a:p>
            <a:pPr lvl="1"/>
            <a:r>
              <a:rPr lang="en-US" sz="2400" dirty="0"/>
              <a:t>Processes layout details</a:t>
            </a:r>
          </a:p>
          <a:p>
            <a:pPr lvl="1"/>
            <a:r>
              <a:rPr lang="en-US" sz="2400" dirty="0"/>
              <a:t>Interface </a:t>
            </a:r>
            <a:r>
              <a:rPr lang="en-US" sz="2400" b="1" dirty="0" err="1">
                <a:solidFill>
                  <a:srgbClr val="000000"/>
                </a:solidFill>
                <a:latin typeface="Courier New" charset="0"/>
              </a:rPr>
              <a:t>LayoutManager</a:t>
            </a:r>
            <a:endParaRPr lang="en-US" sz="2400" dirty="0">
              <a:solidFill>
                <a:srgbClr val="000000"/>
              </a:solidFill>
              <a:latin typeface="Courier New" charset="0"/>
            </a:endParaRPr>
          </a:p>
          <a:p>
            <a:pPr marL="457200" indent="-457200">
              <a:spcBef>
                <a:spcPct val="0"/>
              </a:spcBef>
              <a:buFont typeface="Arial"/>
              <a:buChar char="•"/>
            </a:pPr>
            <a:endParaRPr lang="en-US" sz="2800" b="0" dirty="0"/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1006897"/>
              </p:ext>
            </p:extLst>
          </p:nvPr>
        </p:nvGraphicFramePr>
        <p:xfrm>
          <a:off x="457200" y="3351212"/>
          <a:ext cx="8382000" cy="312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275783" imgH="2448986" progId="Word.Document.8">
                  <p:embed/>
                </p:oleObj>
              </mc:Choice>
              <mc:Fallback>
                <p:oleObj name="Document" r:id="rId2" imgW="7275783" imgH="244898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351212"/>
                        <a:ext cx="8382000" cy="312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blurRad="63500" dist="107763" dir="2700000" algn="ctr" rotWithShape="0">
                          <a:schemeClr val="bg2">
                            <a:alpha val="50000"/>
                          </a:scheme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3360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/>
          <p:cNvSpPr>
            <a:spLocks noGrp="1" noChangeArrowheads="1"/>
          </p:cNvSpPr>
          <p:nvPr>
            <p:ph type="title"/>
          </p:nvPr>
        </p:nvSpPr>
        <p:spPr>
          <a:xfrm>
            <a:off x="275104" y="38848"/>
            <a:ext cx="7772400" cy="838200"/>
          </a:xfrm>
          <a:noFill/>
          <a:ln/>
        </p:spPr>
        <p:txBody>
          <a:bodyPr>
            <a:normAutofit/>
          </a:bodyPr>
          <a:lstStyle/>
          <a:p>
            <a:r>
              <a:rPr lang="en-US" sz="4000" dirty="0"/>
              <a:t>(</a:t>
            </a:r>
            <a:r>
              <a:rPr lang="en-US" sz="4000" dirty="0" err="1"/>
              <a:t>i</a:t>
            </a:r>
            <a:r>
              <a:rPr lang="en-US" sz="4000" dirty="0"/>
              <a:t>) </a:t>
            </a:r>
            <a:r>
              <a:rPr lang="en-US" sz="4000" dirty="0" err="1"/>
              <a:t>FlowLayout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endParaRPr lang="en-US" sz="4000" dirty="0"/>
          </a:p>
        </p:txBody>
      </p:sp>
      <p:sp>
        <p:nvSpPr>
          <p:cNvPr id="371720" name="Rectangle 8"/>
          <p:cNvSpPr>
            <a:spLocks noChangeArrowheads="1"/>
          </p:cNvSpPr>
          <p:nvPr/>
        </p:nvSpPr>
        <p:spPr bwMode="auto">
          <a:xfrm>
            <a:off x="3524250" y="2876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71722" name="Rectangle 10"/>
          <p:cNvSpPr>
            <a:spLocks noChangeArrowheads="1"/>
          </p:cNvSpPr>
          <p:nvPr/>
        </p:nvSpPr>
        <p:spPr bwMode="auto">
          <a:xfrm>
            <a:off x="3414713" y="2876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1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4411289"/>
              </p:ext>
            </p:extLst>
          </p:nvPr>
        </p:nvGraphicFramePr>
        <p:xfrm>
          <a:off x="155575" y="2680541"/>
          <a:ext cx="8756650" cy="366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191000" imgH="1752600" progId="Word.Picture.8">
                  <p:embed/>
                </p:oleObj>
              </mc:Choice>
              <mc:Fallback>
                <p:oleObj name="Picture" r:id="rId2" imgW="4191000" imgH="17526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75" y="2680541"/>
                        <a:ext cx="8756650" cy="36671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75104" y="1203213"/>
            <a:ext cx="8637121" cy="1015663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charset="2"/>
              <a:buChar char="§"/>
            </a:pPr>
            <a:r>
              <a:rPr lang="en-US" sz="2000" dirty="0" err="1"/>
              <a:t>FlowLayout</a:t>
            </a:r>
            <a:r>
              <a:rPr lang="en-US" sz="2000" dirty="0"/>
              <a:t> has alignment, </a:t>
            </a:r>
            <a:r>
              <a:rPr lang="en-US" sz="2000" dirty="0" err="1"/>
              <a:t>hgap</a:t>
            </a:r>
            <a:r>
              <a:rPr lang="en-US" sz="2000" dirty="0"/>
              <a:t>, and </a:t>
            </a:r>
            <a:r>
              <a:rPr lang="en-US" sz="2000" dirty="0" err="1"/>
              <a:t>vgap</a:t>
            </a:r>
            <a:r>
              <a:rPr lang="en-US" sz="2000" dirty="0"/>
              <a:t> properties. </a:t>
            </a:r>
          </a:p>
          <a:p>
            <a:pPr marL="342900" indent="-342900">
              <a:buFont typeface="Wingdings" charset="2"/>
              <a:buChar char="§"/>
            </a:pPr>
            <a:r>
              <a:rPr lang="en-US" sz="2000" dirty="0"/>
              <a:t>Use </a:t>
            </a:r>
            <a:r>
              <a:rPr lang="en-US" sz="2000" dirty="0" err="1"/>
              <a:t>setAlignment</a:t>
            </a:r>
            <a:r>
              <a:rPr lang="en-US" sz="2000" dirty="0"/>
              <a:t>, </a:t>
            </a:r>
            <a:r>
              <a:rPr lang="en-US" sz="2000" dirty="0" err="1"/>
              <a:t>setHgap</a:t>
            </a:r>
            <a:r>
              <a:rPr lang="en-US" sz="2000" dirty="0"/>
              <a:t>, and </a:t>
            </a:r>
            <a:r>
              <a:rPr lang="en-US" sz="2000" dirty="0" err="1"/>
              <a:t>setVgap</a:t>
            </a:r>
            <a:r>
              <a:rPr lang="en-US" sz="2000" dirty="0"/>
              <a:t> methods to specify the alignment and the horizontal and vertical gaps. </a:t>
            </a:r>
          </a:p>
        </p:txBody>
      </p:sp>
    </p:spTree>
    <p:extLst>
      <p:ext uri="{BB962C8B-B14F-4D97-AF65-F5344CB8AC3E}">
        <p14:creationId xmlns:p14="http://schemas.microsoft.com/office/powerpoint/2010/main" val="799611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3434" y="153894"/>
            <a:ext cx="8873565" cy="92333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cs typeface="Cambria"/>
              </a:rPr>
              <a:t>Exercise 1. </a:t>
            </a:r>
            <a:r>
              <a:rPr lang="en-US" dirty="0">
                <a:cs typeface="Cambria"/>
              </a:rPr>
              <a:t>Write a program that adds three labels and text fields into the frame with a </a:t>
            </a:r>
            <a:r>
              <a:rPr lang="en-US" dirty="0" err="1">
                <a:cs typeface="Cambria"/>
              </a:rPr>
              <a:t>FlowLayout</a:t>
            </a:r>
            <a:r>
              <a:rPr lang="en-US" dirty="0">
                <a:cs typeface="Cambria"/>
              </a:rPr>
              <a:t> to accept user’s First Name, Middle Name and Last name.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97863" y="1076734"/>
            <a:ext cx="8710280" cy="5455338"/>
          </a:xfrm>
          <a:prstGeom prst="rect">
            <a:avLst/>
          </a:prstGeom>
          <a:solidFill>
            <a:srgbClr val="FFFFFF"/>
          </a:solidFill>
          <a:ln>
            <a:solidFill>
              <a:srgbClr val="99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1500" dirty="0"/>
              <a:t>import </a:t>
            </a:r>
            <a:r>
              <a:rPr lang="en-US" sz="1500" dirty="0" err="1"/>
              <a:t>javax.swing</a:t>
            </a:r>
            <a:r>
              <a:rPr lang="en-US" sz="1500" dirty="0"/>
              <a:t>.*;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import </a:t>
            </a:r>
            <a:r>
              <a:rPr lang="en-US" sz="1500" dirty="0" err="1"/>
              <a:t>java.awt.FlowLayout</a:t>
            </a:r>
            <a:r>
              <a:rPr lang="en-US" sz="1500" dirty="0"/>
              <a:t>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public class </a:t>
            </a:r>
            <a:r>
              <a:rPr lang="en-US" sz="1500" dirty="0" err="1"/>
              <a:t>ShowFlowLayout</a:t>
            </a:r>
            <a:r>
              <a:rPr lang="en-US" sz="1500" dirty="0"/>
              <a:t> </a:t>
            </a:r>
            <a:r>
              <a:rPr lang="en-US" sz="1500" b="1" dirty="0"/>
              <a:t>extends </a:t>
            </a:r>
            <a:r>
              <a:rPr lang="en-US" sz="1500" b="1" dirty="0" err="1"/>
              <a:t>JFrame</a:t>
            </a:r>
            <a:r>
              <a:rPr lang="en-US" sz="1500" b="1" dirty="0"/>
              <a:t> </a:t>
            </a:r>
            <a:r>
              <a:rPr lang="en-US" sz="1500" dirty="0"/>
              <a:t>{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public </a:t>
            </a:r>
            <a:r>
              <a:rPr lang="en-US" sz="1500" dirty="0" err="1"/>
              <a:t>ShowFlowLayout</a:t>
            </a:r>
            <a:r>
              <a:rPr lang="en-US" sz="1500" dirty="0"/>
              <a:t>() {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// Set </a:t>
            </a:r>
            <a:r>
              <a:rPr lang="en-US" sz="1500" dirty="0" err="1"/>
              <a:t>FlowLayout</a:t>
            </a:r>
            <a:r>
              <a:rPr lang="en-US" sz="1500" dirty="0"/>
              <a:t>, aligned left with horizontal gap 10 and vertical gap 20 between components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    </a:t>
            </a:r>
            <a:r>
              <a:rPr lang="en-US" sz="1500" b="1" dirty="0" err="1">
                <a:solidFill>
                  <a:srgbClr val="FF0000"/>
                </a:solidFill>
              </a:rPr>
              <a:t>setLayout</a:t>
            </a:r>
            <a:r>
              <a:rPr lang="en-US" sz="1500" b="1" dirty="0">
                <a:solidFill>
                  <a:srgbClr val="FF0000"/>
                </a:solidFill>
              </a:rPr>
              <a:t>(new </a:t>
            </a:r>
            <a:r>
              <a:rPr lang="en-US" sz="1500" b="1" dirty="0" err="1">
                <a:solidFill>
                  <a:srgbClr val="FF0000"/>
                </a:solidFill>
              </a:rPr>
              <a:t>FlowLayout</a:t>
            </a:r>
            <a:r>
              <a:rPr lang="en-US" sz="1500" b="1" dirty="0">
                <a:solidFill>
                  <a:srgbClr val="FF0000"/>
                </a:solidFill>
              </a:rPr>
              <a:t>(</a:t>
            </a:r>
            <a:r>
              <a:rPr lang="en-US" sz="1500" b="1" dirty="0" err="1">
                <a:solidFill>
                  <a:srgbClr val="FF0000"/>
                </a:solidFill>
              </a:rPr>
              <a:t>FlowLayout.LEFT</a:t>
            </a:r>
            <a:r>
              <a:rPr lang="en-US" sz="1500" b="1" dirty="0">
                <a:solidFill>
                  <a:srgbClr val="FF0000"/>
                </a:solidFill>
              </a:rPr>
              <a:t>, 10, 20));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// Add labels and text fields to the frame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add(new </a:t>
            </a:r>
            <a:r>
              <a:rPr lang="en-US" sz="1500" dirty="0" err="1"/>
              <a:t>JLabel</a:t>
            </a:r>
            <a:r>
              <a:rPr lang="en-US" sz="1500" dirty="0"/>
              <a:t>("First Name"));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add(new </a:t>
            </a:r>
            <a:r>
              <a:rPr lang="en-US" sz="1500" dirty="0" err="1"/>
              <a:t>JTextField</a:t>
            </a:r>
            <a:r>
              <a:rPr lang="en-US" sz="1500" dirty="0"/>
              <a:t>(8));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add(new </a:t>
            </a:r>
            <a:r>
              <a:rPr lang="en-US" sz="1500" dirty="0" err="1"/>
              <a:t>JLabel</a:t>
            </a:r>
            <a:r>
              <a:rPr lang="en-US" sz="1500" dirty="0"/>
              <a:t>("MI"));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add(new </a:t>
            </a:r>
            <a:r>
              <a:rPr lang="en-US" sz="1500" dirty="0" err="1"/>
              <a:t>JTextField</a:t>
            </a:r>
            <a:r>
              <a:rPr lang="en-US" sz="1500" dirty="0"/>
              <a:t>(1));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add(new </a:t>
            </a:r>
            <a:r>
              <a:rPr lang="en-US" sz="1500" dirty="0" err="1"/>
              <a:t>JLabel</a:t>
            </a:r>
            <a:r>
              <a:rPr lang="en-US" sz="1500" dirty="0"/>
              <a:t>("Last Name"));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add(new </a:t>
            </a:r>
            <a:r>
              <a:rPr lang="en-US" sz="1500" dirty="0" err="1"/>
              <a:t>JTextField</a:t>
            </a:r>
            <a:r>
              <a:rPr lang="en-US" sz="1500" dirty="0"/>
              <a:t>(8));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1029412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creen Shot 2016-07-12 at 2.33.48 PM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157" b="-78046"/>
          <a:stretch/>
        </p:blipFill>
        <p:spPr>
          <a:xfrm>
            <a:off x="2365156" y="4318000"/>
            <a:ext cx="6508750" cy="2878138"/>
          </a:xfrm>
        </p:spPr>
      </p:pic>
      <p:sp>
        <p:nvSpPr>
          <p:cNvPr id="3" name="Rectangle 2"/>
          <p:cNvSpPr/>
          <p:nvPr/>
        </p:nvSpPr>
        <p:spPr>
          <a:xfrm>
            <a:off x="329885" y="241617"/>
            <a:ext cx="8544021" cy="3793345"/>
          </a:xfrm>
          <a:prstGeom prst="rect">
            <a:avLst/>
          </a:prstGeom>
          <a:solidFill>
            <a:srgbClr val="FFFFFF"/>
          </a:solidFill>
          <a:ln>
            <a:solidFill>
              <a:srgbClr val="99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/** Main method */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public static void main(String[] </a:t>
            </a:r>
            <a:r>
              <a:rPr lang="en-US" sz="1500" dirty="0" err="1"/>
              <a:t>args</a:t>
            </a:r>
            <a:r>
              <a:rPr lang="en-US" sz="1500" dirty="0"/>
              <a:t>) {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</a:t>
            </a:r>
            <a:r>
              <a:rPr lang="en-US" sz="1500" dirty="0" err="1"/>
              <a:t>ShowFlowLayout</a:t>
            </a:r>
            <a:r>
              <a:rPr lang="en-US" sz="1500" dirty="0"/>
              <a:t> frame = new </a:t>
            </a:r>
            <a:r>
              <a:rPr lang="en-US" sz="1500" dirty="0" err="1"/>
              <a:t>ShowFlowLayout</a:t>
            </a:r>
            <a:r>
              <a:rPr lang="en-US" sz="1500" dirty="0"/>
              <a:t>();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</a:t>
            </a:r>
            <a:r>
              <a:rPr lang="en-US" sz="1500" dirty="0" err="1"/>
              <a:t>frame.setTitle</a:t>
            </a:r>
            <a:r>
              <a:rPr lang="en-US" sz="1500" dirty="0"/>
              <a:t>("</a:t>
            </a:r>
            <a:r>
              <a:rPr lang="en-US" sz="1500" dirty="0" err="1"/>
              <a:t>ShowFlowLayout</a:t>
            </a:r>
            <a:r>
              <a:rPr lang="en-US" sz="1500" dirty="0"/>
              <a:t>");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</a:t>
            </a:r>
            <a:r>
              <a:rPr lang="en-US" sz="1500" dirty="0" err="1"/>
              <a:t>frame.setSize</a:t>
            </a:r>
            <a:r>
              <a:rPr lang="en-US" sz="1500" dirty="0"/>
              <a:t>(200, 200);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</a:t>
            </a:r>
            <a:r>
              <a:rPr lang="en-US" sz="1500" dirty="0" err="1"/>
              <a:t>frame.setLocationRelativeTo</a:t>
            </a:r>
            <a:r>
              <a:rPr lang="en-US" sz="1500" dirty="0"/>
              <a:t>(null); // Center the frame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</a:t>
            </a:r>
            <a:r>
              <a:rPr lang="en-US" sz="1500" dirty="0" err="1"/>
              <a:t>frame.setDefaultCloseOperation</a:t>
            </a:r>
            <a:r>
              <a:rPr lang="en-US" sz="1500" dirty="0"/>
              <a:t>(</a:t>
            </a:r>
            <a:r>
              <a:rPr lang="en-US" sz="1500" dirty="0" err="1"/>
              <a:t>JFrame.EXIT_ON_CLOSE</a:t>
            </a:r>
            <a:r>
              <a:rPr lang="en-US" sz="1500" dirty="0"/>
              <a:t>);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</a:t>
            </a:r>
            <a:r>
              <a:rPr lang="en-US" sz="1500" dirty="0" err="1"/>
              <a:t>frame.setVisible</a:t>
            </a:r>
            <a:r>
              <a:rPr lang="en-US" sz="1500" dirty="0"/>
              <a:t>(true);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}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12196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658773-BA9E-2D43-B85A-E4F6C0B5A04A}" type="slidenum">
              <a:rPr lang="en-US"/>
              <a:pPr/>
              <a:t>16</a:t>
            </a:fld>
            <a:endParaRPr lang="en-US"/>
          </a:p>
        </p:txBody>
      </p:sp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>
          <a:xfrm>
            <a:off x="93889" y="-438871"/>
            <a:ext cx="7772400" cy="1428750"/>
          </a:xfrm>
          <a:noFill/>
          <a:ln/>
        </p:spPr>
        <p:txBody>
          <a:bodyPr>
            <a:normAutofit/>
          </a:bodyPr>
          <a:lstStyle/>
          <a:p>
            <a:r>
              <a:rPr lang="en-US" sz="4000" dirty="0"/>
              <a:t>(ii) </a:t>
            </a:r>
            <a:r>
              <a:rPr lang="en-US" sz="4000" dirty="0" err="1"/>
              <a:t>GridLayout</a:t>
            </a:r>
            <a:endParaRPr lang="en-US" sz="4000" dirty="0"/>
          </a:p>
        </p:txBody>
      </p:sp>
      <p:sp>
        <p:nvSpPr>
          <p:cNvPr id="372743" name="Rectangle 7"/>
          <p:cNvSpPr>
            <a:spLocks noChangeArrowheads="1"/>
          </p:cNvSpPr>
          <p:nvPr/>
        </p:nvSpPr>
        <p:spPr bwMode="auto">
          <a:xfrm>
            <a:off x="3686175" y="2938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4123622"/>
              </p:ext>
            </p:extLst>
          </p:nvPr>
        </p:nvGraphicFramePr>
        <p:xfrm>
          <a:off x="301625" y="2550152"/>
          <a:ext cx="8464550" cy="4314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521200" imgH="1905000" progId="Word.Picture.8">
                  <p:embed/>
                </p:oleObj>
              </mc:Choice>
              <mc:Fallback>
                <p:oleObj name="Picture" r:id="rId2" imgW="4521200" imgH="19050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" y="2550152"/>
                        <a:ext cx="8464550" cy="431420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192767" y="1189790"/>
            <a:ext cx="8660946" cy="1631216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342900" indent="-342900" algn="just">
              <a:buFont typeface="Wingdings" charset="2"/>
              <a:buChar char="§"/>
            </a:pPr>
            <a:r>
              <a:rPr lang="en-US" sz="2000" dirty="0"/>
              <a:t>The </a:t>
            </a:r>
            <a:r>
              <a:rPr lang="en-US" sz="2000" dirty="0" err="1"/>
              <a:t>GridLayout</a:t>
            </a:r>
            <a:r>
              <a:rPr lang="en-US" sz="2000" dirty="0"/>
              <a:t>  manager arranges components in a grid (matrix) formation.</a:t>
            </a:r>
          </a:p>
          <a:p>
            <a:pPr marL="342900" indent="-342900" algn="just">
              <a:buFont typeface="Wingdings" charset="2"/>
              <a:buChar char="§"/>
            </a:pPr>
            <a:r>
              <a:rPr lang="en-US" sz="2000" dirty="0"/>
              <a:t>The components are placed in the grid from left to right, starting with the first row, then the second, and so on, in the order in which they are added.</a:t>
            </a:r>
          </a:p>
        </p:txBody>
      </p:sp>
    </p:spTree>
    <p:extLst>
      <p:ext uri="{BB962C8B-B14F-4D97-AF65-F5344CB8AC3E}">
        <p14:creationId xmlns:p14="http://schemas.microsoft.com/office/powerpoint/2010/main" val="3127139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3434" y="153894"/>
            <a:ext cx="8873565" cy="92333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cs typeface="Cambria"/>
              </a:rPr>
              <a:t>Exercise 2. </a:t>
            </a:r>
            <a:r>
              <a:rPr lang="en-US" dirty="0">
                <a:cs typeface="Cambria"/>
              </a:rPr>
              <a:t>Write a program that adds three labels and text fields into the frame with a </a:t>
            </a:r>
            <a:r>
              <a:rPr lang="en-US" dirty="0" err="1">
                <a:cs typeface="Cambria"/>
              </a:rPr>
              <a:t>GridLayout</a:t>
            </a:r>
            <a:r>
              <a:rPr lang="en-US" dirty="0">
                <a:cs typeface="Cambria"/>
              </a:rPr>
              <a:t> to accept user’s First Name, Middle Name and Last name.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97863" y="1076734"/>
            <a:ext cx="8710280" cy="5455338"/>
          </a:xfrm>
          <a:prstGeom prst="rect">
            <a:avLst/>
          </a:prstGeom>
          <a:solidFill>
            <a:srgbClr val="FFFFFF"/>
          </a:solidFill>
          <a:ln>
            <a:solidFill>
              <a:srgbClr val="99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1500" dirty="0"/>
              <a:t>import </a:t>
            </a:r>
            <a:r>
              <a:rPr lang="en-US" sz="1500" dirty="0" err="1"/>
              <a:t>javax.swing</a:t>
            </a:r>
            <a:r>
              <a:rPr lang="en-US" sz="1500" dirty="0"/>
              <a:t>.*;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import </a:t>
            </a:r>
            <a:r>
              <a:rPr lang="en-US" sz="1500" dirty="0" err="1"/>
              <a:t>java.awt.GridLayout</a:t>
            </a:r>
            <a:r>
              <a:rPr lang="en-US" sz="1500" dirty="0"/>
              <a:t>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public class </a:t>
            </a:r>
            <a:r>
              <a:rPr lang="en-US" sz="1500" dirty="0" err="1"/>
              <a:t>ShowFlowLayout</a:t>
            </a:r>
            <a:r>
              <a:rPr lang="en-US" sz="1500" dirty="0"/>
              <a:t> </a:t>
            </a:r>
            <a:r>
              <a:rPr lang="en-US" sz="1500" b="1" dirty="0"/>
              <a:t>extends </a:t>
            </a:r>
            <a:r>
              <a:rPr lang="en-US" sz="1500" b="1" dirty="0" err="1"/>
              <a:t>JFrame</a:t>
            </a:r>
            <a:r>
              <a:rPr lang="en-US" sz="1500" b="1" dirty="0"/>
              <a:t> </a:t>
            </a:r>
            <a:r>
              <a:rPr lang="en-US" sz="1500" dirty="0"/>
              <a:t>{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public </a:t>
            </a:r>
            <a:r>
              <a:rPr lang="en-US" sz="1500" dirty="0" err="1"/>
              <a:t>ShowFlowLayout</a:t>
            </a:r>
            <a:r>
              <a:rPr lang="en-US" sz="1500" dirty="0"/>
              <a:t>() {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// Set </a:t>
            </a:r>
            <a:r>
              <a:rPr lang="en-US" sz="1500" dirty="0" err="1"/>
              <a:t>FlowLayout</a:t>
            </a:r>
            <a:r>
              <a:rPr lang="en-US" sz="1500" dirty="0"/>
              <a:t>, aligned left with horizontal gap 10 and vertical gap 20 between components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</a:t>
            </a:r>
            <a:r>
              <a:rPr lang="en-US" sz="1500" b="1" dirty="0" err="1">
                <a:solidFill>
                  <a:srgbClr val="FF0000"/>
                </a:solidFill>
              </a:rPr>
              <a:t>setLayout</a:t>
            </a:r>
            <a:r>
              <a:rPr lang="en-US" sz="1500" b="1" dirty="0">
                <a:solidFill>
                  <a:srgbClr val="FF0000"/>
                </a:solidFill>
              </a:rPr>
              <a:t>(new </a:t>
            </a:r>
            <a:r>
              <a:rPr lang="en-US" sz="1500" b="1" dirty="0" err="1">
                <a:solidFill>
                  <a:srgbClr val="FF0000"/>
                </a:solidFill>
              </a:rPr>
              <a:t>GridLayout</a:t>
            </a:r>
            <a:r>
              <a:rPr lang="en-US" sz="1500" b="1" dirty="0">
                <a:solidFill>
                  <a:srgbClr val="FF0000"/>
                </a:solidFill>
              </a:rPr>
              <a:t>(3,2,5,5));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// Add labels and text fields to the frame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add(new </a:t>
            </a:r>
            <a:r>
              <a:rPr lang="en-US" sz="1500" dirty="0" err="1"/>
              <a:t>JLabel</a:t>
            </a:r>
            <a:r>
              <a:rPr lang="en-US" sz="1500" dirty="0"/>
              <a:t>("First Name"));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add(new </a:t>
            </a:r>
            <a:r>
              <a:rPr lang="en-US" sz="1500" dirty="0" err="1"/>
              <a:t>JTextField</a:t>
            </a:r>
            <a:r>
              <a:rPr lang="en-US" sz="1500" dirty="0"/>
              <a:t>(8));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add(new </a:t>
            </a:r>
            <a:r>
              <a:rPr lang="en-US" sz="1500" dirty="0" err="1"/>
              <a:t>JLabel</a:t>
            </a:r>
            <a:r>
              <a:rPr lang="en-US" sz="1500" dirty="0"/>
              <a:t>("MI"));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add(new </a:t>
            </a:r>
            <a:r>
              <a:rPr lang="en-US" sz="1500" dirty="0" err="1"/>
              <a:t>JTextField</a:t>
            </a:r>
            <a:r>
              <a:rPr lang="en-US" sz="1500" dirty="0"/>
              <a:t>(1));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add(new </a:t>
            </a:r>
            <a:r>
              <a:rPr lang="en-US" sz="1500" dirty="0" err="1"/>
              <a:t>JLabel</a:t>
            </a:r>
            <a:r>
              <a:rPr lang="en-US" sz="1500" dirty="0"/>
              <a:t>("Last Name"));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add(new </a:t>
            </a:r>
            <a:r>
              <a:rPr lang="en-US" sz="1500" dirty="0" err="1"/>
              <a:t>JTextField</a:t>
            </a:r>
            <a:r>
              <a:rPr lang="en-US" sz="1500" dirty="0"/>
              <a:t>(8));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1601442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9885" y="241617"/>
            <a:ext cx="8544021" cy="3793345"/>
          </a:xfrm>
          <a:prstGeom prst="rect">
            <a:avLst/>
          </a:prstGeom>
          <a:solidFill>
            <a:srgbClr val="FFFFFF"/>
          </a:solidFill>
          <a:ln>
            <a:solidFill>
              <a:srgbClr val="99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/** Main method */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public static void main(String[] </a:t>
            </a:r>
            <a:r>
              <a:rPr lang="en-US" sz="1500" dirty="0" err="1"/>
              <a:t>args</a:t>
            </a:r>
            <a:r>
              <a:rPr lang="en-US" sz="1500" dirty="0"/>
              <a:t>) {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</a:t>
            </a:r>
            <a:r>
              <a:rPr lang="en-US" sz="1500" dirty="0" err="1"/>
              <a:t>ShowFlowLayout</a:t>
            </a:r>
            <a:r>
              <a:rPr lang="en-US" sz="1500" dirty="0"/>
              <a:t> frame = new </a:t>
            </a:r>
            <a:r>
              <a:rPr lang="en-US" sz="1500" dirty="0" err="1"/>
              <a:t>ShowFlowLayout</a:t>
            </a:r>
            <a:r>
              <a:rPr lang="en-US" sz="1500" dirty="0"/>
              <a:t>();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</a:t>
            </a:r>
            <a:r>
              <a:rPr lang="en-US" sz="1500" dirty="0" err="1"/>
              <a:t>frame.setTitle</a:t>
            </a:r>
            <a:r>
              <a:rPr lang="en-US" sz="1500" dirty="0"/>
              <a:t>("</a:t>
            </a:r>
            <a:r>
              <a:rPr lang="en-US" sz="1500" dirty="0" err="1"/>
              <a:t>ShowGridLayout</a:t>
            </a:r>
            <a:r>
              <a:rPr lang="en-US" sz="1500" dirty="0"/>
              <a:t>");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</a:t>
            </a:r>
            <a:r>
              <a:rPr lang="en-US" sz="1500" dirty="0" err="1"/>
              <a:t>frame.setSize</a:t>
            </a:r>
            <a:r>
              <a:rPr lang="en-US" sz="1500" dirty="0"/>
              <a:t>(200, 200);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</a:t>
            </a:r>
            <a:r>
              <a:rPr lang="en-US" sz="1500" dirty="0" err="1"/>
              <a:t>frame.setLocationRelativeTo</a:t>
            </a:r>
            <a:r>
              <a:rPr lang="en-US" sz="1500" dirty="0"/>
              <a:t>(null); // Center the frame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</a:t>
            </a:r>
            <a:r>
              <a:rPr lang="en-US" sz="1500" dirty="0" err="1"/>
              <a:t>frame.setDefaultCloseOperation</a:t>
            </a:r>
            <a:r>
              <a:rPr lang="en-US" sz="1500" dirty="0"/>
              <a:t>(</a:t>
            </a:r>
            <a:r>
              <a:rPr lang="en-US" sz="1500" dirty="0" err="1"/>
              <a:t>JFrame.EXIT_ON_CLOSE</a:t>
            </a:r>
            <a:r>
              <a:rPr lang="en-US" sz="1500" dirty="0"/>
              <a:t>);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  </a:t>
            </a:r>
            <a:r>
              <a:rPr lang="en-US" sz="1500" dirty="0" err="1"/>
              <a:t>frame.setVisible</a:t>
            </a:r>
            <a:r>
              <a:rPr lang="en-US" sz="1500" dirty="0"/>
              <a:t>(true);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  }</a:t>
            </a:r>
          </a:p>
          <a:p>
            <a:pPr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500" dirty="0"/>
              <a:t>}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839" y="4528031"/>
            <a:ext cx="36449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61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6EA99F4-AA8A-C041-9CB5-432CD500AD48}" type="slidenum">
              <a:rPr lang="en-US"/>
              <a:pPr/>
              <a:t>19</a:t>
            </a:fld>
            <a:endParaRPr lang="en-US"/>
          </a:p>
        </p:txBody>
      </p:sp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>
          <a:xfrm>
            <a:off x="91140" y="-673419"/>
            <a:ext cx="7772400" cy="1428750"/>
          </a:xfrm>
          <a:noFill/>
          <a:ln/>
        </p:spPr>
        <p:txBody>
          <a:bodyPr>
            <a:normAutofit/>
          </a:bodyPr>
          <a:lstStyle/>
          <a:p>
            <a:r>
              <a:rPr lang="en-US" sz="4000" dirty="0"/>
              <a:t>(iii) </a:t>
            </a:r>
            <a:r>
              <a:rPr lang="en-US" sz="4000" dirty="0" err="1"/>
              <a:t>BorderLayout</a:t>
            </a:r>
            <a:endParaRPr lang="en-US" sz="4000" dirty="0"/>
          </a:p>
        </p:txBody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69576"/>
            <a:ext cx="8706224" cy="4337424"/>
          </a:xfrm>
          <a:solidFill>
            <a:srgbClr val="FFFFFF"/>
          </a:solidFill>
          <a:ln/>
        </p:spPr>
        <p:txBody>
          <a:bodyPr>
            <a:normAutofit/>
          </a:bodyPr>
          <a:lstStyle/>
          <a:p>
            <a:pPr marL="0" indent="0" algn="just">
              <a:buFont typeface="Monotype Sorts" charset="0"/>
              <a:buNone/>
            </a:pPr>
            <a:r>
              <a:rPr lang="en-US" b="0" dirty="0"/>
              <a:t>Divide the container into five areas: East, South, West, North, and Center.  Components are added to a </a:t>
            </a:r>
            <a:r>
              <a:rPr lang="en-US" b="0" dirty="0" err="1"/>
              <a:t>BorderLayout</a:t>
            </a:r>
            <a:r>
              <a:rPr lang="en-US" b="0" dirty="0"/>
              <a:t> by using the add method.</a:t>
            </a:r>
          </a:p>
        </p:txBody>
      </p:sp>
      <p:sp>
        <p:nvSpPr>
          <p:cNvPr id="283658" name="Rectangle 10"/>
          <p:cNvSpPr>
            <a:spLocks noChangeArrowheads="1"/>
          </p:cNvSpPr>
          <p:nvPr/>
        </p:nvSpPr>
        <p:spPr bwMode="auto">
          <a:xfrm>
            <a:off x="228600" y="1867648"/>
            <a:ext cx="46482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sz="2000" b="1" dirty="0">
                <a:solidFill>
                  <a:srgbClr val="FF0000"/>
                </a:solidFill>
                <a:latin typeface="Courier New" charset="0"/>
              </a:rPr>
              <a:t>add(Component, constraint)</a:t>
            </a:r>
            <a:r>
              <a:rPr lang="en-US" sz="2000" dirty="0"/>
              <a:t>, where </a:t>
            </a:r>
            <a:r>
              <a:rPr lang="en-US" sz="2000" dirty="0">
                <a:latin typeface="Courier New" charset="0"/>
              </a:rPr>
              <a:t>constraint</a:t>
            </a:r>
            <a:r>
              <a:rPr lang="en-US" sz="2000" dirty="0"/>
              <a:t> is </a:t>
            </a:r>
            <a:r>
              <a:rPr lang="en-US" sz="2000" b="1" dirty="0" err="1">
                <a:solidFill>
                  <a:srgbClr val="0000FF"/>
                </a:solidFill>
                <a:latin typeface="Courier New" charset="0"/>
              </a:rPr>
              <a:t>BorderLayout.EAST</a:t>
            </a:r>
            <a:r>
              <a:rPr lang="en-US" sz="2000" b="1" dirty="0">
                <a:solidFill>
                  <a:srgbClr val="0000FF"/>
                </a:solidFill>
              </a:rPr>
              <a:t>, </a:t>
            </a:r>
            <a:r>
              <a:rPr lang="en-US" sz="2000" b="1" dirty="0" err="1">
                <a:solidFill>
                  <a:srgbClr val="0000FF"/>
                </a:solidFill>
                <a:latin typeface="Courier New" charset="0"/>
              </a:rPr>
              <a:t>BorderLayout.SOUTH</a:t>
            </a:r>
            <a:r>
              <a:rPr lang="en-US" sz="2000" b="1" dirty="0">
                <a:solidFill>
                  <a:srgbClr val="0000FF"/>
                </a:solidFill>
              </a:rPr>
              <a:t>, </a:t>
            </a:r>
            <a:r>
              <a:rPr lang="en-US" sz="2000" b="1" dirty="0" err="1">
                <a:solidFill>
                  <a:srgbClr val="0000FF"/>
                </a:solidFill>
                <a:latin typeface="Courier New" charset="0"/>
              </a:rPr>
              <a:t>BorderLayout.WEST</a:t>
            </a:r>
            <a:r>
              <a:rPr lang="en-US" sz="2000" b="1" dirty="0">
                <a:solidFill>
                  <a:srgbClr val="0000FF"/>
                </a:solidFill>
              </a:rPr>
              <a:t>, </a:t>
            </a:r>
            <a:r>
              <a:rPr lang="en-US" sz="2000" b="1" dirty="0" err="1">
                <a:solidFill>
                  <a:srgbClr val="0000FF"/>
                </a:solidFill>
                <a:latin typeface="Courier New" charset="0"/>
              </a:rPr>
              <a:t>BorderLayout.NORTH</a:t>
            </a:r>
            <a:r>
              <a:rPr lang="en-US" sz="2000" b="1" dirty="0">
                <a:solidFill>
                  <a:srgbClr val="0000FF"/>
                </a:solidFill>
              </a:rPr>
              <a:t>, or </a:t>
            </a:r>
            <a:r>
              <a:rPr lang="en-US" sz="2000" b="1" dirty="0" err="1">
                <a:solidFill>
                  <a:srgbClr val="0000FF"/>
                </a:solidFill>
                <a:latin typeface="Courier New" charset="0"/>
              </a:rPr>
              <a:t>BorderLayout.CENTER</a:t>
            </a:r>
            <a:r>
              <a:rPr lang="en-US" sz="2000" b="1" dirty="0">
                <a:solidFill>
                  <a:srgbClr val="0000FF"/>
                </a:solidFill>
              </a:rPr>
              <a:t>. </a:t>
            </a:r>
          </a:p>
        </p:txBody>
      </p:sp>
      <p:graphicFrame>
        <p:nvGraphicFramePr>
          <p:cNvPr id="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605269"/>
              </p:ext>
            </p:extLst>
          </p:nvPr>
        </p:nvGraphicFramePr>
        <p:xfrm>
          <a:off x="307975" y="4386304"/>
          <a:ext cx="8451850" cy="2270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267200" imgH="1295400" progId="Word.Picture.8">
                  <p:embed/>
                </p:oleObj>
              </mc:Choice>
              <mc:Fallback>
                <p:oleObj name="Picture" r:id="rId2" imgW="4267200" imgH="12954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" y="4386304"/>
                        <a:ext cx="8451850" cy="2270686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5021886" y="1981803"/>
            <a:ext cx="3912938" cy="2720335"/>
            <a:chOff x="1665288" y="2016125"/>
            <a:chExt cx="5486400" cy="3657600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1665288" y="2016125"/>
              <a:ext cx="5486400" cy="3657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400"/>
            </a:p>
          </p:txBody>
        </p:sp>
        <p:sp>
          <p:nvSpPr>
            <p:cNvPr id="9" name="Text Box 12"/>
            <p:cNvSpPr txBox="1">
              <a:spLocks noChangeArrowheads="1"/>
            </p:cNvSpPr>
            <p:nvPr/>
          </p:nvSpPr>
          <p:spPr bwMode="auto">
            <a:xfrm>
              <a:off x="2984700" y="2092325"/>
              <a:ext cx="2819399" cy="4138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200">
                  <a:solidFill>
                    <a:schemeClr val="tx1"/>
                  </a:solidFill>
                  <a:latin typeface="Trebuchet MS" charset="0"/>
                  <a:ea typeface="ＭＳ Ｐゴシック" charset="0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Trebuchet MS" charset="0"/>
                  <a:ea typeface="ＭＳ Ｐゴシック" charset="0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Trebuchet MS" charset="0"/>
                  <a:ea typeface="ＭＳ Ｐゴシック" charset="0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Trebuchet MS" charset="0"/>
                  <a:ea typeface="ＭＳ Ｐゴシック" charset="0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Trebuchet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rebuchet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rebuchet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rebuchet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rebuchet MS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400" dirty="0"/>
                <a:t>North</a:t>
              </a:r>
            </a:p>
          </p:txBody>
        </p:sp>
        <p:sp>
          <p:nvSpPr>
            <p:cNvPr id="10" name="Text Box 14"/>
            <p:cNvSpPr txBox="1">
              <a:spLocks noChangeArrowheads="1"/>
            </p:cNvSpPr>
            <p:nvPr/>
          </p:nvSpPr>
          <p:spPr bwMode="auto">
            <a:xfrm>
              <a:off x="3686616" y="5216525"/>
              <a:ext cx="1752600" cy="4138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200">
                  <a:solidFill>
                    <a:schemeClr val="tx1"/>
                  </a:solidFill>
                  <a:latin typeface="Trebuchet MS" charset="0"/>
                  <a:ea typeface="ＭＳ Ｐゴシック" charset="0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Trebuchet MS" charset="0"/>
                  <a:ea typeface="ＭＳ Ｐゴシック" charset="0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Trebuchet MS" charset="0"/>
                  <a:ea typeface="ＭＳ Ｐゴシック" charset="0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Trebuchet MS" charset="0"/>
                  <a:ea typeface="ＭＳ Ｐゴシック" charset="0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Trebuchet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rebuchet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rebuchet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rebuchet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rebuchet MS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400"/>
                <a:t>South</a:t>
              </a:r>
            </a:p>
          </p:txBody>
        </p:sp>
        <p:grpSp>
          <p:nvGrpSpPr>
            <p:cNvPr id="11" name="Group 26"/>
            <p:cNvGrpSpPr>
              <a:grpSpLocks/>
            </p:cNvGrpSpPr>
            <p:nvPr/>
          </p:nvGrpSpPr>
          <p:grpSpPr bwMode="auto">
            <a:xfrm>
              <a:off x="2732088" y="2549525"/>
              <a:ext cx="3505200" cy="2667000"/>
              <a:chOff x="1632" y="1872"/>
              <a:chExt cx="2208" cy="1680"/>
            </a:xfrm>
          </p:grpSpPr>
          <p:sp>
            <p:nvSpPr>
              <p:cNvPr id="12" name="Rectangle 5"/>
              <p:cNvSpPr>
                <a:spLocks noChangeArrowheads="1"/>
              </p:cNvSpPr>
              <p:nvPr/>
            </p:nvSpPr>
            <p:spPr bwMode="auto">
              <a:xfrm>
                <a:off x="1632" y="1872"/>
                <a:ext cx="2208" cy="1680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400"/>
              </a:p>
            </p:txBody>
          </p:sp>
          <p:sp>
            <p:nvSpPr>
              <p:cNvPr id="13" name="Text Box 11"/>
              <p:cNvSpPr txBox="1">
                <a:spLocks noChangeArrowheads="1"/>
              </p:cNvSpPr>
              <p:nvPr/>
            </p:nvSpPr>
            <p:spPr bwMode="auto">
              <a:xfrm>
                <a:off x="2423" y="2493"/>
                <a:ext cx="898" cy="2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200">
                    <a:solidFill>
                      <a:schemeClr val="tx1"/>
                    </a:solidFill>
                    <a:latin typeface="Trebuchet MS" charset="0"/>
                    <a:ea typeface="ＭＳ Ｐゴシック" charset="0"/>
                  </a:defRPr>
                </a:lvl1pPr>
                <a:lvl2pPr marL="742950" indent="-285750">
                  <a:defRPr sz="2200">
                    <a:solidFill>
                      <a:schemeClr val="tx1"/>
                    </a:solidFill>
                    <a:latin typeface="Trebuchet MS" charset="0"/>
                    <a:ea typeface="ＭＳ Ｐゴシック" charset="0"/>
                  </a:defRPr>
                </a:lvl2pPr>
                <a:lvl3pPr marL="1143000" indent="-228600">
                  <a:defRPr sz="2200">
                    <a:solidFill>
                      <a:schemeClr val="tx1"/>
                    </a:solidFill>
                    <a:latin typeface="Trebuchet MS" charset="0"/>
                    <a:ea typeface="ＭＳ Ｐゴシック" charset="0"/>
                  </a:defRPr>
                </a:lvl3pPr>
                <a:lvl4pPr marL="1600200" indent="-228600">
                  <a:defRPr sz="2200">
                    <a:solidFill>
                      <a:schemeClr val="tx1"/>
                    </a:solidFill>
                    <a:latin typeface="Trebuchet MS" charset="0"/>
                    <a:ea typeface="ＭＳ Ｐゴシック" charset="0"/>
                  </a:defRPr>
                </a:lvl4pPr>
                <a:lvl5pPr marL="2057400" indent="-228600">
                  <a:defRPr sz="2200">
                    <a:solidFill>
                      <a:schemeClr val="tx1"/>
                    </a:solidFill>
                    <a:latin typeface="Trebuchet MS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Trebuchet MS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Trebuchet MS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Trebuchet MS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Trebuchet MS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sz="1400" dirty="0"/>
                  <a:t>Center</a:t>
                </a:r>
              </a:p>
            </p:txBody>
          </p:sp>
        </p:grpSp>
        <p:grpSp>
          <p:nvGrpSpPr>
            <p:cNvPr id="14" name="Group 31"/>
            <p:cNvGrpSpPr>
              <a:grpSpLocks/>
            </p:cNvGrpSpPr>
            <p:nvPr/>
          </p:nvGrpSpPr>
          <p:grpSpPr bwMode="auto">
            <a:xfrm>
              <a:off x="1665288" y="2549525"/>
              <a:ext cx="1295400" cy="2667000"/>
              <a:chOff x="960" y="1872"/>
              <a:chExt cx="816" cy="1680"/>
            </a:xfrm>
          </p:grpSpPr>
          <p:grpSp>
            <p:nvGrpSpPr>
              <p:cNvPr id="15" name="Group 22"/>
              <p:cNvGrpSpPr>
                <a:grpSpLocks/>
              </p:cNvGrpSpPr>
              <p:nvPr/>
            </p:nvGrpSpPr>
            <p:grpSpPr bwMode="auto">
              <a:xfrm>
                <a:off x="960" y="1872"/>
                <a:ext cx="816" cy="1680"/>
                <a:chOff x="960" y="1872"/>
                <a:chExt cx="816" cy="1680"/>
              </a:xfrm>
            </p:grpSpPr>
            <p:sp>
              <p:nvSpPr>
                <p:cNvPr id="17" name="Line 6"/>
                <p:cNvSpPr>
                  <a:spLocks noChangeShapeType="1"/>
                </p:cNvSpPr>
                <p:nvPr/>
              </p:nvSpPr>
              <p:spPr bwMode="auto">
                <a:xfrm flipH="1">
                  <a:off x="960" y="1872"/>
                  <a:ext cx="67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400"/>
                </a:p>
              </p:txBody>
            </p:sp>
            <p:sp>
              <p:nvSpPr>
                <p:cNvPr id="18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960" y="3552"/>
                  <a:ext cx="67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400"/>
                </a:p>
              </p:txBody>
            </p:sp>
            <p:sp>
              <p:nvSpPr>
                <p:cNvPr id="19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056" y="2496"/>
                  <a:ext cx="720" cy="2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200">
                      <a:solidFill>
                        <a:schemeClr val="tx1"/>
                      </a:solidFill>
                      <a:latin typeface="Trebuchet MS" charset="0"/>
                      <a:ea typeface="ＭＳ Ｐゴシック" charset="0"/>
                    </a:defRPr>
                  </a:lvl1pPr>
                  <a:lvl2pPr marL="742950" indent="-285750">
                    <a:defRPr sz="2200">
                      <a:solidFill>
                        <a:schemeClr val="tx1"/>
                      </a:solidFill>
                      <a:latin typeface="Trebuchet MS" charset="0"/>
                      <a:ea typeface="ＭＳ Ｐゴシック" charset="0"/>
                    </a:defRPr>
                  </a:lvl2pPr>
                  <a:lvl3pPr marL="1143000" indent="-228600">
                    <a:defRPr sz="2200">
                      <a:solidFill>
                        <a:schemeClr val="tx1"/>
                      </a:solidFill>
                      <a:latin typeface="Trebuchet MS" charset="0"/>
                      <a:ea typeface="ＭＳ Ｐゴシック" charset="0"/>
                    </a:defRPr>
                  </a:lvl3pPr>
                  <a:lvl4pPr marL="1600200" indent="-228600">
                    <a:defRPr sz="2200">
                      <a:solidFill>
                        <a:schemeClr val="tx1"/>
                      </a:solidFill>
                      <a:latin typeface="Trebuchet MS" charset="0"/>
                      <a:ea typeface="ＭＳ Ｐゴシック" charset="0"/>
                    </a:defRPr>
                  </a:lvl4pPr>
                  <a:lvl5pPr marL="2057400" indent="-228600">
                    <a:defRPr sz="2200">
                      <a:solidFill>
                        <a:schemeClr val="tx1"/>
                      </a:solidFill>
                      <a:latin typeface="Trebuchet MS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200">
                      <a:solidFill>
                        <a:schemeClr val="tx1"/>
                      </a:solidFill>
                      <a:latin typeface="Trebuchet MS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200">
                      <a:solidFill>
                        <a:schemeClr val="tx1"/>
                      </a:solidFill>
                      <a:latin typeface="Trebuchet MS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200">
                      <a:solidFill>
                        <a:schemeClr val="tx1"/>
                      </a:solidFill>
                      <a:latin typeface="Trebuchet MS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200">
                      <a:solidFill>
                        <a:schemeClr val="tx1"/>
                      </a:solidFill>
                      <a:latin typeface="Trebuchet MS" charset="0"/>
                      <a:ea typeface="ＭＳ Ｐゴシック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sz="1400"/>
                    <a:t>West</a:t>
                  </a:r>
                </a:p>
              </p:txBody>
            </p:sp>
          </p:grpSp>
          <p:sp>
            <p:nvSpPr>
              <p:cNvPr id="16" name="Line 27"/>
              <p:cNvSpPr>
                <a:spLocks noChangeShapeType="1"/>
              </p:cNvSpPr>
              <p:nvPr/>
            </p:nvSpPr>
            <p:spPr bwMode="auto">
              <a:xfrm flipH="1">
                <a:off x="1632" y="1872"/>
                <a:ext cx="0" cy="16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400"/>
              </a:p>
            </p:txBody>
          </p:sp>
        </p:grpSp>
        <p:grpSp>
          <p:nvGrpSpPr>
            <p:cNvPr id="20" name="Group 30"/>
            <p:cNvGrpSpPr>
              <a:grpSpLocks/>
            </p:cNvGrpSpPr>
            <p:nvPr/>
          </p:nvGrpSpPr>
          <p:grpSpPr bwMode="auto">
            <a:xfrm>
              <a:off x="6237288" y="2549525"/>
              <a:ext cx="914400" cy="2667000"/>
              <a:chOff x="3840" y="1872"/>
              <a:chExt cx="576" cy="1680"/>
            </a:xfrm>
          </p:grpSpPr>
          <p:grpSp>
            <p:nvGrpSpPr>
              <p:cNvPr id="21" name="Group 25"/>
              <p:cNvGrpSpPr>
                <a:grpSpLocks/>
              </p:cNvGrpSpPr>
              <p:nvPr/>
            </p:nvGrpSpPr>
            <p:grpSpPr bwMode="auto">
              <a:xfrm>
                <a:off x="3840" y="1872"/>
                <a:ext cx="576" cy="1680"/>
                <a:chOff x="3840" y="1872"/>
                <a:chExt cx="576" cy="1680"/>
              </a:xfrm>
            </p:grpSpPr>
            <p:sp>
              <p:nvSpPr>
                <p:cNvPr id="23" name="Line 8"/>
                <p:cNvSpPr>
                  <a:spLocks noChangeShapeType="1"/>
                </p:cNvSpPr>
                <p:nvPr/>
              </p:nvSpPr>
              <p:spPr bwMode="auto">
                <a:xfrm>
                  <a:off x="3840" y="1872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400"/>
                </a:p>
              </p:txBody>
            </p:sp>
            <p:sp>
              <p:nvSpPr>
                <p:cNvPr id="24" name="Line 9"/>
                <p:cNvSpPr>
                  <a:spLocks noChangeShapeType="1"/>
                </p:cNvSpPr>
                <p:nvPr/>
              </p:nvSpPr>
              <p:spPr bwMode="auto">
                <a:xfrm>
                  <a:off x="3840" y="3552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400"/>
                </a:p>
              </p:txBody>
            </p:sp>
            <p:sp>
              <p:nvSpPr>
                <p:cNvPr id="25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3888" y="2496"/>
                  <a:ext cx="480" cy="2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200">
                      <a:solidFill>
                        <a:schemeClr val="tx1"/>
                      </a:solidFill>
                      <a:latin typeface="Trebuchet MS" charset="0"/>
                      <a:ea typeface="ＭＳ Ｐゴシック" charset="0"/>
                    </a:defRPr>
                  </a:lvl1pPr>
                  <a:lvl2pPr marL="742950" indent="-285750">
                    <a:defRPr sz="2200">
                      <a:solidFill>
                        <a:schemeClr val="tx1"/>
                      </a:solidFill>
                      <a:latin typeface="Trebuchet MS" charset="0"/>
                      <a:ea typeface="ＭＳ Ｐゴシック" charset="0"/>
                    </a:defRPr>
                  </a:lvl2pPr>
                  <a:lvl3pPr marL="1143000" indent="-228600">
                    <a:defRPr sz="2200">
                      <a:solidFill>
                        <a:schemeClr val="tx1"/>
                      </a:solidFill>
                      <a:latin typeface="Trebuchet MS" charset="0"/>
                      <a:ea typeface="ＭＳ Ｐゴシック" charset="0"/>
                    </a:defRPr>
                  </a:lvl3pPr>
                  <a:lvl4pPr marL="1600200" indent="-228600">
                    <a:defRPr sz="2200">
                      <a:solidFill>
                        <a:schemeClr val="tx1"/>
                      </a:solidFill>
                      <a:latin typeface="Trebuchet MS" charset="0"/>
                      <a:ea typeface="ＭＳ Ｐゴシック" charset="0"/>
                    </a:defRPr>
                  </a:lvl4pPr>
                  <a:lvl5pPr marL="2057400" indent="-228600">
                    <a:defRPr sz="2200">
                      <a:solidFill>
                        <a:schemeClr val="tx1"/>
                      </a:solidFill>
                      <a:latin typeface="Trebuchet MS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200">
                      <a:solidFill>
                        <a:schemeClr val="tx1"/>
                      </a:solidFill>
                      <a:latin typeface="Trebuchet MS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200">
                      <a:solidFill>
                        <a:schemeClr val="tx1"/>
                      </a:solidFill>
                      <a:latin typeface="Trebuchet MS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200">
                      <a:solidFill>
                        <a:schemeClr val="tx1"/>
                      </a:solidFill>
                      <a:latin typeface="Trebuchet MS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200">
                      <a:solidFill>
                        <a:schemeClr val="tx1"/>
                      </a:solidFill>
                      <a:latin typeface="Trebuchet MS" charset="0"/>
                      <a:ea typeface="ＭＳ Ｐゴシック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sz="1400"/>
                    <a:t>East</a:t>
                  </a:r>
                </a:p>
              </p:txBody>
            </p:sp>
          </p:grpSp>
          <p:sp>
            <p:nvSpPr>
              <p:cNvPr id="22" name="Line 29"/>
              <p:cNvSpPr>
                <a:spLocks noChangeShapeType="1"/>
              </p:cNvSpPr>
              <p:nvPr/>
            </p:nvSpPr>
            <p:spPr bwMode="auto">
              <a:xfrm>
                <a:off x="3840" y="1872"/>
                <a:ext cx="0" cy="16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50784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4941"/>
            <a:ext cx="8998857" cy="5797457"/>
          </a:xfrm>
          <a:solidFill>
            <a:srgbClr val="FFFFFF"/>
          </a:solidFill>
        </p:spPr>
        <p:txBody>
          <a:bodyPr/>
          <a:lstStyle/>
          <a:p>
            <a:pPr algn="just"/>
            <a:r>
              <a:rPr lang="en-US" dirty="0"/>
              <a:t>Exercise 3: Write a program that adds five buttons labeled East , South , West , North , and Center  to the frame with a </a:t>
            </a:r>
            <a:r>
              <a:rPr lang="en-US" dirty="0" err="1"/>
              <a:t>BorderLayout</a:t>
            </a:r>
            <a:r>
              <a:rPr lang="en-US" dirty="0"/>
              <a:t> manager.</a:t>
            </a:r>
          </a:p>
        </p:txBody>
      </p:sp>
      <p:pic>
        <p:nvPicPr>
          <p:cNvPr id="2" name="Picture 1" descr="Screen Shot 2016-07-12 at 4.39.34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9" b="6286"/>
          <a:stretch/>
        </p:blipFill>
        <p:spPr>
          <a:xfrm>
            <a:off x="888999" y="1107954"/>
            <a:ext cx="7752463" cy="573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56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51618"/>
            <a:ext cx="6508377" cy="3916363"/>
          </a:xfrm>
        </p:spPr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4" name="Picture 3" descr="Screen Shot 2016-07-12 at 4.40.1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444" y="1227364"/>
            <a:ext cx="5461424" cy="363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337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1B64FA-8263-944D-B3D9-FB5E8D948690}" type="slidenum">
              <a:rPr lang="en-US"/>
              <a:pPr/>
              <a:t>22</a:t>
            </a:fld>
            <a:endParaRPr lang="en-US"/>
          </a:p>
        </p:txBody>
      </p:sp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60" y="206871"/>
            <a:ext cx="7772400" cy="6096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sz="4000" dirty="0">
                <a:latin typeface="Book Antiqua" charset="0"/>
              </a:rPr>
              <a:t>Using Panels as Sub-Containers</a:t>
            </a:r>
            <a:endParaRPr lang="en-US" dirty="0"/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0324" y="990600"/>
            <a:ext cx="8839200" cy="5389282"/>
          </a:xfrm>
          <a:solidFill>
            <a:srgbClr val="FFFFFF"/>
          </a:solidFill>
          <a:ln/>
        </p:spPr>
        <p:txBody>
          <a:bodyPr>
            <a:normAutofit/>
          </a:bodyPr>
          <a:lstStyle/>
          <a:p>
            <a:pPr marL="457200" indent="-457200">
              <a:lnSpc>
                <a:spcPct val="110000"/>
              </a:lnSpc>
              <a:buFont typeface="Arial"/>
              <a:buChar char="•"/>
            </a:pPr>
            <a:r>
              <a:rPr lang="en-US" sz="2400" b="0" dirty="0"/>
              <a:t>Panels act as sub-containers for grouping user interface components. </a:t>
            </a:r>
          </a:p>
          <a:p>
            <a:pPr marL="457200" indent="-457200">
              <a:lnSpc>
                <a:spcPct val="110000"/>
              </a:lnSpc>
              <a:buFont typeface="Arial"/>
              <a:buChar char="•"/>
            </a:pPr>
            <a:r>
              <a:rPr lang="en-US" sz="2400" b="0" dirty="0"/>
              <a:t>It is recommended that you place the user interface components in panels and place the panels in a frame. You can also place panels in a panel. </a:t>
            </a:r>
          </a:p>
          <a:p>
            <a:pPr marL="457200" indent="-457200">
              <a:lnSpc>
                <a:spcPct val="110000"/>
              </a:lnSpc>
              <a:buFont typeface="Arial"/>
              <a:buChar char="•"/>
            </a:pPr>
            <a:endParaRPr lang="en-US" sz="2800" b="0" dirty="0"/>
          </a:p>
          <a:p>
            <a:pPr marL="457200" indent="-457200">
              <a:lnSpc>
                <a:spcPct val="110000"/>
              </a:lnSpc>
              <a:buFont typeface="Arial"/>
              <a:buChar char="•"/>
            </a:pPr>
            <a:endParaRPr lang="en-US" sz="2800" b="0" dirty="0"/>
          </a:p>
          <a:p>
            <a:pPr marL="457200" indent="-457200">
              <a:lnSpc>
                <a:spcPct val="110000"/>
              </a:lnSpc>
              <a:buFont typeface="Arial"/>
              <a:buChar char="•"/>
            </a:pPr>
            <a:endParaRPr lang="en-US" sz="2800" b="0" dirty="0"/>
          </a:p>
          <a:p>
            <a:pPr marL="457200" indent="-457200">
              <a:lnSpc>
                <a:spcPct val="110000"/>
              </a:lnSpc>
              <a:buFont typeface="Arial"/>
              <a:buChar char="•"/>
            </a:pPr>
            <a:endParaRPr lang="en-US" sz="2800" b="0" dirty="0"/>
          </a:p>
          <a:p>
            <a:pPr marL="457200" indent="-457200">
              <a:lnSpc>
                <a:spcPct val="110000"/>
              </a:lnSpc>
              <a:buFont typeface="Arial"/>
              <a:buChar char="•"/>
            </a:pPr>
            <a:endParaRPr lang="en-US" sz="2800" b="0" dirty="0"/>
          </a:p>
          <a:p>
            <a:pPr marL="457200" indent="-457200">
              <a:lnSpc>
                <a:spcPct val="110000"/>
              </a:lnSpc>
              <a:buFont typeface="Arial"/>
              <a:buChar char="•"/>
            </a:pPr>
            <a:endParaRPr lang="en-US" sz="2800" b="0" dirty="0"/>
          </a:p>
          <a:p>
            <a:pPr marL="457200" indent="-457200">
              <a:lnSpc>
                <a:spcPct val="110000"/>
              </a:lnSpc>
              <a:buFont typeface="Arial"/>
              <a:buChar char="•"/>
            </a:pPr>
            <a:endParaRPr lang="en-US" sz="2800" b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3" y="3775438"/>
            <a:ext cx="8912426" cy="288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4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8706"/>
            <a:ext cx="7620000" cy="579745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Example: </a:t>
            </a:r>
            <a:r>
              <a:rPr lang="en-US" sz="2400" dirty="0"/>
              <a:t>Panel Demo</a:t>
            </a:r>
          </a:p>
        </p:txBody>
      </p:sp>
      <p:pic>
        <p:nvPicPr>
          <p:cNvPr id="2" name="Picture 1" descr="Screen Shot 2016-07-12 at 5.06.2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82" y="945402"/>
            <a:ext cx="7705818" cy="5843618"/>
          </a:xfrm>
          <a:prstGeom prst="rect">
            <a:avLst/>
          </a:prstGeom>
          <a:ln>
            <a:solidFill>
              <a:srgbClr val="990000"/>
            </a:solidFill>
          </a:ln>
        </p:spPr>
      </p:pic>
    </p:spTree>
    <p:extLst>
      <p:ext uri="{BB962C8B-B14F-4D97-AF65-F5344CB8AC3E}">
        <p14:creationId xmlns:p14="http://schemas.microsoft.com/office/powerpoint/2010/main" val="37724009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Screen Shot 2016-07-12 at 5.07.0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62" y="590026"/>
            <a:ext cx="8077673" cy="2567613"/>
          </a:xfrm>
          <a:prstGeom prst="rect">
            <a:avLst/>
          </a:prstGeom>
          <a:ln>
            <a:solidFill>
              <a:srgbClr val="990000"/>
            </a:solidFill>
          </a:ln>
        </p:spPr>
      </p:pic>
    </p:spTree>
    <p:extLst>
      <p:ext uri="{BB962C8B-B14F-4D97-AF65-F5344CB8AC3E}">
        <p14:creationId xmlns:p14="http://schemas.microsoft.com/office/powerpoint/2010/main" val="37594936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567" y="-105596"/>
            <a:ext cx="7391401" cy="1143000"/>
          </a:xfrm>
        </p:spPr>
        <p:txBody>
          <a:bodyPr/>
          <a:lstStyle/>
          <a:p>
            <a:r>
              <a:rPr lang="en-US" sz="4000" dirty="0"/>
              <a:t>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3567" y="1515190"/>
            <a:ext cx="3566160" cy="3911600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romanLcPeriod"/>
            </a:pPr>
            <a:r>
              <a:rPr lang="en-US" sz="2400" dirty="0"/>
              <a:t>Button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dirty="0"/>
              <a:t>Check Box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dirty="0"/>
              <a:t>Radio Button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dirty="0"/>
              <a:t>Labels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dirty="0"/>
              <a:t>Text Fields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dirty="0"/>
              <a:t>Text Areas</a:t>
            </a:r>
          </a:p>
          <a:p>
            <a:pPr marL="514350" indent="-514350">
              <a:buFont typeface="+mj-lt"/>
              <a:buAutoNum type="romanLcPeriod"/>
            </a:pPr>
            <a:endParaRPr lang="en-US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82440" y="1496785"/>
            <a:ext cx="3566160" cy="39116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romanLcPeriod" startAt="7"/>
            </a:pPr>
            <a:r>
              <a:rPr lang="en-US" sz="2400" dirty="0"/>
              <a:t>Combo Boxes</a:t>
            </a:r>
          </a:p>
          <a:p>
            <a:pPr marL="514350" indent="-514350">
              <a:buFont typeface="+mj-lt"/>
              <a:buAutoNum type="romanLcPeriod" startAt="7"/>
            </a:pPr>
            <a:r>
              <a:rPr lang="en-US" sz="2400" dirty="0"/>
              <a:t>Lists</a:t>
            </a:r>
          </a:p>
          <a:p>
            <a:pPr marL="514350" indent="-514350">
              <a:buFont typeface="+mj-lt"/>
              <a:buAutoNum type="romanLcPeriod" startAt="7"/>
            </a:pPr>
            <a:r>
              <a:rPr lang="en-US" sz="2400" dirty="0"/>
              <a:t>Scroll Bars</a:t>
            </a:r>
          </a:p>
          <a:p>
            <a:pPr marL="514350" indent="-514350">
              <a:buFont typeface="+mj-lt"/>
              <a:buAutoNum type="romanLcPeriod" startAt="7"/>
            </a:pPr>
            <a:r>
              <a:rPr lang="en-US" sz="2400" dirty="0"/>
              <a:t>Sliders</a:t>
            </a:r>
          </a:p>
          <a:p>
            <a:pPr marL="514350" indent="-514350">
              <a:buFont typeface="+mj-lt"/>
              <a:buAutoNum type="romanLcPeriod" startAt="7"/>
            </a:pPr>
            <a:r>
              <a:rPr lang="en-US" sz="2400" dirty="0"/>
              <a:t>Tables</a:t>
            </a:r>
          </a:p>
        </p:txBody>
      </p:sp>
    </p:spTree>
    <p:extLst>
      <p:ext uri="{BB962C8B-B14F-4D97-AF65-F5344CB8AC3E}">
        <p14:creationId xmlns:p14="http://schemas.microsoft.com/office/powerpoint/2010/main" val="22340918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54715" y="251618"/>
            <a:ext cx="8635412" cy="6337215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514350" indent="-514350">
              <a:buFont typeface="+mj-lt"/>
              <a:buAutoNum type="romanLcPeriod"/>
            </a:pPr>
            <a:r>
              <a:rPr lang="en-US" sz="2800" b="1" dirty="0">
                <a:solidFill>
                  <a:schemeClr val="accent1"/>
                </a:solidFill>
              </a:rPr>
              <a:t>Button</a:t>
            </a:r>
          </a:p>
          <a:p>
            <a:pPr lvl="1"/>
            <a:r>
              <a:rPr lang="en-US" sz="2200" dirty="0"/>
              <a:t>To create a push button, use the </a:t>
            </a:r>
            <a:r>
              <a:rPr lang="en-US" sz="2200" b="1" dirty="0" err="1">
                <a:solidFill>
                  <a:srgbClr val="0000FF"/>
                </a:solidFill>
              </a:rPr>
              <a:t>JButton</a:t>
            </a:r>
            <a:r>
              <a:rPr lang="en-US" sz="2200" dirty="0"/>
              <a:t> class</a:t>
            </a:r>
          </a:p>
          <a:p>
            <a:pPr lvl="1"/>
            <a:r>
              <a:rPr lang="en-US" sz="2200" dirty="0"/>
              <a:t>Constructors</a:t>
            </a:r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r>
              <a:rPr lang="en-US" sz="2400" dirty="0"/>
              <a:t>Icons, Pressed Icons, and Rollover Icons</a:t>
            </a:r>
          </a:p>
          <a:p>
            <a:pPr lvl="2"/>
            <a:r>
              <a:rPr lang="en-US" sz="2000" dirty="0"/>
              <a:t>Default icon </a:t>
            </a:r>
          </a:p>
          <a:p>
            <a:pPr lvl="2"/>
            <a:r>
              <a:rPr lang="en-US" sz="2000" dirty="0"/>
              <a:t>Pressed icon:  display when a button is pressed</a:t>
            </a:r>
          </a:p>
          <a:p>
            <a:pPr lvl="2"/>
            <a:r>
              <a:rPr lang="en-US" sz="2000" dirty="0"/>
              <a:t>Rollover icon:  displayed when the mouse is over the button but not pressed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57241"/>
              </p:ext>
            </p:extLst>
          </p:nvPr>
        </p:nvGraphicFramePr>
        <p:xfrm>
          <a:off x="552229" y="1820305"/>
          <a:ext cx="8337898" cy="201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68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8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JButton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JButton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(icon: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javax.swing.Icon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JButton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(text: String)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JButton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(text: String, icon: Icon)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Creates a default button without any text or icons.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Creates a button with an icon.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Creates a button with text.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Creates a button with text and an icon.</a:t>
                      </a:r>
                      <a:endParaRPr lang="en-US" sz="6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16824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786" y="251618"/>
            <a:ext cx="6508377" cy="3916363"/>
          </a:xfrm>
        </p:spPr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JButton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95862" y="763428"/>
            <a:ext cx="8461550" cy="6093976"/>
          </a:xfrm>
          <a:prstGeom prst="rect">
            <a:avLst/>
          </a:prstGeom>
          <a:solidFill>
            <a:srgbClr val="FFFFFF"/>
          </a:solidFill>
          <a:ln>
            <a:solidFill>
              <a:srgbClr val="990000"/>
            </a:solidFill>
          </a:ln>
        </p:spPr>
        <p:txBody>
          <a:bodyPr wrap="square">
            <a:spAutoFit/>
          </a:bodyPr>
          <a:lstStyle/>
          <a:p>
            <a:r>
              <a:rPr lang="en-US" sz="1500" b="1" dirty="0"/>
              <a:t>import </a:t>
            </a:r>
            <a:r>
              <a:rPr lang="en-US" sz="1500" b="1" dirty="0" err="1"/>
              <a:t>javax.swing</a:t>
            </a:r>
            <a:r>
              <a:rPr lang="en-US" sz="1500" b="1" dirty="0"/>
              <a:t>.*;</a:t>
            </a:r>
          </a:p>
          <a:p>
            <a:r>
              <a:rPr lang="en-US" sz="1500" b="1" dirty="0"/>
              <a:t>import </a:t>
            </a:r>
            <a:r>
              <a:rPr lang="en-US" sz="1500" b="1" dirty="0" err="1"/>
              <a:t>java.awt</a:t>
            </a:r>
            <a:r>
              <a:rPr lang="en-US" sz="1500" b="1" dirty="0"/>
              <a:t>.*;</a:t>
            </a:r>
          </a:p>
          <a:p>
            <a:r>
              <a:rPr lang="en-US" sz="1500" b="1" dirty="0"/>
              <a:t>public class </a:t>
            </a:r>
            <a:r>
              <a:rPr lang="en-US" sz="1500" b="1" u="sng" dirty="0" err="1"/>
              <a:t>TestSwing</a:t>
            </a:r>
            <a:r>
              <a:rPr lang="en-US" sz="1500" b="1" u="sng" dirty="0"/>
              <a:t> extends </a:t>
            </a:r>
            <a:r>
              <a:rPr lang="en-US" sz="1500" b="1" u="sng" dirty="0" err="1"/>
              <a:t>JFrame</a:t>
            </a:r>
            <a:endParaRPr lang="en-US" sz="1500" b="1" u="sng" dirty="0"/>
          </a:p>
          <a:p>
            <a:r>
              <a:rPr lang="en-US" sz="1500" dirty="0"/>
              <a:t>{</a:t>
            </a:r>
          </a:p>
          <a:p>
            <a:r>
              <a:rPr lang="en-US" sz="1500" dirty="0"/>
              <a:t> </a:t>
            </a:r>
            <a:r>
              <a:rPr lang="en-US" sz="1500" dirty="0" err="1"/>
              <a:t>TestSwing</a:t>
            </a:r>
            <a:r>
              <a:rPr lang="en-US" sz="1500" dirty="0"/>
              <a:t>()</a:t>
            </a:r>
          </a:p>
          <a:p>
            <a:r>
              <a:rPr lang="en-US" sz="1500" dirty="0"/>
              <a:t> {</a:t>
            </a:r>
          </a:p>
          <a:p>
            <a:r>
              <a:rPr lang="en-US" sz="1500" dirty="0"/>
              <a:t>  </a:t>
            </a:r>
            <a:r>
              <a:rPr lang="en-US" sz="1500" dirty="0" err="1"/>
              <a:t>ImageIcon</a:t>
            </a:r>
            <a:r>
              <a:rPr lang="en-US" sz="1500" dirty="0"/>
              <a:t> left=</a:t>
            </a:r>
            <a:r>
              <a:rPr lang="en-US" sz="1500" b="1" dirty="0"/>
              <a:t>new </a:t>
            </a:r>
            <a:r>
              <a:rPr lang="en-US" sz="1500" b="1" dirty="0" err="1"/>
              <a:t>ImageIcon</a:t>
            </a:r>
            <a:r>
              <a:rPr lang="en-US" sz="1500" b="1" dirty="0"/>
              <a:t>("images/</a:t>
            </a:r>
            <a:r>
              <a:rPr lang="en-US" sz="1500" b="1" dirty="0" err="1"/>
              <a:t>left.gif</a:t>
            </a:r>
            <a:r>
              <a:rPr lang="en-US" sz="1500" b="1" dirty="0"/>
              <a:t>");</a:t>
            </a:r>
          </a:p>
          <a:p>
            <a:r>
              <a:rPr lang="en-US" sz="1500" dirty="0"/>
              <a:t>  </a:t>
            </a:r>
            <a:r>
              <a:rPr lang="en-US" sz="1500" dirty="0" err="1"/>
              <a:t>ImageIcon</a:t>
            </a:r>
            <a:r>
              <a:rPr lang="en-US" sz="1500" dirty="0"/>
              <a:t> right=</a:t>
            </a:r>
            <a:r>
              <a:rPr lang="en-US" sz="1500" b="1" dirty="0"/>
              <a:t>new </a:t>
            </a:r>
            <a:r>
              <a:rPr lang="en-US" sz="1500" b="1" dirty="0" err="1"/>
              <a:t>ImageIcon</a:t>
            </a:r>
            <a:r>
              <a:rPr lang="en-US" sz="1500" b="1" dirty="0"/>
              <a:t>("images/</a:t>
            </a:r>
            <a:r>
              <a:rPr lang="en-US" sz="1500" b="1" dirty="0" err="1"/>
              <a:t>right.gif</a:t>
            </a:r>
            <a:r>
              <a:rPr lang="en-US" sz="1500" b="1" dirty="0"/>
              <a:t>");</a:t>
            </a:r>
          </a:p>
          <a:p>
            <a:r>
              <a:rPr lang="en-US" sz="1500" dirty="0"/>
              <a:t>  </a:t>
            </a:r>
            <a:r>
              <a:rPr lang="en-US" sz="1500" dirty="0" err="1"/>
              <a:t>JButton</a:t>
            </a:r>
            <a:r>
              <a:rPr lang="en-US" sz="1500" dirty="0"/>
              <a:t> bt1 = </a:t>
            </a:r>
            <a:r>
              <a:rPr lang="en-US" sz="1500" b="1" dirty="0"/>
              <a:t>new </a:t>
            </a:r>
            <a:r>
              <a:rPr lang="en-US" sz="1500" b="1" dirty="0" err="1"/>
              <a:t>JButton</a:t>
            </a:r>
            <a:r>
              <a:rPr lang="en-US" sz="1500" b="1" dirty="0"/>
              <a:t>("</a:t>
            </a:r>
            <a:r>
              <a:rPr lang="en-US" sz="1500" b="1" dirty="0" err="1"/>
              <a:t>Left",left</a:t>
            </a:r>
            <a:r>
              <a:rPr lang="en-US" sz="1500" b="1" dirty="0"/>
              <a:t>);    //Button with Icon   </a:t>
            </a:r>
          </a:p>
          <a:p>
            <a:r>
              <a:rPr lang="en-US" sz="1500" dirty="0"/>
              <a:t>  </a:t>
            </a:r>
            <a:r>
              <a:rPr lang="en-US" sz="1500" dirty="0" err="1"/>
              <a:t>JButton</a:t>
            </a:r>
            <a:r>
              <a:rPr lang="en-US" sz="1500" dirty="0"/>
              <a:t> bt2 = </a:t>
            </a:r>
            <a:r>
              <a:rPr lang="en-US" sz="1500" b="1" dirty="0"/>
              <a:t>new </a:t>
            </a:r>
            <a:r>
              <a:rPr lang="en-US" sz="1500" b="1" dirty="0" err="1"/>
              <a:t>JButton</a:t>
            </a:r>
            <a:r>
              <a:rPr lang="en-US" sz="1500" b="1" dirty="0"/>
              <a:t>("</a:t>
            </a:r>
            <a:r>
              <a:rPr lang="en-US" sz="1500" b="1" dirty="0" err="1"/>
              <a:t>Right",right</a:t>
            </a:r>
            <a:r>
              <a:rPr lang="en-US" sz="1500" b="1" dirty="0"/>
              <a:t>); //Button with Icon</a:t>
            </a:r>
          </a:p>
          <a:p>
            <a:r>
              <a:rPr lang="en-US" sz="1500" dirty="0"/>
              <a:t>  </a:t>
            </a:r>
            <a:r>
              <a:rPr lang="en-US" sz="1500" dirty="0" err="1"/>
              <a:t>JButton</a:t>
            </a:r>
            <a:r>
              <a:rPr lang="en-US" sz="1500" dirty="0"/>
              <a:t> bt3=</a:t>
            </a:r>
            <a:r>
              <a:rPr lang="en-US" sz="1500" b="1" dirty="0"/>
              <a:t>new </a:t>
            </a:r>
            <a:r>
              <a:rPr lang="en-US" sz="1500" b="1" dirty="0" err="1"/>
              <a:t>JButton</a:t>
            </a:r>
            <a:r>
              <a:rPr lang="en-US" sz="1500" b="1" dirty="0"/>
              <a:t>("Center"); //Default Button</a:t>
            </a:r>
          </a:p>
          <a:p>
            <a:r>
              <a:rPr lang="en-US" sz="1600" dirty="0"/>
              <a:t>  bt3.setPreferredSize(</a:t>
            </a:r>
            <a:r>
              <a:rPr lang="en-US" sz="1600" b="1" dirty="0"/>
              <a:t>new Dimension(100,50)); //Define prefer size </a:t>
            </a:r>
            <a:endParaRPr lang="en-US" sz="1500" b="1" dirty="0"/>
          </a:p>
          <a:p>
            <a:r>
              <a:rPr lang="en-US" sz="1500" dirty="0"/>
              <a:t>  </a:t>
            </a:r>
            <a:r>
              <a:rPr lang="en-US" sz="1500" dirty="0" err="1"/>
              <a:t>setDefaultCloseOperation</a:t>
            </a:r>
            <a:r>
              <a:rPr lang="en-US" sz="1500" dirty="0"/>
              <a:t>(</a:t>
            </a:r>
            <a:r>
              <a:rPr lang="en-US" sz="1500" dirty="0" err="1"/>
              <a:t>JFrame.</a:t>
            </a:r>
            <a:r>
              <a:rPr lang="en-US" sz="1500" b="1" i="1" dirty="0" err="1"/>
              <a:t>EXIT_ON_CLOSE</a:t>
            </a:r>
            <a:r>
              <a:rPr lang="en-US" sz="1500" b="1" i="1" dirty="0"/>
              <a:t>);     //setting close operation.</a:t>
            </a:r>
          </a:p>
          <a:p>
            <a:r>
              <a:rPr lang="en-US" sz="1500" dirty="0"/>
              <a:t>  </a:t>
            </a:r>
            <a:r>
              <a:rPr lang="en-US" sz="1500" dirty="0" err="1"/>
              <a:t>setLayout</a:t>
            </a:r>
            <a:r>
              <a:rPr lang="en-US" sz="1500" dirty="0"/>
              <a:t>(</a:t>
            </a:r>
            <a:r>
              <a:rPr lang="en-US" sz="1500" b="1" dirty="0"/>
              <a:t>new </a:t>
            </a:r>
            <a:r>
              <a:rPr lang="en-US" sz="1500" b="1" dirty="0" err="1"/>
              <a:t>FlowLayout</a:t>
            </a:r>
            <a:r>
              <a:rPr lang="en-US" sz="1500" b="1" dirty="0"/>
              <a:t>());        //setting layout using </a:t>
            </a:r>
            <a:r>
              <a:rPr lang="en-US" sz="1500" b="1" dirty="0" err="1"/>
              <a:t>FlowLayout</a:t>
            </a:r>
            <a:r>
              <a:rPr lang="en-US" sz="1500" b="1" dirty="0"/>
              <a:t> object </a:t>
            </a:r>
          </a:p>
          <a:p>
            <a:r>
              <a:rPr lang="en-US" sz="1500" dirty="0"/>
              <a:t>  </a:t>
            </a:r>
            <a:r>
              <a:rPr lang="en-US" sz="1500" dirty="0" err="1"/>
              <a:t>setTitle</a:t>
            </a:r>
            <a:r>
              <a:rPr lang="en-US" sz="1500" dirty="0"/>
              <a:t>("Button Test");</a:t>
            </a:r>
          </a:p>
          <a:p>
            <a:r>
              <a:rPr lang="en-US" sz="1500" dirty="0"/>
              <a:t>  </a:t>
            </a:r>
            <a:r>
              <a:rPr lang="en-US" sz="1500" dirty="0" err="1"/>
              <a:t>setSize</a:t>
            </a:r>
            <a:r>
              <a:rPr lang="en-US" sz="1500" dirty="0"/>
              <a:t>(400, 400);            //setting size of </a:t>
            </a:r>
            <a:r>
              <a:rPr lang="en-US" sz="1500" u="sng" dirty="0" err="1"/>
              <a:t>Jframe</a:t>
            </a:r>
            <a:endParaRPr lang="en-US" sz="1500" u="sng" dirty="0"/>
          </a:p>
          <a:p>
            <a:r>
              <a:rPr lang="en-US" sz="1500" dirty="0"/>
              <a:t>  add(bt1);   </a:t>
            </a:r>
          </a:p>
          <a:p>
            <a:r>
              <a:rPr lang="en-US" sz="1500" dirty="0"/>
              <a:t>  add(bt3);//adding Yes button to frame.</a:t>
            </a:r>
          </a:p>
          <a:p>
            <a:r>
              <a:rPr lang="en-US" sz="1500" dirty="0"/>
              <a:t>  add(bt2);        //adding No button to frame.</a:t>
            </a:r>
          </a:p>
          <a:p>
            <a:r>
              <a:rPr lang="en-US" sz="1500" dirty="0"/>
              <a:t>  </a:t>
            </a:r>
            <a:r>
              <a:rPr lang="en-US" sz="1500" dirty="0" err="1"/>
              <a:t>setVisible</a:t>
            </a:r>
            <a:r>
              <a:rPr lang="en-US" sz="1500" dirty="0"/>
              <a:t>(</a:t>
            </a:r>
            <a:r>
              <a:rPr lang="en-US" sz="1500" b="1" dirty="0"/>
              <a:t>true);</a:t>
            </a:r>
          </a:p>
          <a:p>
            <a:r>
              <a:rPr lang="en-US" sz="1500" dirty="0"/>
              <a:t> }</a:t>
            </a:r>
          </a:p>
          <a:p>
            <a:r>
              <a:rPr lang="en-US" sz="1500" dirty="0"/>
              <a:t> public static void main(String[] </a:t>
            </a:r>
            <a:r>
              <a:rPr lang="en-US" sz="1500" dirty="0" err="1"/>
              <a:t>args</a:t>
            </a:r>
            <a:r>
              <a:rPr lang="en-US" sz="1500" dirty="0"/>
              <a:t>)</a:t>
            </a:r>
          </a:p>
          <a:p>
            <a:r>
              <a:rPr lang="en-US" sz="1500" dirty="0"/>
              <a:t> {</a:t>
            </a:r>
          </a:p>
          <a:p>
            <a:r>
              <a:rPr lang="en-US" sz="1500" dirty="0"/>
              <a:t>  new </a:t>
            </a:r>
            <a:r>
              <a:rPr lang="en-US" sz="1500" dirty="0" err="1"/>
              <a:t>TestSwing</a:t>
            </a:r>
            <a:r>
              <a:rPr lang="en-US" sz="1500" dirty="0"/>
              <a:t>();</a:t>
            </a:r>
          </a:p>
          <a:p>
            <a:r>
              <a:rPr lang="en-US" sz="1500" dirty="0"/>
              <a:t> }</a:t>
            </a:r>
          </a:p>
          <a:p>
            <a:r>
              <a:rPr lang="en-US" sz="1500" dirty="0"/>
              <a:t>}</a:t>
            </a:r>
          </a:p>
        </p:txBody>
      </p:sp>
      <p:pic>
        <p:nvPicPr>
          <p:cNvPr id="5" name="Picture 4" descr="Screen Shot 2016-07-13 at 12.59.53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283"/>
          <a:stretch/>
        </p:blipFill>
        <p:spPr>
          <a:xfrm>
            <a:off x="4755379" y="5125818"/>
            <a:ext cx="4297906" cy="156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7998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54715" y="251618"/>
            <a:ext cx="8635412" cy="6337215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ii. Check Box</a:t>
            </a:r>
          </a:p>
          <a:p>
            <a:pPr lvl="1"/>
            <a:r>
              <a:rPr lang="en-US" sz="2400" dirty="0"/>
              <a:t> To create a check box button, use the </a:t>
            </a:r>
            <a:r>
              <a:rPr lang="en-US" sz="2400" b="1" dirty="0" err="1">
                <a:solidFill>
                  <a:srgbClr val="0000FF"/>
                </a:solidFill>
              </a:rPr>
              <a:t>JCheckBox</a:t>
            </a:r>
            <a:r>
              <a:rPr lang="en-US" sz="2400" b="1" dirty="0">
                <a:solidFill>
                  <a:srgbClr val="0000FF"/>
                </a:solidFill>
              </a:rPr>
              <a:t>  </a:t>
            </a:r>
            <a:r>
              <a:rPr lang="en-US" sz="2400" dirty="0"/>
              <a:t>class</a:t>
            </a:r>
          </a:p>
          <a:p>
            <a:pPr lvl="1"/>
            <a:r>
              <a:rPr lang="en-US" sz="2200" dirty="0"/>
              <a:t>Constructors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57819"/>
              </p:ext>
            </p:extLst>
          </p:nvPr>
        </p:nvGraphicFramePr>
        <p:xfrm>
          <a:off x="172859" y="2249197"/>
          <a:ext cx="8799738" cy="3261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80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7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JCheckBox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JCheckBox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(text: String)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JCheckBox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(text: String, selected: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boolean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JCheckBox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(icon: Icon)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JCheckBox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(text: String, icon: Icon)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JCheckBox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(text: String, icon: Icon,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selected: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boolean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Creates a default check box without any text or icon.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Creates a check box with text.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Creates a check box with text and specifies whether the check box is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initially selected.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Creates a check box with an icon.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Creates a check box with text and an icon.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Creates a check box with text and an icon, and specifies whether the check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box is initially selected.</a:t>
                      </a: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71771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62813" y="852119"/>
            <a:ext cx="8808197" cy="5401479"/>
          </a:xfrm>
          <a:prstGeom prst="rect">
            <a:avLst/>
          </a:prstGeom>
          <a:solidFill>
            <a:srgbClr val="FFFFFF"/>
          </a:solidFill>
          <a:ln>
            <a:solidFill>
              <a:srgbClr val="990000"/>
            </a:solidFill>
          </a:ln>
        </p:spPr>
        <p:txBody>
          <a:bodyPr wrap="square">
            <a:spAutoFit/>
          </a:bodyPr>
          <a:lstStyle/>
          <a:p>
            <a:r>
              <a:rPr lang="en-US" sz="1500" dirty="0"/>
              <a:t>	</a:t>
            </a:r>
            <a:r>
              <a:rPr lang="en-US" sz="1500" b="1" dirty="0"/>
              <a:t>import </a:t>
            </a:r>
            <a:r>
              <a:rPr lang="en-US" sz="1500" b="1" dirty="0" err="1"/>
              <a:t>javax.swing</a:t>
            </a:r>
            <a:r>
              <a:rPr lang="en-US" sz="1500" b="1" dirty="0"/>
              <a:t>.*;</a:t>
            </a:r>
          </a:p>
          <a:p>
            <a:r>
              <a:rPr lang="en-US" sz="1500" dirty="0"/>
              <a:t>	</a:t>
            </a:r>
            <a:r>
              <a:rPr lang="en-US" sz="1500" b="1" dirty="0"/>
              <a:t>import </a:t>
            </a:r>
            <a:r>
              <a:rPr lang="en-US" sz="1500" b="1" dirty="0" err="1"/>
              <a:t>java.awt</a:t>
            </a:r>
            <a:r>
              <a:rPr lang="en-US" sz="1500" b="1" dirty="0"/>
              <a:t>.*;</a:t>
            </a:r>
          </a:p>
          <a:p>
            <a:r>
              <a:rPr lang="en-US" sz="1500" dirty="0"/>
              <a:t>	</a:t>
            </a:r>
            <a:r>
              <a:rPr lang="en-US" sz="1500" b="1" dirty="0"/>
              <a:t>public class </a:t>
            </a:r>
            <a:r>
              <a:rPr lang="en-US" sz="1500" b="1" u="sng" dirty="0" err="1"/>
              <a:t>CheckBox</a:t>
            </a:r>
            <a:r>
              <a:rPr lang="en-US" sz="1500" b="1" u="sng" dirty="0"/>
              <a:t> extends </a:t>
            </a:r>
            <a:r>
              <a:rPr lang="en-US" sz="1500" b="1" u="sng" dirty="0" err="1"/>
              <a:t>JFrame</a:t>
            </a:r>
            <a:r>
              <a:rPr lang="en-US" sz="1500" b="1" u="sng" dirty="0"/>
              <a:t>  </a:t>
            </a:r>
          </a:p>
          <a:p>
            <a:r>
              <a:rPr lang="en-US" sz="1500" dirty="0"/>
              <a:t>	{</a:t>
            </a:r>
          </a:p>
          <a:p>
            <a:r>
              <a:rPr lang="en-US" sz="1500" dirty="0"/>
              <a:t>	 </a:t>
            </a:r>
            <a:r>
              <a:rPr lang="en-US" sz="1500" b="1" dirty="0"/>
              <a:t>public </a:t>
            </a:r>
            <a:r>
              <a:rPr lang="en-US" sz="1500" b="1" dirty="0" err="1"/>
              <a:t>CheckBox</a:t>
            </a:r>
            <a:r>
              <a:rPr lang="en-US" sz="1500" b="1" dirty="0"/>
              <a:t>() </a:t>
            </a:r>
          </a:p>
          <a:p>
            <a:r>
              <a:rPr lang="en-US" sz="1500" dirty="0"/>
              <a:t>	 {</a:t>
            </a:r>
          </a:p>
          <a:p>
            <a:r>
              <a:rPr lang="en-US" sz="1500" dirty="0"/>
              <a:t>	  </a:t>
            </a:r>
            <a:r>
              <a:rPr lang="en-US" sz="1500" dirty="0" err="1"/>
              <a:t>JCheckBox</a:t>
            </a:r>
            <a:r>
              <a:rPr lang="en-US" sz="1500" dirty="0"/>
              <a:t> </a:t>
            </a:r>
            <a:r>
              <a:rPr lang="en-US" sz="1500" dirty="0" err="1"/>
              <a:t>jcb</a:t>
            </a:r>
            <a:r>
              <a:rPr lang="en-US" sz="1500" dirty="0"/>
              <a:t> = </a:t>
            </a:r>
            <a:r>
              <a:rPr lang="en-US" sz="1500" b="1" dirty="0"/>
              <a:t>new </a:t>
            </a:r>
            <a:r>
              <a:rPr lang="en-US" sz="1500" b="1" dirty="0" err="1"/>
              <a:t>JCheckBox</a:t>
            </a:r>
            <a:r>
              <a:rPr lang="en-US" sz="1500" b="1" dirty="0"/>
              <a:t>("</a:t>
            </a:r>
            <a:r>
              <a:rPr lang="en-US" sz="1500" b="1" dirty="0" err="1"/>
              <a:t>yes",true</a:t>
            </a:r>
            <a:r>
              <a:rPr lang="en-US" sz="1500" b="1" dirty="0"/>
              <a:t>);   </a:t>
            </a:r>
            <a:r>
              <a:rPr lang="en-US" sz="1500" dirty="0"/>
              <a:t>//creating   </a:t>
            </a:r>
          </a:p>
          <a:p>
            <a:r>
              <a:rPr lang="en-US" sz="1500" dirty="0"/>
              <a:t>                                                                              </a:t>
            </a:r>
            <a:r>
              <a:rPr lang="en-US" sz="1500" dirty="0" err="1"/>
              <a:t>JCheckBox</a:t>
            </a:r>
            <a:r>
              <a:rPr lang="en-US" sz="1500" dirty="0"/>
              <a:t> with default selected</a:t>
            </a:r>
            <a:r>
              <a:rPr lang="en-US" sz="1500" b="1" dirty="0"/>
              <a:t> </a:t>
            </a:r>
          </a:p>
          <a:p>
            <a:r>
              <a:rPr lang="en-US" sz="1500" dirty="0"/>
              <a:t>	  add(</a:t>
            </a:r>
            <a:r>
              <a:rPr lang="en-US" sz="1500" dirty="0" err="1"/>
              <a:t>jcb</a:t>
            </a:r>
            <a:r>
              <a:rPr lang="en-US" sz="1500" dirty="0"/>
              <a:t>);				  //adding </a:t>
            </a:r>
            <a:r>
              <a:rPr lang="en-US" sz="1500" dirty="0" err="1"/>
              <a:t>JCheckBox</a:t>
            </a:r>
            <a:r>
              <a:rPr lang="en-US" sz="1500" dirty="0"/>
              <a:t> to frame. </a:t>
            </a:r>
          </a:p>
          <a:p>
            <a:r>
              <a:rPr lang="en-US" sz="1500" dirty="0"/>
              <a:t>	  </a:t>
            </a:r>
            <a:r>
              <a:rPr lang="en-US" sz="1500" dirty="0" err="1"/>
              <a:t>jcb</a:t>
            </a:r>
            <a:r>
              <a:rPr lang="en-US" sz="1500" dirty="0"/>
              <a:t> = </a:t>
            </a:r>
            <a:r>
              <a:rPr lang="en-US" sz="1500" b="1" dirty="0"/>
              <a:t>new </a:t>
            </a:r>
            <a:r>
              <a:rPr lang="en-US" sz="1500" b="1" dirty="0" err="1"/>
              <a:t>JCheckBox</a:t>
            </a:r>
            <a:r>
              <a:rPr lang="en-US" sz="1500" b="1" dirty="0"/>
              <a:t>("no");		 </a:t>
            </a:r>
          </a:p>
          <a:p>
            <a:r>
              <a:rPr lang="hu-HU" sz="1500" dirty="0"/>
              <a:t>	  add(jcb);				 </a:t>
            </a:r>
          </a:p>
          <a:p>
            <a:r>
              <a:rPr lang="en-US" sz="1500" dirty="0"/>
              <a:t>	  </a:t>
            </a:r>
            <a:r>
              <a:rPr lang="en-US" sz="1500" dirty="0" err="1"/>
              <a:t>jcb</a:t>
            </a:r>
            <a:r>
              <a:rPr lang="en-US" sz="1500" dirty="0"/>
              <a:t> = </a:t>
            </a:r>
            <a:r>
              <a:rPr lang="en-US" sz="1500" b="1" dirty="0"/>
              <a:t>new </a:t>
            </a:r>
            <a:r>
              <a:rPr lang="en-US" sz="1500" b="1" dirty="0" err="1"/>
              <a:t>JCheckBox</a:t>
            </a:r>
            <a:r>
              <a:rPr lang="en-US" sz="1500" b="1" dirty="0"/>
              <a:t>("maybe");		 </a:t>
            </a:r>
          </a:p>
          <a:p>
            <a:r>
              <a:rPr lang="hu-HU" sz="1500" dirty="0"/>
              <a:t>	  add(jcb);				  </a:t>
            </a:r>
          </a:p>
          <a:p>
            <a:r>
              <a:rPr lang="en-US" sz="1500" dirty="0"/>
              <a:t>	  </a:t>
            </a:r>
            <a:r>
              <a:rPr lang="en-US" sz="1500" dirty="0" err="1"/>
              <a:t>setLayout</a:t>
            </a:r>
            <a:r>
              <a:rPr lang="en-US" sz="1500" dirty="0"/>
              <a:t>(</a:t>
            </a:r>
            <a:r>
              <a:rPr lang="en-US" sz="1500" b="1" dirty="0"/>
              <a:t>new </a:t>
            </a:r>
            <a:r>
              <a:rPr lang="en-US" sz="1500" b="1" dirty="0" err="1"/>
              <a:t>FlowLayout</a:t>
            </a:r>
            <a:r>
              <a:rPr lang="en-US" sz="1500" b="1" dirty="0"/>
              <a:t>());</a:t>
            </a:r>
          </a:p>
          <a:p>
            <a:r>
              <a:rPr lang="en-US" sz="1500" dirty="0"/>
              <a:t>	  </a:t>
            </a:r>
            <a:r>
              <a:rPr lang="en-US" sz="1500" dirty="0" err="1"/>
              <a:t>setDefaultCloseOperation</a:t>
            </a:r>
            <a:r>
              <a:rPr lang="en-US" sz="1500" dirty="0"/>
              <a:t>(</a:t>
            </a:r>
            <a:r>
              <a:rPr lang="en-US" sz="1500" dirty="0" err="1"/>
              <a:t>JFrame.</a:t>
            </a:r>
            <a:r>
              <a:rPr lang="en-US" sz="1500" b="1" i="1" dirty="0" err="1"/>
              <a:t>EXIT_ON_CLOSE</a:t>
            </a:r>
            <a:r>
              <a:rPr lang="en-US" sz="1500" b="1" i="1" dirty="0"/>
              <a:t>);</a:t>
            </a:r>
          </a:p>
          <a:p>
            <a:r>
              <a:rPr lang="en-US" sz="1500" dirty="0"/>
              <a:t>	  </a:t>
            </a:r>
            <a:r>
              <a:rPr lang="en-US" sz="1500" dirty="0" err="1"/>
              <a:t>setSize</a:t>
            </a:r>
            <a:r>
              <a:rPr lang="en-US" sz="1500" dirty="0"/>
              <a:t>(400, 400);</a:t>
            </a:r>
          </a:p>
          <a:p>
            <a:r>
              <a:rPr lang="en-US" sz="1500" dirty="0"/>
              <a:t>	  </a:t>
            </a:r>
            <a:r>
              <a:rPr lang="en-US" sz="1500" dirty="0" err="1"/>
              <a:t>setVisible</a:t>
            </a:r>
            <a:r>
              <a:rPr lang="en-US" sz="1500" dirty="0"/>
              <a:t>(</a:t>
            </a:r>
            <a:r>
              <a:rPr lang="en-US" sz="1500" b="1" dirty="0"/>
              <a:t>true);</a:t>
            </a:r>
          </a:p>
          <a:p>
            <a:r>
              <a:rPr lang="en-US" sz="1500" dirty="0"/>
              <a:t>	 }</a:t>
            </a:r>
          </a:p>
          <a:p>
            <a:r>
              <a:rPr lang="en-US" sz="1500" dirty="0"/>
              <a:t>	 public static void main(String[] </a:t>
            </a:r>
            <a:r>
              <a:rPr lang="en-US" sz="1500" dirty="0" err="1"/>
              <a:t>args</a:t>
            </a:r>
            <a:r>
              <a:rPr lang="en-US" sz="1500" dirty="0"/>
              <a:t>) </a:t>
            </a:r>
          </a:p>
          <a:p>
            <a:r>
              <a:rPr lang="en-US" sz="1500" dirty="0"/>
              <a:t>	 {</a:t>
            </a:r>
          </a:p>
          <a:p>
            <a:r>
              <a:rPr lang="en-US" sz="1500" dirty="0"/>
              <a:t>	  new </a:t>
            </a:r>
            <a:r>
              <a:rPr lang="en-US" sz="1500" dirty="0" err="1"/>
              <a:t>CheckBox</a:t>
            </a:r>
            <a:r>
              <a:rPr lang="en-US" sz="1500" dirty="0"/>
              <a:t>();</a:t>
            </a:r>
          </a:p>
          <a:p>
            <a:r>
              <a:rPr lang="en-US" sz="1500" dirty="0"/>
              <a:t>	 }</a:t>
            </a:r>
          </a:p>
          <a:p>
            <a:r>
              <a:rPr lang="en-US" sz="1500" dirty="0"/>
              <a:t>	}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09786" y="251618"/>
            <a:ext cx="6508377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spcBef>
                <a:spcPts val="18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Example: </a:t>
            </a:r>
            <a:r>
              <a:rPr lang="en-US" dirty="0" err="1"/>
              <a:t>JCheckBox</a:t>
            </a:r>
            <a:endParaRPr lang="en-US" dirty="0"/>
          </a:p>
        </p:txBody>
      </p:sp>
      <p:pic>
        <p:nvPicPr>
          <p:cNvPr id="8" name="Picture 7" descr="Screen Shot 2016-07-13 at 1.07.06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830"/>
          <a:stretch/>
        </p:blipFill>
        <p:spPr>
          <a:xfrm>
            <a:off x="3947885" y="5589134"/>
            <a:ext cx="5105400" cy="10740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033027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54715" y="251618"/>
            <a:ext cx="8635412" cy="6337215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iii. Radio Button</a:t>
            </a:r>
          </a:p>
          <a:p>
            <a:pPr lvl="1"/>
            <a:r>
              <a:rPr lang="en-US" sz="2400" dirty="0"/>
              <a:t>To create a radio button, use the </a:t>
            </a:r>
            <a:r>
              <a:rPr lang="en-US" sz="2400" dirty="0" err="1"/>
              <a:t>JRadioButton</a:t>
            </a:r>
            <a:r>
              <a:rPr lang="en-US" sz="2400" dirty="0"/>
              <a:t>  class</a:t>
            </a:r>
          </a:p>
          <a:p>
            <a:pPr lvl="1"/>
            <a:r>
              <a:rPr lang="en-US" sz="2200" dirty="0"/>
              <a:t>Constructors</a:t>
            </a:r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 To group radio buttons, you need to create an instance of </a:t>
            </a:r>
            <a:r>
              <a:rPr lang="en-US" sz="2200" dirty="0" err="1"/>
              <a:t>java.swing.ButtonGroup</a:t>
            </a:r>
            <a:endParaRPr lang="en-US" sz="22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031396"/>
              </p:ext>
            </p:extLst>
          </p:nvPr>
        </p:nvGraphicFramePr>
        <p:xfrm>
          <a:off x="172859" y="1945871"/>
          <a:ext cx="8799738" cy="357835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80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7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JRadioButton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JRadioButton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(text: String)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JRadioButton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(text: String, selected: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boolean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JRadioButton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(icon: Icon)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JRadioButton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(text: String, icon: Icon)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JRadioButton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(text: String, icon: Icon,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selected: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boolean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Creates a default radio button without any text or icon.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Creates a radio button with text.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Creates a radio button with text and specifies whether the radio button is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initially selected.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Creates a radio button with an icon.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Creates a radio button with text and an icon.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Creates a radio button with text and an icon, and specifies whether the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radio button is initially selected.</a:t>
                      </a: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40978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676883" y="914400"/>
            <a:ext cx="8068485" cy="5401479"/>
          </a:xfrm>
          <a:prstGeom prst="rect">
            <a:avLst/>
          </a:prstGeom>
          <a:solidFill>
            <a:srgbClr val="FFFFFF"/>
          </a:solidFill>
          <a:ln>
            <a:solidFill>
              <a:srgbClr val="990000"/>
            </a:solidFill>
          </a:ln>
        </p:spPr>
        <p:txBody>
          <a:bodyPr wrap="square">
            <a:spAutoFit/>
          </a:bodyPr>
          <a:lstStyle/>
          <a:p>
            <a:r>
              <a:rPr lang="en-US" sz="1500" dirty="0"/>
              <a:t>	</a:t>
            </a:r>
            <a:r>
              <a:rPr lang="en-US" sz="1500" b="1" dirty="0"/>
              <a:t>import </a:t>
            </a:r>
            <a:r>
              <a:rPr lang="en-US" sz="1500" b="1" dirty="0" err="1"/>
              <a:t>javax.swing</a:t>
            </a:r>
            <a:r>
              <a:rPr lang="en-US" sz="1500" b="1" dirty="0"/>
              <a:t>.*;</a:t>
            </a:r>
          </a:p>
          <a:p>
            <a:r>
              <a:rPr lang="en-US" sz="1500" dirty="0"/>
              <a:t>	</a:t>
            </a:r>
            <a:r>
              <a:rPr lang="en-US" sz="1500" b="1" dirty="0"/>
              <a:t>import </a:t>
            </a:r>
            <a:r>
              <a:rPr lang="en-US" sz="1500" b="1" dirty="0" err="1"/>
              <a:t>java.awt</a:t>
            </a:r>
            <a:r>
              <a:rPr lang="en-US" sz="1500" b="1" dirty="0"/>
              <a:t>.*;</a:t>
            </a:r>
          </a:p>
          <a:p>
            <a:r>
              <a:rPr lang="en-US" sz="1500" dirty="0"/>
              <a:t>	</a:t>
            </a:r>
            <a:r>
              <a:rPr lang="en-US" sz="1500" b="1" dirty="0"/>
              <a:t>public class </a:t>
            </a:r>
            <a:r>
              <a:rPr lang="en-US" sz="1500" b="1" u="sng" dirty="0" err="1"/>
              <a:t>RadioButton</a:t>
            </a:r>
            <a:r>
              <a:rPr lang="en-US" sz="1500" b="1" u="sng" dirty="0"/>
              <a:t> extends </a:t>
            </a:r>
            <a:r>
              <a:rPr lang="en-US" sz="1500" b="1" u="sng" dirty="0" err="1"/>
              <a:t>JFrame</a:t>
            </a:r>
            <a:r>
              <a:rPr lang="en-US" sz="1500" b="1" u="sng" dirty="0"/>
              <a:t>  </a:t>
            </a:r>
          </a:p>
          <a:p>
            <a:r>
              <a:rPr lang="en-US" sz="1500" dirty="0"/>
              <a:t>	{</a:t>
            </a:r>
          </a:p>
          <a:p>
            <a:r>
              <a:rPr lang="en-US" sz="1500" dirty="0"/>
              <a:t>	 </a:t>
            </a:r>
            <a:r>
              <a:rPr lang="en-US" sz="1500" b="1" dirty="0"/>
              <a:t>public </a:t>
            </a:r>
            <a:r>
              <a:rPr lang="en-US" sz="1500" b="1" dirty="0" err="1"/>
              <a:t>RadioButton</a:t>
            </a:r>
            <a:r>
              <a:rPr lang="en-US" sz="1500" b="1" dirty="0"/>
              <a:t>() </a:t>
            </a:r>
          </a:p>
          <a:p>
            <a:r>
              <a:rPr lang="en-US" sz="1500" dirty="0"/>
              <a:t>	 {</a:t>
            </a:r>
          </a:p>
          <a:p>
            <a:r>
              <a:rPr lang="en-US" sz="1500" dirty="0"/>
              <a:t>	  </a:t>
            </a:r>
            <a:r>
              <a:rPr lang="en-US" sz="1500" dirty="0" err="1"/>
              <a:t>JRadioButton</a:t>
            </a:r>
            <a:r>
              <a:rPr lang="en-US" sz="1500" dirty="0"/>
              <a:t> </a:t>
            </a:r>
            <a:r>
              <a:rPr lang="en-US" sz="1500" dirty="0" err="1"/>
              <a:t>jcb</a:t>
            </a:r>
            <a:r>
              <a:rPr lang="en-US" sz="1500" dirty="0"/>
              <a:t> = </a:t>
            </a:r>
            <a:r>
              <a:rPr lang="en-US" sz="1500" b="1" dirty="0"/>
              <a:t>new </a:t>
            </a:r>
            <a:r>
              <a:rPr lang="en-US" sz="1500" b="1" dirty="0" err="1"/>
              <a:t>JRadioButton</a:t>
            </a:r>
            <a:r>
              <a:rPr lang="en-US" sz="1500" b="1" dirty="0"/>
              <a:t>("</a:t>
            </a:r>
            <a:r>
              <a:rPr lang="en-US" sz="1500" b="1" dirty="0" err="1"/>
              <a:t>yes",true</a:t>
            </a:r>
            <a:r>
              <a:rPr lang="en-US" sz="1500" b="1" dirty="0"/>
              <a:t>);  </a:t>
            </a:r>
          </a:p>
          <a:p>
            <a:r>
              <a:rPr lang="en-US" sz="1500" b="1" dirty="0"/>
              <a:t> 	</a:t>
            </a:r>
            <a:r>
              <a:rPr lang="en-US" sz="1500" dirty="0"/>
              <a:t>  </a:t>
            </a:r>
            <a:r>
              <a:rPr lang="en-US" sz="1500" dirty="0" err="1"/>
              <a:t>JRadioButton</a:t>
            </a:r>
            <a:r>
              <a:rPr lang="en-US" sz="1500" dirty="0"/>
              <a:t> jcb2 = </a:t>
            </a:r>
            <a:r>
              <a:rPr lang="en-US" sz="1500" b="1" dirty="0"/>
              <a:t>new </a:t>
            </a:r>
            <a:r>
              <a:rPr lang="en-US" sz="1500" b="1" dirty="0" err="1"/>
              <a:t>JRadioButton</a:t>
            </a:r>
            <a:r>
              <a:rPr lang="en-US" sz="1500" b="1" dirty="0"/>
              <a:t>(“no”); </a:t>
            </a:r>
          </a:p>
          <a:p>
            <a:r>
              <a:rPr lang="en-US" sz="1500" dirty="0"/>
              <a:t>	  </a:t>
            </a:r>
            <a:r>
              <a:rPr lang="en-US" sz="1500" dirty="0" err="1"/>
              <a:t>JRadioButton</a:t>
            </a:r>
            <a:r>
              <a:rPr lang="en-US" sz="1500" dirty="0"/>
              <a:t> jcb3 = </a:t>
            </a:r>
            <a:r>
              <a:rPr lang="en-US" sz="1500" b="1" dirty="0"/>
              <a:t>new </a:t>
            </a:r>
            <a:r>
              <a:rPr lang="en-US" sz="1500" b="1" dirty="0" err="1"/>
              <a:t>JRadioButton</a:t>
            </a:r>
            <a:r>
              <a:rPr lang="en-US" sz="1500" b="1" dirty="0"/>
              <a:t>(“maybe”);	</a:t>
            </a:r>
            <a:endParaRPr lang="en-US" sz="1500" dirty="0"/>
          </a:p>
          <a:p>
            <a:r>
              <a:rPr lang="en-US" sz="1500" dirty="0"/>
              <a:t>	  </a:t>
            </a:r>
          </a:p>
          <a:p>
            <a:r>
              <a:rPr lang="en-US" sz="1500" dirty="0"/>
              <a:t>	  add(</a:t>
            </a:r>
            <a:r>
              <a:rPr lang="en-US" sz="1500" dirty="0" err="1"/>
              <a:t>jcb</a:t>
            </a:r>
            <a:r>
              <a:rPr lang="en-US" sz="1500" dirty="0"/>
              <a:t>);				</a:t>
            </a:r>
          </a:p>
          <a:p>
            <a:r>
              <a:rPr lang="en-US" sz="1500" dirty="0"/>
              <a:t>	  add(jcb2); </a:t>
            </a:r>
          </a:p>
          <a:p>
            <a:r>
              <a:rPr lang="en-US" sz="1500" dirty="0"/>
              <a:t>	  add(jcb3); </a:t>
            </a:r>
            <a:r>
              <a:rPr lang="hu-HU" sz="1500" dirty="0"/>
              <a:t>		  </a:t>
            </a:r>
          </a:p>
          <a:p>
            <a:r>
              <a:rPr lang="en-US" sz="1500" dirty="0"/>
              <a:t>	  </a:t>
            </a:r>
            <a:r>
              <a:rPr lang="en-US" sz="1500" dirty="0" err="1"/>
              <a:t>setLayout</a:t>
            </a:r>
            <a:r>
              <a:rPr lang="en-US" sz="1500" dirty="0"/>
              <a:t>(</a:t>
            </a:r>
            <a:r>
              <a:rPr lang="en-US" sz="1500" b="1" dirty="0"/>
              <a:t>new </a:t>
            </a:r>
            <a:r>
              <a:rPr lang="en-US" sz="1500" b="1" dirty="0" err="1"/>
              <a:t>FlowLayout</a:t>
            </a:r>
            <a:r>
              <a:rPr lang="en-US" sz="1500" b="1" dirty="0"/>
              <a:t>());</a:t>
            </a:r>
          </a:p>
          <a:p>
            <a:r>
              <a:rPr lang="en-US" sz="1500" dirty="0"/>
              <a:t>	  </a:t>
            </a:r>
            <a:r>
              <a:rPr lang="en-US" sz="1500" dirty="0" err="1"/>
              <a:t>setDefaultCloseOperation</a:t>
            </a:r>
            <a:r>
              <a:rPr lang="en-US" sz="1500" dirty="0"/>
              <a:t>(</a:t>
            </a:r>
            <a:r>
              <a:rPr lang="en-US" sz="1500" dirty="0" err="1"/>
              <a:t>JFrame.</a:t>
            </a:r>
            <a:r>
              <a:rPr lang="en-US" sz="1500" b="1" i="1" dirty="0" err="1"/>
              <a:t>EXIT_ON_CLOSE</a:t>
            </a:r>
            <a:r>
              <a:rPr lang="en-US" sz="1500" b="1" i="1" dirty="0"/>
              <a:t>);</a:t>
            </a:r>
          </a:p>
          <a:p>
            <a:r>
              <a:rPr lang="en-US" sz="1500" dirty="0"/>
              <a:t>	  </a:t>
            </a:r>
            <a:r>
              <a:rPr lang="en-US" sz="1500" dirty="0" err="1"/>
              <a:t>setSize</a:t>
            </a:r>
            <a:r>
              <a:rPr lang="en-US" sz="1500" dirty="0"/>
              <a:t>(400, 400);</a:t>
            </a:r>
          </a:p>
          <a:p>
            <a:r>
              <a:rPr lang="en-US" sz="1500" dirty="0"/>
              <a:t>	  </a:t>
            </a:r>
            <a:r>
              <a:rPr lang="en-US" sz="1500" dirty="0" err="1"/>
              <a:t>setVisible</a:t>
            </a:r>
            <a:r>
              <a:rPr lang="en-US" sz="1500" dirty="0"/>
              <a:t>(</a:t>
            </a:r>
            <a:r>
              <a:rPr lang="en-US" sz="1500" b="1" dirty="0"/>
              <a:t>true);</a:t>
            </a:r>
          </a:p>
          <a:p>
            <a:r>
              <a:rPr lang="en-US" sz="1500" dirty="0"/>
              <a:t>	 }</a:t>
            </a:r>
          </a:p>
          <a:p>
            <a:r>
              <a:rPr lang="en-US" sz="1500" dirty="0"/>
              <a:t>	 public static void main(String[] </a:t>
            </a:r>
            <a:r>
              <a:rPr lang="en-US" sz="1500" dirty="0" err="1"/>
              <a:t>args</a:t>
            </a:r>
            <a:r>
              <a:rPr lang="en-US" sz="1500" dirty="0"/>
              <a:t>) </a:t>
            </a:r>
          </a:p>
          <a:p>
            <a:r>
              <a:rPr lang="en-US" sz="1500" dirty="0"/>
              <a:t>	 {</a:t>
            </a:r>
          </a:p>
          <a:p>
            <a:r>
              <a:rPr lang="en-US" sz="1500" dirty="0"/>
              <a:t>	  new </a:t>
            </a:r>
            <a:r>
              <a:rPr lang="en-US" sz="1500" dirty="0" err="1"/>
              <a:t>RadioButton</a:t>
            </a:r>
            <a:r>
              <a:rPr lang="en-US" sz="1500" dirty="0"/>
              <a:t>();</a:t>
            </a:r>
          </a:p>
          <a:p>
            <a:r>
              <a:rPr lang="en-US" sz="1500" dirty="0"/>
              <a:t>	 }</a:t>
            </a:r>
          </a:p>
          <a:p>
            <a:r>
              <a:rPr lang="en-US" sz="1500" dirty="0"/>
              <a:t>	}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09786" y="251618"/>
            <a:ext cx="6508377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spcBef>
                <a:spcPts val="18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Example: </a:t>
            </a:r>
            <a:r>
              <a:rPr lang="en-US" dirty="0" err="1"/>
              <a:t>JRadioButton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182538" y="2693241"/>
            <a:ext cx="3893725" cy="1015663"/>
          </a:xfrm>
          <a:prstGeom prst="rect">
            <a:avLst/>
          </a:prstGeom>
          <a:solidFill>
            <a:schemeClr val="bg2"/>
          </a:solidFill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r>
              <a:rPr lang="en-US" sz="1500" dirty="0" err="1"/>
              <a:t>ButtonGroup</a:t>
            </a:r>
            <a:r>
              <a:rPr lang="en-US" sz="1500" dirty="0"/>
              <a:t> g=</a:t>
            </a:r>
            <a:r>
              <a:rPr lang="en-US" sz="1500" b="1" dirty="0"/>
              <a:t>new </a:t>
            </a:r>
            <a:r>
              <a:rPr lang="en-US" sz="1500" b="1" dirty="0" err="1"/>
              <a:t>ButtonGroup</a:t>
            </a:r>
            <a:r>
              <a:rPr lang="en-US" sz="1500" b="1" dirty="0"/>
              <a:t>();</a:t>
            </a:r>
          </a:p>
          <a:p>
            <a:r>
              <a:rPr lang="pl-PL" sz="1500" dirty="0" err="1"/>
              <a:t>g.add</a:t>
            </a:r>
            <a:r>
              <a:rPr lang="pl-PL" sz="1500" dirty="0"/>
              <a:t>(</a:t>
            </a:r>
            <a:r>
              <a:rPr lang="pl-PL" sz="1500" dirty="0" err="1"/>
              <a:t>jcb</a:t>
            </a:r>
            <a:r>
              <a:rPr lang="pl-PL" sz="1500" dirty="0"/>
              <a:t>);</a:t>
            </a:r>
          </a:p>
          <a:p>
            <a:r>
              <a:rPr lang="pl-PL" sz="1500" dirty="0"/>
              <a:t> </a:t>
            </a:r>
            <a:r>
              <a:rPr lang="pl-PL" sz="1500" dirty="0" err="1"/>
              <a:t>g.add</a:t>
            </a:r>
            <a:r>
              <a:rPr lang="pl-PL" sz="1500" dirty="0"/>
              <a:t>(jcb2);</a:t>
            </a:r>
          </a:p>
          <a:p>
            <a:r>
              <a:rPr lang="pl-PL" sz="1500" dirty="0" err="1"/>
              <a:t>g.add</a:t>
            </a:r>
            <a:r>
              <a:rPr lang="pl-PL" sz="1500" dirty="0"/>
              <a:t>(jcb3);</a:t>
            </a:r>
            <a:endParaRPr lang="en-US" sz="1500" dirty="0"/>
          </a:p>
        </p:txBody>
      </p:sp>
      <p:pic>
        <p:nvPicPr>
          <p:cNvPr id="10" name="Picture 9" descr="Screen Shot 2016-07-13 at 1.25.1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412" y="5118656"/>
            <a:ext cx="4178851" cy="15367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8" name="Straight Arrow Connector 7"/>
          <p:cNvCxnSpPr/>
          <p:nvPr/>
        </p:nvCxnSpPr>
        <p:spPr>
          <a:xfrm flipH="1">
            <a:off x="1365662" y="3201072"/>
            <a:ext cx="381687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47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54715" y="251618"/>
            <a:ext cx="8635412" cy="6337215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iv. Label</a:t>
            </a:r>
          </a:p>
          <a:p>
            <a:pPr lvl="1"/>
            <a:r>
              <a:rPr lang="en-US" sz="2400" dirty="0"/>
              <a:t>To create a label, use the </a:t>
            </a:r>
            <a:r>
              <a:rPr lang="en-US" sz="2400" dirty="0" err="1"/>
              <a:t>JLabel</a:t>
            </a:r>
            <a:r>
              <a:rPr lang="en-US" sz="2400" dirty="0"/>
              <a:t>  class.</a:t>
            </a:r>
          </a:p>
          <a:p>
            <a:pPr lvl="1"/>
            <a:r>
              <a:rPr lang="en-US" sz="2200" dirty="0"/>
              <a:t>Constructors</a:t>
            </a:r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marL="228600" lvl="1" indent="0">
              <a:buNone/>
            </a:pPr>
            <a:endParaRPr lang="en-US" sz="22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375915"/>
              </p:ext>
            </p:extLst>
          </p:nvPr>
        </p:nvGraphicFramePr>
        <p:xfrm>
          <a:off x="172859" y="1945871"/>
          <a:ext cx="8799738" cy="294436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80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7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JLabel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JLabel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(icon: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javax.swing.Icon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JLabel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(icon: Icon,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hAlignment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JLabel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(text: String)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JLabel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(text: String, icon: Icon,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hAlignment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JLabel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(text: String,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hAlignment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Creates a default label without any text or icons.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Creates a label with an icon.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Creates a label with an icon and the specified horizontal alignment.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Creates a label with text.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Creates a label with text, an icon, and the specified horizontal alignment.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Creates a label with text and the specified horizontal alignment.</a:t>
                      </a: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35511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 descr="Screen Shot 2016-07-13 at 2.00.59 PM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" r="1329"/>
          <a:stretch/>
        </p:blipFill>
        <p:spPr>
          <a:xfrm>
            <a:off x="457199" y="914400"/>
            <a:ext cx="7339565" cy="5881036"/>
          </a:xfrm>
          <a:ln>
            <a:solidFill>
              <a:srgbClr val="FF0000"/>
            </a:solidFill>
          </a:ln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209786" y="251618"/>
            <a:ext cx="6508377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spcBef>
                <a:spcPts val="18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Example: </a:t>
            </a:r>
            <a:r>
              <a:rPr lang="en-US" dirty="0" err="1"/>
              <a:t>JLabel</a:t>
            </a:r>
            <a:endParaRPr lang="en-US" dirty="0"/>
          </a:p>
        </p:txBody>
      </p:sp>
      <p:pic>
        <p:nvPicPr>
          <p:cNvPr id="8" name="Picture 7" descr="Screen Shot 2016-07-13 at 2.00.04 PM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046" y="3490372"/>
            <a:ext cx="3213452" cy="32215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741141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54715" y="251618"/>
            <a:ext cx="8635412" cy="6337215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v. Text Field</a:t>
            </a:r>
          </a:p>
          <a:p>
            <a:pPr lvl="1"/>
            <a:r>
              <a:rPr lang="en-US" sz="2400" dirty="0"/>
              <a:t> To create a text field, use the </a:t>
            </a:r>
            <a:r>
              <a:rPr lang="en-US" sz="2400" dirty="0" err="1"/>
              <a:t>JTextField</a:t>
            </a:r>
            <a:r>
              <a:rPr lang="en-US" sz="2400" dirty="0"/>
              <a:t>  class.</a:t>
            </a:r>
          </a:p>
          <a:p>
            <a:pPr lvl="1"/>
            <a:r>
              <a:rPr lang="en-US" sz="2200" dirty="0"/>
              <a:t>Constructors</a:t>
            </a:r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Password Field</a:t>
            </a:r>
          </a:p>
          <a:p>
            <a:pPr lvl="2"/>
            <a:r>
              <a:rPr lang="en-US" sz="2000" dirty="0"/>
              <a:t>Use for password inputs</a:t>
            </a:r>
          </a:p>
          <a:p>
            <a:pPr lvl="2"/>
            <a:r>
              <a:rPr lang="en-US" sz="2000" dirty="0" err="1"/>
              <a:t>JPasswordField</a:t>
            </a:r>
            <a:r>
              <a:rPr lang="en-US" sz="2000" dirty="0"/>
              <a:t> extends </a:t>
            </a:r>
            <a:r>
              <a:rPr lang="en-US" sz="2000" dirty="0" err="1"/>
              <a:t>JTextField</a:t>
            </a:r>
            <a:r>
              <a:rPr lang="en-US" sz="2000" dirty="0"/>
              <a:t> </a:t>
            </a:r>
          </a:p>
          <a:p>
            <a:pPr marL="457200" lvl="2" indent="0">
              <a:buNone/>
            </a:pPr>
            <a:r>
              <a:rPr lang="en-US" sz="2200" dirty="0"/>
              <a:t>	</a:t>
            </a:r>
            <a:r>
              <a:rPr lang="en-US" sz="2000" dirty="0"/>
              <a:t> </a:t>
            </a:r>
            <a:r>
              <a:rPr lang="en-US" sz="2000" dirty="0" err="1"/>
              <a:t>JPasswordField</a:t>
            </a:r>
            <a:r>
              <a:rPr lang="en-US" sz="2000" dirty="0"/>
              <a:t> value = new </a:t>
            </a:r>
            <a:r>
              <a:rPr lang="en-US" sz="2000" dirty="0" err="1"/>
              <a:t>JPasswordField</a:t>
            </a:r>
            <a:r>
              <a:rPr lang="en-US" sz="2000" dirty="0"/>
              <a:t>(); </a:t>
            </a:r>
          </a:p>
          <a:p>
            <a:pPr marL="228600" lvl="1" indent="0">
              <a:buNone/>
            </a:pPr>
            <a:endParaRPr lang="en-US" sz="2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702990"/>
              </p:ext>
            </p:extLst>
          </p:nvPr>
        </p:nvGraphicFramePr>
        <p:xfrm>
          <a:off x="172859" y="1945871"/>
          <a:ext cx="8799738" cy="262737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80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7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JTextField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JTextField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(column: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JTextField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(text: String)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JTextField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(text: String, columns: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Creates a default empty text field with number of columns set to 0.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Creates an empty text field with a specified number of columns.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Creates a text field initialized with the specified text.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Creates a text field initialized with the specified text and columns.</a:t>
                      </a: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44977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09786" y="251618"/>
            <a:ext cx="6508377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spcBef>
                <a:spcPts val="18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Example: Text Field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0501" y="743419"/>
            <a:ext cx="8625785" cy="590931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	</a:t>
            </a:r>
            <a:r>
              <a:rPr lang="en-US" b="1" dirty="0"/>
              <a:t>import </a:t>
            </a:r>
            <a:r>
              <a:rPr lang="en-US" b="1" dirty="0" err="1"/>
              <a:t>javax.swing</a:t>
            </a:r>
            <a:r>
              <a:rPr lang="en-US" b="1" dirty="0"/>
              <a:t>.*;</a:t>
            </a:r>
          </a:p>
          <a:p>
            <a:r>
              <a:rPr lang="en-US" dirty="0"/>
              <a:t>	</a:t>
            </a:r>
            <a:r>
              <a:rPr lang="en-US" b="1" dirty="0"/>
              <a:t>import </a:t>
            </a:r>
            <a:r>
              <a:rPr lang="en-US" b="1" dirty="0" err="1"/>
              <a:t>java.awt</a:t>
            </a:r>
            <a:r>
              <a:rPr lang="en-US" b="1" dirty="0"/>
              <a:t>.*;</a:t>
            </a:r>
          </a:p>
          <a:p>
            <a:r>
              <a:rPr lang="en-US" dirty="0"/>
              <a:t>	</a:t>
            </a:r>
            <a:r>
              <a:rPr lang="en-US" b="1" dirty="0"/>
              <a:t>public class </a:t>
            </a:r>
            <a:r>
              <a:rPr lang="en-US" b="1" u="sng" dirty="0" err="1"/>
              <a:t>TxtTield</a:t>
            </a:r>
            <a:r>
              <a:rPr lang="en-US" b="1" u="sng" dirty="0"/>
              <a:t> extends </a:t>
            </a:r>
            <a:r>
              <a:rPr lang="en-US" b="1" u="sng" dirty="0" err="1"/>
              <a:t>JFrame</a:t>
            </a:r>
            <a:r>
              <a:rPr lang="en-US" b="1" u="sng" dirty="0"/>
              <a:t>  </a:t>
            </a:r>
          </a:p>
          <a:p>
            <a:r>
              <a:rPr lang="en-US" dirty="0"/>
              <a:t>	{</a:t>
            </a:r>
          </a:p>
          <a:p>
            <a:r>
              <a:rPr lang="en-US" dirty="0"/>
              <a:t>	 </a:t>
            </a:r>
            <a:r>
              <a:rPr lang="en-US" b="1" dirty="0"/>
              <a:t>public </a:t>
            </a:r>
            <a:r>
              <a:rPr lang="en-US" b="1" dirty="0" err="1"/>
              <a:t>TxtTield</a:t>
            </a:r>
            <a:r>
              <a:rPr lang="en-US" b="1" dirty="0"/>
              <a:t>() </a:t>
            </a:r>
          </a:p>
          <a:p>
            <a:r>
              <a:rPr lang="en-US" dirty="0"/>
              <a:t>	 {</a:t>
            </a:r>
          </a:p>
          <a:p>
            <a:r>
              <a:rPr lang="en-US" dirty="0"/>
              <a:t>	  </a:t>
            </a:r>
            <a:r>
              <a:rPr lang="en-US" dirty="0" err="1"/>
              <a:t>setLayout</a:t>
            </a:r>
            <a:r>
              <a:rPr lang="en-US" dirty="0"/>
              <a:t>(</a:t>
            </a:r>
            <a:r>
              <a:rPr lang="en-US" b="1" dirty="0"/>
              <a:t>new </a:t>
            </a:r>
            <a:r>
              <a:rPr lang="en-US" b="1" dirty="0" err="1"/>
              <a:t>FlowLayout</a:t>
            </a:r>
            <a:r>
              <a:rPr lang="en-US" b="1" dirty="0"/>
              <a:t>());  </a:t>
            </a:r>
          </a:p>
          <a:p>
            <a:r>
              <a:rPr lang="en-US" dirty="0"/>
              <a:t>	  </a:t>
            </a:r>
            <a:r>
              <a:rPr lang="en-US" dirty="0" err="1"/>
              <a:t>JTextField</a:t>
            </a:r>
            <a:r>
              <a:rPr lang="en-US" dirty="0"/>
              <a:t> </a:t>
            </a:r>
            <a:r>
              <a:rPr lang="en-US" dirty="0" err="1"/>
              <a:t>jtf</a:t>
            </a:r>
            <a:r>
              <a:rPr lang="en-US" dirty="0"/>
              <a:t> = </a:t>
            </a:r>
            <a:r>
              <a:rPr lang="en-US" b="1" dirty="0"/>
              <a:t>new </a:t>
            </a:r>
            <a:r>
              <a:rPr lang="en-US" b="1" dirty="0" err="1"/>
              <a:t>JTextField</a:t>
            </a:r>
            <a:r>
              <a:rPr lang="en-US" b="1" dirty="0"/>
              <a:t>(20);	//creating </a:t>
            </a:r>
            <a:r>
              <a:rPr lang="en-US" b="1" dirty="0" err="1"/>
              <a:t>JTextField</a:t>
            </a:r>
            <a:r>
              <a:rPr lang="en-US" b="1" dirty="0"/>
              <a:t>. </a:t>
            </a:r>
          </a:p>
          <a:p>
            <a:r>
              <a:rPr lang="en-US" dirty="0"/>
              <a:t>	  </a:t>
            </a:r>
            <a:r>
              <a:rPr lang="en-US" dirty="0" err="1"/>
              <a:t>JTextField</a:t>
            </a:r>
            <a:r>
              <a:rPr lang="en-US" dirty="0"/>
              <a:t> jtf1 = </a:t>
            </a:r>
            <a:r>
              <a:rPr lang="en-US" b="1" dirty="0"/>
              <a:t>new </a:t>
            </a:r>
            <a:r>
              <a:rPr lang="en-US" b="1" dirty="0" err="1"/>
              <a:t>JTextField</a:t>
            </a:r>
            <a:r>
              <a:rPr lang="en-US" b="1" dirty="0"/>
              <a:t>("Input Here");</a:t>
            </a:r>
          </a:p>
          <a:p>
            <a:r>
              <a:rPr lang="en-US" dirty="0"/>
              <a:t>	  jtf1.setPreferredSize(</a:t>
            </a:r>
            <a:r>
              <a:rPr lang="en-US" b="1" dirty="0"/>
              <a:t>new Dimension(200,50));</a:t>
            </a:r>
          </a:p>
          <a:p>
            <a:r>
              <a:rPr lang="hu-HU" dirty="0"/>
              <a:t>	  add(jtf);</a:t>
            </a:r>
          </a:p>
          <a:p>
            <a:r>
              <a:rPr lang="hu-HU" dirty="0"/>
              <a:t>	  add(jtf1);  </a:t>
            </a:r>
          </a:p>
          <a:p>
            <a:r>
              <a:rPr lang="en-US" dirty="0"/>
              <a:t>	  </a:t>
            </a:r>
            <a:r>
              <a:rPr lang="en-US" dirty="0" err="1"/>
              <a:t>setDefaultCloseOperation</a:t>
            </a:r>
            <a:r>
              <a:rPr lang="en-US" dirty="0"/>
              <a:t>(</a:t>
            </a:r>
            <a:r>
              <a:rPr lang="en-US" dirty="0" err="1"/>
              <a:t>JFrame.</a:t>
            </a:r>
            <a:r>
              <a:rPr lang="en-US" b="1" i="1" dirty="0" err="1"/>
              <a:t>EXIT_ON_CLOSE</a:t>
            </a:r>
            <a:r>
              <a:rPr lang="en-US" b="1" i="1" dirty="0"/>
              <a:t>);</a:t>
            </a:r>
          </a:p>
          <a:p>
            <a:r>
              <a:rPr lang="en-US" dirty="0"/>
              <a:t>	  </a:t>
            </a:r>
            <a:r>
              <a:rPr lang="en-US" dirty="0" err="1"/>
              <a:t>setSize</a:t>
            </a:r>
            <a:r>
              <a:rPr lang="en-US" dirty="0"/>
              <a:t>(400, 400);</a:t>
            </a:r>
          </a:p>
          <a:p>
            <a:r>
              <a:rPr lang="en-US" dirty="0"/>
              <a:t>	  </a:t>
            </a:r>
            <a:r>
              <a:rPr lang="en-US" dirty="0" err="1"/>
              <a:t>setVisible</a:t>
            </a:r>
            <a:r>
              <a:rPr lang="en-US" dirty="0"/>
              <a:t>(</a:t>
            </a:r>
            <a:r>
              <a:rPr lang="en-US" b="1" dirty="0"/>
              <a:t>true);</a:t>
            </a:r>
          </a:p>
          <a:p>
            <a:r>
              <a:rPr lang="en-US" dirty="0"/>
              <a:t>	 }</a:t>
            </a:r>
          </a:p>
          <a:p>
            <a:r>
              <a:rPr lang="en-US" dirty="0"/>
              <a:t>	 </a:t>
            </a:r>
            <a:r>
              <a:rPr lang="en-US" b="1" dirty="0"/>
              <a:t>public static void main(String[] </a:t>
            </a:r>
            <a:r>
              <a:rPr lang="en-US" b="1" dirty="0" err="1"/>
              <a:t>args</a:t>
            </a:r>
            <a:r>
              <a:rPr lang="en-US" b="1" dirty="0"/>
              <a:t>) </a:t>
            </a:r>
          </a:p>
          <a:p>
            <a:r>
              <a:rPr lang="en-US" dirty="0"/>
              <a:t>	 {</a:t>
            </a:r>
          </a:p>
          <a:p>
            <a:r>
              <a:rPr lang="en-US" dirty="0"/>
              <a:t>	  </a:t>
            </a:r>
            <a:r>
              <a:rPr lang="en-US" b="1" dirty="0"/>
              <a:t>new </a:t>
            </a:r>
            <a:r>
              <a:rPr lang="en-US" b="1" dirty="0" err="1"/>
              <a:t>TxtTield</a:t>
            </a:r>
            <a:r>
              <a:rPr lang="en-US" b="1" dirty="0"/>
              <a:t>();</a:t>
            </a:r>
          </a:p>
          <a:p>
            <a:r>
              <a:rPr lang="en-US" dirty="0"/>
              <a:t>	 }</a:t>
            </a:r>
          </a:p>
          <a:p>
            <a:r>
              <a:rPr lang="en-US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7841541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54715" y="251618"/>
            <a:ext cx="8635412" cy="6337215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vi. Text Area</a:t>
            </a:r>
          </a:p>
          <a:p>
            <a:pPr lvl="1"/>
            <a:r>
              <a:rPr lang="en-US" sz="2400" dirty="0"/>
              <a:t> A </a:t>
            </a:r>
            <a:r>
              <a:rPr lang="en-US" sz="2400" b="1" dirty="0" err="1">
                <a:solidFill>
                  <a:srgbClr val="0000FF"/>
                </a:solidFill>
              </a:rPr>
              <a:t>JTextArea</a:t>
            </a:r>
            <a:r>
              <a:rPr lang="en-US" sz="2400" dirty="0"/>
              <a:t>  enables the user to enter multiple lines of text.</a:t>
            </a:r>
          </a:p>
          <a:p>
            <a:pPr lvl="1"/>
            <a:r>
              <a:rPr lang="en-US" sz="2200" dirty="0"/>
              <a:t>Constructors</a:t>
            </a:r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marL="228600" lvl="1" indent="0">
              <a:buNone/>
            </a:pPr>
            <a:endParaRPr lang="en-US" sz="22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17912"/>
              </p:ext>
            </p:extLst>
          </p:nvPr>
        </p:nvGraphicFramePr>
        <p:xfrm>
          <a:off x="172859" y="2218013"/>
          <a:ext cx="8799738" cy="262737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600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8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JTextArea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JTextArea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(rows: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columns: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JTextArea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(text: String)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JTextArea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(text: String, rows: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columns: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getLineCount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():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Creates a default empty text area.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Creates an empty text area with the specified number of rows and columns.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Creates a new text area with the specified text Creates a new text area with the specified text and number of rows and columns.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Returns the actual number of lines contained in the text area.</a:t>
                      </a: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9995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09786" y="251618"/>
            <a:ext cx="6508377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spcBef>
                <a:spcPts val="18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Example: Text Area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09786" y="1178847"/>
            <a:ext cx="8625785" cy="535531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import </a:t>
            </a:r>
            <a:r>
              <a:rPr lang="en-US" b="1" dirty="0" err="1"/>
              <a:t>javax.swing</a:t>
            </a:r>
            <a:r>
              <a:rPr lang="en-US" b="1" dirty="0"/>
              <a:t>.*;</a:t>
            </a:r>
          </a:p>
          <a:p>
            <a:r>
              <a:rPr lang="en-US" b="1" dirty="0"/>
              <a:t>public class </a:t>
            </a:r>
            <a:r>
              <a:rPr lang="en-US" b="1" dirty="0" err="1"/>
              <a:t>TextArea</a:t>
            </a:r>
            <a:r>
              <a:rPr lang="en-US" b="1" dirty="0"/>
              <a:t> {  </a:t>
            </a:r>
          </a:p>
          <a:p>
            <a:r>
              <a:rPr lang="en-US" dirty="0"/>
              <a:t>    </a:t>
            </a:r>
            <a:r>
              <a:rPr lang="en-US" dirty="0" err="1"/>
              <a:t>JTextArea</a:t>
            </a:r>
            <a:r>
              <a:rPr lang="en-US" dirty="0"/>
              <a:t> area;  </a:t>
            </a:r>
          </a:p>
          <a:p>
            <a:r>
              <a:rPr lang="en-US" dirty="0"/>
              <a:t>    </a:t>
            </a:r>
            <a:r>
              <a:rPr lang="en-US" dirty="0" err="1"/>
              <a:t>JFrame</a:t>
            </a:r>
            <a:r>
              <a:rPr lang="en-US" dirty="0"/>
              <a:t> f;  </a:t>
            </a:r>
          </a:p>
          <a:p>
            <a:r>
              <a:rPr lang="en-US" dirty="0"/>
              <a:t>    </a:t>
            </a:r>
            <a:r>
              <a:rPr lang="en-US" dirty="0" err="1"/>
              <a:t>TextArea</a:t>
            </a:r>
            <a:r>
              <a:rPr lang="en-US" dirty="0"/>
              <a:t>(){  </a:t>
            </a:r>
          </a:p>
          <a:p>
            <a:r>
              <a:rPr lang="en-US" dirty="0"/>
              <a:t>		    f=</a:t>
            </a:r>
            <a:r>
              <a:rPr lang="en-US" b="1" dirty="0"/>
              <a:t>new </a:t>
            </a:r>
            <a:r>
              <a:rPr lang="en-US" b="1" dirty="0" err="1"/>
              <a:t>JFrame</a:t>
            </a:r>
            <a:r>
              <a:rPr lang="en-US" b="1" dirty="0"/>
              <a:t>();         </a:t>
            </a:r>
          </a:p>
          <a:p>
            <a:r>
              <a:rPr lang="en-US" dirty="0"/>
              <a:t>		    area=</a:t>
            </a:r>
            <a:r>
              <a:rPr lang="en-US" b="1" dirty="0"/>
              <a:t>new </a:t>
            </a:r>
            <a:r>
              <a:rPr lang="en-US" b="1" dirty="0" err="1"/>
              <a:t>JTextArea</a:t>
            </a:r>
            <a:r>
              <a:rPr lang="en-US" b="1" dirty="0"/>
              <a:t>(300,300); </a:t>
            </a:r>
          </a:p>
          <a:p>
            <a:r>
              <a:rPr lang="en-US" dirty="0"/>
              <a:t>		    </a:t>
            </a:r>
            <a:r>
              <a:rPr lang="en-US" dirty="0" err="1"/>
              <a:t>area.setBounds</a:t>
            </a:r>
            <a:r>
              <a:rPr lang="en-US" dirty="0"/>
              <a:t>(10,30,300,300); </a:t>
            </a:r>
          </a:p>
          <a:p>
            <a:r>
              <a:rPr lang="en-US" dirty="0"/>
              <a:t>		    </a:t>
            </a:r>
            <a:r>
              <a:rPr lang="en-US" dirty="0" err="1"/>
              <a:t>area.setLineWrap</a:t>
            </a:r>
            <a:r>
              <a:rPr lang="en-US" dirty="0"/>
              <a:t>(</a:t>
            </a:r>
            <a:r>
              <a:rPr lang="en-US" b="1" dirty="0"/>
              <a:t>true);</a:t>
            </a:r>
          </a:p>
          <a:p>
            <a:r>
              <a:rPr lang="en-US" dirty="0"/>
              <a:t>		    </a:t>
            </a:r>
            <a:r>
              <a:rPr lang="en-US" dirty="0" err="1"/>
              <a:t>area.setWrapStyleWord</a:t>
            </a:r>
            <a:r>
              <a:rPr lang="en-US" dirty="0"/>
              <a:t>(</a:t>
            </a:r>
            <a:r>
              <a:rPr lang="en-US" b="1" dirty="0"/>
              <a:t>true);</a:t>
            </a:r>
          </a:p>
          <a:p>
            <a:r>
              <a:rPr lang="nb-NO" dirty="0"/>
              <a:t>		    </a:t>
            </a:r>
            <a:r>
              <a:rPr lang="nb-NO" dirty="0" err="1"/>
              <a:t>f.add</a:t>
            </a:r>
            <a:r>
              <a:rPr lang="nb-NO" dirty="0"/>
              <a:t>(area);  		      </a:t>
            </a:r>
          </a:p>
          <a:p>
            <a:r>
              <a:rPr lang="da-DK" dirty="0"/>
              <a:t>		    </a:t>
            </a:r>
            <a:r>
              <a:rPr lang="da-DK" dirty="0" err="1"/>
              <a:t>f.setSize</a:t>
            </a:r>
            <a:r>
              <a:rPr lang="da-DK" dirty="0"/>
              <a:t>(400,400);  </a:t>
            </a:r>
          </a:p>
          <a:p>
            <a:r>
              <a:rPr lang="da-DK" dirty="0"/>
              <a:t>		    </a:t>
            </a:r>
            <a:r>
              <a:rPr lang="da-DK" dirty="0" err="1"/>
              <a:t>f.setLayout</a:t>
            </a:r>
            <a:r>
              <a:rPr lang="da-DK" dirty="0"/>
              <a:t>(</a:t>
            </a:r>
            <a:r>
              <a:rPr lang="da-DK" b="1" dirty="0" err="1"/>
              <a:t>null</a:t>
            </a:r>
            <a:r>
              <a:rPr lang="da-DK" b="1" dirty="0"/>
              <a:t>);  </a:t>
            </a:r>
          </a:p>
          <a:p>
            <a:r>
              <a:rPr lang="da-DK" dirty="0"/>
              <a:t>		    </a:t>
            </a:r>
            <a:r>
              <a:rPr lang="da-DK" dirty="0" err="1"/>
              <a:t>f.setVisible</a:t>
            </a:r>
            <a:r>
              <a:rPr lang="da-DK" dirty="0"/>
              <a:t>(</a:t>
            </a:r>
            <a:r>
              <a:rPr lang="da-DK" b="1" dirty="0"/>
              <a:t>true);  </a:t>
            </a:r>
          </a:p>
          <a:p>
            <a:r>
              <a:rPr lang="da-DK" dirty="0"/>
              <a:t>    	}  </a:t>
            </a:r>
          </a:p>
          <a:p>
            <a:r>
              <a:rPr lang="da-DK" dirty="0"/>
              <a:t>    </a:t>
            </a:r>
            <a:r>
              <a:rPr lang="da-DK" b="1" dirty="0"/>
              <a:t>public </a:t>
            </a:r>
            <a:r>
              <a:rPr lang="da-DK" b="1" dirty="0" err="1"/>
              <a:t>static</a:t>
            </a:r>
            <a:r>
              <a:rPr lang="da-DK" b="1" dirty="0"/>
              <a:t> </a:t>
            </a:r>
            <a:r>
              <a:rPr lang="da-DK" b="1" dirty="0" err="1"/>
              <a:t>void</a:t>
            </a:r>
            <a:r>
              <a:rPr lang="da-DK" b="1" dirty="0"/>
              <a:t> </a:t>
            </a:r>
            <a:r>
              <a:rPr lang="da-DK" b="1" dirty="0" err="1"/>
              <a:t>main</a:t>
            </a:r>
            <a:r>
              <a:rPr lang="da-DK" b="1" dirty="0"/>
              <a:t>(</a:t>
            </a:r>
            <a:r>
              <a:rPr lang="da-DK" b="1" dirty="0" err="1"/>
              <a:t>String</a:t>
            </a:r>
            <a:r>
              <a:rPr lang="da-DK" b="1" dirty="0"/>
              <a:t>[] </a:t>
            </a:r>
            <a:r>
              <a:rPr lang="da-DK" b="1" dirty="0" err="1"/>
              <a:t>args</a:t>
            </a:r>
            <a:r>
              <a:rPr lang="da-DK" b="1" dirty="0"/>
              <a:t>) {  </a:t>
            </a:r>
          </a:p>
          <a:p>
            <a:r>
              <a:rPr lang="en-US" dirty="0"/>
              <a:t>        </a:t>
            </a:r>
            <a:r>
              <a:rPr lang="en-US" b="1" dirty="0"/>
              <a:t>new </a:t>
            </a:r>
            <a:r>
              <a:rPr lang="en-US" b="1" dirty="0" err="1"/>
              <a:t>TextArea</a:t>
            </a:r>
            <a:r>
              <a:rPr lang="en-US" b="1" dirty="0"/>
              <a:t>();  </a:t>
            </a:r>
          </a:p>
          <a:p>
            <a:r>
              <a:rPr lang="en-US" dirty="0"/>
              <a:t>    }  </a:t>
            </a:r>
          </a:p>
          <a:p>
            <a:r>
              <a:rPr lang="en-US" dirty="0"/>
              <a:t>} </a:t>
            </a:r>
          </a:p>
        </p:txBody>
      </p:sp>
      <p:pic>
        <p:nvPicPr>
          <p:cNvPr id="3" name="Picture 2" descr="Screen Shot 2016-07-13 at 2.39.45 PM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693" y="3513443"/>
            <a:ext cx="3209471" cy="32175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09806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54715" y="251618"/>
            <a:ext cx="8635412" cy="6337215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vii. Combo Box</a:t>
            </a:r>
          </a:p>
          <a:p>
            <a:pPr lvl="1"/>
            <a:r>
              <a:rPr lang="en-US" sz="2000" dirty="0"/>
              <a:t>A combo box , also known as a choice list  or drop-down list , contains a list of items from which the user can choose</a:t>
            </a:r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marL="228600" lvl="1" indent="0">
              <a:buNone/>
            </a:pPr>
            <a:endParaRPr lang="en-US" sz="22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518576"/>
              </p:ext>
            </p:extLst>
          </p:nvPr>
        </p:nvGraphicFramePr>
        <p:xfrm>
          <a:off x="218429" y="1796143"/>
          <a:ext cx="8799738" cy="42519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863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6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5053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JComboBox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JComboBox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(items: Object[])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addItem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(item: Object): void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getItemAt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(index: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): Object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getItemCount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():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getSelectedIndex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():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setSelectedIndex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(index: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): void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getSelectedItem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(): Object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setSelectedItem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(item: Object): void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removeItem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anObject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 Object): void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removeItemAt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anIndex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): void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removeAllItems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(): void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Creates a default empty combo box.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Creates a combo box that contains the elements in the specified array.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Adds an item to the combo box.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Returns the item at the specified index.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Returns the number of items in the combo box.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Returns the index of the selected item.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Sets the selected index in the combo box.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Returns the selected item.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Sets the selected item in the combo box.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Removes an item from the item list.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Removes the item at the specified index in the combo box.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Removes all the items in the combo box.</a:t>
                      </a: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30532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09786" y="251618"/>
            <a:ext cx="6508377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spcBef>
                <a:spcPts val="18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Example: Combo Box</a:t>
            </a:r>
          </a:p>
        </p:txBody>
      </p:sp>
      <p:pic>
        <p:nvPicPr>
          <p:cNvPr id="7" name="Content Placeholder 6" descr="Screen Shot 2016-07-13 at 3.01.09 P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40" r="19440"/>
          <a:stretch>
            <a:fillRect/>
          </a:stretch>
        </p:blipFill>
        <p:spPr/>
      </p:pic>
      <p:sp>
        <p:nvSpPr>
          <p:cNvPr id="9" name="Rectangle 8"/>
          <p:cNvSpPr/>
          <p:nvPr/>
        </p:nvSpPr>
        <p:spPr>
          <a:xfrm>
            <a:off x="209786" y="914400"/>
            <a:ext cx="8625785" cy="563231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import </a:t>
            </a:r>
            <a:r>
              <a:rPr lang="en-US" b="1" dirty="0" err="1"/>
              <a:t>javax.swing</a:t>
            </a:r>
            <a:r>
              <a:rPr lang="en-US" b="1" dirty="0"/>
              <a:t>.*;</a:t>
            </a:r>
          </a:p>
          <a:p>
            <a:r>
              <a:rPr lang="en-US" b="1" dirty="0"/>
              <a:t>import </a:t>
            </a:r>
            <a:r>
              <a:rPr lang="en-US" b="1" dirty="0" err="1"/>
              <a:t>java.awt</a:t>
            </a:r>
            <a:r>
              <a:rPr lang="en-US" b="1" dirty="0"/>
              <a:t>.*;</a:t>
            </a:r>
          </a:p>
          <a:p>
            <a:r>
              <a:rPr lang="en-US" b="1" dirty="0"/>
              <a:t>public class </a:t>
            </a:r>
            <a:r>
              <a:rPr lang="en-US" b="1" u="sng" dirty="0" err="1"/>
              <a:t>ComboBox</a:t>
            </a:r>
            <a:r>
              <a:rPr lang="en-US" b="1" u="sng" dirty="0"/>
              <a:t> extends </a:t>
            </a:r>
            <a:r>
              <a:rPr lang="en-US" b="1" u="sng" dirty="0" err="1"/>
              <a:t>JFrame</a:t>
            </a:r>
            <a:r>
              <a:rPr lang="en-US" b="1" u="sng" dirty="0"/>
              <a:t> 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String name[] = {"India","</a:t>
            </a:r>
            <a:r>
              <a:rPr lang="en-US" dirty="0" err="1"/>
              <a:t>Aus</a:t>
            </a:r>
            <a:r>
              <a:rPr lang="en-US" dirty="0"/>
              <a:t>","U.S.A","England","</a:t>
            </a:r>
            <a:r>
              <a:rPr lang="en-US" dirty="0" err="1"/>
              <a:t>Newzeland</a:t>
            </a:r>
            <a:r>
              <a:rPr lang="en-US" dirty="0"/>
              <a:t>"};  //list of name. </a:t>
            </a:r>
          </a:p>
          <a:p>
            <a:r>
              <a:rPr lang="en-US" dirty="0"/>
              <a:t> </a:t>
            </a:r>
            <a:r>
              <a:rPr lang="en-US" b="1" dirty="0"/>
              <a:t>public </a:t>
            </a:r>
            <a:r>
              <a:rPr lang="en-US" b="1" dirty="0" err="1"/>
              <a:t>ComboBox</a:t>
            </a:r>
            <a:r>
              <a:rPr lang="en-US" b="1" dirty="0"/>
              <a:t>() </a:t>
            </a:r>
          </a:p>
          <a:p>
            <a:r>
              <a:rPr lang="en-US" dirty="0"/>
              <a:t> {</a:t>
            </a:r>
          </a:p>
          <a:p>
            <a:r>
              <a:rPr lang="en-US" dirty="0"/>
              <a:t>  </a:t>
            </a:r>
            <a:r>
              <a:rPr lang="en-US" dirty="0" err="1"/>
              <a:t>JComboBox</a:t>
            </a:r>
            <a:r>
              <a:rPr lang="en-US" dirty="0"/>
              <a:t> </a:t>
            </a:r>
            <a:r>
              <a:rPr lang="en-US" dirty="0" err="1"/>
              <a:t>jc</a:t>
            </a:r>
            <a:r>
              <a:rPr lang="en-US" dirty="0"/>
              <a:t> = </a:t>
            </a:r>
            <a:r>
              <a:rPr lang="en-US" b="1" dirty="0"/>
              <a:t>new </a:t>
            </a:r>
            <a:r>
              <a:rPr lang="en-US" b="1" dirty="0" err="1"/>
              <a:t>JComboBox</a:t>
            </a:r>
            <a:r>
              <a:rPr lang="en-US" b="1" dirty="0"/>
              <a:t>(name);	//</a:t>
            </a:r>
            <a:r>
              <a:rPr lang="en-US" b="1" dirty="0" err="1"/>
              <a:t>initialzing</a:t>
            </a:r>
            <a:r>
              <a:rPr lang="en-US" b="1" dirty="0"/>
              <a:t> combo box  </a:t>
            </a:r>
          </a:p>
          <a:p>
            <a:r>
              <a:rPr lang="en-US" b="1" dirty="0"/>
              <a:t>                                                                                       with list of name. </a:t>
            </a:r>
          </a:p>
          <a:p>
            <a:r>
              <a:rPr lang="en-US" dirty="0"/>
              <a:t>  add(</a:t>
            </a:r>
            <a:r>
              <a:rPr lang="en-US" dirty="0" err="1"/>
              <a:t>jc</a:t>
            </a:r>
            <a:r>
              <a:rPr lang="en-US" dirty="0"/>
              <a:t>);				//adding </a:t>
            </a:r>
            <a:r>
              <a:rPr lang="en-US" dirty="0" err="1"/>
              <a:t>JComboBox</a:t>
            </a:r>
            <a:r>
              <a:rPr lang="en-US" dirty="0"/>
              <a:t> to frame. </a:t>
            </a:r>
          </a:p>
          <a:p>
            <a:r>
              <a:rPr lang="en-US" dirty="0"/>
              <a:t>  </a:t>
            </a:r>
            <a:r>
              <a:rPr lang="en-US" dirty="0" err="1"/>
              <a:t>setLayout</a:t>
            </a:r>
            <a:r>
              <a:rPr lang="en-US" dirty="0"/>
              <a:t>(</a:t>
            </a:r>
            <a:r>
              <a:rPr lang="en-US" b="1" dirty="0"/>
              <a:t>new </a:t>
            </a:r>
            <a:r>
              <a:rPr lang="en-US" b="1" dirty="0" err="1"/>
              <a:t>FlowLayout</a:t>
            </a:r>
            <a:r>
              <a:rPr lang="en-US" b="1" dirty="0"/>
              <a:t>());</a:t>
            </a:r>
          </a:p>
          <a:p>
            <a:r>
              <a:rPr lang="en-US" dirty="0"/>
              <a:t>  </a:t>
            </a:r>
            <a:r>
              <a:rPr lang="en-US" dirty="0" err="1"/>
              <a:t>setDefaultCloseOperation</a:t>
            </a:r>
            <a:r>
              <a:rPr lang="en-US" dirty="0"/>
              <a:t>(</a:t>
            </a:r>
            <a:r>
              <a:rPr lang="en-US" dirty="0" err="1"/>
              <a:t>JFrame.</a:t>
            </a:r>
            <a:r>
              <a:rPr lang="en-US" b="1" i="1" dirty="0" err="1"/>
              <a:t>EXIT_ON_CLOSE</a:t>
            </a:r>
            <a:r>
              <a:rPr lang="en-US" b="1" i="1" dirty="0"/>
              <a:t>);</a:t>
            </a:r>
          </a:p>
          <a:p>
            <a:r>
              <a:rPr lang="en-US" dirty="0"/>
              <a:t>  </a:t>
            </a:r>
            <a:r>
              <a:rPr lang="en-US" dirty="0" err="1"/>
              <a:t>setSize</a:t>
            </a:r>
            <a:r>
              <a:rPr lang="en-US" dirty="0"/>
              <a:t>(400, 400);</a:t>
            </a:r>
          </a:p>
          <a:p>
            <a:r>
              <a:rPr lang="en-US" dirty="0"/>
              <a:t>  </a:t>
            </a:r>
            <a:r>
              <a:rPr lang="en-US" dirty="0" err="1"/>
              <a:t>setVisible</a:t>
            </a:r>
            <a:r>
              <a:rPr lang="en-US" dirty="0"/>
              <a:t>(</a:t>
            </a:r>
            <a:r>
              <a:rPr lang="en-US" b="1" dirty="0"/>
              <a:t>true);</a:t>
            </a:r>
          </a:p>
          <a:p>
            <a:r>
              <a:rPr lang="en-US" dirty="0"/>
              <a:t> }</a:t>
            </a:r>
          </a:p>
          <a:p>
            <a:r>
              <a:rPr lang="en-US" dirty="0"/>
              <a:t> </a:t>
            </a:r>
            <a:r>
              <a:rPr lang="en-US" b="1" dirty="0"/>
              <a:t>public static void main(String[] </a:t>
            </a:r>
            <a:r>
              <a:rPr lang="en-US" b="1" dirty="0" err="1"/>
              <a:t>args</a:t>
            </a:r>
            <a:r>
              <a:rPr lang="en-US" b="1" dirty="0"/>
              <a:t>)</a:t>
            </a:r>
          </a:p>
          <a:p>
            <a:r>
              <a:rPr lang="en-US" dirty="0"/>
              <a:t> {</a:t>
            </a:r>
          </a:p>
          <a:p>
            <a:r>
              <a:rPr lang="en-US" dirty="0"/>
              <a:t>  </a:t>
            </a:r>
            <a:r>
              <a:rPr lang="en-US" b="1" dirty="0"/>
              <a:t>new </a:t>
            </a:r>
            <a:r>
              <a:rPr lang="en-US" b="1" dirty="0" err="1"/>
              <a:t>ComboBox</a:t>
            </a:r>
            <a:r>
              <a:rPr lang="en-US" b="1" dirty="0"/>
              <a:t>();</a:t>
            </a:r>
          </a:p>
          <a:p>
            <a:r>
              <a:rPr lang="en-US" dirty="0"/>
              <a:t> }</a:t>
            </a:r>
          </a:p>
          <a:p>
            <a:r>
              <a:rPr lang="en-US" dirty="0"/>
              <a:t>}</a:t>
            </a:r>
          </a:p>
        </p:txBody>
      </p:sp>
      <p:pic>
        <p:nvPicPr>
          <p:cNvPr id="8" name="Picture 7" descr="Screen Shot 2016-07-13 at 3.01.09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430"/>
          <a:stretch/>
        </p:blipFill>
        <p:spPr>
          <a:xfrm>
            <a:off x="5844040" y="4538617"/>
            <a:ext cx="3241335" cy="99329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" name="Picture 9" descr="Screen Shot 2016-07-13 at 3.02.28 P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345"/>
          <a:stretch/>
        </p:blipFill>
        <p:spPr>
          <a:xfrm>
            <a:off x="4787151" y="5457071"/>
            <a:ext cx="3799092" cy="1297851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280851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54715" y="251618"/>
            <a:ext cx="8635412" cy="6337215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viii. List</a:t>
            </a:r>
          </a:p>
          <a:p>
            <a:r>
              <a:rPr lang="en-US" dirty="0"/>
              <a:t> A list  is a component that basically performs the same function as a combo box, but it enables the user to choose a single value or multiple values</a:t>
            </a:r>
          </a:p>
          <a:p>
            <a:endParaRPr lang="en-US" sz="5400" dirty="0"/>
          </a:p>
          <a:p>
            <a:pPr marL="342900" indent="-342900">
              <a:buFont typeface="Arial"/>
              <a:buChar char="•"/>
            </a:pPr>
            <a:r>
              <a:rPr lang="en-US" dirty="0"/>
              <a:t>This component contains list of items from which a user can select one or several items at a time. </a:t>
            </a:r>
          </a:p>
          <a:p>
            <a:pPr marL="342900" indent="-342900" eaLnBrk="0" fontAlgn="base" hangingPunct="0">
              <a:spcAft>
                <a:spcPct val="0"/>
              </a:spcAft>
              <a:buFontTx/>
              <a:buChar char="•"/>
            </a:pPr>
            <a:r>
              <a:rPr lang="en-US" dirty="0" err="1"/>
              <a:t>JList</a:t>
            </a:r>
            <a:r>
              <a:rPr lang="en-US" dirty="0"/>
              <a:t> methods</a:t>
            </a:r>
          </a:p>
          <a:p>
            <a:pPr marL="742950" lvl="1" indent="-285750" eaLnBrk="0" fontAlgn="base" hangingPunct="0">
              <a:spcAft>
                <a:spcPct val="0"/>
              </a:spcAft>
              <a:buFontTx/>
              <a:buChar char="–"/>
            </a:pPr>
            <a:r>
              <a:rPr lang="en-US" sz="2000" dirty="0" err="1"/>
              <a:t>getSelectedIndex</a:t>
            </a:r>
            <a:r>
              <a:rPr lang="en-US" sz="2000" dirty="0"/>
              <a:t>() or </a:t>
            </a:r>
            <a:r>
              <a:rPr lang="en-US" sz="2000" dirty="0" err="1"/>
              <a:t>getSelectedValues</a:t>
            </a:r>
            <a:r>
              <a:rPr lang="en-US" sz="2000" dirty="0"/>
              <a:t>(); Returns index or values of selected item</a:t>
            </a:r>
          </a:p>
          <a:p>
            <a:pPr marL="742950" lvl="1" indent="-285750" eaLnBrk="0" fontAlgn="base" hangingPunct="0">
              <a:spcAft>
                <a:spcPct val="0"/>
              </a:spcAft>
              <a:buFontTx/>
              <a:buChar char="–"/>
            </a:pPr>
            <a:r>
              <a:rPr lang="en-US" sz="2000" dirty="0" err="1"/>
              <a:t>setSelectionMode</a:t>
            </a:r>
            <a:r>
              <a:rPr lang="en-US" sz="2000" dirty="0"/>
              <a:t>(</a:t>
            </a:r>
            <a:r>
              <a:rPr lang="en-US" sz="2000" b="1" dirty="0" err="1"/>
              <a:t>SelectionChoices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endParaRPr lang="en-US" sz="1600" dirty="0"/>
          </a:p>
          <a:p>
            <a:endParaRPr lang="en-US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marL="228600" lvl="1" indent="0">
              <a:buNone/>
            </a:pPr>
            <a:endParaRPr lang="en-US" sz="22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869601"/>
              </p:ext>
            </p:extLst>
          </p:nvPr>
        </p:nvGraphicFramePr>
        <p:xfrm>
          <a:off x="204356" y="2072903"/>
          <a:ext cx="8799738" cy="90635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581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6358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JList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JList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(items: Object[])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Creates a default empty list.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Creates a list that contains the elements in the specified array.</a:t>
                      </a: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102" y="5552269"/>
            <a:ext cx="5137285" cy="938884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0284214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09786" y="251618"/>
            <a:ext cx="6508377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spcBef>
                <a:spcPts val="18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Example: List</a:t>
            </a:r>
          </a:p>
        </p:txBody>
      </p:sp>
      <p:pic>
        <p:nvPicPr>
          <p:cNvPr id="7" name="Content Placeholder 6" descr="Screen Shot 2016-07-13 at 3.01.09 P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40" r="19440"/>
          <a:stretch>
            <a:fillRect/>
          </a:stretch>
        </p:blipFill>
        <p:spPr/>
      </p:pic>
      <p:sp>
        <p:nvSpPr>
          <p:cNvPr id="9" name="Rectangle 8"/>
          <p:cNvSpPr/>
          <p:nvPr/>
        </p:nvSpPr>
        <p:spPr>
          <a:xfrm>
            <a:off x="209786" y="914400"/>
            <a:ext cx="8625785" cy="563231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import </a:t>
            </a:r>
            <a:r>
              <a:rPr lang="en-US" b="1" dirty="0" err="1"/>
              <a:t>java.awt.FlowLayout</a:t>
            </a:r>
            <a:r>
              <a:rPr lang="en-US" b="1" dirty="0"/>
              <a:t>;</a:t>
            </a:r>
          </a:p>
          <a:p>
            <a:endParaRPr lang="en-US" dirty="0"/>
          </a:p>
          <a:p>
            <a:r>
              <a:rPr lang="en-US" b="1" dirty="0"/>
              <a:t>import </a:t>
            </a:r>
            <a:r>
              <a:rPr lang="en-US" b="1" dirty="0" err="1"/>
              <a:t>javax.swing</a:t>
            </a:r>
            <a:r>
              <a:rPr lang="en-US" b="1" dirty="0"/>
              <a:t>.*;</a:t>
            </a:r>
          </a:p>
          <a:p>
            <a:r>
              <a:rPr lang="en-US" b="1" dirty="0"/>
              <a:t>public class List{</a:t>
            </a:r>
          </a:p>
          <a:p>
            <a:r>
              <a:rPr lang="en-US" dirty="0"/>
              <a:t>	</a:t>
            </a:r>
            <a:r>
              <a:rPr lang="en-US" b="1" dirty="0"/>
              <a:t>public static void main(String[] </a:t>
            </a:r>
            <a:r>
              <a:rPr lang="en-US" b="1" dirty="0" err="1"/>
              <a:t>args</a:t>
            </a:r>
            <a:r>
              <a:rPr lang="en-US" b="1" dirty="0"/>
              <a:t>)</a:t>
            </a:r>
          </a:p>
          <a:p>
            <a:r>
              <a:rPr lang="en-US" dirty="0"/>
              <a:t>	{</a:t>
            </a:r>
          </a:p>
          <a:p>
            <a:r>
              <a:rPr lang="en-US" dirty="0"/>
              <a:t>		</a:t>
            </a:r>
            <a:r>
              <a:rPr lang="en-US" dirty="0" err="1"/>
              <a:t>JFrame</a:t>
            </a:r>
            <a:r>
              <a:rPr lang="en-US" dirty="0"/>
              <a:t> f=</a:t>
            </a:r>
            <a:r>
              <a:rPr lang="en-US" b="1" dirty="0"/>
              <a:t>new </a:t>
            </a:r>
            <a:r>
              <a:rPr lang="en-US" b="1" dirty="0" err="1"/>
              <a:t>JFrame</a:t>
            </a:r>
            <a:r>
              <a:rPr lang="en-US" b="1" dirty="0"/>
              <a:t>("List Demo");</a:t>
            </a:r>
          </a:p>
          <a:p>
            <a:r>
              <a:rPr lang="en-US" dirty="0"/>
              <a:t>		</a:t>
            </a:r>
            <a:r>
              <a:rPr lang="en-US" dirty="0" err="1"/>
              <a:t>f.setLayout</a:t>
            </a:r>
            <a:r>
              <a:rPr lang="en-US" dirty="0"/>
              <a:t>(</a:t>
            </a:r>
            <a:r>
              <a:rPr lang="en-US" b="1" dirty="0"/>
              <a:t>new </a:t>
            </a:r>
            <a:r>
              <a:rPr lang="en-US" b="1" dirty="0" err="1"/>
              <a:t>FlowLayout</a:t>
            </a:r>
            <a:r>
              <a:rPr lang="en-US" b="1" dirty="0"/>
              <a:t>());</a:t>
            </a:r>
          </a:p>
          <a:p>
            <a:r>
              <a:rPr lang="de-DE" dirty="0"/>
              <a:t>		String [] </a:t>
            </a:r>
            <a:r>
              <a:rPr lang="de-DE" dirty="0" err="1"/>
              <a:t>list</a:t>
            </a:r>
            <a:r>
              <a:rPr lang="de-DE" dirty="0"/>
              <a:t> = { "Java", "C", "Pascal", "Ada", "ML", "Prolog" };</a:t>
            </a:r>
          </a:p>
          <a:p>
            <a:r>
              <a:rPr lang="de-DE" dirty="0"/>
              <a:t>		</a:t>
            </a:r>
            <a:r>
              <a:rPr lang="de-DE" u="sng" dirty="0" err="1"/>
              <a:t>JList</a:t>
            </a:r>
            <a:r>
              <a:rPr lang="de-DE" u="sng" dirty="0"/>
              <a:t> lang = </a:t>
            </a:r>
            <a:r>
              <a:rPr lang="de-DE" b="1" u="sng" dirty="0" err="1"/>
              <a:t>new</a:t>
            </a:r>
            <a:r>
              <a:rPr lang="de-DE" b="1" u="sng" dirty="0"/>
              <a:t> </a:t>
            </a:r>
            <a:r>
              <a:rPr lang="de-DE" b="1" u="sng" dirty="0" err="1"/>
              <a:t>JList</a:t>
            </a:r>
            <a:r>
              <a:rPr lang="de-DE" b="1" u="sng" dirty="0"/>
              <a:t>(</a:t>
            </a:r>
            <a:r>
              <a:rPr lang="de-DE" b="1" u="sng" dirty="0" err="1"/>
              <a:t>list</a:t>
            </a:r>
            <a:r>
              <a:rPr lang="de-DE" b="1" u="sng" dirty="0"/>
              <a:t>);</a:t>
            </a:r>
          </a:p>
          <a:p>
            <a:r>
              <a:rPr lang="de-DE" dirty="0"/>
              <a:t>		</a:t>
            </a:r>
            <a:r>
              <a:rPr lang="de-DE" dirty="0" err="1"/>
              <a:t>JScrollPane</a:t>
            </a:r>
            <a:r>
              <a:rPr lang="de-DE" dirty="0"/>
              <a:t> </a:t>
            </a:r>
            <a:r>
              <a:rPr lang="de-DE" dirty="0" err="1"/>
              <a:t>jsp</a:t>
            </a:r>
            <a:r>
              <a:rPr lang="de-DE" dirty="0"/>
              <a:t> = </a:t>
            </a:r>
            <a:r>
              <a:rPr lang="de-DE" b="1" dirty="0" err="1"/>
              <a:t>new</a:t>
            </a:r>
            <a:r>
              <a:rPr lang="de-DE" b="1" dirty="0"/>
              <a:t> </a:t>
            </a:r>
            <a:r>
              <a:rPr lang="de-DE" b="1" dirty="0" err="1"/>
              <a:t>JScrollPane</a:t>
            </a:r>
            <a:r>
              <a:rPr lang="de-DE" b="1" dirty="0"/>
              <a:t>(lang);</a:t>
            </a:r>
          </a:p>
          <a:p>
            <a:r>
              <a:rPr lang="de-DE" dirty="0"/>
              <a:t>		</a:t>
            </a:r>
            <a:r>
              <a:rPr lang="de-DE" dirty="0" err="1"/>
              <a:t>lang.setVisibleRowCount</a:t>
            </a:r>
            <a:r>
              <a:rPr lang="de-DE" dirty="0"/>
              <a:t>(5);</a:t>
            </a:r>
          </a:p>
          <a:p>
            <a:r>
              <a:rPr lang="de-DE" dirty="0"/>
              <a:t>	    </a:t>
            </a:r>
            <a:r>
              <a:rPr lang="de-DE" dirty="0" err="1"/>
              <a:t>lang.setSelectionMode</a:t>
            </a:r>
            <a:r>
              <a:rPr lang="de-DE" dirty="0"/>
              <a:t>(</a:t>
            </a:r>
            <a:r>
              <a:rPr lang="de-DE" dirty="0" err="1"/>
              <a:t>ListSelectionModel.</a:t>
            </a:r>
            <a:r>
              <a:rPr lang="de-DE" b="1" i="1" dirty="0" err="1"/>
              <a:t>SINGLE_SELECTION</a:t>
            </a:r>
            <a:r>
              <a:rPr lang="de-DE" b="1" i="1" dirty="0"/>
              <a:t>);</a:t>
            </a:r>
          </a:p>
          <a:p>
            <a:r>
              <a:rPr lang="nb-NO" dirty="0"/>
              <a:t>	    </a:t>
            </a:r>
            <a:r>
              <a:rPr lang="nb-NO" dirty="0" err="1"/>
              <a:t>f.add</a:t>
            </a:r>
            <a:r>
              <a:rPr lang="nb-NO" dirty="0"/>
              <a:t>(</a:t>
            </a:r>
            <a:r>
              <a:rPr lang="nb-NO" dirty="0" err="1"/>
              <a:t>jsp</a:t>
            </a:r>
            <a:r>
              <a:rPr lang="nb-NO" dirty="0"/>
              <a:t>);</a:t>
            </a:r>
          </a:p>
          <a:p>
            <a:r>
              <a:rPr lang="en-US" dirty="0"/>
              <a:t>	    </a:t>
            </a:r>
            <a:r>
              <a:rPr lang="en-US" dirty="0" err="1"/>
              <a:t>f.setSize</a:t>
            </a:r>
            <a:r>
              <a:rPr lang="en-US" dirty="0"/>
              <a:t>(400, 300); // Set the frame size</a:t>
            </a:r>
          </a:p>
          <a:p>
            <a:r>
              <a:rPr lang="en-US" dirty="0"/>
              <a:t>	    </a:t>
            </a:r>
            <a:r>
              <a:rPr lang="en-US" dirty="0" err="1"/>
              <a:t>f.setLocationRelativeTo</a:t>
            </a:r>
            <a:r>
              <a:rPr lang="en-US" dirty="0"/>
              <a:t>(</a:t>
            </a:r>
            <a:r>
              <a:rPr lang="en-US" b="1" dirty="0"/>
              <a:t>null); // New since JDK 1.4</a:t>
            </a:r>
          </a:p>
          <a:p>
            <a:r>
              <a:rPr lang="en-US" dirty="0"/>
              <a:t>	    </a:t>
            </a:r>
            <a:r>
              <a:rPr lang="en-US" dirty="0" err="1"/>
              <a:t>f.setDefaultCloseOperation</a:t>
            </a:r>
            <a:r>
              <a:rPr lang="en-US" dirty="0"/>
              <a:t>(</a:t>
            </a:r>
            <a:r>
              <a:rPr lang="en-US" dirty="0" err="1"/>
              <a:t>JFrame.</a:t>
            </a:r>
            <a:r>
              <a:rPr lang="en-US" b="1" i="1" dirty="0" err="1"/>
              <a:t>EXIT_ON_CLOSE</a:t>
            </a:r>
            <a:r>
              <a:rPr lang="en-US" b="1" i="1" dirty="0"/>
              <a:t>);</a:t>
            </a:r>
          </a:p>
          <a:p>
            <a:r>
              <a:rPr lang="en-US" dirty="0"/>
              <a:t>	    </a:t>
            </a:r>
            <a:r>
              <a:rPr lang="en-US" dirty="0" err="1"/>
              <a:t>f.setVisible</a:t>
            </a:r>
            <a:r>
              <a:rPr lang="en-US" dirty="0"/>
              <a:t>(</a:t>
            </a:r>
            <a:r>
              <a:rPr lang="en-US" b="1" dirty="0"/>
              <a:t>true); // Display the frame		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pic>
        <p:nvPicPr>
          <p:cNvPr id="4" name="Picture 3" descr="Screen Shot 2016-07-13 at 3.34.48 PM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423" y="251618"/>
            <a:ext cx="3731501" cy="1776905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597055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54715" y="251618"/>
            <a:ext cx="8635412" cy="6337215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IX. Scroll Bar</a:t>
            </a:r>
          </a:p>
          <a:p>
            <a:r>
              <a:rPr lang="en-US" dirty="0" err="1"/>
              <a:t>JScrollBar</a:t>
            </a:r>
            <a:r>
              <a:rPr lang="en-US" dirty="0"/>
              <a:t> is a component that enables the user to select from a range of values</a:t>
            </a:r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marL="228600" lvl="1" indent="0">
              <a:buNone/>
            </a:pPr>
            <a:endParaRPr lang="en-US" sz="22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915625"/>
              </p:ext>
            </p:extLst>
          </p:nvPr>
        </p:nvGraphicFramePr>
        <p:xfrm>
          <a:off x="204356" y="3995523"/>
          <a:ext cx="8799738" cy="293141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133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6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6358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JScrollBar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JScrollBar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(orientation: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JScrollBar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(orientation: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, value:</a:t>
                      </a:r>
                      <a:r>
                        <a:rPr lang="en-US" sz="15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, extent: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, min: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, max: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Creates a default vertical scroll bar.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Creates a scroll bar with the specified orientation.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Creates a scroll bar with the specified orientation, value, extent, minimum, and maximum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1" dirty="0">
                          <a:solidFill>
                            <a:schemeClr val="tx1"/>
                          </a:solidFill>
                        </a:rPr>
                        <a:t>value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 - the starting position of the knob of Scrollbar on the track of a Scrollbar.</a:t>
                      </a:r>
                      <a:br>
                        <a:rPr lang="en-US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00" b="1" i="1" dirty="0">
                          <a:solidFill>
                            <a:schemeClr val="tx1"/>
                          </a:solidFill>
                        </a:rPr>
                        <a:t>extent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 - the width of the knob of Scrollbar.</a:t>
                      </a:r>
                      <a:br>
                        <a:rPr lang="en-US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00" b="1" i="1" dirty="0">
                          <a:solidFill>
                            <a:schemeClr val="tx1"/>
                          </a:solidFill>
                        </a:rPr>
                        <a:t>min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 - the minimum width of the track on which Scrollbar moves.</a:t>
                      </a:r>
                      <a:br>
                        <a:rPr lang="en-US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00" b="1" i="1" dirty="0">
                          <a:solidFill>
                            <a:schemeClr val="tx1"/>
                          </a:solidFill>
                        </a:rPr>
                        <a:t>max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 - the maximum width of the track. 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527" y="1761188"/>
            <a:ext cx="4662822" cy="213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5403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09786" y="251618"/>
            <a:ext cx="6508377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spcBef>
                <a:spcPts val="18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Example: Scroll Bar</a:t>
            </a:r>
          </a:p>
        </p:txBody>
      </p:sp>
      <p:pic>
        <p:nvPicPr>
          <p:cNvPr id="7" name="Content Placeholder 6" descr="Screen Shot 2016-07-13 at 3.01.09 P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40" r="19440"/>
          <a:stretch>
            <a:fillRect/>
          </a:stretch>
        </p:blipFill>
        <p:spPr/>
      </p:pic>
      <p:sp>
        <p:nvSpPr>
          <p:cNvPr id="9" name="Rectangle 8"/>
          <p:cNvSpPr/>
          <p:nvPr/>
        </p:nvSpPr>
        <p:spPr>
          <a:xfrm>
            <a:off x="209786" y="914400"/>
            <a:ext cx="8625785" cy="575542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/>
              <a:t>import </a:t>
            </a:r>
            <a:r>
              <a:rPr lang="en-US" sz="1600" b="1" dirty="0" err="1"/>
              <a:t>java.awt.FlowLayout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import </a:t>
            </a:r>
            <a:r>
              <a:rPr lang="en-US" sz="1600" b="1" dirty="0" err="1"/>
              <a:t>javax.swing</a:t>
            </a:r>
            <a:r>
              <a:rPr lang="en-US" sz="1600" b="1" dirty="0"/>
              <a:t>.*;</a:t>
            </a:r>
          </a:p>
          <a:p>
            <a:r>
              <a:rPr lang="en-US" sz="1600" b="1" dirty="0"/>
              <a:t>public class </a:t>
            </a:r>
            <a:r>
              <a:rPr lang="en-US" sz="1600" b="1" dirty="0" err="1"/>
              <a:t>ScrollBar</a:t>
            </a:r>
            <a:r>
              <a:rPr lang="en-US" sz="1600" b="1" dirty="0"/>
              <a:t> {</a:t>
            </a:r>
          </a:p>
          <a:p>
            <a:endParaRPr lang="en-US" sz="1600" dirty="0"/>
          </a:p>
          <a:p>
            <a:r>
              <a:rPr lang="en-US" sz="1600" dirty="0"/>
              <a:t>	</a:t>
            </a:r>
            <a:r>
              <a:rPr lang="en-US" sz="1600" b="1" dirty="0"/>
              <a:t>public static void main(String[] </a:t>
            </a:r>
            <a:r>
              <a:rPr lang="en-US" sz="1600" b="1" dirty="0" err="1"/>
              <a:t>args</a:t>
            </a:r>
            <a:r>
              <a:rPr lang="en-US" sz="1600" b="1" dirty="0"/>
              <a:t>) {</a:t>
            </a:r>
          </a:p>
          <a:p>
            <a:r>
              <a:rPr lang="en-US" sz="1600" dirty="0"/>
              <a:t>		// </a:t>
            </a:r>
            <a:r>
              <a:rPr lang="en-US" sz="1600" b="1" dirty="0"/>
              <a:t>TODO Auto-generated method stub</a:t>
            </a:r>
          </a:p>
          <a:p>
            <a:r>
              <a:rPr lang="en-US" sz="1600" dirty="0"/>
              <a:t>		</a:t>
            </a:r>
            <a:r>
              <a:rPr lang="en-US" sz="1600" dirty="0" err="1"/>
              <a:t>JFrame</a:t>
            </a:r>
            <a:r>
              <a:rPr lang="en-US" sz="1600" dirty="0"/>
              <a:t> f=</a:t>
            </a:r>
            <a:r>
              <a:rPr lang="en-US" sz="1600" b="1" dirty="0"/>
              <a:t>new </a:t>
            </a:r>
            <a:r>
              <a:rPr lang="en-US" sz="1600" b="1" dirty="0" err="1"/>
              <a:t>JFrame</a:t>
            </a:r>
            <a:r>
              <a:rPr lang="en-US" sz="1600" b="1" dirty="0"/>
              <a:t>("Scroll Bar Test");</a:t>
            </a:r>
          </a:p>
          <a:p>
            <a:r>
              <a:rPr lang="en-US" sz="1600" dirty="0"/>
              <a:t>		</a:t>
            </a:r>
            <a:r>
              <a:rPr lang="en-US" sz="1600" dirty="0" err="1"/>
              <a:t>f.setLayout</a:t>
            </a:r>
            <a:r>
              <a:rPr lang="en-US" sz="1600" dirty="0"/>
              <a:t>(</a:t>
            </a:r>
            <a:r>
              <a:rPr lang="en-US" sz="1600" b="1" dirty="0"/>
              <a:t>new </a:t>
            </a:r>
            <a:r>
              <a:rPr lang="en-US" sz="1600" b="1" dirty="0" err="1"/>
              <a:t>FlowLayout</a:t>
            </a:r>
            <a:r>
              <a:rPr lang="en-US" sz="1600" b="1" dirty="0"/>
              <a:t>());</a:t>
            </a:r>
          </a:p>
          <a:p>
            <a:r>
              <a:rPr lang="en-US" sz="1600" dirty="0"/>
              <a:t>		</a:t>
            </a:r>
            <a:r>
              <a:rPr lang="en-US" sz="1600" dirty="0" err="1"/>
              <a:t>JScrollBar</a:t>
            </a:r>
            <a:r>
              <a:rPr lang="en-US" sz="1600" dirty="0"/>
              <a:t> </a:t>
            </a:r>
            <a:r>
              <a:rPr lang="en-US" sz="1600" dirty="0" err="1"/>
              <a:t>scb</a:t>
            </a:r>
            <a:r>
              <a:rPr lang="en-US" sz="1600" dirty="0"/>
              <a:t>=</a:t>
            </a:r>
            <a:r>
              <a:rPr lang="en-US" sz="1600" b="1" dirty="0"/>
              <a:t>new </a:t>
            </a:r>
            <a:r>
              <a:rPr lang="en-US" sz="1600" b="1" dirty="0" err="1"/>
              <a:t>JScrollBar</a:t>
            </a:r>
            <a:r>
              <a:rPr lang="en-US" sz="1600" b="1" dirty="0"/>
              <a:t>(</a:t>
            </a:r>
            <a:r>
              <a:rPr lang="en-US" sz="1600" b="1" dirty="0" err="1"/>
              <a:t>JScrollBar.</a:t>
            </a:r>
            <a:r>
              <a:rPr lang="en-US" sz="1600" b="1" i="1" dirty="0" err="1"/>
              <a:t>HORIZONTAL</a:t>
            </a:r>
            <a:r>
              <a:rPr lang="en-US" sz="1600" b="1" i="1" dirty="0"/>
              <a:t>);</a:t>
            </a:r>
          </a:p>
          <a:p>
            <a:r>
              <a:rPr lang="en-US" sz="1600" dirty="0"/>
              <a:t>		</a:t>
            </a:r>
            <a:r>
              <a:rPr lang="en-US" sz="1600" dirty="0" err="1"/>
              <a:t>JScrollBar</a:t>
            </a:r>
            <a:r>
              <a:rPr lang="en-US" sz="1600" dirty="0"/>
              <a:t> scb2=</a:t>
            </a:r>
            <a:r>
              <a:rPr lang="en-US" sz="1600" b="1" dirty="0"/>
              <a:t>new </a:t>
            </a:r>
            <a:r>
              <a:rPr lang="en-US" sz="1600" b="1" dirty="0" err="1"/>
              <a:t>JScrollBar</a:t>
            </a:r>
            <a:r>
              <a:rPr lang="en-US" sz="1600" b="1" dirty="0"/>
              <a:t>(</a:t>
            </a:r>
            <a:r>
              <a:rPr lang="en-US" sz="1600" b="1" dirty="0" err="1"/>
              <a:t>JScrollBar.</a:t>
            </a:r>
            <a:r>
              <a:rPr lang="en-US" sz="1600" b="1" i="1" dirty="0" err="1"/>
              <a:t>VERTICAL</a:t>
            </a:r>
            <a:r>
              <a:rPr lang="en-US" sz="1600" b="1" i="1" dirty="0"/>
              <a:t>);</a:t>
            </a:r>
          </a:p>
          <a:p>
            <a:r>
              <a:rPr lang="en-US" sz="1600" dirty="0"/>
              <a:t>		</a:t>
            </a:r>
            <a:r>
              <a:rPr lang="en-US" sz="1600" dirty="0" err="1"/>
              <a:t>scb.setMaximum</a:t>
            </a:r>
            <a:r>
              <a:rPr lang="en-US" sz="1600" dirty="0"/>
              <a:t>(200);</a:t>
            </a:r>
          </a:p>
          <a:p>
            <a:r>
              <a:rPr lang="en-US" sz="1600" dirty="0"/>
              <a:t>		</a:t>
            </a:r>
            <a:r>
              <a:rPr lang="en-US" sz="1600" dirty="0" err="1"/>
              <a:t>scb.setMinimum</a:t>
            </a:r>
            <a:r>
              <a:rPr lang="en-US" sz="1600" dirty="0"/>
              <a:t>(1);</a:t>
            </a:r>
          </a:p>
          <a:p>
            <a:r>
              <a:rPr lang="en-US" sz="1600" dirty="0"/>
              <a:t>		scb2.setMaximum(100);</a:t>
            </a:r>
          </a:p>
          <a:p>
            <a:r>
              <a:rPr lang="en-US" sz="1600" dirty="0"/>
              <a:t>		scb2.setMinimum(1);</a:t>
            </a:r>
          </a:p>
          <a:p>
            <a:r>
              <a:rPr lang="nb-NO" sz="1600" dirty="0"/>
              <a:t>		</a:t>
            </a:r>
            <a:r>
              <a:rPr lang="nb-NO" sz="1600" dirty="0" err="1"/>
              <a:t>f.add</a:t>
            </a:r>
            <a:r>
              <a:rPr lang="nb-NO" sz="1600" dirty="0"/>
              <a:t>(</a:t>
            </a:r>
            <a:r>
              <a:rPr lang="nb-NO" sz="1600" dirty="0" err="1"/>
              <a:t>scb</a:t>
            </a:r>
            <a:r>
              <a:rPr lang="nb-NO" sz="1600" dirty="0"/>
              <a:t>);</a:t>
            </a:r>
          </a:p>
          <a:p>
            <a:r>
              <a:rPr lang="nb-NO" sz="1600" dirty="0"/>
              <a:t>		</a:t>
            </a:r>
            <a:r>
              <a:rPr lang="nb-NO" sz="1600" dirty="0" err="1"/>
              <a:t>f.add</a:t>
            </a:r>
            <a:r>
              <a:rPr lang="nb-NO" sz="1600" dirty="0"/>
              <a:t>(scb2);</a:t>
            </a:r>
          </a:p>
          <a:p>
            <a:r>
              <a:rPr lang="nb-NO" sz="1600" dirty="0"/>
              <a:t>		</a:t>
            </a:r>
            <a:r>
              <a:rPr lang="nb-NO" sz="1600" dirty="0" err="1"/>
              <a:t>f.setSize</a:t>
            </a:r>
            <a:r>
              <a:rPr lang="nb-NO" sz="1600" dirty="0"/>
              <a:t>(400, 300); // Set </a:t>
            </a:r>
            <a:r>
              <a:rPr lang="nb-NO" sz="1600" dirty="0" err="1"/>
              <a:t>the</a:t>
            </a:r>
            <a:r>
              <a:rPr lang="nb-NO" sz="1600" dirty="0"/>
              <a:t> </a:t>
            </a:r>
            <a:r>
              <a:rPr lang="nb-NO" sz="1600" dirty="0" err="1"/>
              <a:t>frame</a:t>
            </a:r>
            <a:r>
              <a:rPr lang="nb-NO" sz="1600" dirty="0"/>
              <a:t> </a:t>
            </a:r>
            <a:r>
              <a:rPr lang="nb-NO" sz="1600" dirty="0" err="1"/>
              <a:t>size</a:t>
            </a:r>
            <a:endParaRPr lang="nb-NO" sz="1600" dirty="0"/>
          </a:p>
          <a:p>
            <a:r>
              <a:rPr lang="nb-NO" sz="1600" dirty="0"/>
              <a:t>	    </a:t>
            </a:r>
            <a:r>
              <a:rPr lang="nb-NO" sz="1600" dirty="0" err="1"/>
              <a:t>f.setLocationRelativeTo</a:t>
            </a:r>
            <a:r>
              <a:rPr lang="nb-NO" sz="1600" dirty="0"/>
              <a:t>(</a:t>
            </a:r>
            <a:r>
              <a:rPr lang="nb-NO" sz="1600" b="1" dirty="0"/>
              <a:t>null); // New </a:t>
            </a:r>
            <a:r>
              <a:rPr lang="nb-NO" sz="1600" b="1" dirty="0" err="1"/>
              <a:t>since</a:t>
            </a:r>
            <a:r>
              <a:rPr lang="nb-NO" sz="1600" b="1" dirty="0"/>
              <a:t> JDK 1.4</a:t>
            </a:r>
          </a:p>
          <a:p>
            <a:r>
              <a:rPr lang="nb-NO" sz="1600" dirty="0"/>
              <a:t>	    </a:t>
            </a:r>
            <a:r>
              <a:rPr lang="nb-NO" sz="1600" dirty="0" err="1"/>
              <a:t>f.setDefaultCloseOperation</a:t>
            </a:r>
            <a:r>
              <a:rPr lang="nb-NO" sz="1600" dirty="0"/>
              <a:t>(</a:t>
            </a:r>
            <a:r>
              <a:rPr lang="nb-NO" sz="1600" dirty="0" err="1"/>
              <a:t>JFrame.</a:t>
            </a:r>
            <a:r>
              <a:rPr lang="nb-NO" sz="1600" b="1" i="1" dirty="0" err="1"/>
              <a:t>EXIT_ON_CLOSE</a:t>
            </a:r>
            <a:r>
              <a:rPr lang="nb-NO" sz="1600" b="1" i="1" dirty="0"/>
              <a:t>);</a:t>
            </a:r>
          </a:p>
          <a:p>
            <a:r>
              <a:rPr lang="nb-NO" sz="1600" dirty="0"/>
              <a:t>	    </a:t>
            </a:r>
            <a:r>
              <a:rPr lang="nb-NO" sz="1600" dirty="0" err="1"/>
              <a:t>f.setVisible</a:t>
            </a:r>
            <a:r>
              <a:rPr lang="nb-NO" sz="1600" dirty="0"/>
              <a:t>(</a:t>
            </a:r>
            <a:r>
              <a:rPr lang="nb-NO" sz="1600" b="1" dirty="0"/>
              <a:t>true); // Display </a:t>
            </a:r>
            <a:r>
              <a:rPr lang="nb-NO" sz="1600" b="1" dirty="0" err="1"/>
              <a:t>the</a:t>
            </a:r>
            <a:r>
              <a:rPr lang="nb-NO" sz="1600" b="1" dirty="0"/>
              <a:t> </a:t>
            </a:r>
            <a:r>
              <a:rPr lang="nb-NO" sz="1600" b="1" dirty="0" err="1"/>
              <a:t>frame</a:t>
            </a:r>
            <a:endParaRPr lang="nb-NO" sz="1600" b="1" dirty="0"/>
          </a:p>
          <a:p>
            <a:r>
              <a:rPr lang="nb-NO" sz="1600" dirty="0"/>
              <a:t>	}</a:t>
            </a:r>
          </a:p>
          <a:p>
            <a:endParaRPr lang="nb-NO" sz="1600" dirty="0"/>
          </a:p>
          <a:p>
            <a:r>
              <a:rPr lang="nb-NO" sz="1600" dirty="0"/>
              <a:t>}</a:t>
            </a:r>
            <a:endParaRPr lang="en-US" sz="1600" dirty="0"/>
          </a:p>
        </p:txBody>
      </p:sp>
      <p:pic>
        <p:nvPicPr>
          <p:cNvPr id="3" name="Picture 2" descr="Screen Shot 2016-07-13 at 8.40.29 P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444"/>
          <a:stretch/>
        </p:blipFill>
        <p:spPr>
          <a:xfrm>
            <a:off x="4874223" y="251618"/>
            <a:ext cx="4107067" cy="153901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826047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54715" y="251618"/>
            <a:ext cx="8635412" cy="6337215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X. Table</a:t>
            </a:r>
          </a:p>
          <a:p>
            <a:r>
              <a:rPr lang="en-US" dirty="0" err="1"/>
              <a:t>Jtable</a:t>
            </a:r>
            <a:r>
              <a:rPr lang="en-US" dirty="0"/>
              <a:t> class is used to display the data on two dimensional tables of cells.</a:t>
            </a:r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marL="228600" lvl="1" indent="0">
              <a:buNone/>
            </a:pPr>
            <a:endParaRPr lang="en-US" sz="2200" dirty="0"/>
          </a:p>
        </p:txBody>
      </p:sp>
      <p:sp>
        <p:nvSpPr>
          <p:cNvPr id="2" name="Rectangle 1"/>
          <p:cNvSpPr/>
          <p:nvPr/>
        </p:nvSpPr>
        <p:spPr>
          <a:xfrm>
            <a:off x="469107" y="1951672"/>
            <a:ext cx="8421020" cy="92333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en-US" dirty="0" err="1"/>
              <a:t>JTable</a:t>
            </a:r>
            <a:r>
              <a:rPr lang="en-US" dirty="0"/>
              <a:t>(): creates a table with empty cells.</a:t>
            </a:r>
          </a:p>
          <a:p>
            <a:r>
              <a:rPr lang="en-US" dirty="0" err="1"/>
              <a:t>JTable</a:t>
            </a:r>
            <a:r>
              <a:rPr lang="en-US" dirty="0"/>
              <a:t>(Object[][] rows, Object[] columns): creates a table with the specified data.</a:t>
            </a:r>
          </a:p>
        </p:txBody>
      </p:sp>
      <p:pic>
        <p:nvPicPr>
          <p:cNvPr id="3" name="Picture 2" descr="Screen Shot 2016-07-13 at 8.48.3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4669" y="3323600"/>
            <a:ext cx="4917697" cy="3305877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095786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09786" y="251618"/>
            <a:ext cx="6508377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spcBef>
                <a:spcPts val="18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Example: Table</a:t>
            </a:r>
          </a:p>
        </p:txBody>
      </p:sp>
      <p:pic>
        <p:nvPicPr>
          <p:cNvPr id="6" name="Content Placeholder 5" descr="Screen Shot 2016-07-13 at 8.51.49 PM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41" r="1101"/>
          <a:stretch/>
        </p:blipFill>
        <p:spPr>
          <a:xfrm>
            <a:off x="584391" y="782908"/>
            <a:ext cx="7492867" cy="5974172"/>
          </a:xfr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488439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Screen Shot 2016-07-13 at 8.52.1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93" y="914399"/>
            <a:ext cx="8648502" cy="3805341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208332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54715" y="251618"/>
            <a:ext cx="8635412" cy="6606382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xi. Menu Bar</a:t>
            </a:r>
          </a:p>
          <a:p>
            <a:r>
              <a:rPr lang="en-US" dirty="0"/>
              <a:t>Java provides several classes—</a:t>
            </a:r>
            <a:r>
              <a:rPr lang="en-US" dirty="0" err="1"/>
              <a:t>JMenuBar</a:t>
            </a:r>
            <a:r>
              <a:rPr lang="en-US" dirty="0"/>
              <a:t>, </a:t>
            </a:r>
            <a:r>
              <a:rPr lang="en-US" dirty="0" err="1"/>
              <a:t>JMenu</a:t>
            </a:r>
            <a:r>
              <a:rPr lang="en-US" dirty="0"/>
              <a:t>, </a:t>
            </a:r>
            <a:r>
              <a:rPr lang="en-US" dirty="0" err="1"/>
              <a:t>JMenuItem</a:t>
            </a:r>
            <a:r>
              <a:rPr lang="en-US" dirty="0"/>
              <a:t>, which will implement menus in a frame.</a:t>
            </a:r>
          </a:p>
          <a:p>
            <a:r>
              <a:rPr lang="en-US" dirty="0"/>
              <a:t>A menu bar holds menus; the menu bar can only be added to a frame. </a:t>
            </a:r>
          </a:p>
          <a:p>
            <a:pPr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228600" algn="l"/>
              </a:tabLst>
            </a:pPr>
            <a:r>
              <a:rPr lang="en-GB" b="1" u="sng" dirty="0">
                <a:solidFill>
                  <a:srgbClr val="000000"/>
                </a:solidFill>
                <a:ea typeface="ＭＳ Ｐゴシック" charset="0"/>
              </a:rPr>
              <a:t>Building Menu</a:t>
            </a:r>
            <a:endParaRPr lang="en-GB" u="sng" dirty="0">
              <a:solidFill>
                <a:srgbClr val="000000"/>
              </a:solidFill>
              <a:ea typeface="ＭＳ Ｐゴシック" charset="0"/>
            </a:endParaRPr>
          </a:p>
          <a:p>
            <a:pPr indent="0" eaLnBrk="0" fontAlgn="base" hangingPunct="0">
              <a:lnSpc>
                <a:spcPct val="150000"/>
              </a:lnSpc>
              <a:spcBef>
                <a:spcPts val="0"/>
              </a:spcBef>
              <a:buNone/>
              <a:tabLst>
                <a:tab pos="228600" algn="l"/>
              </a:tabLst>
            </a:pPr>
            <a:r>
              <a:rPr lang="en-GB" sz="1700" dirty="0">
                <a:solidFill>
                  <a:srgbClr val="000000"/>
                </a:solidFill>
                <a:ea typeface="ＭＳ Ｐゴシック" charset="0"/>
              </a:rPr>
              <a:t>1. Create a menu bar as follows:</a:t>
            </a:r>
          </a:p>
          <a:p>
            <a:pPr indent="0" eaLnBrk="0" fontAlgn="base" hangingPunct="0">
              <a:lnSpc>
                <a:spcPct val="150000"/>
              </a:lnSpc>
              <a:spcBef>
                <a:spcPts val="0"/>
              </a:spcBef>
              <a:buNone/>
              <a:tabLst>
                <a:tab pos="228600" algn="l"/>
              </a:tabLst>
            </a:pPr>
            <a:r>
              <a:rPr lang="en-GB" sz="1700" dirty="0">
                <a:solidFill>
                  <a:srgbClr val="000000"/>
                </a:solidFill>
                <a:ea typeface="ＭＳ Ｐゴシック" charset="0"/>
              </a:rPr>
              <a:t>	 </a:t>
            </a:r>
            <a:r>
              <a:rPr lang="en-GB" sz="1700" dirty="0" err="1">
                <a:solidFill>
                  <a:srgbClr val="000000"/>
                </a:solidFill>
                <a:ea typeface="ＭＳ Ｐゴシック" charset="0"/>
              </a:rPr>
              <a:t>JMenuBar</a:t>
            </a:r>
            <a:r>
              <a:rPr lang="en-GB" sz="1700" dirty="0">
                <a:solidFill>
                  <a:srgbClr val="000000"/>
                </a:solidFill>
                <a:ea typeface="ＭＳ Ｐゴシック" charset="0"/>
              </a:rPr>
              <a:t> </a:t>
            </a:r>
            <a:r>
              <a:rPr lang="en-GB" sz="1700" dirty="0" err="1">
                <a:solidFill>
                  <a:srgbClr val="000000"/>
                </a:solidFill>
                <a:ea typeface="ＭＳ Ｐゴシック" charset="0"/>
              </a:rPr>
              <a:t>mb</a:t>
            </a:r>
            <a:r>
              <a:rPr lang="en-GB" sz="1700" dirty="0">
                <a:solidFill>
                  <a:srgbClr val="000000"/>
                </a:solidFill>
                <a:ea typeface="ＭＳ Ｐゴシック" charset="0"/>
              </a:rPr>
              <a:t>=new </a:t>
            </a:r>
            <a:r>
              <a:rPr lang="en-GB" sz="1700" dirty="0" err="1">
                <a:solidFill>
                  <a:srgbClr val="000000"/>
                </a:solidFill>
                <a:ea typeface="ＭＳ Ｐゴシック" charset="0"/>
              </a:rPr>
              <a:t>JMenuBar</a:t>
            </a:r>
            <a:r>
              <a:rPr lang="en-GB" sz="1700" dirty="0">
                <a:solidFill>
                  <a:srgbClr val="000000"/>
                </a:solidFill>
                <a:ea typeface="ＭＳ Ｐゴシック" charset="0"/>
              </a:rPr>
              <a:t>();</a:t>
            </a:r>
          </a:p>
          <a:p>
            <a:pPr indent="0" eaLnBrk="0" fontAlgn="base" hangingPunct="0">
              <a:lnSpc>
                <a:spcPct val="150000"/>
              </a:lnSpc>
              <a:spcBef>
                <a:spcPts val="0"/>
              </a:spcBef>
              <a:buNone/>
              <a:tabLst>
                <a:tab pos="228600" algn="l"/>
              </a:tabLst>
            </a:pPr>
            <a:r>
              <a:rPr lang="en-GB" sz="1700" dirty="0">
                <a:solidFill>
                  <a:srgbClr val="000000"/>
                </a:solidFill>
                <a:ea typeface="ＭＳ Ｐゴシック" charset="0"/>
              </a:rPr>
              <a:t>2. </a:t>
            </a:r>
            <a:r>
              <a:rPr lang="en-GB" sz="1700" dirty="0" err="1">
                <a:solidFill>
                  <a:srgbClr val="000000"/>
                </a:solidFill>
                <a:ea typeface="ＭＳ Ｐゴシック" charset="0"/>
              </a:rPr>
              <a:t>Creat</a:t>
            </a:r>
            <a:r>
              <a:rPr lang="en-GB" sz="1700" dirty="0">
                <a:solidFill>
                  <a:srgbClr val="000000"/>
                </a:solidFill>
                <a:ea typeface="ＭＳ Ｐゴシック" charset="0"/>
              </a:rPr>
              <a:t> the menu objects as follows:</a:t>
            </a:r>
          </a:p>
          <a:p>
            <a:pPr indent="0" eaLnBrk="0" fontAlgn="base" hangingPunct="0">
              <a:lnSpc>
                <a:spcPct val="150000"/>
              </a:lnSpc>
              <a:spcBef>
                <a:spcPts val="0"/>
              </a:spcBef>
              <a:buNone/>
              <a:tabLst>
                <a:tab pos="228600" algn="l"/>
              </a:tabLst>
            </a:pPr>
            <a:r>
              <a:rPr lang="en-GB" sz="1700" dirty="0">
                <a:solidFill>
                  <a:srgbClr val="000000"/>
                </a:solidFill>
                <a:ea typeface="ＭＳ Ｐゴシック" charset="0"/>
              </a:rPr>
              <a:t>               </a:t>
            </a:r>
            <a:r>
              <a:rPr lang="en-GB" sz="1700" dirty="0" err="1">
                <a:solidFill>
                  <a:srgbClr val="000000"/>
                </a:solidFill>
                <a:ea typeface="ＭＳ Ｐゴシック" charset="0"/>
              </a:rPr>
              <a:t>JMenu</a:t>
            </a:r>
            <a:r>
              <a:rPr lang="en-GB" sz="1700" dirty="0">
                <a:solidFill>
                  <a:srgbClr val="000000"/>
                </a:solidFill>
                <a:ea typeface="ＭＳ Ｐゴシック" charset="0"/>
              </a:rPr>
              <a:t> file=new </a:t>
            </a:r>
            <a:r>
              <a:rPr lang="en-GB" sz="1700" dirty="0" err="1">
                <a:solidFill>
                  <a:srgbClr val="000000"/>
                </a:solidFill>
                <a:ea typeface="ＭＳ Ｐゴシック" charset="0"/>
              </a:rPr>
              <a:t>JMenu</a:t>
            </a:r>
            <a:r>
              <a:rPr lang="en-GB" sz="1700" dirty="0">
                <a:solidFill>
                  <a:srgbClr val="000000"/>
                </a:solidFill>
                <a:ea typeface="ＭＳ Ｐゴシック" charset="0"/>
              </a:rPr>
              <a:t>(</a:t>
            </a:r>
            <a:r>
              <a:rPr lang="ja-JP" altLang="en-GB" sz="1700" dirty="0">
                <a:solidFill>
                  <a:srgbClr val="000000"/>
                </a:solidFill>
                <a:ea typeface="ＭＳ Ｐゴシック" charset="0"/>
              </a:rPr>
              <a:t>“</a:t>
            </a:r>
            <a:r>
              <a:rPr lang="en-GB" sz="1700" dirty="0">
                <a:solidFill>
                  <a:srgbClr val="000000"/>
                </a:solidFill>
                <a:ea typeface="ＭＳ Ｐゴシック" charset="0"/>
              </a:rPr>
              <a:t>File</a:t>
            </a:r>
            <a:r>
              <a:rPr lang="ja-JP" altLang="en-GB" sz="1700" dirty="0">
                <a:solidFill>
                  <a:srgbClr val="000000"/>
                </a:solidFill>
                <a:ea typeface="ＭＳ Ｐゴシック" charset="0"/>
              </a:rPr>
              <a:t>”</a:t>
            </a:r>
            <a:r>
              <a:rPr lang="en-GB" sz="1700" dirty="0">
                <a:solidFill>
                  <a:srgbClr val="000000"/>
                </a:solidFill>
                <a:ea typeface="ＭＳ Ｐゴシック" charset="0"/>
              </a:rPr>
              <a:t>);</a:t>
            </a:r>
          </a:p>
          <a:p>
            <a:pPr indent="0" eaLnBrk="0" fontAlgn="base" hangingPunct="0">
              <a:lnSpc>
                <a:spcPct val="150000"/>
              </a:lnSpc>
              <a:spcBef>
                <a:spcPts val="0"/>
              </a:spcBef>
              <a:buNone/>
              <a:tabLst>
                <a:tab pos="228600" algn="l"/>
              </a:tabLst>
            </a:pPr>
            <a:r>
              <a:rPr lang="en-GB" sz="1700" dirty="0">
                <a:solidFill>
                  <a:srgbClr val="000000"/>
                </a:solidFill>
                <a:ea typeface="ＭＳ Ｐゴシック" charset="0"/>
              </a:rPr>
              <a:t>3. Creating the </a:t>
            </a:r>
            <a:r>
              <a:rPr lang="en-GB" sz="1700" dirty="0" err="1">
                <a:solidFill>
                  <a:srgbClr val="000000"/>
                </a:solidFill>
                <a:ea typeface="ＭＳ Ｐゴシック" charset="0"/>
              </a:rPr>
              <a:t>menuItem</a:t>
            </a:r>
            <a:r>
              <a:rPr lang="en-GB" sz="1700" dirty="0">
                <a:solidFill>
                  <a:srgbClr val="000000"/>
                </a:solidFill>
                <a:ea typeface="ＭＳ Ｐゴシック" charset="0"/>
              </a:rPr>
              <a:t> object as follows:</a:t>
            </a:r>
          </a:p>
          <a:p>
            <a:pPr indent="0" eaLnBrk="0" fontAlgn="base" hangingPunct="0">
              <a:lnSpc>
                <a:spcPct val="150000"/>
              </a:lnSpc>
              <a:spcBef>
                <a:spcPts val="0"/>
              </a:spcBef>
              <a:buNone/>
              <a:tabLst>
                <a:tab pos="228600" algn="l"/>
              </a:tabLst>
            </a:pPr>
            <a:r>
              <a:rPr lang="en-GB" sz="1700" dirty="0">
                <a:solidFill>
                  <a:srgbClr val="000000"/>
                </a:solidFill>
                <a:ea typeface="ＭＳ Ｐゴシック" charset="0"/>
              </a:rPr>
              <a:t>               </a:t>
            </a:r>
            <a:r>
              <a:rPr lang="en-GB" sz="1700" dirty="0" err="1">
                <a:solidFill>
                  <a:srgbClr val="000000"/>
                </a:solidFill>
                <a:ea typeface="ＭＳ Ｐゴシック" charset="0"/>
              </a:rPr>
              <a:t>JMenuItem</a:t>
            </a:r>
            <a:r>
              <a:rPr lang="en-GB" sz="1700" dirty="0">
                <a:solidFill>
                  <a:srgbClr val="000000"/>
                </a:solidFill>
                <a:ea typeface="ＭＳ Ｐゴシック" charset="0"/>
              </a:rPr>
              <a:t> </a:t>
            </a:r>
            <a:r>
              <a:rPr lang="en-GB" sz="1700" dirty="0" err="1">
                <a:solidFill>
                  <a:srgbClr val="000000"/>
                </a:solidFill>
                <a:ea typeface="ＭＳ Ｐゴシック" charset="0"/>
              </a:rPr>
              <a:t>newItem</a:t>
            </a:r>
            <a:r>
              <a:rPr lang="en-GB" sz="1700" dirty="0">
                <a:solidFill>
                  <a:srgbClr val="000000"/>
                </a:solidFill>
                <a:ea typeface="ＭＳ Ｐゴシック" charset="0"/>
              </a:rPr>
              <a:t>=new </a:t>
            </a:r>
            <a:r>
              <a:rPr lang="en-GB" sz="1700" dirty="0" err="1">
                <a:solidFill>
                  <a:srgbClr val="000000"/>
                </a:solidFill>
                <a:ea typeface="ＭＳ Ｐゴシック" charset="0"/>
              </a:rPr>
              <a:t>JMenuItem</a:t>
            </a:r>
            <a:r>
              <a:rPr lang="en-GB" sz="1700" dirty="0">
                <a:solidFill>
                  <a:srgbClr val="000000"/>
                </a:solidFill>
                <a:ea typeface="ＭＳ Ｐゴシック" charset="0"/>
              </a:rPr>
              <a:t>(”Quit");</a:t>
            </a:r>
          </a:p>
          <a:p>
            <a:pPr indent="0" eaLnBrk="0" fontAlgn="base" hangingPunct="0">
              <a:lnSpc>
                <a:spcPct val="150000"/>
              </a:lnSpc>
              <a:spcBef>
                <a:spcPts val="0"/>
              </a:spcBef>
              <a:buNone/>
              <a:tabLst>
                <a:tab pos="228600" algn="l"/>
              </a:tabLst>
            </a:pPr>
            <a:r>
              <a:rPr lang="en-GB" sz="1700" dirty="0">
                <a:solidFill>
                  <a:srgbClr val="000000"/>
                </a:solidFill>
                <a:ea typeface="ＭＳ Ｐゴシック" charset="0"/>
              </a:rPr>
              <a:t>4. Creating sub menu items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	</a:t>
            </a:r>
            <a:r>
              <a:rPr lang="en-US" sz="1700" dirty="0" err="1"/>
              <a:t>JMenu</a:t>
            </a:r>
            <a:r>
              <a:rPr lang="en-US" sz="1700" dirty="0"/>
              <a:t> Test=new </a:t>
            </a:r>
            <a:r>
              <a:rPr lang="en-US" sz="1700" dirty="0" err="1"/>
              <a:t>JMenu</a:t>
            </a:r>
            <a:r>
              <a:rPr lang="en-US" sz="1700" dirty="0"/>
              <a:t>("Test");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	</a:t>
            </a:r>
            <a:r>
              <a:rPr lang="en-US" sz="1700" dirty="0" err="1"/>
              <a:t>JMenuItem</a:t>
            </a:r>
            <a:r>
              <a:rPr lang="en-US" sz="1700" dirty="0"/>
              <a:t> one=new </a:t>
            </a:r>
            <a:r>
              <a:rPr lang="en-US" sz="1700" dirty="0" err="1"/>
              <a:t>JMenuItem</a:t>
            </a:r>
            <a:r>
              <a:rPr lang="en-US" sz="1700" dirty="0"/>
              <a:t>("sub 1");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	</a:t>
            </a:r>
            <a:r>
              <a:rPr lang="en-US" sz="1700" dirty="0" err="1"/>
              <a:t>JMenuItem</a:t>
            </a:r>
            <a:r>
              <a:rPr lang="en-US" sz="1700" dirty="0"/>
              <a:t> two=new </a:t>
            </a:r>
            <a:r>
              <a:rPr lang="en-US" sz="1700" dirty="0" err="1"/>
              <a:t>JMenuItem</a:t>
            </a:r>
            <a:r>
              <a:rPr lang="en-US" sz="1700" dirty="0"/>
              <a:t>("sub 2");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	</a:t>
            </a:r>
            <a:r>
              <a:rPr lang="en-US" sz="1700" dirty="0" err="1"/>
              <a:t>Test.add</a:t>
            </a:r>
            <a:r>
              <a:rPr lang="en-US" sz="1700" dirty="0"/>
              <a:t>(one);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	</a:t>
            </a:r>
            <a:r>
              <a:rPr lang="en-US" sz="1700" dirty="0" err="1"/>
              <a:t>Test.add</a:t>
            </a:r>
            <a:r>
              <a:rPr lang="en-US" sz="1700" dirty="0"/>
              <a:t>(two);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	</a:t>
            </a:r>
            <a:r>
              <a:rPr lang="en-US" sz="1700" dirty="0" err="1"/>
              <a:t>file.add</a:t>
            </a:r>
            <a:r>
              <a:rPr lang="en-US" sz="1700" dirty="0"/>
              <a:t>(Test);</a:t>
            </a:r>
            <a:endParaRPr lang="en-GB" sz="1700" dirty="0">
              <a:solidFill>
                <a:srgbClr val="000000"/>
              </a:solidFill>
              <a:ea typeface="ＭＳ Ｐゴシック" charset="0"/>
            </a:endParaRPr>
          </a:p>
          <a:p>
            <a:endParaRPr lang="en-US" dirty="0"/>
          </a:p>
          <a:p>
            <a:endParaRPr lang="en-US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marL="228600" lvl="1" indent="0">
              <a:buNone/>
            </a:pPr>
            <a:endParaRPr lang="en-US" sz="2200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576990" y="1802052"/>
            <a:ext cx="7924800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indent="-342900" eaLnBrk="0" fontAlgn="base" hangingPunct="0">
              <a:spcBef>
                <a:spcPct val="100000"/>
              </a:spcBef>
              <a:spcAft>
                <a:spcPct val="0"/>
              </a:spcAft>
              <a:buFontTx/>
              <a:buChar char="•"/>
            </a:pPr>
            <a:endParaRPr lang="en-US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</p:txBody>
      </p:sp>
      <p:cxnSp>
        <p:nvCxnSpPr>
          <p:cNvPr id="9" name="Straight Arrow Connector 8"/>
          <p:cNvCxnSpPr/>
          <p:nvPr/>
        </p:nvCxnSpPr>
        <p:spPr bwMode="auto">
          <a:xfrm flipV="1">
            <a:off x="4689022" y="2778826"/>
            <a:ext cx="1841032" cy="120980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764" y="2013946"/>
            <a:ext cx="2470351" cy="3822650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 bwMode="auto">
          <a:xfrm flipV="1">
            <a:off x="5747308" y="3065816"/>
            <a:ext cx="834456" cy="15251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" name="Elbow Connector 6"/>
          <p:cNvCxnSpPr/>
          <p:nvPr/>
        </p:nvCxnSpPr>
        <p:spPr>
          <a:xfrm flipV="1">
            <a:off x="4689022" y="2458192"/>
            <a:ext cx="1841032" cy="822252"/>
          </a:xfrm>
          <a:prstGeom prst="bent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5786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380011"/>
            <a:ext cx="6508377" cy="1143000"/>
          </a:xfrm>
        </p:spPr>
        <p:txBody>
          <a:bodyPr/>
          <a:lstStyle/>
          <a:p>
            <a:r>
              <a:rPr lang="en-US" sz="2800" dirty="0"/>
              <a:t>Example: Menu Bar</a:t>
            </a:r>
          </a:p>
        </p:txBody>
      </p:sp>
      <p:sp>
        <p:nvSpPr>
          <p:cNvPr id="4" name="Rectangle 3"/>
          <p:cNvSpPr/>
          <p:nvPr/>
        </p:nvSpPr>
        <p:spPr>
          <a:xfrm>
            <a:off x="178131" y="981671"/>
            <a:ext cx="877586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javax.swing</a:t>
            </a:r>
            <a:r>
              <a:rPr lang="en-US" dirty="0"/>
              <a:t>.*;  </a:t>
            </a:r>
          </a:p>
          <a:p>
            <a:r>
              <a:rPr lang="en-US" dirty="0"/>
              <a:t>class Menu</a:t>
            </a:r>
          </a:p>
          <a:p>
            <a:r>
              <a:rPr lang="en-US" dirty="0"/>
              <a:t>{  </a:t>
            </a:r>
          </a:p>
          <a:p>
            <a:r>
              <a:rPr lang="en-US" dirty="0"/>
              <a:t>          </a:t>
            </a:r>
            <a:r>
              <a:rPr lang="en-US" dirty="0" err="1"/>
              <a:t>JMenu</a:t>
            </a:r>
            <a:r>
              <a:rPr lang="en-US" dirty="0"/>
              <a:t> menu1,menu2, submenu;  </a:t>
            </a:r>
          </a:p>
          <a:p>
            <a:r>
              <a:rPr lang="en-US" dirty="0"/>
              <a:t>          </a:t>
            </a:r>
            <a:r>
              <a:rPr lang="en-US" dirty="0" err="1"/>
              <a:t>JMenuItem</a:t>
            </a:r>
            <a:r>
              <a:rPr lang="en-US" dirty="0"/>
              <a:t> i1, i2, i3, i4, i5;  </a:t>
            </a:r>
          </a:p>
          <a:p>
            <a:r>
              <a:rPr lang="en-US" dirty="0"/>
              <a:t>          Menu(){  </a:t>
            </a:r>
          </a:p>
          <a:p>
            <a:r>
              <a:rPr lang="en-US" dirty="0"/>
              <a:t>          </a:t>
            </a:r>
            <a:r>
              <a:rPr lang="en-US" dirty="0" err="1"/>
              <a:t>JFrame</a:t>
            </a:r>
            <a:r>
              <a:rPr lang="en-US" dirty="0"/>
              <a:t> f= new </a:t>
            </a:r>
            <a:r>
              <a:rPr lang="en-US" dirty="0" err="1"/>
              <a:t>JFrame</a:t>
            </a:r>
            <a:r>
              <a:rPr lang="en-US" dirty="0"/>
              <a:t>("Menu and </a:t>
            </a:r>
            <a:r>
              <a:rPr lang="en-US" dirty="0" err="1"/>
              <a:t>MenuItem</a:t>
            </a:r>
            <a:r>
              <a:rPr lang="en-US" dirty="0"/>
              <a:t> Example");  </a:t>
            </a:r>
          </a:p>
          <a:p>
            <a:r>
              <a:rPr lang="en-US" dirty="0"/>
              <a:t>          </a:t>
            </a:r>
            <a:r>
              <a:rPr lang="en-US" dirty="0" err="1"/>
              <a:t>JMenuBar</a:t>
            </a:r>
            <a:r>
              <a:rPr lang="en-US" dirty="0"/>
              <a:t> </a:t>
            </a:r>
            <a:r>
              <a:rPr lang="en-US" dirty="0" err="1"/>
              <a:t>mb</a:t>
            </a:r>
            <a:r>
              <a:rPr lang="en-US" dirty="0"/>
              <a:t>=new </a:t>
            </a:r>
            <a:r>
              <a:rPr lang="en-US" dirty="0" err="1"/>
              <a:t>JMenuBar</a:t>
            </a:r>
            <a:r>
              <a:rPr lang="en-US" dirty="0"/>
              <a:t>();  </a:t>
            </a:r>
          </a:p>
          <a:p>
            <a:r>
              <a:rPr lang="en-US" dirty="0"/>
              <a:t>          menu1=new </a:t>
            </a:r>
            <a:r>
              <a:rPr lang="en-US" dirty="0" err="1"/>
              <a:t>JMenu</a:t>
            </a:r>
            <a:r>
              <a:rPr lang="en-US" dirty="0"/>
              <a:t>("Menu 1"); </a:t>
            </a:r>
          </a:p>
          <a:p>
            <a:r>
              <a:rPr lang="en-US" dirty="0"/>
              <a:t>          menu2=new </a:t>
            </a:r>
            <a:r>
              <a:rPr lang="en-US" dirty="0" err="1"/>
              <a:t>JMenu</a:t>
            </a:r>
            <a:r>
              <a:rPr lang="en-US" dirty="0"/>
              <a:t>("Menu 2"); </a:t>
            </a:r>
          </a:p>
          <a:p>
            <a:r>
              <a:rPr lang="en-US" dirty="0"/>
              <a:t>          submenu=new </a:t>
            </a:r>
            <a:r>
              <a:rPr lang="en-US" dirty="0" err="1"/>
              <a:t>JMenu</a:t>
            </a:r>
            <a:r>
              <a:rPr lang="en-US" dirty="0"/>
              <a:t>("Sub Menu");  </a:t>
            </a:r>
          </a:p>
          <a:p>
            <a:r>
              <a:rPr lang="en-US" dirty="0"/>
              <a:t>          i1=new </a:t>
            </a:r>
            <a:r>
              <a:rPr lang="en-US" dirty="0" err="1"/>
              <a:t>JMenuItem</a:t>
            </a:r>
            <a:r>
              <a:rPr lang="en-US" dirty="0"/>
              <a:t>("Item 1");  </a:t>
            </a:r>
          </a:p>
          <a:p>
            <a:r>
              <a:rPr lang="en-US" dirty="0"/>
              <a:t>          i2=new </a:t>
            </a:r>
            <a:r>
              <a:rPr lang="en-US" dirty="0" err="1"/>
              <a:t>JMenuItem</a:t>
            </a:r>
            <a:r>
              <a:rPr lang="en-US" dirty="0"/>
              <a:t>("Item 2");  </a:t>
            </a:r>
          </a:p>
          <a:p>
            <a:r>
              <a:rPr lang="en-US" dirty="0"/>
              <a:t>          i3=new </a:t>
            </a:r>
            <a:r>
              <a:rPr lang="en-US" dirty="0" err="1"/>
              <a:t>JMenuItem</a:t>
            </a:r>
            <a:r>
              <a:rPr lang="en-US" dirty="0"/>
              <a:t>("Item 3");  </a:t>
            </a:r>
          </a:p>
          <a:p>
            <a:r>
              <a:rPr lang="en-US" dirty="0"/>
              <a:t>          i4=new </a:t>
            </a:r>
            <a:r>
              <a:rPr lang="en-US" dirty="0" err="1"/>
              <a:t>JMenuItem</a:t>
            </a:r>
            <a:r>
              <a:rPr lang="en-US" dirty="0"/>
              <a:t>("Item 4");  </a:t>
            </a:r>
          </a:p>
          <a:p>
            <a:r>
              <a:rPr lang="en-US" dirty="0"/>
              <a:t>          i5=new </a:t>
            </a:r>
            <a:r>
              <a:rPr lang="en-US" dirty="0" err="1"/>
              <a:t>JMenuItem</a:t>
            </a:r>
            <a:r>
              <a:rPr lang="en-US" dirty="0"/>
              <a:t>("Item 5");  </a:t>
            </a:r>
          </a:p>
        </p:txBody>
      </p:sp>
    </p:spTree>
    <p:extLst>
      <p:ext uri="{BB962C8B-B14F-4D97-AF65-F5344CB8AC3E}">
        <p14:creationId xmlns:p14="http://schemas.microsoft.com/office/powerpoint/2010/main" val="37442073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5007" y="1028343"/>
            <a:ext cx="7125195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dirty="0"/>
              <a:t> menu1.add(i1); </a:t>
            </a:r>
          </a:p>
          <a:p>
            <a:pPr lvl="1"/>
            <a:r>
              <a:rPr lang="en-US" dirty="0"/>
              <a:t> menu1.add(i2); </a:t>
            </a:r>
          </a:p>
          <a:p>
            <a:pPr lvl="1"/>
            <a:r>
              <a:rPr lang="en-US" dirty="0"/>
              <a:t> menu1.add(i3);  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submenu.add</a:t>
            </a:r>
            <a:r>
              <a:rPr lang="en-US" dirty="0"/>
              <a:t>(i4); 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submenu.add</a:t>
            </a:r>
            <a:r>
              <a:rPr lang="en-US" dirty="0"/>
              <a:t>(i5);  </a:t>
            </a:r>
          </a:p>
          <a:p>
            <a:r>
              <a:rPr lang="en-US" dirty="0"/>
              <a:t>          menu1.add(submenu);  </a:t>
            </a:r>
          </a:p>
          <a:p>
            <a:r>
              <a:rPr lang="en-US" dirty="0"/>
              <a:t>          </a:t>
            </a:r>
            <a:r>
              <a:rPr lang="en-US" dirty="0" err="1"/>
              <a:t>mb.add</a:t>
            </a:r>
            <a:r>
              <a:rPr lang="en-US" dirty="0"/>
              <a:t>(menu1);</a:t>
            </a:r>
          </a:p>
          <a:p>
            <a:r>
              <a:rPr lang="en-US" dirty="0"/>
              <a:t>          </a:t>
            </a:r>
            <a:r>
              <a:rPr lang="en-US" dirty="0" err="1"/>
              <a:t>mb.add</a:t>
            </a:r>
            <a:r>
              <a:rPr lang="en-US" dirty="0"/>
              <a:t>(menu2);</a:t>
            </a:r>
          </a:p>
          <a:p>
            <a:r>
              <a:rPr lang="en-US" dirty="0"/>
              <a:t>          </a:t>
            </a:r>
            <a:r>
              <a:rPr lang="en-US" dirty="0" err="1"/>
              <a:t>f.setJMenuBar</a:t>
            </a:r>
            <a:r>
              <a:rPr lang="en-US" dirty="0"/>
              <a:t>(</a:t>
            </a:r>
            <a:r>
              <a:rPr lang="en-US" dirty="0" err="1"/>
              <a:t>mb</a:t>
            </a:r>
            <a:r>
              <a:rPr lang="en-US" dirty="0"/>
              <a:t>);  </a:t>
            </a:r>
          </a:p>
          <a:p>
            <a:r>
              <a:rPr lang="en-US" dirty="0"/>
              <a:t>          </a:t>
            </a:r>
            <a:r>
              <a:rPr lang="en-US" dirty="0" err="1"/>
              <a:t>f.setSize</a:t>
            </a:r>
            <a:r>
              <a:rPr lang="en-US" dirty="0"/>
              <a:t>(400,400);  </a:t>
            </a:r>
          </a:p>
          <a:p>
            <a:r>
              <a:rPr lang="en-US" dirty="0"/>
              <a:t>          </a:t>
            </a:r>
            <a:r>
              <a:rPr lang="en-US" dirty="0" err="1"/>
              <a:t>f.setLayout</a:t>
            </a:r>
            <a:r>
              <a:rPr lang="en-US" dirty="0"/>
              <a:t>(null);  </a:t>
            </a:r>
          </a:p>
          <a:p>
            <a:r>
              <a:rPr lang="en-US" dirty="0"/>
              <a:t>          </a:t>
            </a:r>
            <a:r>
              <a:rPr lang="en-US" dirty="0" err="1"/>
              <a:t>f.setVisible</a:t>
            </a:r>
            <a:r>
              <a:rPr lang="en-US" dirty="0"/>
              <a:t>(true);  </a:t>
            </a:r>
          </a:p>
          <a:p>
            <a:r>
              <a:rPr lang="en-US" dirty="0"/>
              <a:t>}  </a:t>
            </a:r>
          </a:p>
          <a:p>
            <a:r>
              <a:rPr lang="en-US" dirty="0"/>
              <a:t>public static void main(String </a:t>
            </a:r>
            <a:r>
              <a:rPr lang="en-US" dirty="0" err="1"/>
              <a:t>args</a:t>
            </a:r>
            <a:r>
              <a:rPr lang="en-US" dirty="0"/>
              <a:t>[])  </a:t>
            </a:r>
          </a:p>
          <a:p>
            <a:r>
              <a:rPr lang="en-US" dirty="0"/>
              <a:t>{  </a:t>
            </a:r>
          </a:p>
          <a:p>
            <a:r>
              <a:rPr lang="en-US" dirty="0"/>
              <a:t>new Menu();  </a:t>
            </a:r>
          </a:p>
          <a:p>
            <a:r>
              <a:rPr lang="en-US" dirty="0"/>
              <a:t>}} 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" r="71432" b="50000"/>
          <a:stretch/>
        </p:blipFill>
        <p:spPr bwMode="auto">
          <a:xfrm>
            <a:off x="4940134" y="2697163"/>
            <a:ext cx="3633851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39456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Graphical User Interface</a:t>
            </a:r>
          </a:p>
          <a:p>
            <a:pPr lvl="1"/>
            <a:r>
              <a:rPr lang="en-US" dirty="0"/>
              <a:t>Graphic Class and </a:t>
            </a:r>
          </a:p>
          <a:p>
            <a:pPr lvl="1"/>
            <a:r>
              <a:rPr lang="en-US" dirty="0"/>
              <a:t>Event-Driven Programming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419370"/>
      </p:ext>
    </p:extLst>
  </p:cSld>
  <p:clrMapOvr>
    <a:masterClrMapping/>
  </p:clrMapOvr>
</p:sld>
</file>

<file path=ppt/theme/theme1.xml><?xml version="1.0" encoding="utf-8"?>
<a:theme xmlns:a="http://schemas.openxmlformats.org/drawingml/2006/main" name="Plaza">
  <a:themeElements>
    <a:clrScheme name="Plaza">
      <a:dk1>
        <a:sysClr val="windowText" lastClr="000000"/>
      </a:dk1>
      <a:lt1>
        <a:sysClr val="window" lastClr="FFFFFF"/>
      </a:lt1>
      <a:dk2>
        <a:srgbClr val="333333"/>
      </a:dk2>
      <a:lt2>
        <a:srgbClr val="CCCCCC"/>
      </a:lt2>
      <a:accent1>
        <a:srgbClr val="990000"/>
      </a:accent1>
      <a:accent2>
        <a:srgbClr val="580101"/>
      </a:accent2>
      <a:accent3>
        <a:srgbClr val="E94A00"/>
      </a:accent3>
      <a:accent4>
        <a:srgbClr val="EB8F00"/>
      </a:accent4>
      <a:accent5>
        <a:srgbClr val="A4A4A4"/>
      </a:accent5>
      <a:accent6>
        <a:srgbClr val="666666"/>
      </a:accent6>
      <a:hlink>
        <a:srgbClr val="D01010"/>
      </a:hlink>
      <a:folHlink>
        <a:srgbClr val="E6682E"/>
      </a:folHlink>
    </a:clrScheme>
    <a:fontScheme name="Plaza">
      <a:majorFont>
        <a:latin typeface="Century Gothic"/>
        <a:ea typeface=""/>
        <a:cs typeface=""/>
        <a:font script="Jpan" typeface="メイリオ"/>
      </a:majorFont>
      <a:minorFont>
        <a:latin typeface="Century Gothic"/>
        <a:ea typeface=""/>
        <a:cs typeface=""/>
        <a:font script="Jpan" typeface="メイリオ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  <a:greenMod val="100000"/>
              </a:schemeClr>
            </a:gs>
            <a:gs pos="100000">
              <a:schemeClr val="phClr">
                <a:tint val="100000"/>
                <a:shade val="100000"/>
                <a:satMod val="250000"/>
                <a:greenMod val="100000"/>
              </a:schemeClr>
            </a:gs>
          </a:gsLst>
          <a:lin ang="162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  <a:scene3d>
            <a:camera prst="orthographicFront">
              <a:rot lat="0" lon="0" rev="0"/>
            </a:camera>
            <a:lightRig rig="twoPt" dir="r">
              <a:rot lat="0" lon="0" rev="6000000"/>
            </a:lightRig>
          </a:scene3d>
          <a:sp3d prstMaterial="matte">
            <a:bevelT w="0" h="0" prst="relaxedInset"/>
          </a:sp3d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  <a:scene3d>
            <a:camera prst="perspectiveFront" fov="3000000"/>
            <a:lightRig rig="morning" dir="tl">
              <a:rot lat="0" lon="0" rev="1800000"/>
            </a:lightRig>
          </a:scene3d>
          <a:sp3d contourW="38100" prstMaterial="softEdge">
            <a:bevelT w="25400" h="38100"/>
            <a:contourClr>
              <a:schemeClr val="phClr">
                <a:tint val="6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Plaza.thmx</Template>
  <TotalTime>8817</TotalTime>
  <Words>4512</Words>
  <Application>Microsoft Office PowerPoint</Application>
  <PresentationFormat>On-screen Show (4:3)</PresentationFormat>
  <Paragraphs>687</Paragraphs>
  <Slides>50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63" baseType="lpstr">
      <vt:lpstr>Arial</vt:lpstr>
      <vt:lpstr>Book Antiqua</vt:lpstr>
      <vt:lpstr>Calibri</vt:lpstr>
      <vt:lpstr>Century Gothic</vt:lpstr>
      <vt:lpstr>Courier New</vt:lpstr>
      <vt:lpstr>Monotype Sorts</vt:lpstr>
      <vt:lpstr>Times New Roman</vt:lpstr>
      <vt:lpstr>Trebuchet MS</vt:lpstr>
      <vt:lpstr>Wingdings</vt:lpstr>
      <vt:lpstr>Wingdings 2</vt:lpstr>
      <vt:lpstr>Plaza</vt:lpstr>
      <vt:lpstr>Picture</vt:lpstr>
      <vt:lpstr>Document</vt:lpstr>
      <vt:lpstr>GUI Basics</vt:lpstr>
      <vt:lpstr>Outline of Class</vt:lpstr>
      <vt:lpstr>Java Graphical User Interface</vt:lpstr>
      <vt:lpstr>Java GUI API</vt:lpstr>
      <vt:lpstr>(1) Containers</vt:lpstr>
      <vt:lpstr>(2) Components</vt:lpstr>
      <vt:lpstr>(3) GUI Helper Classes</vt:lpstr>
      <vt:lpstr>Basic GUI Programming Steps in Java </vt:lpstr>
      <vt:lpstr>Frames</vt:lpstr>
      <vt:lpstr>PowerPoint Presentation</vt:lpstr>
      <vt:lpstr>Adding components to a frame</vt:lpstr>
      <vt:lpstr>Layout Managers</vt:lpstr>
      <vt:lpstr>(i) FlowLayout </vt:lpstr>
      <vt:lpstr>PowerPoint Presentation</vt:lpstr>
      <vt:lpstr>PowerPoint Presentation</vt:lpstr>
      <vt:lpstr>(ii) GridLayout</vt:lpstr>
      <vt:lpstr>PowerPoint Presentation</vt:lpstr>
      <vt:lpstr>PowerPoint Presentation</vt:lpstr>
      <vt:lpstr>(iii) BorderLayout</vt:lpstr>
      <vt:lpstr>PowerPoint Presentation</vt:lpstr>
      <vt:lpstr>PowerPoint Presentation</vt:lpstr>
      <vt:lpstr>Using Panels as Sub-Containers</vt:lpstr>
      <vt:lpstr>PowerPoint Presentation</vt:lpstr>
      <vt:lpstr>PowerPoint Presentation</vt:lpstr>
      <vt:lpstr>Components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Menu Bar</vt:lpstr>
      <vt:lpstr>PowerPoint Presentation</vt:lpstr>
      <vt:lpstr>Next week lecture</vt:lpstr>
    </vt:vector>
  </TitlesOfParts>
  <Company>Rits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graph theory  June 2015 (Week 1)</dc:title>
  <dc:creator>Nyien Aye</dc:creator>
  <cp:lastModifiedBy>Su Mon Ko</cp:lastModifiedBy>
  <cp:revision>385</cp:revision>
  <dcterms:created xsi:type="dcterms:W3CDTF">2015-05-25T07:06:30Z</dcterms:created>
  <dcterms:modified xsi:type="dcterms:W3CDTF">2022-09-22T10:28:12Z</dcterms:modified>
</cp:coreProperties>
</file>