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03" r:id="rId2"/>
    <p:sldId id="391" r:id="rId3"/>
    <p:sldId id="390" r:id="rId4"/>
    <p:sldId id="400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3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37E43-B0BB-4DE2-8CED-17C1F65A2C6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EF8D-D13B-4084-8AEC-00802CC66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5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0FEF8D-D13B-4084-8AEC-00802CC669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18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F8F5-4621-F0AD-122D-90BEBFA2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846BB-B68D-B524-E8B6-D033619B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80C5-3249-1C2C-6D8F-01B99901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0" y="6516687"/>
            <a:ext cx="5112434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5245-BF9B-4EF7-AD6D-BE19FC01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002D-9FE5-A769-8558-4F6E547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B782-F73E-961B-DF36-D04E3EFF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580B-0614-37F6-FDB9-2A0A965B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4609-F7EE-854B-8736-61A72A47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C718-D449-65F4-D5DC-1025B83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30DE2-1F7F-854E-DE26-6E145E0E3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1A0F6-2617-28B4-6C6C-340B8032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229A-F631-95D5-C56B-F2DE1C34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6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7CF2-9EDE-75F5-0FDE-11BA89CD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BB62-F41F-337E-277E-CE5F8DFBF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A410-BA52-D7DD-D3F9-427B2F82A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482B9-8EB8-63CD-ABBF-5FBF1B03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A9D7-B5B9-527A-3723-FB3DEBD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1763-4BF6-A29D-34BB-1A9C5F62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FDCF2-1ED3-B308-2F63-22D30531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87794-9C3A-0FBE-367A-794D14FD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0A52-5028-B5E1-8A9B-EEDF49DC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BA8B4-4FAE-EC95-7A26-3C560D909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5EF49-2F9A-CE46-2F38-1E07AF30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405E8-F536-E8C7-F0DB-2E938A1A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33E9-647D-905B-71F9-36DB254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2B40B-F1A1-00F8-F337-612DB8A2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B340B-88B6-9162-0D04-62424525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7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41A32-B060-F417-9693-A26B07FF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30158-4DC7-E097-CD45-9178094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AE1-B571-57F9-3F73-25BB71A6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E2BA-86BD-CB46-30DA-0A06FE5A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7F2A4-2C8A-9362-D2CD-8C79A634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81F9-9CB6-4BA0-920B-82D2F2C2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610C7-3D03-7E0E-1123-6953E693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6430-2E6C-FD9E-1082-09C4F539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CB355-ACBC-34E6-30E5-E7AF74AE2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2CCFF-00D6-83D4-6514-421831A7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9C529-60A8-4689-C9E6-62CDE71E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054B-8B01-FBE9-E987-FE835417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C306-E58A-5F4A-E21D-B9D92452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9132-56DE-43ED-D391-93B373C89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D35D-348C-A669-8F44-D78F5D8C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58E4-1943-4249-AA27-5FFF64D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6EEF-6B0C-F3A5-DE09-83BE035D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BE8D5-C0EE-FB85-1000-00F37361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9275-18CF-790D-D381-2CF5B192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BF2E-43A2-92BE-6F07-C7206740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CD726-978C-2999-932E-DDFFD61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A0EB4-880F-D68B-2534-9E21B72C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9C0B1-EA60-DB6A-C2E1-283877053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1834" y="65389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CEB1-0130-DBF9-4A32-9F15C984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2" y="6490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9560457-9E56-4EE8-84E0-8F9CFD0ABA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23D30-B1E0-D419-E585-4A6354467E81}"/>
              </a:ext>
            </a:extLst>
          </p:cNvPr>
          <p:cNvSpPr/>
          <p:nvPr userDrawn="1"/>
        </p:nvSpPr>
        <p:spPr>
          <a:xfrm>
            <a:off x="297766" y="291588"/>
            <a:ext cx="11596468" cy="624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32AAC0-E9FE-4E5C-BFAB-6FC6BA9AEB4E}"/>
              </a:ext>
            </a:extLst>
          </p:cNvPr>
          <p:cNvSpPr/>
          <p:nvPr userDrawn="1"/>
        </p:nvSpPr>
        <p:spPr>
          <a:xfrm>
            <a:off x="3507922" y="2080752"/>
            <a:ext cx="5102680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NSPU</a:t>
            </a:r>
          </a:p>
        </p:txBody>
      </p:sp>
    </p:spTree>
    <p:extLst>
      <p:ext uri="{BB962C8B-B14F-4D97-AF65-F5344CB8AC3E}">
        <p14:creationId xmlns:p14="http://schemas.microsoft.com/office/powerpoint/2010/main" val="393625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6726"/>
            <a:ext cx="12192000" cy="6904725"/>
          </a:xfrm>
          <a:prstGeom prst="rect">
            <a:avLst/>
          </a:prstGeom>
          <a:noFill/>
          <a:ln w="3175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/>
          <p:cNvSpPr txBox="1"/>
          <p:nvPr/>
        </p:nvSpPr>
        <p:spPr>
          <a:xfrm>
            <a:off x="723578" y="960951"/>
            <a:ext cx="10144690" cy="256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NAYPYITAW STATE POLYTECHNIC UNIVERSITY(NSPU)</a:t>
            </a:r>
          </a:p>
          <a:p>
            <a:pPr>
              <a:lnSpc>
                <a:spcPct val="150000"/>
              </a:lnSpc>
            </a:pPr>
            <a:endParaRPr lang="en-US" sz="1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Mathematics</a:t>
            </a:r>
            <a:br>
              <a:rPr lang="en-US" sz="9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2025-2026</a:t>
            </a:r>
          </a:p>
          <a:p>
            <a:pPr>
              <a:lnSpc>
                <a:spcPct val="150000"/>
              </a:lnSpc>
            </a:pPr>
            <a:endParaRPr lang="en-US" sz="9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28316" y="6621488"/>
            <a:ext cx="2743200" cy="365125"/>
          </a:xfrm>
        </p:spPr>
        <p:txBody>
          <a:bodyPr/>
          <a:lstStyle/>
          <a:p>
            <a:fld id="{39560457-9E56-4EE8-84E0-8F9CFD0ABA54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12533" y="3074385"/>
            <a:ext cx="90205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Mathematics IV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(Fourier Analysis and Complex Analysis)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(EM-4012)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820" y="49508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Email:soesandaraye1986@gmail.com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05" y="323849"/>
            <a:ext cx="1251375" cy="1196725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B82BDDD-7BEB-41CA-883A-1D3B55E6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66C2B-1608-2467-9B47-2AD39EE3D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45650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Arbitrary Period. Even and Odd Functions 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Half-Range Expansions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99C8E-74BA-B3A1-CCE3-25FB9C87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B4AE4-5B6E-F356-2693-6D2350627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628D11-7409-4353-92AC-7E1C063D2ABC}"/>
              </a:ext>
            </a:extLst>
          </p:cNvPr>
          <p:cNvSpPr>
            <a:spLocks noGrp="1"/>
          </p:cNvSpPr>
          <p:nvPr/>
        </p:nvSpPr>
        <p:spPr>
          <a:xfrm>
            <a:off x="734060" y="3067685"/>
            <a:ext cx="10515600" cy="3057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Objectives,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Arbitrary Period. Even and Odd Functions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problems by Theory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problems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Theory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0371D22-9D1C-49F7-B183-FD13AEA8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6087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7F937D-3458-A8AF-9369-A9D766B05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686" y="397518"/>
                <a:ext cx="11459966" cy="609313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Arbitrary Period. Even and Odd Functions . </a:t>
                </a:r>
              </a:p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Half-Range Expansions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section concerns three topics: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from period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any period 2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for the function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simply by a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transformation of scale on the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x-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axis.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Simplifications. Only cosine terms if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even (“Fourier cosine series”). Only sine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terms if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odd (“Fourier sine series”).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Expansion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two Fourier series, one having only cosine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terms and the other only sine terms (“half-range expansions”).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7F937D-3458-A8AF-9369-A9D766B05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686" y="397518"/>
                <a:ext cx="11459966" cy="6093134"/>
              </a:xfrm>
              <a:blipFill>
                <a:blip r:embed="rId2"/>
                <a:stretch>
                  <a:fillRect l="-957" t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A2354-E8A0-7168-0F16-013F792A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48B4AD9-EF04-4332-957C-7F048E01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564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7F937D-3458-A8AF-9369-A9D766B05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686" y="397518"/>
                <a:ext cx="11459966" cy="609313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Period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any Period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 series for period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𝐿</m:t>
                                      </m:r>
                                    </m:den>
                                  </m:f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Arial" pitchFamily="34" charset="0"/>
                  <a:cs typeface="Arial" pitchFamily="34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7F937D-3458-A8AF-9369-A9D766B05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686" y="397518"/>
                <a:ext cx="11459966" cy="6093134"/>
              </a:xfrm>
              <a:blipFill>
                <a:blip r:embed="rId2"/>
                <a:stretch>
                  <a:fillRect l="-851" t="-1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A2354-E8A0-7168-0F16-013F792A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248B92-97A3-496B-B504-C63CC1D1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858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BF84F-CAB0-135A-17C9-85C5593D68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7507" y="387242"/>
                <a:ext cx="11408595" cy="601355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 Rectangular Wave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series of the function in the figure.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−2&lt;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&lt;−1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−1&lt;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&lt;1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0       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1&lt;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=4,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BF84F-CAB0-135A-17C9-85C5593D6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507" y="387242"/>
                <a:ext cx="11408595" cy="6013557"/>
              </a:xfrm>
              <a:blipFill>
                <a:blip r:embed="rId2"/>
                <a:stretch>
                  <a:fillRect l="-695" t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553EB-A90F-4E51-E926-159E8CE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814F664-E6F0-3A17-8B34-F272C71A6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86510"/>
            <a:ext cx="4419600" cy="2096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AB4481E-9668-4D53-A24A-BE19C5B3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67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C81F44-2FDE-85D2-8DE1-0D068F4985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7781" y="387243"/>
                <a:ext cx="11346951" cy="609664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−2&lt;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&lt;−1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−1&lt;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&lt;1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0       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1&lt;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=4,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−2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𝑘𝑑𝑥</m:t>
                        </m:r>
                      </m:e>
                    </m:nary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𝑘𝑥</m:t>
                        </m:r>
                      </m:e>
                    </m:d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mr>
                    </m:m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C81F44-2FDE-85D2-8DE1-0D068F498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781" y="387243"/>
                <a:ext cx="11346951" cy="6096644"/>
              </a:xfrm>
              <a:blipFill>
                <a:blip r:embed="rId3"/>
                <a:stretch>
                  <a:fillRect l="-806" t="-1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A831C-33C7-A0F7-7352-7C0D9959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E4834AC-999A-48D8-BAAE-BB2D5F25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3345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0FAA5-508B-E73E-6564-6D6E3D4C9B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960" y="428338"/>
                <a:ext cx="11439418" cy="60623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𝑙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−2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den>
                          </m:f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−1</m:t>
                            </m:r>
                          </m:e>
                        </m:mr>
                      </m:m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=0</m:t>
                          </m:r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−2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and so on.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0FAA5-508B-E73E-6564-6D6E3D4C9B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960" y="428338"/>
                <a:ext cx="11439418" cy="606231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7C6D1-B984-2647-0C5A-170F6E09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559C14D-379B-4E0F-A35B-3D7A81E1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893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686234-A09F-8ED9-50AC-4FA3BD976C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1154" y="407792"/>
                <a:ext cx="11449692" cy="607609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 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−2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𝑥𝑑𝑥</m:t>
                            </m:r>
                          </m:e>
                        </m:func>
                      </m:e>
                    </m:nary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func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den>
                        </m:f>
                      </m:e>
                    </m:d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mr>
                    </m:m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∴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=0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ourier series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𝐿</m:t>
                                      </m:r>
                                    </m:den>
                                  </m:f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                    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func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cos</m:t>
                        </m:r>
                      </m:fName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func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+⋯⋯⋯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686234-A09F-8ED9-50AC-4FA3BD976C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54" y="407792"/>
                <a:ext cx="11449692" cy="6076095"/>
              </a:xfrm>
              <a:blipFill>
                <a:blip r:embed="rId2"/>
                <a:stretch>
                  <a:fillRect l="-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7B40D-E073-14E4-A893-F0C4ABC6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3EBA5AF-3741-4B4A-A1D4-C241337E5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487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D91E6-CF0A-AB83-C9C0-E68ED89A47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960" y="428338"/>
                <a:ext cx="11357224" cy="596218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Periodic Rectangular Wave. Change of Scale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ourier series of the function.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−2&lt;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0&lt;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&lt;2</m:t>
                              </m:r>
                            </m:e>
                          </m:eqAr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=4,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=2.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−2&lt;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𝑖𝑓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0&lt;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&lt;2</m:t>
                              </m:r>
                            </m:e>
                          </m:eqAr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=4,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=2.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−2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−21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sup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𝑘𝑑𝑥</m:t>
                              </m:r>
                            </m:e>
                          </m:nary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limLoc m:val="subSup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𝑘𝑑𝑥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DD91E6-CF0A-AB83-C9C0-E68ED89A4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960" y="428338"/>
                <a:ext cx="11357224" cy="5962187"/>
              </a:xfrm>
              <a:blipFill>
                <a:blip r:embed="rId2"/>
                <a:stretch>
                  <a:fillRect l="-805" t="-2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A7EA9-8E2A-D9CA-5E3B-6A337282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181A95-5E3E-43D2-8551-EA2108AAA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27" y="1497981"/>
            <a:ext cx="3354675" cy="2696332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2C57878-67C1-42C2-AD3D-FED7D2CB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9726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416F3-6B31-478B-E298-978956BC32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330" y="469435"/>
                <a:ext cx="11316127" cy="60144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𝑙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  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−2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limLoc m:val="subSup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−2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cos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𝑥𝑑𝑥</m:t>
                                </m:r>
                              </m:e>
                            </m:func>
                          </m:e>
                        </m:nary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nary>
                          <m:naryPr>
                            <m:limLoc m:val="subSup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cos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𝑥𝑑𝑥</m:t>
                                </m:r>
                              </m:e>
                            </m:func>
                          </m:e>
                        </m:nary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−2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func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−2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sup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nary>
                            <m:naryPr>
                              <m:limLoc m:val="subSup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𝑑𝑥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416F3-6B31-478B-E298-978956BC3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330" y="469435"/>
                <a:ext cx="11316127" cy="601445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C2B70-E81B-4CAF-2818-7901A04A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10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2FA297F-DD2F-4F96-BFA6-29A217D2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702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8009B7-1C6B-EE24-AF47-FCBDAD447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766" y="315324"/>
                <a:ext cx="11521611" cy="61753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4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so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on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Fourier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series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is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𝐿</m:t>
                                      </m:r>
                                    </m:den>
                                  </m:f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den>
                        </m:f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(1−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</m:func>
                      </m:e>
                    </m:nary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⋯⋯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8009B7-1C6B-EE24-AF47-FCBDAD447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766" y="315324"/>
                <a:ext cx="11521611" cy="617532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F91DE-8C7E-3589-08C5-6800E353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11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28A8109-F8AB-4164-A68F-783A050A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633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5E8B0-71DD-192B-BAB2-B089316D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1D5FA7BB-28D3-000F-9486-1F7C41005CE5}"/>
              </a:ext>
            </a:extLst>
          </p:cNvPr>
          <p:cNvSpPr txBox="1">
            <a:spLocks/>
          </p:cNvSpPr>
          <p:nvPr/>
        </p:nvSpPr>
        <p:spPr>
          <a:xfrm>
            <a:off x="3552264" y="177553"/>
            <a:ext cx="5393391" cy="630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0D6E0-59BA-9F80-29B5-806062C9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6" y="1763965"/>
            <a:ext cx="2000528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139153-5E14-E658-7947-669471D23F83}"/>
                  </a:ext>
                </a:extLst>
              </p:cNvPr>
              <p:cNvSpPr txBox="1"/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Advanced Engineering Mathematics, Erwin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Kreyszig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Edition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139153-5E14-E658-7947-669471D2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blipFill rotWithShape="0">
                <a:blip r:embed="rId3"/>
                <a:stretch>
                  <a:fillRect l="-778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DA02EEF-0630-0C89-647C-51C8C0C5E10F}"/>
              </a:ext>
            </a:extLst>
          </p:cNvPr>
          <p:cNvSpPr/>
          <p:nvPr/>
        </p:nvSpPr>
        <p:spPr>
          <a:xfrm>
            <a:off x="9571264" y="4974507"/>
            <a:ext cx="2321858" cy="1559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81C076D-6F0D-4E2F-9DF5-6A451EA1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7994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212745"/>
      </a:dk2>
      <a:lt2>
        <a:srgbClr val="7030A0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651</Words>
  <Application>Microsoft Office PowerPoint</Application>
  <PresentationFormat>Widescreen</PresentationFormat>
  <Paragraphs>134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MATHS_DPRT</dc:creator>
  <cp:lastModifiedBy>Dell</cp:lastModifiedBy>
  <cp:revision>88</cp:revision>
  <dcterms:created xsi:type="dcterms:W3CDTF">2023-06-26T03:06:53Z</dcterms:created>
  <dcterms:modified xsi:type="dcterms:W3CDTF">2026-05-25T02:26:56Z</dcterms:modified>
</cp:coreProperties>
</file>