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02" r:id="rId2"/>
    <p:sldId id="389" r:id="rId3"/>
    <p:sldId id="377" r:id="rId4"/>
    <p:sldId id="383" r:id="rId5"/>
    <p:sldId id="387" r:id="rId6"/>
    <p:sldId id="399" r:id="rId7"/>
    <p:sldId id="409" r:id="rId8"/>
    <p:sldId id="40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37E43-B0BB-4DE2-8CED-17C1F65A2C6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EF8D-D13B-4084-8AEC-00802CC66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5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F8F5-4621-F0AD-122D-90BEBFA2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846BB-B68D-B524-E8B6-D033619B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80C5-3249-1C2C-6D8F-01B99901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0" y="6516687"/>
            <a:ext cx="5112434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5245-BF9B-4EF7-AD6D-BE19FC01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002D-9FE5-A769-8558-4F6E547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B782-F73E-961B-DF36-D04E3EFF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580B-0614-37F6-FDB9-2A0A965B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4609-F7EE-854B-8736-61A72A47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C718-D449-65F4-D5DC-1025B83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30DE2-1F7F-854E-DE26-6E145E0E3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1A0F6-2617-28B4-6C6C-340B8032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229A-F631-95D5-C56B-F2DE1C34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6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7CF2-9EDE-75F5-0FDE-11BA89CD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BB62-F41F-337E-277E-CE5F8DFBF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A410-BA52-D7DD-D3F9-427B2F82A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482B9-8EB8-63CD-ABBF-5FBF1B03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A9D7-B5B9-527A-3723-FB3DEBD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1763-4BF6-A29D-34BB-1A9C5F62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FDCF2-1ED3-B308-2F63-22D30531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87794-9C3A-0FBE-367A-794D14FD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0A52-5028-B5E1-8A9B-EEDF49DC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BA8B4-4FAE-EC95-7A26-3C560D909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5EF49-2F9A-CE46-2F38-1E07AF30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405E8-F536-E8C7-F0DB-2E938A1A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33E9-647D-905B-71F9-36DB254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2B40B-F1A1-00F8-F337-612DB8A2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B340B-88B6-9162-0D04-62424525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7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41A32-B060-F417-9693-A26B07FF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30158-4DC7-E097-CD45-9178094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AE1-B571-57F9-3F73-25BB71A6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E2BA-86BD-CB46-30DA-0A06FE5A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7F2A4-2C8A-9362-D2CD-8C79A634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81F9-9CB6-4BA0-920B-82D2F2C2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610C7-3D03-7E0E-1123-6953E693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6430-2E6C-FD9E-1082-09C4F539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CB355-ACBC-34E6-30E5-E7AF74AE2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2CCFF-00D6-83D4-6514-421831A7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9C529-60A8-4689-C9E6-62CDE71E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054B-8B01-FBE9-E987-FE835417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C306-E58A-5F4A-E21D-B9D92452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9132-56DE-43ED-D391-93B373C89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D35D-348C-A669-8F44-D78F5D8C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58E4-1943-4249-AA27-5FFF64D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6EEF-6B0C-F3A5-DE09-83BE035D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BE8D5-C0EE-FB85-1000-00F37361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9275-18CF-790D-D381-2CF5B192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BF2E-43A2-92BE-6F07-C7206740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CD726-978C-2999-932E-DDFFD61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A0EB4-880F-D68B-2534-9E21B72C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9C0B1-EA60-DB6A-C2E1-283877053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1834" y="65389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CEB1-0130-DBF9-4A32-9F15C984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2" y="6490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9560457-9E56-4EE8-84E0-8F9CFD0ABA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23D30-B1E0-D419-E585-4A6354467E81}"/>
              </a:ext>
            </a:extLst>
          </p:cNvPr>
          <p:cNvSpPr/>
          <p:nvPr userDrawn="1"/>
        </p:nvSpPr>
        <p:spPr>
          <a:xfrm>
            <a:off x="297766" y="291588"/>
            <a:ext cx="11596468" cy="624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DE399-E715-465A-AD9C-432FC7D08DD6}"/>
              </a:ext>
            </a:extLst>
          </p:cNvPr>
          <p:cNvSpPr/>
          <p:nvPr userDrawn="1"/>
        </p:nvSpPr>
        <p:spPr>
          <a:xfrm>
            <a:off x="3507922" y="2080752"/>
            <a:ext cx="5102680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NSPU</a:t>
            </a:r>
          </a:p>
        </p:txBody>
      </p:sp>
    </p:spTree>
    <p:extLst>
      <p:ext uri="{BB962C8B-B14F-4D97-AF65-F5344CB8AC3E}">
        <p14:creationId xmlns:p14="http://schemas.microsoft.com/office/powerpoint/2010/main" val="393625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6726"/>
            <a:ext cx="12192000" cy="6904725"/>
          </a:xfrm>
          <a:prstGeom prst="rect">
            <a:avLst/>
          </a:prstGeom>
          <a:noFill/>
          <a:ln w="3175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/>
          <p:cNvSpPr txBox="1"/>
          <p:nvPr/>
        </p:nvSpPr>
        <p:spPr>
          <a:xfrm>
            <a:off x="723578" y="960951"/>
            <a:ext cx="10144690" cy="256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NAYPYITAW STATE POLYTECHNIC UNIVERSITY(NSPU)</a:t>
            </a:r>
          </a:p>
          <a:p>
            <a:pPr>
              <a:lnSpc>
                <a:spcPct val="150000"/>
              </a:lnSpc>
            </a:pPr>
            <a:endParaRPr lang="en-US" sz="1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Mathematics</a:t>
            </a:r>
            <a:br>
              <a:rPr lang="en-US" sz="9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2025-2026</a:t>
            </a:r>
          </a:p>
          <a:p>
            <a:pPr>
              <a:lnSpc>
                <a:spcPct val="150000"/>
              </a:lnSpc>
            </a:pPr>
            <a:endParaRPr lang="en-US" sz="9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28316" y="6621488"/>
            <a:ext cx="2743200" cy="365125"/>
          </a:xfrm>
        </p:spPr>
        <p:txBody>
          <a:bodyPr/>
          <a:lstStyle/>
          <a:p>
            <a:fld id="{39560457-9E56-4EE8-84E0-8F9CFD0ABA54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12533" y="3074385"/>
            <a:ext cx="90205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Mathematics IV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(Fourier Analysis and Complex Analysis)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(EM-4012)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820" y="49508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Email:soesandaraye1986@gmail.com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05" y="323849"/>
            <a:ext cx="1251375" cy="1196725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38899AB-2AA6-43E2-9F66-1F113990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C39D9-948B-F0BB-F32D-0797F00E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54525" y="375914"/>
            <a:ext cx="11519554" cy="2100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Logarithm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C4E4B0-D8B7-4463-8D67-400A810BD88A}"/>
              </a:ext>
            </a:extLst>
          </p:cNvPr>
          <p:cNvSpPr>
            <a:spLocks noGrp="1"/>
          </p:cNvSpPr>
          <p:nvPr/>
        </p:nvSpPr>
        <p:spPr>
          <a:xfrm>
            <a:off x="734060" y="3067685"/>
            <a:ext cx="10515600" cy="3057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Objectives,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Logarithm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problems by Theory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problems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Theory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B104FB1-0EF7-48E5-B3B1-F3E503B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197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1258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946818E-4F36-4905-B4A3-548A19720B86}"/>
              </a:ext>
            </a:extLst>
          </p:cNvPr>
          <p:cNvSpPr txBox="1">
            <a:spLocks/>
          </p:cNvSpPr>
          <p:nvPr/>
        </p:nvSpPr>
        <p:spPr>
          <a:xfrm>
            <a:off x="441506" y="171949"/>
            <a:ext cx="11638721" cy="3836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None/>
            </a:pPr>
            <a:r>
              <a:rPr lang="en-US" sz="2400" b="0" dirty="0"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None/>
            </a:pPr>
            <a:r>
              <a:rPr lang="en-US" sz="2400" b="0" dirty="0"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None/>
            </a:pPr>
            <a:r>
              <a:rPr lang="en-US" sz="2400" b="0" dirty="0"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2231" y="273377"/>
                <a:ext cx="11613823" cy="4529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Hyperbolic Functions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endParaRPr lang="en-US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spcBef>
                    <a:spcPts val="6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(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  <a:tabLst>
                    <a:tab pos="5884863" algn="l"/>
                  </a:tabLs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)′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,   </m:t>
                        </m:r>
                      </m:e>
                    </m:func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)′=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  <a:tabLst>
                    <a:tab pos="5884863" algn="l"/>
                  </a:tabLs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sinh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cosh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func>
                          </m:den>
                        </m:f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cot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sinh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func>
                          </m:den>
                        </m:f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  <a:tabLst>
                    <a:tab pos="5884863" algn="l"/>
                  </a:tabLs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sech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cosh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func>
                          </m:den>
                        </m:f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csc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sinh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func>
                          </m:den>
                        </m:f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  <a:tabLst>
                    <a:tab pos="5884863" algn="l"/>
                  </a:tabLs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,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sinh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𝑖𝑧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  <a:tabLst>
                    <a:tab pos="5884863" algn="l"/>
                  </a:tabLs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iz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z  ,  sin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iz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z</a:t>
                </a:r>
              </a:p>
              <a:p>
                <a:pPr algn="just">
                  <a:spcBef>
                    <a:spcPts val="600"/>
                  </a:spcBef>
                  <a:tabLst>
                    <a:tab pos="5884863" algn="l"/>
                  </a:tabLst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31" y="273377"/>
                <a:ext cx="11613823" cy="4529060"/>
              </a:xfrm>
              <a:prstGeom prst="rect">
                <a:avLst/>
              </a:prstGeom>
              <a:blipFill>
                <a:blip r:embed="rId3"/>
                <a:stretch>
                  <a:fillRect l="-840" t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4D72B0A-D14D-4EC9-8F28-A55A25C72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10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370"/>
    </mc:Choice>
    <mc:Fallback xmlns="">
      <p:transition spd="slow" advTm="13637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2" y="6533515"/>
            <a:ext cx="2743200" cy="365125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1258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F5C767-8238-4DDB-B7B2-EC6BA18CABA5}"/>
              </a:ext>
            </a:extLst>
          </p:cNvPr>
          <p:cNvSpPr txBox="1">
            <a:spLocks/>
          </p:cNvSpPr>
          <p:nvPr/>
        </p:nvSpPr>
        <p:spPr>
          <a:xfrm>
            <a:off x="316396" y="268729"/>
            <a:ext cx="11559207" cy="2703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None/>
            </a:pPr>
            <a:r>
              <a:rPr lang="en-US" sz="2400" b="0" dirty="0"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None/>
            </a:pPr>
            <a:r>
              <a:rPr lang="en-US" sz="2400" b="0" dirty="0"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6396" y="268729"/>
                <a:ext cx="11451397" cy="5680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1"/>
                  </a:buClr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Logarithm Rules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𝑙𝑛𝑧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𝑙𝑛𝑟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(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&gt;0)</m:t>
                        </m:r>
                      </m:e>
                    </m:func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principal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𝑙𝑛𝑧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𝑛𝑧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𝑙𝑛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,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=1,2,3,..)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𝐴𝑟𝑔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𝑧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𝑦,      𝑎𝑟𝑔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𝑧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𝐴𝑟𝑔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𝑧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2𝑛𝜋 = 𝑦 ± 2𝑛𝜋 , 𝑛 = 0,1,2, … 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)=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± 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;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0,1,2,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…,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positive real</a:t>
                </a:r>
                <a:r>
                  <a:rPr lang="en-US" sz="2400" dirty="0"/>
                  <a:t> →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𝐴𝑟𝑔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0 </m:t>
                    </m:r>
                  </m:oMath>
                </a14:m>
                <a:endParaRPr lang="en-US" sz="2400" dirty="0"/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/>
                  <a:t>∴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𝑖𝐴𝑟𝑔𝑧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 real </a:t>
                </a:r>
                <a:r>
                  <a:rPr lang="en-US" sz="2400" dirty="0"/>
                  <a:t>→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𝐴𝑟𝑔𝑧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i="1" dirty="0"/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𝐴𝑟𝑔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func>
                      </m:e>
                    </m:func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Example(1). Natural Logarithm. Principle value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= 0                                  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ln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= 0 ±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1,2, …)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 = 1.386294                                 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ln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 = 1. 386294 ±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1,2, … )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(−1)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ln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(−1)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± 3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± 5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,..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96" y="268729"/>
                <a:ext cx="11451397" cy="5680851"/>
              </a:xfrm>
              <a:prstGeom prst="rect">
                <a:avLst/>
              </a:prstGeom>
              <a:blipFill>
                <a:blip r:embed="rId3"/>
                <a:stretch>
                  <a:fillRect l="-852" t="-858" b="-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1C553E0-A05B-4DF6-9EB4-B4B7042F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324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370"/>
    </mc:Choice>
    <mc:Fallback xmlns="">
      <p:transition spd="slow" advTm="13637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45373" y="292232"/>
                <a:ext cx="11501253" cy="6160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(−4) = 1.386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ln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(−4) = 1.386 ± (2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−1)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1,2, … 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(e)   𝐿𝑛 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𝑖                                𝑙𝑛 𝑖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,..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(f)   𝐿𝑛 4𝑖 = 1.386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𝑖                  𝑙𝑛4𝑖 = 1.386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𝑖 ± 2𝑛𝜋𝑖 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  𝐿𝑛 (− 4𝑖) = 1.386 −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𝑖            ln (−4𝑖) = 1.386 −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𝑖 ± 2𝑛𝜋𝑖 </a:t>
                </a:r>
              </a:p>
              <a:p>
                <a:pPr marL="457200" indent="-457200" algn="just">
                  <a:spcBef>
                    <a:spcPts val="600"/>
                  </a:spcBef>
                  <a:buClr>
                    <a:schemeClr val="accent1"/>
                  </a:buClr>
                  <a:buAutoNum type="alphaLcParenBoth" startAt="8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𝐿𝑛(3 − 4𝑖) = 1.609 − 0.927𝑖    ln (3 − 4𝑖) = 1.609 − 0.927𝑖 ± 2𝑛𝜋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      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(a)………….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ln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(b)………….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ln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Example(2). Illustration of the functional Relation in Complex</a:t>
                </a:r>
              </a:p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=−1,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(5a)  holds provided we write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ln 1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 , it is not true for the principal value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ln 1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Powers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powers of a complex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𝑖𝑦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defined by the formula,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 complex,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73" y="292232"/>
                <a:ext cx="11501253" cy="6160661"/>
              </a:xfrm>
              <a:prstGeom prst="rect">
                <a:avLst/>
              </a:prstGeom>
              <a:blipFill rotWithShape="0">
                <a:blip r:embed="rId3"/>
                <a:stretch>
                  <a:fillRect l="-848" b="-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AFFF605-194D-4C47-82CC-98E7E8CA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666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05"/>
    </mc:Choice>
    <mc:Fallback xmlns="">
      <p:transition spd="slow" advTm="11740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70D3E-6680-C4EF-DA95-5BC41349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9938" y="339365"/>
                <a:ext cx="11576116" cy="5847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ln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infinitely many-valued,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will, in general, be multivalued. The particular value 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func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called the principal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Example-3: General Power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𝒍𝒏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𝒆𝒙𝒑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𝒍𝒏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</m:d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principal value.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⁡(1+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⁡(1+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±4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±2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+(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±4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±2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func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− 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rad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±2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func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.(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).(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±4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±4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.(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rad>
                                      </m:e>
                                    </m:func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func>
                                      <m:func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ln</m:t>
                                            </m:r>
                                          </m:fName>
                                          <m:e>
                                            <m:rad>
                                              <m:radPr>
                                                <m:degHide m:val="on"/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radPr>
                                              <m:deg/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e>
                                            </m:rad>
                                          </m:e>
                                        </m:func>
                                      </m:e>
                                    </m:func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ln</m:t>
                                </m:r>
                              </m:fNam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func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38" y="339365"/>
                <a:ext cx="11576116" cy="5847435"/>
              </a:xfrm>
              <a:prstGeom prst="rect">
                <a:avLst/>
              </a:prstGeom>
              <a:blipFill rotWithShape="0">
                <a:blip r:embed="rId2"/>
                <a:stretch>
                  <a:fillRect l="-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A3EBE69-0309-42DF-BF2C-33E4AE1D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672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4205" y="358219"/>
                <a:ext cx="11566689" cy="2389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ln</m:t>
                                </m:r>
                              </m:fNam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func>
                          </m:e>
                        </m:func>
                      </m:e>
                    </m:func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(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ln</m:t>
                                </m:r>
                              </m:fNam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func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𝑐𝑜𝑠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ln</m:t>
                                </m:r>
                              </m:fNam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func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func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𝑤h𝑒𝑛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2.19328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0.339677+0.940542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=1.488969+4.124841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evaluates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=1.488969+4.124841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𝒍𝒏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05" y="358219"/>
                <a:ext cx="11566689" cy="2389693"/>
              </a:xfrm>
              <a:prstGeom prst="rect">
                <a:avLst/>
              </a:prstGeom>
              <a:blipFill rotWithShape="0">
                <a:blip r:embed="rId3"/>
                <a:stretch>
                  <a:fillRect l="-843" b="-4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71D0945-C090-46E6-BFA8-4510CEA0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154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05"/>
    </mc:Choice>
    <mc:Fallback xmlns="">
      <p:transition spd="slow" advTm="11740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5E8B0-71DD-192B-BAB2-B089316D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8</a:t>
            </a:fld>
            <a:endParaRPr lang="en-US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1D5FA7BB-28D3-000F-9486-1F7C41005CE5}"/>
              </a:ext>
            </a:extLst>
          </p:cNvPr>
          <p:cNvSpPr txBox="1">
            <a:spLocks/>
          </p:cNvSpPr>
          <p:nvPr/>
        </p:nvSpPr>
        <p:spPr>
          <a:xfrm>
            <a:off x="3552264" y="177553"/>
            <a:ext cx="5393391" cy="630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0D6E0-59BA-9F80-29B5-806062C9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6" y="1763965"/>
            <a:ext cx="2000528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139153-5E14-E658-7947-669471D23F83}"/>
                  </a:ext>
                </a:extLst>
              </p:cNvPr>
              <p:cNvSpPr txBox="1"/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Advanced Engineering Mathematics, Erwin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Kreyszig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Edition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139153-5E14-E658-7947-669471D2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blipFill rotWithShape="0">
                <a:blip r:embed="rId3"/>
                <a:stretch>
                  <a:fillRect l="-778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DA02EEF-0630-0C89-647C-51C8C0C5E10F}"/>
              </a:ext>
            </a:extLst>
          </p:cNvPr>
          <p:cNvSpPr/>
          <p:nvPr/>
        </p:nvSpPr>
        <p:spPr>
          <a:xfrm>
            <a:off x="9571264" y="4974507"/>
            <a:ext cx="2321858" cy="1559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540D48E-E749-4B0B-9129-AE4B7B02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48541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23.7|15|55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23.7|15|55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6.6|6.4|6.6|10.1|25.5|18|19.7|6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6.6|6.4|6.6|10.1|25.5|18|19.7|6.5"/>
</p:tagLst>
</file>

<file path=ppt/theme/theme1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212745"/>
      </a:dk2>
      <a:lt2>
        <a:srgbClr val="7030A0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783</Words>
  <Application>Microsoft Office PowerPoint</Application>
  <PresentationFormat>Widescreen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MATHS_DPRT</dc:creator>
  <cp:lastModifiedBy>Dell</cp:lastModifiedBy>
  <cp:revision>78</cp:revision>
  <dcterms:created xsi:type="dcterms:W3CDTF">2023-06-26T03:06:53Z</dcterms:created>
  <dcterms:modified xsi:type="dcterms:W3CDTF">2026-05-25T02:35:28Z</dcterms:modified>
</cp:coreProperties>
</file>