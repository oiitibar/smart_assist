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2E44-5E70-4DA3-82B1-A1DA5513E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66521-EFE9-41EF-B170-9CEA9D6BB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181F1-A9C1-4F79-87B8-4F520A28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66B1-265E-45BE-BCC2-2828BBD0AF2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25B1E-FC09-4339-9B36-90462DB3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55B4A-F188-4AF5-816A-F456ACF82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E12E1-2B17-48FC-AA35-EC1BFB3DF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01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98578-F28D-4283-8763-AF960AF03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9586A-738F-408F-943C-F72F8BB9B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B7F30-344F-409D-9B26-7E1FEBA5B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66B1-265E-45BE-BCC2-2828BBD0AF2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8AF92-8292-45C3-A746-A08E39C38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B228A-C50E-4403-ACB3-EBEA968E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E12E1-2B17-48FC-AA35-EC1BFB3DF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09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098ED-AC42-4FB3-902D-DDBC41D8E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A0FE9-187B-4F1B-B78D-070DA01FC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BDDBA-3830-48F1-8AA9-334BEB4CF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66B1-265E-45BE-BCC2-2828BBD0AF2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28392-D724-4915-812F-7DDAA05B7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543E6-9828-4771-8A23-730FC744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E12E1-2B17-48FC-AA35-EC1BFB3DF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0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F2FD-2282-4F88-BC67-56D85F1C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CF6E9-558E-4548-968E-ABDC2B32C9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EAD68-48DC-4D4C-B8F5-46659695F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43C5F-63A5-4534-8E37-6989EBA86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66B1-265E-45BE-BCC2-2828BBD0AF2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5FAB2-F78F-4180-864D-265683418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AA88F-E40B-4491-BC9A-3F636B6FA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E12E1-2B17-48FC-AA35-EC1BFB3DF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73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5E5B0-C08E-4E16-BA72-6CAE48D74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322C9-246B-4B85-B60B-051981322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72AC1-8E89-4EDF-A681-444565558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FF6CB-6EF1-430C-B3C0-1FACB0066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DEC931-F2E0-4412-B4ED-6482EA5053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26A234-12A3-463A-87DA-C8E59AB1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66B1-265E-45BE-BCC2-2828BBD0AF2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C6D2E2-D663-4B07-89A6-6D32ED0DA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9282C5-A573-4CC4-9D7E-8CB6078E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E12E1-2B17-48FC-AA35-EC1BFB3DF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64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1E1D-8235-4B70-B295-43FEA1B2D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6AFA16-B9E4-4587-B890-909FA79B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66B1-265E-45BE-BCC2-2828BBD0AF2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A30A9-4259-4DC1-801B-9B4CB825C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2D1B4-AD60-4F7D-AAB7-7DAE6C1DF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E12E1-2B17-48FC-AA35-EC1BFB3DF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03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B8D0B-9B47-45EE-B4C7-9F8D3AA8A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66B1-265E-45BE-BCC2-2828BBD0AF2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9B510-F7D1-4638-B304-63D068204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AEC23-7355-4127-B970-1DE100601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E12E1-2B17-48FC-AA35-EC1BFB3DF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22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71AA-67E7-4E05-B12E-984E879BB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96EFD-F9A3-4B98-8729-81E3A5481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21CA-020E-46EF-AE93-3A49A79A3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359C2-9D14-40B7-A2C7-7C0B7E886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66B1-265E-45BE-BCC2-2828BBD0AF2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215B8-5D2F-4D62-985A-E2C2E3BC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562BD-D93B-4FEA-AA6A-237E6A36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E12E1-2B17-48FC-AA35-EC1BFB3DF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6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D6895-4EA2-469B-999F-AC9ED9EE9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CF5E3E-3DD9-47EC-A6FB-12676F779A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D1F44-9BC2-449C-8CC0-899C5034B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26AE9-B7D2-4AFC-88E3-CA29DC9E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66B1-265E-45BE-BCC2-2828BBD0AF2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C8F1F-DB6C-418E-9FA0-AFF4E0B0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EB711-BEAA-402B-B87D-B8E612F4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E12E1-2B17-48FC-AA35-EC1BFB3DF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07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325E-ECC3-4B67-80FB-23D4F052D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A5D5C-4158-4D5D-AC49-828ACAB8D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C0F89-74A3-42BB-BAB7-5430F63CE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66B1-265E-45BE-BCC2-2828BBD0AF2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95125-53EF-4B6D-8307-764D905D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5F245-D35A-495E-B1EA-E3D860735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E12E1-2B17-48FC-AA35-EC1BFB3DF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0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7EF25E-4D99-4230-9CAA-30F8928CA4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0B08E7-1A7C-426A-B0F5-7315F90E9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EEFA9-04F2-4ADF-B2CF-3E59081D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66B1-265E-45BE-BCC2-2828BBD0AF2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AAA5E-230B-40B1-A763-27CF6A942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B9328-1B1C-438D-B4CF-90EAFE1E6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E12E1-2B17-48FC-AA35-EC1BFB3DF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15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0C27A2-DBC5-46DC-BE0F-05604C21B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9B750-F781-4699-984D-DDCDA7F7C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2AB9D-F574-47BF-BC54-9F743F2B2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F66B1-265E-45BE-BCC2-2828BBD0AF2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8A19F-49A8-4DAB-9522-232EFA2C3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BEA1A-3180-4EF2-BDEF-2C70872BC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E12E1-2B17-48FC-AA35-EC1BFB3DF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98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6395-2683-4C5A-BAE2-A3A232810C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 2 Database System Concepts and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685CB6-F961-4B74-A81D-F576B9C2A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068" y="6057876"/>
            <a:ext cx="1510352" cy="46575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29.6.2026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94A5B38-7AAC-4B41-BA6F-06F6752A1557}"/>
              </a:ext>
            </a:extLst>
          </p:cNvPr>
          <p:cNvSpPr txBox="1">
            <a:spLocks/>
          </p:cNvSpPr>
          <p:nvPr/>
        </p:nvSpPr>
        <p:spPr>
          <a:xfrm>
            <a:off x="10340454" y="6057875"/>
            <a:ext cx="1510352" cy="465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610883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C52F-2F21-49A2-B30E-650525E54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082" y="362047"/>
            <a:ext cx="4170528" cy="644809"/>
          </a:xfrm>
        </p:spPr>
        <p:txBody>
          <a:bodyPr>
            <a:norm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yanmar Text" panose="020B0502040204020203" pitchFamily="34" charset="0"/>
              </a:rPr>
              <a:t>Database System Architecture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607B-BA82-4496-8EC2-B8E25D6B0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934"/>
            <a:ext cx="10439399" cy="2260834"/>
          </a:xfrm>
        </p:spPr>
        <p:txBody>
          <a:bodyPr>
            <a:normAutofit/>
          </a:bodyPr>
          <a:lstStyle/>
          <a:p>
            <a:pPr marL="57150" marR="0" indent="-28575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architecture refers to the overall design and structure of a Database Management System (DBMS). </a:t>
            </a:r>
          </a:p>
          <a:p>
            <a:pPr marL="57150" marR="0" indent="-28575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defines how data is stored, managed, and accessed by users and applications.</a:t>
            </a:r>
          </a:p>
          <a:p>
            <a:pPr marL="57150" marR="0" indent="-28575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past, DBMSs were monolithic systems where all functions were integrated into one software package. </a:t>
            </a:r>
          </a:p>
          <a:p>
            <a:pPr marL="57150" marR="0" indent="-28575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Modern DBMSs use Client/Server, Distributed, and Cloud architectures.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5F8EB-6091-427E-AB85-2D30EEF760A4}"/>
              </a:ext>
            </a:extLst>
          </p:cNvPr>
          <p:cNvSpPr txBox="1"/>
          <p:nvPr/>
        </p:nvSpPr>
        <p:spPr>
          <a:xfrm>
            <a:off x="614082" y="3159454"/>
            <a:ext cx="3146612" cy="40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yanmar Text" panose="020B0502040204020203" pitchFamily="34" charset="0"/>
              </a:rPr>
              <a:t>Client/Server Architecture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B7395E-C42A-47B2-AD12-B498DA7434C8}"/>
              </a:ext>
            </a:extLst>
          </p:cNvPr>
          <p:cNvSpPr txBox="1"/>
          <p:nvPr/>
        </p:nvSpPr>
        <p:spPr>
          <a:xfrm>
            <a:off x="887204" y="3730669"/>
            <a:ext cx="6499714" cy="2454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Client/Server architecture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divides the system into two parts: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Client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The client interacts with users.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Functions: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Interface (UI)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Apps</a:t>
            </a:r>
          </a:p>
        </p:txBody>
      </p:sp>
    </p:spTree>
    <p:extLst>
      <p:ext uri="{BB962C8B-B14F-4D97-AF65-F5344CB8AC3E}">
        <p14:creationId xmlns:p14="http://schemas.microsoft.com/office/powerpoint/2010/main" val="2076689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D312A0-425F-47CA-8171-FE92F2A04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261" y="777501"/>
            <a:ext cx="5209769" cy="1325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3443C-CF36-4192-84C2-B6DD8DFE0A61}"/>
              </a:ext>
            </a:extLst>
          </p:cNvPr>
          <p:cNvSpPr txBox="1"/>
          <p:nvPr/>
        </p:nvSpPr>
        <p:spPr>
          <a:xfrm>
            <a:off x="466164" y="343672"/>
            <a:ext cx="3998260" cy="175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Server: The server manages the database.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Functions: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Storage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 Processing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B029EA-426B-41DC-AE38-7AD51AC12AC0}"/>
              </a:ext>
            </a:extLst>
          </p:cNvPr>
          <p:cNvSpPr txBox="1"/>
          <p:nvPr/>
        </p:nvSpPr>
        <p:spPr>
          <a:xfrm>
            <a:off x="358588" y="2263950"/>
            <a:ext cx="4419601" cy="1064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Student Registration System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 fills registration form (Client)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stores information (Server)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EA502-4543-43DD-A832-036EFE50243B}"/>
              </a:ext>
            </a:extLst>
          </p:cNvPr>
          <p:cNvSpPr txBox="1"/>
          <p:nvPr/>
        </p:nvSpPr>
        <p:spPr>
          <a:xfrm>
            <a:off x="466163" y="3618074"/>
            <a:ext cx="10372165" cy="1565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Model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Data Model is a collection of concepts used to describe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Data, Relationships, Constraints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provides a way to organize and represent data.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Student and Course relationship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3A6694-AC36-4180-97C4-71DE61D77F9B}"/>
              </a:ext>
            </a:extLst>
          </p:cNvPr>
          <p:cNvSpPr txBox="1"/>
          <p:nvPr/>
        </p:nvSpPr>
        <p:spPr>
          <a:xfrm>
            <a:off x="582706" y="5952566"/>
            <a:ext cx="1093694" cy="3693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957745-759F-4F27-97A5-D0FCC8026447}"/>
              </a:ext>
            </a:extLst>
          </p:cNvPr>
          <p:cNvSpPr txBox="1"/>
          <p:nvPr/>
        </p:nvSpPr>
        <p:spPr>
          <a:xfrm>
            <a:off x="5522259" y="5966515"/>
            <a:ext cx="1093694" cy="3693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F89CAA-EDDC-4F45-BBC7-143807A9573D}"/>
              </a:ext>
            </a:extLst>
          </p:cNvPr>
          <p:cNvSpPr txBox="1"/>
          <p:nvPr/>
        </p:nvSpPr>
        <p:spPr>
          <a:xfrm>
            <a:off x="3057784" y="5981062"/>
            <a:ext cx="1093694" cy="3693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5062A1E-F6B3-4FC1-B3B0-79A5F89C29B3}"/>
              </a:ext>
            </a:extLst>
          </p:cNvPr>
          <p:cNvCxnSpPr/>
          <p:nvPr/>
        </p:nvCxnSpPr>
        <p:spPr>
          <a:xfrm>
            <a:off x="1676400" y="6137232"/>
            <a:ext cx="138138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A2D1D1-28A1-4011-A397-D24CF3BE4B63}"/>
              </a:ext>
            </a:extLst>
          </p:cNvPr>
          <p:cNvCxnSpPr/>
          <p:nvPr/>
        </p:nvCxnSpPr>
        <p:spPr>
          <a:xfrm>
            <a:off x="4151478" y="6151570"/>
            <a:ext cx="138138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797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F5B705-DF06-454E-B493-62A1A986ABF5}"/>
              </a:ext>
            </a:extLst>
          </p:cNvPr>
          <p:cNvSpPr txBox="1"/>
          <p:nvPr/>
        </p:nvSpPr>
        <p:spPr>
          <a:xfrm>
            <a:off x="555812" y="429554"/>
            <a:ext cx="6096000" cy="2576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Schema and Instance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Schema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Schema is the structure or blueprint of a database.</a:t>
            </a: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STUDENT(SID, Name, Major) </a:t>
            </a: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Schema </a:t>
            </a:r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rarely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changes.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4678C7-CED8-4B67-9FCA-689753EB69F9}"/>
              </a:ext>
            </a:extLst>
          </p:cNvPr>
          <p:cNvSpPr txBox="1"/>
          <p:nvPr/>
        </p:nvSpPr>
        <p:spPr>
          <a:xfrm>
            <a:off x="555812" y="3103850"/>
            <a:ext cx="6983506" cy="11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Instance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Instance is the actual data stored in the database at a particular time.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61C79A-B54B-4D67-A2AD-E04F6854A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061458"/>
              </p:ext>
            </p:extLst>
          </p:nvPr>
        </p:nvGraphicFramePr>
        <p:xfrm>
          <a:off x="656495" y="4630559"/>
          <a:ext cx="3270046" cy="1199625"/>
        </p:xfrm>
        <a:graphic>
          <a:graphicData uri="http://schemas.openxmlformats.org/drawingml/2006/table">
            <a:tbl>
              <a:tblPr firstRow="1" firstCol="1" bandRow="1"/>
              <a:tblGrid>
                <a:gridCol w="1635023">
                  <a:extLst>
                    <a:ext uri="{9D8B030D-6E8A-4147-A177-3AD203B41FA5}">
                      <a16:colId xmlns:a16="http://schemas.microsoft.com/office/drawing/2014/main" val="798816273"/>
                    </a:ext>
                  </a:extLst>
                </a:gridCol>
                <a:gridCol w="1635023">
                  <a:extLst>
                    <a:ext uri="{9D8B030D-6E8A-4147-A177-3AD203B41FA5}">
                      <a16:colId xmlns:a16="http://schemas.microsoft.com/office/drawing/2014/main" val="2710678642"/>
                    </a:ext>
                  </a:extLst>
                </a:gridCol>
              </a:tblGrid>
              <a:tr h="3998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Myanmar Text" panose="020B0502040204020203" pitchFamily="34" charset="0"/>
                        </a:rPr>
                        <a:t>SID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yanmar Text" panose="020B0502040204020203" pitchFamily="34" charset="0"/>
                      </a:endParaRPr>
                    </a:p>
                  </a:txBody>
                  <a:tcPr marL="86894" marR="868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Myanmar Text" panose="020B0502040204020203" pitchFamily="34" charset="0"/>
                        </a:rPr>
                        <a:t>Name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yanmar Text" panose="020B0502040204020203" pitchFamily="34" charset="0"/>
                      </a:endParaRPr>
                    </a:p>
                  </a:txBody>
                  <a:tcPr marL="86894" marR="868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88777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Myanmar Text" panose="020B0502040204020203" pitchFamily="34" charset="0"/>
                        </a:rPr>
                        <a:t>S1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yanmar Text" panose="020B0502040204020203" pitchFamily="34" charset="0"/>
                      </a:endParaRPr>
                    </a:p>
                  </a:txBody>
                  <a:tcPr marL="86894" marR="868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Myanmar Text" panose="020B0502040204020203" pitchFamily="34" charset="0"/>
                        </a:rPr>
                        <a:t>Aung </a:t>
                      </a:r>
                      <a:r>
                        <a:rPr lang="en-US" sz="15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Myanmar Text" panose="020B0502040204020203" pitchFamily="34" charset="0"/>
                        </a:rPr>
                        <a:t>Aung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yanmar Text" panose="020B0502040204020203" pitchFamily="34" charset="0"/>
                      </a:endParaRPr>
                    </a:p>
                  </a:txBody>
                  <a:tcPr marL="86894" marR="868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727662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Myanmar Text" panose="020B0502040204020203" pitchFamily="34" charset="0"/>
                        </a:rPr>
                        <a:t>S2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yanmar Text" panose="020B0502040204020203" pitchFamily="34" charset="0"/>
                      </a:endParaRPr>
                    </a:p>
                  </a:txBody>
                  <a:tcPr marL="86894" marR="868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Myanmar Text" panose="020B0502040204020203" pitchFamily="34" charset="0"/>
                        </a:rPr>
                        <a:t>Su</a:t>
                      </a: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Myanmar Tex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Myanmar Text" panose="020B0502040204020203" pitchFamily="34" charset="0"/>
                        </a:rPr>
                        <a:t>Su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yanmar Text" panose="020B0502040204020203" pitchFamily="34" charset="0"/>
                      </a:endParaRPr>
                    </a:p>
                  </a:txBody>
                  <a:tcPr marL="86894" marR="868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549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95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FC81FB-5ED4-48BA-86C2-F3BFBC88A03E}"/>
              </a:ext>
            </a:extLst>
          </p:cNvPr>
          <p:cNvSpPr txBox="1"/>
          <p:nvPr/>
        </p:nvSpPr>
        <p:spPr>
          <a:xfrm>
            <a:off x="412376" y="419584"/>
            <a:ext cx="8095129" cy="315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Three-Schema Architecture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hree-Schema Architecture divides the database into three levels: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External Level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Conceptual Level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Internal Level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Purpose: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Independence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Multiple User Views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96B172-4DBA-4E0B-A5FE-F2AA3D73C904}"/>
              </a:ext>
            </a:extLst>
          </p:cNvPr>
          <p:cNvSpPr txBox="1"/>
          <p:nvPr/>
        </p:nvSpPr>
        <p:spPr>
          <a:xfrm>
            <a:off x="412376" y="3809033"/>
            <a:ext cx="8686800" cy="1494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External Level: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External Level shows only the data required by a particular user.</a:t>
            </a: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 View</a:t>
            </a: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StudentID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	Grade</a:t>
            </a:r>
          </a:p>
        </p:txBody>
      </p:sp>
    </p:spTree>
    <p:extLst>
      <p:ext uri="{BB962C8B-B14F-4D97-AF65-F5344CB8AC3E}">
        <p14:creationId xmlns:p14="http://schemas.microsoft.com/office/powerpoint/2010/main" val="2334739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BE445B-73AF-4C07-8886-F23239694C5A}"/>
              </a:ext>
            </a:extLst>
          </p:cNvPr>
          <p:cNvSpPr txBox="1"/>
          <p:nvPr/>
        </p:nvSpPr>
        <p:spPr>
          <a:xfrm>
            <a:off x="286869" y="349785"/>
            <a:ext cx="10730754" cy="2222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level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an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schema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describes the physical storage structure of the database.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internal schema uses a physical data model and describes the complete details of data storage and access paths for the database.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Internal Level: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Describes how data is physically stored.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Files, Indexes, Storage Blocks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729D2A-AA94-4941-858E-3F3C5C656898}"/>
              </a:ext>
            </a:extLst>
          </p:cNvPr>
          <p:cNvSpPr txBox="1"/>
          <p:nvPr/>
        </p:nvSpPr>
        <p:spPr>
          <a:xfrm>
            <a:off x="286869" y="2694065"/>
            <a:ext cx="11178990" cy="3681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level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a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schema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describes the structure of the whole database for a community of users.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conceptual schema hides the details of physical storage structures and concentrates on describing entities, data types, relationships, user operations, and constraints.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Usually, a representational data model is used to describe the conceptual schema when a database system is implemented.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conceptual schema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often based on a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schema design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high-level data model.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yanmar Text" panose="020B0502040204020203" pitchFamily="34" charset="0"/>
              </a:rPr>
              <a:t>Note: Conceptual Level: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yanmar Text" panose="020B0502040204020203" pitchFamily="34" charset="0"/>
              </a:rPr>
              <a:t>Represents the entire logical structure of the database.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yanmar Text" panose="020B0502040204020203" pitchFamily="34" charset="0"/>
              </a:rPr>
              <a:t>Example: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yanmar Text" panose="020B0502040204020203" pitchFamily="34" charset="0"/>
              </a:rPr>
              <a:t>STUDENT, COURSE, ENROLLMENT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013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3629CA-856C-4895-AABA-DFC6D1A1D31F}"/>
              </a:ext>
            </a:extLst>
          </p:cNvPr>
          <p:cNvSpPr txBox="1"/>
          <p:nvPr/>
        </p:nvSpPr>
        <p:spPr>
          <a:xfrm>
            <a:off x="322729" y="384156"/>
            <a:ext cx="9843247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level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 number of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schemas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views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external schema describes the part of the database that a particular user group is interested in and hides the rest of the database from that user group.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in the previous level, each external schema is typically implemented using a representational data model, possibly based on an external schema design in a high-level conceptual data model.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67B21-A498-4FF8-B300-8FCDEE0A8775}"/>
              </a:ext>
            </a:extLst>
          </p:cNvPr>
          <p:cNvSpPr txBox="1"/>
          <p:nvPr/>
        </p:nvSpPr>
        <p:spPr>
          <a:xfrm>
            <a:off x="322729" y="2780170"/>
            <a:ext cx="8615082" cy="76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Independence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Independence means changes at one level do not affect higher levels.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757043-7EF2-4E10-B7EE-4FEDFB5520A8}"/>
              </a:ext>
            </a:extLst>
          </p:cNvPr>
          <p:cNvSpPr txBox="1"/>
          <p:nvPr/>
        </p:nvSpPr>
        <p:spPr>
          <a:xfrm>
            <a:off x="322729" y="3965146"/>
            <a:ext cx="5405720" cy="2012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Logical Data Independence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Changes in database structure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not affect user views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Adding Email column</a:t>
            </a: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Student(SID, Name, Email)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9FB30-93E8-49C4-8E7A-235B0916106B}"/>
              </a:ext>
            </a:extLst>
          </p:cNvPr>
          <p:cNvSpPr txBox="1"/>
          <p:nvPr/>
        </p:nvSpPr>
        <p:spPr>
          <a:xfrm>
            <a:off x="6096000" y="3970612"/>
            <a:ext cx="5405719" cy="2012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Physical Data Independence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Changes in storage do not affect database structure.</a:t>
            </a: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Hard Disk → SSD</a:t>
            </a: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 continue working.</a:t>
            </a:r>
          </a:p>
        </p:txBody>
      </p:sp>
    </p:spTree>
    <p:extLst>
      <p:ext uri="{BB962C8B-B14F-4D97-AF65-F5344CB8AC3E}">
        <p14:creationId xmlns:p14="http://schemas.microsoft.com/office/powerpoint/2010/main" val="3349060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C76E11-9A5F-4CFF-A9A7-11F32A10B828}"/>
              </a:ext>
            </a:extLst>
          </p:cNvPr>
          <p:cNvSpPr txBox="1"/>
          <p:nvPr/>
        </p:nvSpPr>
        <p:spPr>
          <a:xfrm>
            <a:off x="268941" y="425605"/>
            <a:ext cx="4437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Database Languages and Interfaces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B6242C-D8E0-4B27-94FC-820C4EC4C27F}"/>
              </a:ext>
            </a:extLst>
          </p:cNvPr>
          <p:cNvSpPr txBox="1"/>
          <p:nvPr/>
        </p:nvSpPr>
        <p:spPr>
          <a:xfrm>
            <a:off x="672353" y="968642"/>
            <a:ext cx="2841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 DBMS Languages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F9F14D-1F66-4738-8B67-E20812787833}"/>
              </a:ext>
            </a:extLst>
          </p:cNvPr>
          <p:cNvSpPr txBox="1"/>
          <p:nvPr/>
        </p:nvSpPr>
        <p:spPr>
          <a:xfrm>
            <a:off x="1062316" y="1480901"/>
            <a:ext cx="6620437" cy="4059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DDL (Data Definition Language):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 to define database structure.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specifies Tables, Attributes, Relationships and Constraints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Commands: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CREATE, ALTER, DROP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Student(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 VARCHAR(50),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 VARCHAR(30)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defines the logical structure.</a:t>
            </a: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32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1C9E3B-0CDC-47AC-9377-3483C28341ED}"/>
              </a:ext>
            </a:extLst>
          </p:cNvPr>
          <p:cNvSpPr txBox="1"/>
          <p:nvPr/>
        </p:nvSpPr>
        <p:spPr>
          <a:xfrm>
            <a:off x="457198" y="476491"/>
            <a:ext cx="10148048" cy="3423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been created (using DDL) and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has been filled with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users need a way to work with that data.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Language (DML)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language used to: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data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new data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existing data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data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Commands: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INSERT, UPDATE, DELETE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44CB81-C940-4F47-9AE2-B6ECC9B86DDE}"/>
              </a:ext>
            </a:extLst>
          </p:cNvPr>
          <p:cNvSpPr txBox="1"/>
          <p:nvPr/>
        </p:nvSpPr>
        <p:spPr>
          <a:xfrm>
            <a:off x="4787153" y="1877670"/>
            <a:ext cx="3352800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Student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(1,'Aung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Aung','CS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C05B9-FC1F-47E7-A207-732B35E0147A}"/>
              </a:ext>
            </a:extLst>
          </p:cNvPr>
          <p:cNvSpPr txBox="1"/>
          <p:nvPr/>
        </p:nvSpPr>
        <p:spPr>
          <a:xfrm>
            <a:off x="457198" y="4131134"/>
            <a:ext cx="609600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Data (SELECT)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means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data from the 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D614EF-987A-4918-8D87-4A1B5969A59C}"/>
              </a:ext>
            </a:extLst>
          </p:cNvPr>
          <p:cNvSpPr txBox="1"/>
          <p:nvPr/>
        </p:nvSpPr>
        <p:spPr>
          <a:xfrm>
            <a:off x="457198" y="5158753"/>
            <a:ext cx="1819835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Student;</a:t>
            </a:r>
          </a:p>
        </p:txBody>
      </p:sp>
    </p:spTree>
    <p:extLst>
      <p:ext uri="{BB962C8B-B14F-4D97-AF65-F5344CB8AC3E}">
        <p14:creationId xmlns:p14="http://schemas.microsoft.com/office/powerpoint/2010/main" val="204727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95B8F1-9D79-4091-97C9-62A19FB27E2C}"/>
              </a:ext>
            </a:extLst>
          </p:cNvPr>
          <p:cNvSpPr txBox="1"/>
          <p:nvPr/>
        </p:nvSpPr>
        <p:spPr>
          <a:xfrm>
            <a:off x="493059" y="251012"/>
            <a:ext cx="9502588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 DBMS Interfaces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DBMS Interface?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Interface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medium through which users communicate with the database.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users need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interfaces depending on their knowledge and tasks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CCE85-1261-424E-BB21-AC59839240B9}"/>
              </a:ext>
            </a:extLst>
          </p:cNvPr>
          <p:cNvSpPr txBox="1"/>
          <p:nvPr/>
        </p:nvSpPr>
        <p:spPr>
          <a:xfrm>
            <a:off x="493059" y="2186637"/>
            <a:ext cx="6571130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DBMS Interfaces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Menu-Based Interface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menu-based interface provides users with lists of options (menus).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simply choose options instead of typing SQL commands.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 machine menus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navigation menus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categories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52CC9-8EDB-46B9-8E1A-AEEDF21D6C48}"/>
              </a:ext>
            </a:extLst>
          </p:cNvPr>
          <p:cNvSpPr txBox="1"/>
          <p:nvPr/>
        </p:nvSpPr>
        <p:spPr>
          <a:xfrm>
            <a:off x="7539318" y="2426329"/>
            <a:ext cx="2043953" cy="212006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Menu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Search Student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Add Student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Delete Student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83FF0-7750-4BD9-8A79-BB0AC049B2F4}"/>
              </a:ext>
            </a:extLst>
          </p:cNvPr>
          <p:cNvSpPr txBox="1"/>
          <p:nvPr/>
        </p:nvSpPr>
        <p:spPr>
          <a:xfrm>
            <a:off x="7342095" y="4902420"/>
            <a:ext cx="4061011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for beginners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 to remember SQL syntax </a:t>
            </a:r>
          </a:p>
        </p:txBody>
      </p:sp>
    </p:spTree>
    <p:extLst>
      <p:ext uri="{BB962C8B-B14F-4D97-AF65-F5344CB8AC3E}">
        <p14:creationId xmlns:p14="http://schemas.microsoft.com/office/powerpoint/2010/main" val="3136346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68AD12-030E-461B-A6DD-DEBA7099D91C}"/>
              </a:ext>
            </a:extLst>
          </p:cNvPr>
          <p:cNvSpPr txBox="1"/>
          <p:nvPr/>
        </p:nvSpPr>
        <p:spPr>
          <a:xfrm>
            <a:off x="555811" y="455002"/>
            <a:ext cx="7252448" cy="2539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Apps for Mobile Devices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provide mobile apps so users can access their databases.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apps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reservation apps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apps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B86B5-D5D8-4425-BB31-E200A4F6D997}"/>
              </a:ext>
            </a:extLst>
          </p:cNvPr>
          <p:cNvSpPr txBox="1"/>
          <p:nvPr/>
        </p:nvSpPr>
        <p:spPr>
          <a:xfrm>
            <a:off x="403411" y="3146244"/>
            <a:ext cx="4096871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Forms-Based Interface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enter information into forms.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DBMS processes the entered data.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easy for non-technical users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typing errors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03377B-B9D6-4BA3-BD9E-0AE785E4838C}"/>
              </a:ext>
            </a:extLst>
          </p:cNvPr>
          <p:cNvSpPr txBox="1"/>
          <p:nvPr/>
        </p:nvSpPr>
        <p:spPr>
          <a:xfrm>
            <a:off x="4814048" y="1620415"/>
            <a:ext cx="6696636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Graphical User Interface (GUI)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allows users to interact with the database through graphical elements such as: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Icons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Diagrams</a:t>
            </a:r>
          </a:p>
        </p:txBody>
      </p:sp>
    </p:spTree>
    <p:extLst>
      <p:ext uri="{BB962C8B-B14F-4D97-AF65-F5344CB8AC3E}">
        <p14:creationId xmlns:p14="http://schemas.microsoft.com/office/powerpoint/2010/main" val="156868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BA94FF-D664-4308-ADA3-8F37D2583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07" y="289886"/>
            <a:ext cx="5585012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Natural Language Interface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ask questions in ordinary language.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translates the question into a database query.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 all Computer Science students.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SQL knowledge required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for everyone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025D9AF-FBD1-4AAC-A829-DD4BEBE8E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8776" y="213687"/>
            <a:ext cx="4742329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Keyword-Based Database Search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like a search engine.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type keywords instead of SQL.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type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Aung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Aung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searches matching records.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3BD31EC-2FDB-44FE-AAF6-D4429EA81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976" y="3946755"/>
            <a:ext cx="7122463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Speech Input and Output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speak instead of typing.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converts speech into queries and can also answer using speech.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"What is my account balance?"</a:t>
            </a:r>
          </a:p>
        </p:txBody>
      </p:sp>
    </p:spTree>
    <p:extLst>
      <p:ext uri="{BB962C8B-B14F-4D97-AF65-F5344CB8AC3E}">
        <p14:creationId xmlns:p14="http://schemas.microsoft.com/office/powerpoint/2010/main" val="419992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51A31B-2DED-4402-82A5-E7F54BEE95D6}"/>
              </a:ext>
            </a:extLst>
          </p:cNvPr>
          <p:cNvSpPr txBox="1"/>
          <p:nvPr/>
        </p:nvSpPr>
        <p:spPr>
          <a:xfrm>
            <a:off x="251011" y="186061"/>
            <a:ext cx="7055223" cy="3027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Interfaces for Parametric Users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Parametric users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the same tasks repeatedly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interface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shortcut buttons or function keys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tellers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Cashiers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counter staff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B53BF0-DF40-4134-B9F5-144083E5CAB8}"/>
              </a:ext>
            </a:extLst>
          </p:cNvPr>
          <p:cNvSpPr txBox="1"/>
          <p:nvPr/>
        </p:nvSpPr>
        <p:spPr>
          <a:xfrm>
            <a:off x="3272115" y="2230922"/>
            <a:ext cx="8606119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Interfaces for DBA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Administrator (DBA) uses special interfaces with administrative privileges.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user accounts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Grant permissions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schema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database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Reorganize storage</a:t>
            </a:r>
          </a:p>
        </p:txBody>
      </p:sp>
    </p:spTree>
    <p:extLst>
      <p:ext uri="{BB962C8B-B14F-4D97-AF65-F5344CB8AC3E}">
        <p14:creationId xmlns:p14="http://schemas.microsoft.com/office/powerpoint/2010/main" val="3313537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742B85-EF39-4BAE-86C5-7EA0C5823D0F}"/>
              </a:ext>
            </a:extLst>
          </p:cNvPr>
          <p:cNvSpPr txBox="1"/>
          <p:nvPr/>
        </p:nvSpPr>
        <p:spPr>
          <a:xfrm>
            <a:off x="591671" y="313766"/>
            <a:ext cx="8892988" cy="391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The Database System Environment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Database System Environment?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 Environment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complete environment in which a DBMS operates.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software modules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(OS)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Catalog (Data Dictionary)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DAAB28-8D66-4E6D-AAEA-6F6796F1F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845" y="1721880"/>
            <a:ext cx="5011346" cy="48223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550A9C-CC52-418B-8E64-A4A79D32F300}"/>
              </a:ext>
            </a:extLst>
          </p:cNvPr>
          <p:cNvSpPr txBox="1"/>
          <p:nvPr/>
        </p:nvSpPr>
        <p:spPr>
          <a:xfrm>
            <a:off x="672353" y="5145524"/>
            <a:ext cx="4069977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part is User Side.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 part is DBMS Internal Processing.</a:t>
            </a:r>
          </a:p>
        </p:txBody>
      </p:sp>
    </p:spTree>
    <p:extLst>
      <p:ext uri="{BB962C8B-B14F-4D97-AF65-F5344CB8AC3E}">
        <p14:creationId xmlns:p14="http://schemas.microsoft.com/office/powerpoint/2010/main" val="3945797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A394E4-1966-40E3-8F53-2363EC4E3755}"/>
              </a:ext>
            </a:extLst>
          </p:cNvPr>
          <p:cNvSpPr txBox="1"/>
          <p:nvPr/>
        </p:nvSpPr>
        <p:spPr>
          <a:xfrm>
            <a:off x="403411" y="490862"/>
            <a:ext cx="10784543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DBA →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 Compiler → System Catalog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 User →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Compiler → Query Optimizer → Runtime Database Processor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Programmer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Precompiler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DML Compiler + Host Language Compiler → Compiled Transaction → Runtime Database Processor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Database Processor →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Data Manager → Stored Database</a:t>
            </a:r>
          </a:p>
        </p:txBody>
      </p:sp>
    </p:spTree>
    <p:extLst>
      <p:ext uri="{BB962C8B-B14F-4D97-AF65-F5344CB8AC3E}">
        <p14:creationId xmlns:p14="http://schemas.microsoft.com/office/powerpoint/2010/main" val="3503068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1205</Words>
  <Application>Microsoft Office PowerPoint</Application>
  <PresentationFormat>Widescreen</PresentationFormat>
  <Paragraphs>188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Ch 2 Database System Concepts and Architecture</vt:lpstr>
      <vt:lpstr>Database System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 2 Database System Concepts and Architecture</dc:title>
  <dc:creator>Nan Sandar Win</dc:creator>
  <cp:lastModifiedBy>Nan Sandar Win</cp:lastModifiedBy>
  <cp:revision>1</cp:revision>
  <dcterms:created xsi:type="dcterms:W3CDTF">2026-06-29T03:37:21Z</dcterms:created>
  <dcterms:modified xsi:type="dcterms:W3CDTF">2026-06-29T03:37:48Z</dcterms:modified>
</cp:coreProperties>
</file>